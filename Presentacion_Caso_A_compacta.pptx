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315" r:id="rId3"/>
    <p:sldId id="316" r:id="rId4"/>
    <p:sldId id="263" r:id="rId5"/>
    <p:sldId id="317" r:id="rId6"/>
    <p:sldId id="318" r:id="rId7"/>
    <p:sldId id="319" r:id="rId8"/>
    <p:sldId id="320" r:id="rId9"/>
    <p:sldId id="321" r:id="rId10"/>
    <p:sldId id="276" r:id="rId11"/>
    <p:sldId id="322" r:id="rId12"/>
    <p:sldId id="279" r:id="rId13"/>
    <p:sldId id="309" r:id="rId14"/>
    <p:sldId id="310" r:id="rId15"/>
    <p:sldId id="323" r:id="rId16"/>
    <p:sldId id="324" r:id="rId17"/>
    <p:sldId id="325" r:id="rId18"/>
    <p:sldId id="288" r:id="rId19"/>
    <p:sldId id="326" r:id="rId20"/>
    <p:sldId id="292" r:id="rId21"/>
    <p:sldId id="327" r:id="rId22"/>
    <p:sldId id="328" r:id="rId23"/>
    <p:sldId id="329" r:id="rId24"/>
    <p:sldId id="301" r:id="rId25"/>
    <p:sldId id="330" r:id="rId26"/>
    <p:sldId id="306" r:id="rId27"/>
    <p:sldId id="307" r:id="rId28"/>
    <p:sldId id="30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68"/>
    <p:restoredTop sz="94694"/>
  </p:normalViewPr>
  <p:slideViewPr>
    <p:cSldViewPr snapToGrid="0" snapToObjects="1">
      <p:cViewPr varScale="1">
        <p:scale>
          <a:sx n="121" d="100"/>
          <a:sy n="121" d="100"/>
        </p:scale>
        <p:origin x="86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4300" cy="68580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1417320"/>
            <a:ext cx="10058400" cy="274320"/>
          </a:xfrm>
          <a:prstGeom prst="rect">
            <a:avLst/>
          </a:prstGeom>
          <a:noFill/>
        </p:spPr>
        <p:txBody>
          <a:bodyPr wrap="square" lIns="0" tIns="0" rIns="0" bIns="0">
            <a:spAutoFit/>
          </a:bodyPr>
          <a:lstStyle/>
          <a:p>
            <a:pPr algn="l">
              <a:lnSpc>
                <a:spcPct val="122000"/>
              </a:lnSpc>
              <a:spcBef>
                <a:spcPts val="0"/>
              </a:spcBef>
              <a:spcAft>
                <a:spcPts val="0"/>
              </a:spcAft>
            </a:pPr>
            <a:r>
              <a:rPr sz="1200" b="1">
                <a:solidFill>
                  <a:srgbClr val="8C2F39"/>
                </a:solidFill>
                <a:latin typeface="Arial"/>
              </a:rPr>
              <a:t>CASO A  ·  OPTIMIZACIÓN DE ABASTECIMIENTO</a:t>
            </a:r>
          </a:p>
        </p:txBody>
      </p:sp>
      <p:sp>
        <p:nvSpPr>
          <p:cNvPr id="5" name="TextBox 4"/>
          <p:cNvSpPr txBox="1"/>
          <p:nvPr/>
        </p:nvSpPr>
        <p:spPr>
          <a:xfrm>
            <a:off x="777240" y="1965960"/>
            <a:ext cx="9692640" cy="2011680"/>
          </a:xfrm>
          <a:prstGeom prst="rect">
            <a:avLst/>
          </a:prstGeom>
          <a:noFill/>
        </p:spPr>
        <p:txBody>
          <a:bodyPr wrap="square" lIns="0" tIns="0" rIns="0" bIns="0">
            <a:spAutoFit/>
          </a:bodyPr>
          <a:lstStyle/>
          <a:p>
            <a:pPr algn="l">
              <a:lnSpc>
                <a:spcPct val="106000"/>
              </a:lnSpc>
              <a:spcBef>
                <a:spcPts val="0"/>
              </a:spcBef>
              <a:spcAft>
                <a:spcPts val="0"/>
              </a:spcAft>
            </a:pPr>
            <a:r>
              <a:rPr sz="4000" b="1" dirty="0" err="1">
                <a:solidFill>
                  <a:srgbClr val="17150F"/>
                </a:solidFill>
                <a:latin typeface="Arial"/>
              </a:rPr>
              <a:t>Cuánto</a:t>
            </a:r>
            <a:r>
              <a:rPr sz="4000" b="1" dirty="0">
                <a:solidFill>
                  <a:srgbClr val="17150F"/>
                </a:solidFill>
                <a:latin typeface="Arial"/>
              </a:rPr>
              <a:t> </a:t>
            </a:r>
            <a:r>
              <a:rPr sz="4000" b="1" dirty="0" err="1">
                <a:solidFill>
                  <a:srgbClr val="17150F"/>
                </a:solidFill>
                <a:latin typeface="Arial"/>
              </a:rPr>
              <a:t>pedir</a:t>
            </a:r>
            <a:r>
              <a:rPr sz="4000" b="1" dirty="0">
                <a:solidFill>
                  <a:srgbClr val="17150F"/>
                </a:solidFill>
                <a:latin typeface="Arial"/>
              </a:rPr>
              <a:t> </a:t>
            </a:r>
            <a:r>
              <a:rPr sz="4000" b="1" dirty="0" err="1">
                <a:solidFill>
                  <a:srgbClr val="17150F"/>
                </a:solidFill>
                <a:latin typeface="Arial"/>
              </a:rPr>
              <a:t>cada</a:t>
            </a:r>
            <a:r>
              <a:rPr sz="4000" b="1" dirty="0">
                <a:solidFill>
                  <a:srgbClr val="17150F"/>
                </a:solidFill>
                <a:latin typeface="Arial"/>
              </a:rPr>
              <a:t> </a:t>
            </a:r>
            <a:r>
              <a:rPr sz="4000" b="1" dirty="0" err="1">
                <a:solidFill>
                  <a:srgbClr val="17150F"/>
                </a:solidFill>
                <a:latin typeface="Arial"/>
              </a:rPr>
              <a:t>semana</a:t>
            </a:r>
            <a:r>
              <a:rPr sz="4000" b="1" dirty="0">
                <a:solidFill>
                  <a:srgbClr val="17150F"/>
                </a:solidFill>
                <a:latin typeface="Arial"/>
              </a:rPr>
              <a:t>,
</a:t>
            </a:r>
            <a:r>
              <a:rPr sz="4000" b="1" dirty="0" err="1">
                <a:solidFill>
                  <a:srgbClr val="17150F"/>
                </a:solidFill>
                <a:latin typeface="Arial"/>
              </a:rPr>
              <a:t>producto</a:t>
            </a:r>
            <a:r>
              <a:rPr sz="4000" b="1" dirty="0">
                <a:solidFill>
                  <a:srgbClr val="17150F"/>
                </a:solidFill>
                <a:latin typeface="Arial"/>
              </a:rPr>
              <a:t> </a:t>
            </a:r>
            <a:r>
              <a:rPr sz="4000" b="1" dirty="0" err="1">
                <a:solidFill>
                  <a:srgbClr val="17150F"/>
                </a:solidFill>
                <a:latin typeface="Arial"/>
              </a:rPr>
              <a:t>por</a:t>
            </a:r>
            <a:r>
              <a:rPr sz="4000" b="1" dirty="0">
                <a:solidFill>
                  <a:srgbClr val="17150F"/>
                </a:solidFill>
                <a:latin typeface="Arial"/>
              </a:rPr>
              <a:t> </a:t>
            </a:r>
            <a:r>
              <a:rPr sz="4000" b="1" dirty="0" err="1">
                <a:solidFill>
                  <a:srgbClr val="17150F"/>
                </a:solidFill>
                <a:latin typeface="Arial"/>
              </a:rPr>
              <a:t>producto</a:t>
            </a:r>
            <a:r>
              <a:rPr sz="4000" b="1" dirty="0">
                <a:solidFill>
                  <a:srgbClr val="17150F"/>
                </a:solidFill>
                <a:latin typeface="Arial"/>
              </a:rPr>
              <a:t>
y tienda </a:t>
            </a:r>
            <a:r>
              <a:rPr sz="4000" b="1" dirty="0" err="1">
                <a:solidFill>
                  <a:srgbClr val="17150F"/>
                </a:solidFill>
                <a:latin typeface="Arial"/>
              </a:rPr>
              <a:t>por</a:t>
            </a:r>
            <a:r>
              <a:rPr sz="4000" b="1" dirty="0">
                <a:solidFill>
                  <a:srgbClr val="17150F"/>
                </a:solidFill>
                <a:latin typeface="Arial"/>
              </a:rPr>
              <a:t> tienda</a:t>
            </a:r>
          </a:p>
        </p:txBody>
      </p:sp>
      <p:sp>
        <p:nvSpPr>
          <p:cNvPr id="6" name="TextBox 5"/>
          <p:cNvSpPr txBox="1"/>
          <p:nvPr/>
        </p:nvSpPr>
        <p:spPr>
          <a:xfrm>
            <a:off x="777240" y="4343400"/>
            <a:ext cx="8595360" cy="914400"/>
          </a:xfrm>
          <a:prstGeom prst="rect">
            <a:avLst/>
          </a:prstGeom>
          <a:noFill/>
        </p:spPr>
        <p:txBody>
          <a:bodyPr wrap="square" lIns="0" tIns="0" rIns="0" bIns="0">
            <a:spAutoFit/>
          </a:bodyPr>
          <a:lstStyle/>
          <a:p>
            <a:pPr algn="l">
              <a:lnSpc>
                <a:spcPct val="135000"/>
              </a:lnSpc>
              <a:spcBef>
                <a:spcPts val="0"/>
              </a:spcBef>
              <a:spcAft>
                <a:spcPts val="0"/>
              </a:spcAft>
            </a:pPr>
            <a:r>
              <a:rPr sz="1550" b="0" dirty="0">
                <a:solidFill>
                  <a:srgbClr val="555045"/>
                </a:solidFill>
                <a:latin typeface="Arial"/>
              </a:rPr>
              <a:t>El </a:t>
            </a:r>
            <a:r>
              <a:rPr sz="1550" b="0" dirty="0" err="1">
                <a:solidFill>
                  <a:srgbClr val="555045"/>
                </a:solidFill>
                <a:latin typeface="Arial"/>
              </a:rPr>
              <a:t>entregable</a:t>
            </a:r>
            <a:r>
              <a:rPr sz="1550" b="0" dirty="0">
                <a:solidFill>
                  <a:srgbClr val="555045"/>
                </a:solidFill>
                <a:latin typeface="Arial"/>
              </a:rPr>
              <a:t> no es un </a:t>
            </a:r>
            <a:r>
              <a:rPr sz="1550" b="0" dirty="0" err="1">
                <a:solidFill>
                  <a:srgbClr val="555045"/>
                </a:solidFill>
                <a:latin typeface="Arial"/>
              </a:rPr>
              <a:t>pronóstico</a:t>
            </a:r>
            <a:r>
              <a:rPr sz="1550" b="0" dirty="0">
                <a:solidFill>
                  <a:srgbClr val="555045"/>
                </a:solidFill>
                <a:latin typeface="Arial"/>
              </a:rPr>
              <a:t>. Es la </a:t>
            </a:r>
            <a:r>
              <a:rPr sz="1550" b="0" dirty="0" err="1">
                <a:solidFill>
                  <a:srgbClr val="555045"/>
                </a:solidFill>
                <a:latin typeface="Arial"/>
              </a:rPr>
              <a:t>cantidad</a:t>
            </a:r>
            <a:r>
              <a:rPr sz="1550" b="0" dirty="0">
                <a:solidFill>
                  <a:srgbClr val="555045"/>
                </a:solidFill>
                <a:latin typeface="Arial"/>
              </a:rPr>
              <a:t> </a:t>
            </a:r>
            <a:r>
              <a:rPr sz="1550" b="0" dirty="0" err="1">
                <a:solidFill>
                  <a:srgbClr val="555045"/>
                </a:solidFill>
                <a:latin typeface="Arial"/>
              </a:rPr>
              <a:t>que</a:t>
            </a:r>
            <a:r>
              <a:rPr sz="1550" b="0" dirty="0">
                <a:solidFill>
                  <a:srgbClr val="555045"/>
                </a:solidFill>
                <a:latin typeface="Arial"/>
              </a:rPr>
              <a:t> </a:t>
            </a:r>
            <a:r>
              <a:rPr sz="1550" b="0" dirty="0" err="1">
                <a:solidFill>
                  <a:srgbClr val="555045"/>
                </a:solidFill>
                <a:latin typeface="Arial"/>
              </a:rPr>
              <a:t>cada</a:t>
            </a:r>
            <a:r>
              <a:rPr sz="1550" b="0" dirty="0">
                <a:solidFill>
                  <a:srgbClr val="555045"/>
                </a:solidFill>
                <a:latin typeface="Arial"/>
              </a:rPr>
              <a:t> tienda </a:t>
            </a:r>
            <a:r>
              <a:rPr sz="1550" b="0" dirty="0" err="1">
                <a:solidFill>
                  <a:srgbClr val="555045"/>
                </a:solidFill>
                <a:latin typeface="Arial"/>
              </a:rPr>
              <a:t>ejecuta</a:t>
            </a:r>
            <a:r>
              <a:rPr sz="1550" b="0" dirty="0">
                <a:solidFill>
                  <a:srgbClr val="555045"/>
                </a:solidFill>
                <a:latin typeface="Arial"/>
              </a:rPr>
              <a:t>, </a:t>
            </a:r>
            <a:r>
              <a:rPr sz="1550" b="0" dirty="0" err="1">
                <a:solidFill>
                  <a:srgbClr val="555045"/>
                </a:solidFill>
                <a:latin typeface="Arial"/>
              </a:rPr>
              <a:t>calculada</a:t>
            </a:r>
            <a:r>
              <a:rPr sz="1550" b="0" dirty="0">
                <a:solidFill>
                  <a:srgbClr val="555045"/>
                </a:solidFill>
                <a:latin typeface="Arial"/>
              </a:rPr>
              <a:t> a </a:t>
            </a:r>
            <a:r>
              <a:rPr sz="1550" b="0" dirty="0" err="1">
                <a:solidFill>
                  <a:srgbClr val="555045"/>
                </a:solidFill>
                <a:latin typeface="Arial"/>
              </a:rPr>
              <a:t>partir</a:t>
            </a:r>
            <a:r>
              <a:rPr sz="1550" b="0" dirty="0">
                <a:solidFill>
                  <a:srgbClr val="555045"/>
                </a:solidFill>
                <a:latin typeface="Arial"/>
              </a:rPr>
              <a:t> de lo </a:t>
            </a:r>
            <a:r>
              <a:rPr sz="1550" b="0" dirty="0" err="1">
                <a:solidFill>
                  <a:srgbClr val="555045"/>
                </a:solidFill>
                <a:latin typeface="Arial"/>
              </a:rPr>
              <a:t>que</a:t>
            </a:r>
            <a:r>
              <a:rPr sz="1550" b="0" dirty="0">
                <a:solidFill>
                  <a:srgbClr val="555045"/>
                </a:solidFill>
                <a:latin typeface="Arial"/>
              </a:rPr>
              <a:t> cuesta </a:t>
            </a:r>
            <a:r>
              <a:rPr sz="1550" b="0" dirty="0" err="1">
                <a:solidFill>
                  <a:srgbClr val="555045"/>
                </a:solidFill>
                <a:latin typeface="Arial"/>
              </a:rPr>
              <a:t>quedarse</a:t>
            </a:r>
            <a:r>
              <a:rPr sz="1550" b="0" dirty="0">
                <a:solidFill>
                  <a:srgbClr val="555045"/>
                </a:solidFill>
                <a:latin typeface="Arial"/>
              </a:rPr>
              <a:t> corto y lo </a:t>
            </a:r>
            <a:r>
              <a:rPr sz="1550" b="0" dirty="0" err="1">
                <a:solidFill>
                  <a:srgbClr val="555045"/>
                </a:solidFill>
                <a:latin typeface="Arial"/>
              </a:rPr>
              <a:t>que</a:t>
            </a:r>
            <a:r>
              <a:rPr sz="1550" b="0" dirty="0">
                <a:solidFill>
                  <a:srgbClr val="555045"/>
                </a:solidFill>
                <a:latin typeface="Arial"/>
              </a:rPr>
              <a:t> cuesta </a:t>
            </a:r>
            <a:r>
              <a:rPr sz="1550" b="0" dirty="0" err="1">
                <a:solidFill>
                  <a:srgbClr val="555045"/>
                </a:solidFill>
                <a:latin typeface="Arial"/>
              </a:rPr>
              <a:t>que</a:t>
            </a:r>
            <a:r>
              <a:rPr sz="1550" b="0" dirty="0">
                <a:solidFill>
                  <a:srgbClr val="555045"/>
                </a:solidFill>
                <a:latin typeface="Arial"/>
              </a:rPr>
              <a:t> </a:t>
            </a:r>
            <a:r>
              <a:rPr sz="1550" b="0" dirty="0" err="1">
                <a:solidFill>
                  <a:srgbClr val="555045"/>
                </a:solidFill>
                <a:latin typeface="Arial"/>
              </a:rPr>
              <a:t>sobre</a:t>
            </a:r>
            <a:r>
              <a:rPr sz="1550" b="0" dirty="0">
                <a:solidFill>
                  <a:srgbClr val="555045"/>
                </a:solidFill>
                <a:latin typeface="Arial"/>
              </a:rPr>
              <a:t>.</a:t>
            </a:r>
          </a:p>
        </p:txBody>
      </p:sp>
      <p:sp>
        <p:nvSpPr>
          <p:cNvPr id="7" name="Rectangle 6"/>
          <p:cNvSpPr/>
          <p:nvPr/>
        </p:nvSpPr>
        <p:spPr>
          <a:xfrm>
            <a:off x="777240" y="5440680"/>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5669280"/>
            <a:ext cx="9144000" cy="212494"/>
          </a:xfrm>
          <a:prstGeom prst="rect">
            <a:avLst/>
          </a:prstGeom>
          <a:noFill/>
        </p:spPr>
        <p:txBody>
          <a:bodyPr wrap="square" lIns="0" tIns="0" rIns="0" bIns="0">
            <a:spAutoFit/>
          </a:bodyPr>
          <a:lstStyle/>
          <a:p>
            <a:pPr algn="l">
              <a:lnSpc>
                <a:spcPct val="122000"/>
              </a:lnSpc>
              <a:spcBef>
                <a:spcPts val="0"/>
              </a:spcBef>
              <a:spcAft>
                <a:spcPts val="0"/>
              </a:spcAft>
            </a:pPr>
            <a:r>
              <a:rPr sz="1250" b="0" dirty="0">
                <a:solidFill>
                  <a:srgbClr val="8B8478"/>
                </a:solidFill>
                <a:latin typeface="Arial"/>
              </a:rPr>
              <a:t>20 tiendas · 8 </a:t>
            </a:r>
            <a:r>
              <a:rPr sz="1250" b="0" dirty="0" err="1">
                <a:solidFill>
                  <a:srgbClr val="8B8478"/>
                </a:solidFill>
                <a:latin typeface="Arial"/>
              </a:rPr>
              <a:t>productos</a:t>
            </a:r>
            <a:r>
              <a:rPr sz="1250" b="0" dirty="0">
                <a:solidFill>
                  <a:srgbClr val="8B8478"/>
                </a:solidFill>
                <a:latin typeface="Arial"/>
              </a:rPr>
              <a:t> · 13 </a:t>
            </a:r>
            <a:r>
              <a:rPr sz="1250" b="0" dirty="0" err="1">
                <a:solidFill>
                  <a:srgbClr val="8B8478"/>
                </a:solidFill>
                <a:latin typeface="Arial"/>
              </a:rPr>
              <a:t>semanas</a:t>
            </a:r>
            <a:r>
              <a:rPr sz="1250" b="0" dirty="0">
                <a:solidFill>
                  <a:srgbClr val="8B8478"/>
                </a:solidFill>
                <a:latin typeface="Arial"/>
              </a:rPr>
              <a:t> · 2.080 </a:t>
            </a:r>
            <a:r>
              <a:rPr sz="1250" b="0" dirty="0" err="1">
                <a:solidFill>
                  <a:srgbClr val="8B8478"/>
                </a:solidFill>
                <a:latin typeface="Arial"/>
              </a:rPr>
              <a:t>observaciones</a:t>
            </a:r>
            <a:endParaRPr sz="1250" b="0" dirty="0">
              <a:solidFill>
                <a:srgbClr val="8B8478"/>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EL ENCARGO</a:t>
            </a:r>
          </a:p>
        </p:txBody>
      </p:sp>
      <p:sp>
        <p:nvSpPr>
          <p:cNvPr id="4" name="TextBox 3"/>
          <p:cNvSpPr txBox="1"/>
          <p:nvPr/>
        </p:nvSpPr>
        <p:spPr>
          <a:xfrm>
            <a:off x="548640"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Tres cosas pedidas, tres cosas entregadas</a:t>
            </a:r>
          </a:p>
        </p:txBody>
      </p:sp>
      <p:graphicFrame>
        <p:nvGraphicFramePr>
          <p:cNvPr id="5" name="Table 4"/>
          <p:cNvGraphicFramePr>
            <a:graphicFrameLocks noGrp="1"/>
          </p:cNvGraphicFramePr>
          <p:nvPr/>
        </p:nvGraphicFramePr>
        <p:xfrm>
          <a:off x="548640" y="1060196"/>
          <a:ext cx="5387185" cy="1938528"/>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r>
                        <a:rPr sz="810" b="1">
                          <a:solidFill>
                            <a:srgbClr val="8B8478"/>
                          </a:solidFill>
                          <a:latin typeface="Arial"/>
                        </a:rPr>
                        <a:t>Lo que se pide</a:t>
                      </a:r>
                    </a:p>
                  </a:txBody>
                  <a:tcPr marL="82296" marR="82296" anchor="ctr">
                    <a:solidFill>
                      <a:srgbClr val="F4F2ED"/>
                    </a:solidFill>
                  </a:tcPr>
                </a:tc>
                <a:tc>
                  <a:txBody>
                    <a:bodyPr/>
                    <a:lstStyle/>
                    <a:p>
                      <a:pPr algn="r"/>
                      <a:r>
                        <a:rPr sz="810" b="1">
                          <a:solidFill>
                            <a:srgbClr val="8B8478"/>
                          </a:solidFill>
                          <a:latin typeface="Arial"/>
                        </a:rPr>
                        <a:t>Lo que se entrega</a:t>
                      </a:r>
                    </a:p>
                  </a:txBody>
                  <a:tcPr marL="82296" marR="82296" anchor="ctr">
                    <a:solidFill>
                      <a:srgbClr val="F4F2ED"/>
                    </a:solidFill>
                  </a:tcPr>
                </a:tc>
                <a:tc>
                  <a:txBody>
                    <a:bodyPr/>
                    <a:lstStyle/>
                    <a:p>
                      <a:pPr algn="r"/>
                      <a:r>
                        <a:rPr sz="810" b="1">
                          <a:solidFill>
                            <a:srgbClr val="8B8478"/>
                          </a:solidFill>
                          <a:latin typeface="Arial"/>
                        </a:rPr>
                        <a:t>Dónde está</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0">
                          <a:solidFill>
                            <a:srgbClr val="17150F"/>
                          </a:solidFill>
                          <a:latin typeface="Arial"/>
                        </a:rPr>
                        <a:t>Pronóstico semanal de demanda por SKU y tienda</a:t>
                      </a:r>
                    </a:p>
                  </a:txBody>
                  <a:tcPr marL="82296" marR="82296" anchor="ctr">
                    <a:solidFill>
                      <a:srgbClr val="FFFFFF"/>
                    </a:solidFill>
                  </a:tcPr>
                </a:tc>
                <a:tc>
                  <a:txBody>
                    <a:bodyPr/>
                    <a:lstStyle/>
                    <a:p>
                      <a:pPr algn="r"/>
                      <a:r>
                        <a:rPr sz="960" b="0">
                          <a:solidFill>
                            <a:srgbClr val="555045"/>
                          </a:solidFill>
                          <a:latin typeface="Arial"/>
                        </a:rPr>
                        <a:t>Regresión cuantílica relativa, 17 niveles entrenados</a:t>
                      </a:r>
                    </a:p>
                  </a:txBody>
                  <a:tcPr marL="82296" marR="82296" anchor="ctr">
                    <a:solidFill>
                      <a:srgbClr val="FFFFFF"/>
                    </a:solidFill>
                  </a:tcPr>
                </a:tc>
                <a:tc>
                  <a:txBody>
                    <a:bodyPr/>
                    <a:lstStyle/>
                    <a:p>
                      <a:pPr algn="r"/>
                      <a:r>
                        <a:rPr sz="960" b="0">
                          <a:solidFill>
                            <a:srgbClr val="555045"/>
                          </a:solidFill>
                          <a:latin typeface="Arial"/>
                        </a:rPr>
                        <a:t>Pasos 10 y 11</a:t>
                      </a:r>
                    </a:p>
                  </a:txBody>
                  <a:tcPr marL="82296" marR="82296" anchor="ctr">
                    <a:solidFill>
                      <a:srgbClr val="FFFFF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Una política de pedido que use la incertidumbre y los márgenes</a:t>
                      </a:r>
                    </a:p>
                  </a:txBody>
                  <a:tcPr marL="82296" marR="82296" anchor="ctr">
                    <a:solidFill>
                      <a:srgbClr val="FFFFFF"/>
                    </a:solidFill>
                  </a:tcPr>
                </a:tc>
                <a:tc>
                  <a:txBody>
                    <a:bodyPr/>
                    <a:lstStyle/>
                    <a:p>
                      <a:pPr algn="r"/>
                      <a:r>
                        <a:rPr sz="960" b="0">
                          <a:solidFill>
                            <a:srgbClr val="555045"/>
                          </a:solidFill>
                          <a:latin typeface="Arial"/>
                        </a:rPr>
                        <a:t>Nivel de servicio por producto derivado de sus costes</a:t>
                      </a:r>
                    </a:p>
                  </a:txBody>
                  <a:tcPr marL="82296" marR="82296" anchor="ctr">
                    <a:solidFill>
                      <a:srgbClr val="FFFFFF"/>
                    </a:solidFill>
                  </a:tcPr>
                </a:tc>
                <a:tc>
                  <a:txBody>
                    <a:bodyPr/>
                    <a:lstStyle/>
                    <a:p>
                      <a:pPr algn="r"/>
                      <a:r>
                        <a:rPr sz="960" b="0">
                          <a:solidFill>
                            <a:srgbClr val="555045"/>
                          </a:solidFill>
                          <a:latin typeface="Arial"/>
                        </a:rPr>
                        <a:t>Pasos 9 y 14</a:t>
                      </a:r>
                    </a:p>
                  </a:txBody>
                  <a:tcPr marL="82296" marR="82296" anchor="ctr">
                    <a:solidFill>
                      <a:srgbClr val="FFFFFF"/>
                    </a:solidFill>
                  </a:tcPr>
                </a:tc>
                <a:extLst>
                  <a:ext uri="{0D108BD9-81ED-4DB2-BD59-A6C34878D82A}">
                    <a16:rowId xmlns:a16="http://schemas.microsoft.com/office/drawing/2014/main" val="10002"/>
                  </a:ext>
                </a:extLst>
              </a:tr>
              <a:tr h="228600">
                <a:tc>
                  <a:txBody>
                    <a:bodyPr/>
                    <a:lstStyle/>
                    <a:p>
                      <a:pPr algn="l"/>
                      <a:r>
                        <a:rPr sz="960" b="0">
                          <a:solidFill>
                            <a:srgbClr val="17150F"/>
                          </a:solidFill>
                          <a:latin typeface="Arial"/>
                        </a:rPr>
                        <a:t>Decidir si el pedido es agresivo o conservador</a:t>
                      </a:r>
                    </a:p>
                  </a:txBody>
                  <a:tcPr marL="82296" marR="82296" anchor="ctr">
                    <a:solidFill>
                      <a:srgbClr val="FFFFFF"/>
                    </a:solidFill>
                  </a:tcPr>
                </a:tc>
                <a:tc>
                  <a:txBody>
                    <a:bodyPr/>
                    <a:lstStyle/>
                    <a:p>
                      <a:pPr algn="r"/>
                      <a:r>
                        <a:rPr sz="960" b="0">
                          <a:solidFill>
                            <a:srgbClr val="555045"/>
                          </a:solidFill>
                          <a:latin typeface="Arial"/>
                        </a:rPr>
                        <a:t>Colchón del 2,7 % al 6,3 % según el margen del producto</a:t>
                      </a:r>
                    </a:p>
                  </a:txBody>
                  <a:tcPr marL="82296" marR="82296" anchor="ctr">
                    <a:solidFill>
                      <a:srgbClr val="FFFFFF"/>
                    </a:solidFill>
                  </a:tcPr>
                </a:tc>
                <a:tc>
                  <a:txBody>
                    <a:bodyPr/>
                    <a:lstStyle/>
                    <a:p>
                      <a:pPr algn="r"/>
                      <a:r>
                        <a:rPr sz="960" b="0">
                          <a:solidFill>
                            <a:srgbClr val="555045"/>
                          </a:solidFill>
                          <a:latin typeface="Arial"/>
                        </a:rPr>
                        <a:t>Paso 14</a:t>
                      </a:r>
                    </a:p>
                  </a:txBody>
                  <a:tcPr marL="82296" marR="82296" anchor="ctr">
                    <a:solidFill>
                      <a:srgbClr val="FFFFFF"/>
                    </a:solidFill>
                  </a:tcPr>
                </a:tc>
                <a:extLst>
                  <a:ext uri="{0D108BD9-81ED-4DB2-BD59-A6C34878D82A}">
                    <a16:rowId xmlns:a16="http://schemas.microsoft.com/office/drawing/2014/main" val="10003"/>
                  </a:ext>
                </a:extLst>
              </a:tr>
            </a:tbl>
          </a:graphicData>
        </a:graphic>
      </p:graphicFrame>
      <p:sp>
        <p:nvSpPr>
          <p:cNvPr id="6" name="TextBox 5"/>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EL PROBLEMA</a:t>
            </a:r>
          </a:p>
        </p:txBody>
      </p:sp>
      <p:sp>
        <p:nvSpPr>
          <p:cNvPr id="7" name="TextBox 6"/>
          <p:cNvSpPr txBox="1"/>
          <p:nvPr/>
        </p:nvSpPr>
        <p:spPr>
          <a:xfrm>
            <a:off x="6255867"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Equivocarse por arriba y por abajo no cuesta lo mismo</a:t>
            </a:r>
          </a:p>
        </p:txBody>
      </p:sp>
      <p:sp>
        <p:nvSpPr>
          <p:cNvPr id="8" name="TextBox 7"/>
          <p:cNvSpPr txBox="1"/>
          <p:nvPr/>
        </p:nvSpPr>
        <p:spPr>
          <a:xfrm>
            <a:off x="6255867" y="1060196"/>
            <a:ext cx="5387187" cy="434949"/>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Por eso la cantidad correcta nunca es la demanda esperada. Ejemplo con un Tinto (se vende en 2.500, ganancia 1.700, producrilo 800 y guardarlo 10).</a:t>
            </a:r>
          </a:p>
        </p:txBody>
      </p:sp>
      <p:sp>
        <p:nvSpPr>
          <p:cNvPr id="9" name="TextBox 8"/>
          <p:cNvSpPr txBox="1"/>
          <p:nvPr/>
        </p:nvSpPr>
        <p:spPr>
          <a:xfrm>
            <a:off x="6255867" y="1531721"/>
            <a:ext cx="5387187" cy="717600"/>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SI FALTA UNA UNIDAD</a:t>
            </a:r>
          </a:p>
          <a:p>
            <a:pPr>
              <a:lnSpc>
                <a:spcPct val="118000"/>
              </a:lnSpc>
              <a:spcAft>
                <a:spcPts val="300"/>
              </a:spcAft>
            </a:pPr>
            <a:r>
              <a:rPr sz="1450" b="1">
                <a:solidFill>
                  <a:srgbClr val="17150F"/>
                </a:solidFill>
                <a:latin typeface="Arial"/>
              </a:rPr>
              <a:t>1.700 pesos</a:t>
            </a:r>
          </a:p>
          <a:p>
            <a:pPr>
              <a:lnSpc>
                <a:spcPct val="118000"/>
              </a:lnSpc>
              <a:spcAft>
                <a:spcPts val="300"/>
              </a:spcAft>
            </a:pPr>
            <a:r>
              <a:rPr sz="1019" b="0">
                <a:solidFill>
                  <a:srgbClr val="555045"/>
                </a:solidFill>
                <a:latin typeface="Arial"/>
              </a:rPr>
              <a:t>Es el margen que se deja de ganar. El cliente quería el producto y no estaba.</a:t>
            </a:r>
          </a:p>
        </p:txBody>
      </p:sp>
      <p:sp>
        <p:nvSpPr>
          <p:cNvPr id="10" name="TextBox 9"/>
          <p:cNvSpPr txBox="1"/>
          <p:nvPr/>
        </p:nvSpPr>
        <p:spPr>
          <a:xfrm>
            <a:off x="6255867" y="2285897"/>
            <a:ext cx="5387187" cy="883412"/>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SI SOBRA UNA UNIDAD</a:t>
            </a:r>
          </a:p>
          <a:p>
            <a:pPr>
              <a:lnSpc>
                <a:spcPct val="118000"/>
              </a:lnSpc>
              <a:spcAft>
                <a:spcPts val="300"/>
              </a:spcAft>
            </a:pPr>
            <a:r>
              <a:rPr sz="1450" b="1">
                <a:solidFill>
                  <a:srgbClr val="17150F"/>
                </a:solidFill>
                <a:latin typeface="Arial"/>
              </a:rPr>
              <a:t>810 pesos</a:t>
            </a:r>
          </a:p>
          <a:p>
            <a:pPr>
              <a:lnSpc>
                <a:spcPct val="118000"/>
              </a:lnSpc>
              <a:spcAft>
                <a:spcPts val="300"/>
              </a:spcAft>
            </a:pPr>
            <a:r>
              <a:rPr sz="1019" b="0">
                <a:solidFill>
                  <a:srgbClr val="555045"/>
                </a:solidFill>
                <a:latin typeface="Arial"/>
              </a:rPr>
              <a:t>Es el producto que se descarta al cierre más el almacenaje. Un tinto no se guarda para mañana.</a:t>
            </a:r>
          </a:p>
        </p:txBody>
      </p:sp>
      <p:sp>
        <p:nvSpPr>
          <p:cNvPr id="11" name="TextBox 10"/>
          <p:cNvSpPr txBox="1"/>
          <p:nvPr/>
        </p:nvSpPr>
        <p:spPr>
          <a:xfrm>
            <a:off x="6255867" y="3205885"/>
            <a:ext cx="5387187" cy="434949"/>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 Quedarse corto cuesta algo más del </a:t>
            </a:r>
            <a:r>
              <a:rPr sz="1080" b="1">
                <a:solidFill>
                  <a:srgbClr val="17150F"/>
                </a:solidFill>
                <a:latin typeface="Arial"/>
              </a:rPr>
              <a:t>doble</a:t>
            </a:r>
            <a:r>
              <a:rPr sz="1080" b="0">
                <a:solidFill>
                  <a:srgbClr val="555045"/>
                </a:solidFill>
                <a:latin typeface="Arial"/>
              </a:rPr>
              <a:t> que pasarse, así que conviene pedir por encima de lo esperado.</a:t>
            </a:r>
          </a:p>
        </p:txBody>
      </p:sp>
      <p:sp>
        <p:nvSpPr>
          <p:cNvPr id="12" name="TextBox 11"/>
          <p:cNvSpPr txBox="1"/>
          <p:nvPr/>
        </p:nvSpPr>
        <p:spPr>
          <a:xfrm>
            <a:off x="6255867" y="3677410"/>
            <a:ext cx="5387187" cy="434949"/>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 Pero solo hasta cierto punto, y </a:t>
            </a:r>
            <a:r>
              <a:rPr sz="1080" b="1">
                <a:solidFill>
                  <a:srgbClr val="17150F"/>
                </a:solidFill>
                <a:latin typeface="Arial"/>
              </a:rPr>
              <a:t>ese punto es distinto en cada producto</a:t>
            </a:r>
            <a:r>
              <a:rPr sz="1080" b="0">
                <a:solidFill>
                  <a:srgbClr val="555045"/>
                </a:solidFill>
                <a:latin typeface="Arial"/>
              </a:rPr>
              <a:t> porque sus dos costes lo son.</a:t>
            </a:r>
          </a:p>
        </p:txBody>
      </p:sp>
      <p:sp>
        <p:nvSpPr>
          <p:cNvPr id="13" name="Rectangle 12"/>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El encargo</a:t>
            </a:r>
          </a:p>
        </p:txBody>
      </p:sp>
      <p:sp>
        <p:nvSpPr>
          <p:cNvPr id="16" name="TextBox 15"/>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LOS DATOS DE PARTIDA</a:t>
            </a:r>
          </a:p>
        </p:txBody>
      </p:sp>
      <p:sp>
        <p:nvSpPr>
          <p:cNvPr id="4" name="TextBox 3"/>
          <p:cNvSpPr txBox="1"/>
          <p:nvPr/>
        </p:nvSpPr>
        <p:spPr>
          <a:xfrm>
            <a:off x="548640"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Cinco tablas, trece semanas, ciento sesenta series</a:t>
            </a:r>
          </a:p>
        </p:txBody>
      </p:sp>
      <p:graphicFrame>
        <p:nvGraphicFramePr>
          <p:cNvPr id="5" name="Table 4"/>
          <p:cNvGraphicFramePr>
            <a:graphicFrameLocks noGrp="1"/>
          </p:cNvGraphicFramePr>
          <p:nvPr/>
        </p:nvGraphicFramePr>
        <p:xfrm>
          <a:off x="548640" y="1060196"/>
          <a:ext cx="5387185" cy="2267712"/>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r>
                        <a:rPr sz="810" b="1">
                          <a:solidFill>
                            <a:srgbClr val="8B8478"/>
                          </a:solidFill>
                          <a:latin typeface="Arial"/>
                        </a:rPr>
                        <a:t>Tabla</a:t>
                      </a:r>
                    </a:p>
                  </a:txBody>
                  <a:tcPr marL="82296" marR="82296" anchor="ctr">
                    <a:solidFill>
                      <a:srgbClr val="F4F2ED"/>
                    </a:solidFill>
                  </a:tcPr>
                </a:tc>
                <a:tc>
                  <a:txBody>
                    <a:bodyPr/>
                    <a:lstStyle/>
                    <a:p>
                      <a:pPr algn="r"/>
                      <a:r>
                        <a:rPr sz="810" b="1">
                          <a:solidFill>
                            <a:srgbClr val="8B8478"/>
                          </a:solidFill>
                          <a:latin typeface="Arial"/>
                        </a:rPr>
                        <a:t>Contenido</a:t>
                      </a:r>
                    </a:p>
                  </a:txBody>
                  <a:tcPr marL="82296" marR="82296" anchor="ctr">
                    <a:solidFill>
                      <a:srgbClr val="F4F2ED"/>
                    </a:solidFill>
                  </a:tcPr>
                </a:tc>
                <a:tc>
                  <a:txBody>
                    <a:bodyPr/>
                    <a:lstStyle/>
                    <a:p>
                      <a:pPr algn="r"/>
                      <a:r>
                        <a:rPr sz="810" b="1">
                          <a:solidFill>
                            <a:srgbClr val="8B8478"/>
                          </a:solidFill>
                          <a:latin typeface="Arial"/>
                        </a:rPr>
                        <a:t>Uso en el proyecto</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0">
                          <a:solidFill>
                            <a:srgbClr val="17150F"/>
                          </a:solidFill>
                          <a:latin typeface="Arial"/>
                        </a:rPr>
                        <a:t>ventas_historicas</a:t>
                      </a:r>
                    </a:p>
                  </a:txBody>
                  <a:tcPr marL="82296" marR="82296" anchor="ctr">
                    <a:solidFill>
                      <a:srgbClr val="FFFFFF"/>
                    </a:solidFill>
                  </a:tcPr>
                </a:tc>
                <a:tc>
                  <a:txBody>
                    <a:bodyPr/>
                    <a:lstStyle/>
                    <a:p>
                      <a:pPr algn="r"/>
                      <a:r>
                        <a:rPr sz="960" b="0">
                          <a:solidFill>
                            <a:srgbClr val="555045"/>
                          </a:solidFill>
                          <a:latin typeface="Arial"/>
                        </a:rPr>
                        <a:t>Ventas diarias por tienda y producto</a:t>
                      </a:r>
                    </a:p>
                  </a:txBody>
                  <a:tcPr marL="82296" marR="82296" anchor="ctr">
                    <a:solidFill>
                      <a:srgbClr val="FFFFFF"/>
                    </a:solidFill>
                  </a:tcPr>
                </a:tc>
                <a:tc>
                  <a:txBody>
                    <a:bodyPr/>
                    <a:lstStyle/>
                    <a:p>
                      <a:pPr algn="r"/>
                      <a:r>
                        <a:rPr sz="960" b="0">
                          <a:solidFill>
                            <a:srgbClr val="555045"/>
                          </a:solidFill>
                          <a:latin typeface="Arial"/>
                        </a:rPr>
                        <a:t>Objetivo a predecir</a:t>
                      </a:r>
                    </a:p>
                  </a:txBody>
                  <a:tcPr marL="82296" marR="82296" anchor="ctr">
                    <a:solidFill>
                      <a:srgbClr val="FFFFF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catalogo_productos</a:t>
                      </a:r>
                    </a:p>
                  </a:txBody>
                  <a:tcPr marL="82296" marR="82296" anchor="ctr">
                    <a:solidFill>
                      <a:srgbClr val="FFFFFF"/>
                    </a:solidFill>
                  </a:tcPr>
                </a:tc>
                <a:tc>
                  <a:txBody>
                    <a:bodyPr/>
                    <a:lstStyle/>
                    <a:p>
                      <a:pPr algn="r"/>
                      <a:r>
                        <a:rPr sz="960" b="0">
                          <a:solidFill>
                            <a:srgbClr val="555045"/>
                          </a:solidFill>
                          <a:latin typeface="Arial"/>
                        </a:rPr>
                        <a:t>Precio, coste unitario y almacenaje</a:t>
                      </a:r>
                    </a:p>
                  </a:txBody>
                  <a:tcPr marL="82296" marR="82296" anchor="ctr">
                    <a:solidFill>
                      <a:srgbClr val="FFFFFF"/>
                    </a:solidFill>
                  </a:tcPr>
                </a:tc>
                <a:tc>
                  <a:txBody>
                    <a:bodyPr/>
                    <a:lstStyle/>
                    <a:p>
                      <a:pPr algn="r"/>
                      <a:r>
                        <a:rPr sz="960" b="0">
                          <a:solidFill>
                            <a:srgbClr val="555045"/>
                          </a:solidFill>
                          <a:latin typeface="Arial"/>
                        </a:rPr>
                        <a:t>Calcula el nivel de servicio</a:t>
                      </a:r>
                    </a:p>
                  </a:txBody>
                  <a:tcPr marL="82296" marR="82296" anchor="ctr">
                    <a:solidFill>
                      <a:srgbClr val="FFFFFF"/>
                    </a:solidFill>
                  </a:tcPr>
                </a:tc>
                <a:extLst>
                  <a:ext uri="{0D108BD9-81ED-4DB2-BD59-A6C34878D82A}">
                    <a16:rowId xmlns:a16="http://schemas.microsoft.com/office/drawing/2014/main" val="10002"/>
                  </a:ext>
                </a:extLst>
              </a:tr>
              <a:tr h="228600">
                <a:tc>
                  <a:txBody>
                    <a:bodyPr/>
                    <a:lstStyle/>
                    <a:p>
                      <a:pPr algn="l"/>
                      <a:r>
                        <a:rPr sz="960" b="0">
                          <a:solidFill>
                            <a:srgbClr val="17150F"/>
                          </a:solidFill>
                          <a:latin typeface="Arial"/>
                        </a:rPr>
                        <a:t>inventario_actual</a:t>
                      </a:r>
                    </a:p>
                  </a:txBody>
                  <a:tcPr marL="82296" marR="82296" anchor="ctr">
                    <a:solidFill>
                      <a:srgbClr val="FFFFFF"/>
                    </a:solidFill>
                  </a:tcPr>
                </a:tc>
                <a:tc>
                  <a:txBody>
                    <a:bodyPr/>
                    <a:lstStyle/>
                    <a:p>
                      <a:pPr algn="r"/>
                      <a:r>
                        <a:rPr sz="960" b="0">
                          <a:solidFill>
                            <a:srgbClr val="555045"/>
                          </a:solidFill>
                          <a:latin typeface="Arial"/>
                        </a:rPr>
                        <a:t>Stock disponible por serie</a:t>
                      </a:r>
                    </a:p>
                  </a:txBody>
                  <a:tcPr marL="82296" marR="82296" anchor="ctr">
                    <a:solidFill>
                      <a:srgbClr val="FFFFFF"/>
                    </a:solidFill>
                  </a:tcPr>
                </a:tc>
                <a:tc>
                  <a:txBody>
                    <a:bodyPr/>
                    <a:lstStyle/>
                    <a:p>
                      <a:pPr algn="r"/>
                      <a:r>
                        <a:rPr sz="960" b="0">
                          <a:solidFill>
                            <a:srgbClr val="555045"/>
                          </a:solidFill>
                          <a:latin typeface="Arial"/>
                        </a:rPr>
                        <a:t>Se resta del objetivo</a:t>
                      </a:r>
                    </a:p>
                  </a:txBody>
                  <a:tcPr marL="82296" marR="82296" anchor="ctr">
                    <a:solidFill>
                      <a:srgbClr val="FFFFFF"/>
                    </a:solidFill>
                  </a:tcPr>
                </a:tc>
                <a:extLst>
                  <a:ext uri="{0D108BD9-81ED-4DB2-BD59-A6C34878D82A}">
                    <a16:rowId xmlns:a16="http://schemas.microsoft.com/office/drawing/2014/main" val="10003"/>
                  </a:ext>
                </a:extLst>
              </a:tr>
              <a:tr h="228600">
                <a:tc>
                  <a:txBody>
                    <a:bodyPr/>
                    <a:lstStyle/>
                    <a:p>
                      <a:pPr algn="l"/>
                      <a:r>
                        <a:rPr sz="960" b="0">
                          <a:solidFill>
                            <a:srgbClr val="17150F"/>
                          </a:solidFill>
                          <a:latin typeface="Arial"/>
                        </a:rPr>
                        <a:t>maestro_tiendas</a:t>
                      </a:r>
                    </a:p>
                  </a:txBody>
                  <a:tcPr marL="82296" marR="82296" anchor="ctr">
                    <a:solidFill>
                      <a:srgbClr val="FFFFFF"/>
                    </a:solidFill>
                  </a:tcPr>
                </a:tc>
                <a:tc>
                  <a:txBody>
                    <a:bodyPr/>
                    <a:lstStyle/>
                    <a:p>
                      <a:pPr algn="r"/>
                      <a:r>
                        <a:rPr sz="960" b="0">
                          <a:solidFill>
                            <a:srgbClr val="555045"/>
                          </a:solidFill>
                          <a:latin typeface="Arial"/>
                        </a:rPr>
                        <a:t>Ciudad y superficie</a:t>
                      </a:r>
                    </a:p>
                  </a:txBody>
                  <a:tcPr marL="82296" marR="82296" anchor="ctr">
                    <a:solidFill>
                      <a:srgbClr val="FFFFFF"/>
                    </a:solidFill>
                  </a:tcPr>
                </a:tc>
                <a:tc>
                  <a:txBody>
                    <a:bodyPr/>
                    <a:lstStyle/>
                    <a:p>
                      <a:pPr algn="r"/>
                      <a:r>
                        <a:rPr sz="960" b="0">
                          <a:solidFill>
                            <a:srgbClr val="555045"/>
                          </a:solidFill>
                          <a:latin typeface="Arial"/>
                        </a:rPr>
                        <a:t>Superficie entra al modelo, ciudad no</a:t>
                      </a:r>
                    </a:p>
                  </a:txBody>
                  <a:tcPr marL="82296" marR="82296" anchor="ctr">
                    <a:solidFill>
                      <a:srgbClr val="FFFFFF"/>
                    </a:solidFill>
                  </a:tcPr>
                </a:tc>
                <a:extLst>
                  <a:ext uri="{0D108BD9-81ED-4DB2-BD59-A6C34878D82A}">
                    <a16:rowId xmlns:a16="http://schemas.microsoft.com/office/drawing/2014/main" val="10004"/>
                  </a:ext>
                </a:extLst>
              </a:tr>
              <a:tr h="228600">
                <a:tc>
                  <a:txBody>
                    <a:bodyPr/>
                    <a:lstStyle/>
                    <a:p>
                      <a:pPr algn="l"/>
                      <a:r>
                        <a:rPr sz="960" b="0">
                          <a:solidFill>
                            <a:srgbClr val="17150F"/>
                          </a:solidFill>
                          <a:latin typeface="Arial"/>
                        </a:rPr>
                        <a:t>ground_truth_trends</a:t>
                      </a:r>
                    </a:p>
                  </a:txBody>
                  <a:tcPr marL="82296" marR="82296" anchor="ctr">
                    <a:solidFill>
                      <a:srgbClr val="FFFFFF"/>
                    </a:solidFill>
                  </a:tcPr>
                </a:tc>
                <a:tc>
                  <a:txBody>
                    <a:bodyPr/>
                    <a:lstStyle/>
                    <a:p>
                      <a:pPr algn="r"/>
                      <a:r>
                        <a:rPr sz="960" b="0">
                          <a:solidFill>
                            <a:srgbClr val="555045"/>
                          </a:solidFill>
                          <a:latin typeface="Arial"/>
                        </a:rPr>
                        <a:t>Patrón real de cada serie</a:t>
                      </a:r>
                    </a:p>
                  </a:txBody>
                  <a:tcPr marL="82296" marR="82296" anchor="ctr">
                    <a:solidFill>
                      <a:srgbClr val="FFFFFF"/>
                    </a:solidFill>
                  </a:tcPr>
                </a:tc>
                <a:tc>
                  <a:txBody>
                    <a:bodyPr/>
                    <a:lstStyle/>
                    <a:p>
                      <a:pPr algn="r"/>
                      <a:r>
                        <a:rPr sz="960" b="0">
                          <a:solidFill>
                            <a:srgbClr val="555045"/>
                          </a:solidFill>
                          <a:latin typeface="Arial"/>
                        </a:rPr>
                        <a:t>Solo contraste, nunca predictor</a:t>
                      </a:r>
                    </a:p>
                  </a:txBody>
                  <a:tcPr marL="82296" marR="82296" anchor="ctr">
                    <a:solidFill>
                      <a:srgbClr val="FFFFFF"/>
                    </a:solidFill>
                  </a:tcPr>
                </a:tc>
                <a:extLst>
                  <a:ext uri="{0D108BD9-81ED-4DB2-BD59-A6C34878D82A}">
                    <a16:rowId xmlns:a16="http://schemas.microsoft.com/office/drawing/2014/main" val="10005"/>
                  </a:ext>
                </a:extLst>
              </a:tr>
            </a:tbl>
          </a:graphicData>
        </a:graphic>
      </p:graphicFrame>
      <p:sp>
        <p:nvSpPr>
          <p:cNvPr id="6" name="TextBox 5"/>
          <p:cNvSpPr txBox="1"/>
          <p:nvPr/>
        </p:nvSpPr>
        <p:spPr>
          <a:xfrm>
            <a:off x="548640" y="2642108"/>
            <a:ext cx="5387187" cy="707847"/>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OBSERVACIONES DIARIAS</a:t>
            </a:r>
          </a:p>
          <a:p>
            <a:pPr>
              <a:lnSpc>
                <a:spcPct val="118000"/>
              </a:lnSpc>
              <a:spcAft>
                <a:spcPts val="300"/>
              </a:spcAft>
            </a:pPr>
            <a:r>
              <a:rPr sz="1450" b="1">
                <a:solidFill>
                  <a:srgbClr val="17150F"/>
                </a:solidFill>
                <a:latin typeface="Arial"/>
              </a:rPr>
              <a:t>14.560</a:t>
            </a:r>
          </a:p>
          <a:p>
            <a:pPr>
              <a:lnSpc>
                <a:spcPct val="118000"/>
              </a:lnSpc>
              <a:spcAft>
                <a:spcPts val="300"/>
              </a:spcAft>
            </a:pPr>
            <a:r>
              <a:rPr sz="960" b="0">
                <a:solidFill>
                  <a:srgbClr val="555045"/>
                </a:solidFill>
                <a:latin typeface="Arial"/>
              </a:rPr>
              <a:t>del 1 de enero al 31 de marzo</a:t>
            </a:r>
          </a:p>
        </p:txBody>
      </p:sp>
      <p:sp>
        <p:nvSpPr>
          <p:cNvPr id="7" name="TextBox 6"/>
          <p:cNvSpPr txBox="1"/>
          <p:nvPr/>
        </p:nvSpPr>
        <p:spPr>
          <a:xfrm>
            <a:off x="548640" y="3386531"/>
            <a:ext cx="5387187" cy="707847"/>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PANEL SEMANAL</a:t>
            </a:r>
          </a:p>
          <a:p>
            <a:pPr>
              <a:lnSpc>
                <a:spcPct val="118000"/>
              </a:lnSpc>
              <a:spcAft>
                <a:spcPts val="300"/>
              </a:spcAft>
            </a:pPr>
            <a:r>
              <a:rPr sz="1450" b="1">
                <a:solidFill>
                  <a:srgbClr val="17150F"/>
                </a:solidFill>
                <a:latin typeface="Arial"/>
              </a:rPr>
              <a:t>2.080</a:t>
            </a:r>
          </a:p>
          <a:p>
            <a:pPr>
              <a:lnSpc>
                <a:spcPct val="118000"/>
              </a:lnSpc>
              <a:spcAft>
                <a:spcPts val="300"/>
              </a:spcAft>
            </a:pPr>
            <a:r>
              <a:rPr sz="960" b="0">
                <a:solidFill>
                  <a:srgbClr val="555045"/>
                </a:solidFill>
                <a:latin typeface="Arial"/>
              </a:rPr>
              <a:t>160 series × 13 semanas</a:t>
            </a:r>
          </a:p>
        </p:txBody>
      </p:sp>
      <p:sp>
        <p:nvSpPr>
          <p:cNvPr id="8" name="TextBox 7"/>
          <p:cNvSpPr txBox="1"/>
          <p:nvPr/>
        </p:nvSpPr>
        <p:spPr>
          <a:xfrm>
            <a:off x="548640" y="4130954"/>
            <a:ext cx="5387187" cy="707847"/>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SERIES ACTIVAS</a:t>
            </a:r>
          </a:p>
          <a:p>
            <a:pPr>
              <a:lnSpc>
                <a:spcPct val="118000"/>
              </a:lnSpc>
              <a:spcAft>
                <a:spcPts val="300"/>
              </a:spcAft>
            </a:pPr>
            <a:r>
              <a:rPr sz="1450" b="1">
                <a:solidFill>
                  <a:srgbClr val="17150F"/>
                </a:solidFill>
                <a:latin typeface="Arial"/>
              </a:rPr>
              <a:t>160</a:t>
            </a:r>
          </a:p>
          <a:p>
            <a:pPr>
              <a:lnSpc>
                <a:spcPct val="118000"/>
              </a:lnSpc>
              <a:spcAft>
                <a:spcPts val="300"/>
              </a:spcAft>
            </a:pPr>
            <a:r>
              <a:rPr sz="960" b="0">
                <a:solidFill>
                  <a:srgbClr val="555045"/>
                </a:solidFill>
                <a:latin typeface="Arial"/>
              </a:rPr>
              <a:t>20 tiendas × 8 productos</a:t>
            </a:r>
          </a:p>
        </p:txBody>
      </p:sp>
      <p:sp>
        <p:nvSpPr>
          <p:cNvPr id="9" name="TextBox 8"/>
          <p:cNvSpPr txBox="1"/>
          <p:nvPr/>
        </p:nvSpPr>
        <p:spPr>
          <a:xfrm>
            <a:off x="548640" y="4875377"/>
            <a:ext cx="5387187" cy="707847"/>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SEMANAS COMPLETAS</a:t>
            </a:r>
          </a:p>
          <a:p>
            <a:pPr>
              <a:lnSpc>
                <a:spcPct val="118000"/>
              </a:lnSpc>
              <a:spcAft>
                <a:spcPts val="300"/>
              </a:spcAft>
            </a:pPr>
            <a:r>
              <a:rPr sz="1450" b="1">
                <a:solidFill>
                  <a:srgbClr val="17150F"/>
                </a:solidFill>
                <a:latin typeface="Arial"/>
              </a:rPr>
              <a:t>13</a:t>
            </a:r>
          </a:p>
          <a:p>
            <a:pPr>
              <a:lnSpc>
                <a:spcPct val="118000"/>
              </a:lnSpc>
              <a:spcAft>
                <a:spcPts val="300"/>
              </a:spcAft>
            </a:pPr>
            <a:r>
              <a:rPr sz="960" b="0">
                <a:solidFill>
                  <a:srgbClr val="555045"/>
                </a:solidFill>
                <a:latin typeface="Arial"/>
              </a:rPr>
              <a:t>sin periodos parciales</a:t>
            </a:r>
          </a:p>
        </p:txBody>
      </p:sp>
      <p:sp>
        <p:nvSpPr>
          <p:cNvPr id="10" name="TextBox 9"/>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PASOS 1 Y 2 · AUDITORÍA</a:t>
            </a:r>
          </a:p>
        </p:txBody>
      </p:sp>
      <p:sp>
        <p:nvSpPr>
          <p:cNvPr id="11" name="TextBox 10"/>
          <p:cNvSpPr txBox="1"/>
          <p:nvPr/>
        </p:nvSpPr>
        <p:spPr>
          <a:xfrm>
            <a:off x="6255867"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Antes de modelar, comprobar los datos</a:t>
            </a:r>
          </a:p>
        </p:txBody>
      </p:sp>
      <p:sp>
        <p:nvSpPr>
          <p:cNvPr id="12" name="TextBox 11"/>
          <p:cNvSpPr txBox="1"/>
          <p:nvPr/>
        </p:nvSpPr>
        <p:spPr>
          <a:xfrm>
            <a:off x="6255867" y="1060196"/>
            <a:ext cx="5387187" cy="434949"/>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Integridad referencial.</a:t>
            </a:r>
            <a:r>
              <a:rPr sz="1080" b="0">
                <a:solidFill>
                  <a:srgbClr val="555045"/>
                </a:solidFill>
                <a:latin typeface="Arial"/>
              </a:rPr>
              <a:t> Todas las series de ventas existen en catálogo, tiendas e inventario, y al revés.</a:t>
            </a:r>
          </a:p>
        </p:txBody>
      </p:sp>
      <p:sp>
        <p:nvSpPr>
          <p:cNvPr id="13" name="TextBox 12"/>
          <p:cNvSpPr txBox="1"/>
          <p:nvPr/>
        </p:nvSpPr>
        <p:spPr>
          <a:xfrm>
            <a:off x="6255867" y="1531721"/>
            <a:ext cx="5387187" cy="434949"/>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Esquema declarado.</a:t>
            </a:r>
            <a:r>
              <a:rPr sz="1080" b="0">
                <a:solidFill>
                  <a:srgbClr val="555045"/>
                </a:solidFill>
                <a:latin typeface="Arial"/>
              </a:rPr>
              <a:t> Tipos, rangos y claves se validan contra un esquema, no contra la confianza.</a:t>
            </a:r>
          </a:p>
        </p:txBody>
      </p:sp>
      <p:sp>
        <p:nvSpPr>
          <p:cNvPr id="14" name="TextBox 13"/>
          <p:cNvSpPr txBox="1"/>
          <p:nvPr/>
        </p:nvSpPr>
        <p:spPr>
          <a:xfrm>
            <a:off x="6255867" y="2003246"/>
            <a:ext cx="5387187" cy="434949"/>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Calendario continuo.</a:t>
            </a:r>
            <a:r>
              <a:rPr sz="1080" b="0">
                <a:solidFill>
                  <a:srgbClr val="555045"/>
                </a:solidFill>
                <a:latin typeface="Arial"/>
              </a:rPr>
              <a:t> Trece semanas completas de lunes a domingo, sin huecos ni semanas parciales.</a:t>
            </a:r>
          </a:p>
        </p:txBody>
      </p:sp>
      <p:sp>
        <p:nvSpPr>
          <p:cNvPr id="15" name="TextBox 14"/>
          <p:cNvSpPr txBox="1"/>
          <p:nvPr/>
        </p:nvSpPr>
        <p:spPr>
          <a:xfrm>
            <a:off x="6255867" y="2474771"/>
            <a:ext cx="5387187" cy="259384"/>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Sin duplicados.</a:t>
            </a:r>
            <a:r>
              <a:rPr sz="1080" b="0">
                <a:solidFill>
                  <a:srgbClr val="555045"/>
                </a:solidFill>
                <a:latin typeface="Arial"/>
              </a:rPr>
              <a:t> Una sola observación por tienda, producto y día.</a:t>
            </a:r>
          </a:p>
        </p:txBody>
      </p:sp>
      <p:sp>
        <p:nvSpPr>
          <p:cNvPr id="16" name="Rectangle 15"/>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Los datos de partida</a:t>
            </a:r>
          </a:p>
        </p:txBody>
      </p:sp>
      <p:sp>
        <p:nvSpPr>
          <p:cNvPr id="19" name="TextBox 18"/>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PASOS 3 Y 4 · UNIVARIADO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La demanda semanal se modela tal cual, sin transformar</a:t>
            </a:r>
          </a:p>
        </p:txBody>
      </p:sp>
      <p:pic>
        <p:nvPicPr>
          <p:cNvPr id="6" name="Picture 5" descr="01_distribucion_semanal.png"/>
          <p:cNvPicPr>
            <a:picLocks noChangeAspect="1"/>
          </p:cNvPicPr>
          <p:nvPr/>
        </p:nvPicPr>
        <p:blipFill>
          <a:blip r:embed="rId2"/>
          <a:stretch>
            <a:fillRect/>
          </a:stretch>
        </p:blipFill>
        <p:spPr>
          <a:xfrm>
            <a:off x="777240" y="1506474"/>
            <a:ext cx="5852160" cy="3251200"/>
          </a:xfrm>
          <a:prstGeom prst="rect">
            <a:avLst/>
          </a:prstGeom>
        </p:spPr>
      </p:pic>
      <p:graphicFrame>
        <p:nvGraphicFramePr>
          <p:cNvPr id="7" name="Table 6"/>
          <p:cNvGraphicFramePr>
            <a:graphicFrameLocks noGrp="1"/>
          </p:cNvGraphicFramePr>
          <p:nvPr/>
        </p:nvGraphicFramePr>
        <p:xfrm>
          <a:off x="6949440" y="1597914"/>
          <a:ext cx="4465014" cy="2011680"/>
        </p:xfrm>
        <a:graphic>
          <a:graphicData uri="http://schemas.openxmlformats.org/drawingml/2006/table">
            <a:tbl>
              <a:tblPr bandRow="1">
                <a:tableStyleId>{5C22544A-7EE6-4342-B048-85BDC9FD1C3A}</a:tableStyleId>
              </a:tblPr>
              <a:tblGrid>
                <a:gridCol w="1875306">
                  <a:extLst>
                    <a:ext uri="{9D8B030D-6E8A-4147-A177-3AD203B41FA5}">
                      <a16:colId xmlns:a16="http://schemas.microsoft.com/office/drawing/2014/main" val="20000"/>
                    </a:ext>
                  </a:extLst>
                </a:gridCol>
                <a:gridCol w="1294854">
                  <a:extLst>
                    <a:ext uri="{9D8B030D-6E8A-4147-A177-3AD203B41FA5}">
                      <a16:colId xmlns:a16="http://schemas.microsoft.com/office/drawing/2014/main" val="20001"/>
                    </a:ext>
                  </a:extLst>
                </a:gridCol>
                <a:gridCol w="1294854">
                  <a:extLst>
                    <a:ext uri="{9D8B030D-6E8A-4147-A177-3AD203B41FA5}">
                      <a16:colId xmlns:a16="http://schemas.microsoft.com/office/drawing/2014/main" val="20002"/>
                    </a:ext>
                  </a:extLst>
                </a:gridCol>
              </a:tblGrid>
              <a:tr h="347472">
                <a:tc>
                  <a:txBody>
                    <a:bodyPr/>
                    <a:lstStyle/>
                    <a:p>
                      <a:pPr algn="l"/>
                      <a:endParaRPr/>
                    </a:p>
                  </a:txBody>
                  <a:tcPr marL="82296" marR="82296" anchor="ctr">
                    <a:solidFill>
                      <a:srgbClr val="F4F2ED"/>
                    </a:solidFill>
                  </a:tcPr>
                </a:tc>
                <a:tc>
                  <a:txBody>
                    <a:bodyPr/>
                    <a:lstStyle/>
                    <a:p>
                      <a:pPr algn="r"/>
                      <a:r>
                        <a:rPr sz="1050" b="1">
                          <a:solidFill>
                            <a:srgbClr val="8B8478"/>
                          </a:solidFill>
                          <a:latin typeface="Arial"/>
                        </a:rPr>
                        <a:t>Diario</a:t>
                      </a:r>
                    </a:p>
                  </a:txBody>
                  <a:tcPr marL="82296" marR="82296" anchor="ctr">
                    <a:solidFill>
                      <a:srgbClr val="F4F2ED"/>
                    </a:solidFill>
                  </a:tcPr>
                </a:tc>
                <a:tc>
                  <a:txBody>
                    <a:bodyPr/>
                    <a:lstStyle/>
                    <a:p>
                      <a:pPr algn="r"/>
                      <a:r>
                        <a:rPr sz="1050" b="1">
                          <a:solidFill>
                            <a:srgbClr val="8B8478"/>
                          </a:solidFill>
                          <a:latin typeface="Arial"/>
                        </a:rPr>
                        <a:t>Semanal</a:t>
                      </a:r>
                    </a:p>
                  </a:txBody>
                  <a:tcPr marL="82296" marR="82296" anchor="ctr">
                    <a:solidFill>
                      <a:srgbClr val="F4F2ED"/>
                    </a:solidFill>
                  </a:tcPr>
                </a:tc>
                <a:extLst>
                  <a:ext uri="{0D108BD9-81ED-4DB2-BD59-A6C34878D82A}">
                    <a16:rowId xmlns:a16="http://schemas.microsoft.com/office/drawing/2014/main" val="10000"/>
                  </a:ext>
                </a:extLst>
              </a:tr>
              <a:tr h="329184">
                <a:tc>
                  <a:txBody>
                    <a:bodyPr/>
                    <a:lstStyle/>
                    <a:p>
                      <a:pPr algn="l"/>
                      <a:r>
                        <a:rPr sz="1200" b="0">
                          <a:solidFill>
                            <a:srgbClr val="17150F"/>
                          </a:solidFill>
                          <a:latin typeface="Arial"/>
                        </a:rPr>
                        <a:t>Media</a:t>
                      </a:r>
                    </a:p>
                  </a:txBody>
                  <a:tcPr marL="82296" marR="82296" anchor="ctr">
                    <a:solidFill>
                      <a:srgbClr val="FFFFFF"/>
                    </a:solidFill>
                  </a:tcPr>
                </a:tc>
                <a:tc>
                  <a:txBody>
                    <a:bodyPr/>
                    <a:lstStyle/>
                    <a:p>
                      <a:pPr algn="r"/>
                      <a:r>
                        <a:rPr sz="1200" b="0">
                          <a:solidFill>
                            <a:srgbClr val="555045"/>
                          </a:solidFill>
                          <a:latin typeface="Arial"/>
                        </a:rPr>
                        <a:t>13,2</a:t>
                      </a:r>
                    </a:p>
                  </a:txBody>
                  <a:tcPr marL="82296" marR="82296" anchor="ctr">
                    <a:solidFill>
                      <a:srgbClr val="FFFFFF"/>
                    </a:solidFill>
                  </a:tcPr>
                </a:tc>
                <a:tc>
                  <a:txBody>
                    <a:bodyPr/>
                    <a:lstStyle/>
                    <a:p>
                      <a:pPr algn="r"/>
                      <a:r>
                        <a:rPr sz="1200" b="0">
                          <a:solidFill>
                            <a:srgbClr val="555045"/>
                          </a:solidFill>
                          <a:latin typeface="Arial"/>
                        </a:rPr>
                        <a:t>92,2</a:t>
                      </a:r>
                    </a:p>
                  </a:txBody>
                  <a:tcPr marL="82296" marR="82296" anchor="ctr">
                    <a:solidFill>
                      <a:srgbClr val="FFFFFF"/>
                    </a:solidFill>
                  </a:tcPr>
                </a:tc>
                <a:extLst>
                  <a:ext uri="{0D108BD9-81ED-4DB2-BD59-A6C34878D82A}">
                    <a16:rowId xmlns:a16="http://schemas.microsoft.com/office/drawing/2014/main" val="10001"/>
                  </a:ext>
                </a:extLst>
              </a:tr>
              <a:tr h="329184">
                <a:tc>
                  <a:txBody>
                    <a:bodyPr/>
                    <a:lstStyle/>
                    <a:p>
                      <a:pPr algn="l"/>
                      <a:r>
                        <a:rPr sz="1200" b="0">
                          <a:solidFill>
                            <a:srgbClr val="17150F"/>
                          </a:solidFill>
                          <a:latin typeface="Arial"/>
                        </a:rPr>
                        <a:t>Coef. variación</a:t>
                      </a:r>
                    </a:p>
                  </a:txBody>
                  <a:tcPr marL="82296" marR="82296" anchor="ctr">
                    <a:solidFill>
                      <a:srgbClr val="FFFFFF"/>
                    </a:solidFill>
                  </a:tcPr>
                </a:tc>
                <a:tc>
                  <a:txBody>
                    <a:bodyPr/>
                    <a:lstStyle/>
                    <a:p>
                      <a:pPr algn="r"/>
                      <a:r>
                        <a:rPr sz="1200" b="0">
                          <a:solidFill>
                            <a:srgbClr val="555045"/>
                          </a:solidFill>
                          <a:latin typeface="Arial"/>
                        </a:rPr>
                        <a:t>0,591</a:t>
                      </a:r>
                    </a:p>
                  </a:txBody>
                  <a:tcPr marL="82296" marR="82296" anchor="ctr">
                    <a:solidFill>
                      <a:srgbClr val="FFFFFF"/>
                    </a:solidFill>
                  </a:tcPr>
                </a:tc>
                <a:tc>
                  <a:txBody>
                    <a:bodyPr/>
                    <a:lstStyle/>
                    <a:p>
                      <a:pPr algn="r"/>
                      <a:r>
                        <a:rPr sz="1200" b="0">
                          <a:solidFill>
                            <a:srgbClr val="555045"/>
                          </a:solidFill>
                          <a:latin typeface="Arial"/>
                        </a:rPr>
                        <a:t>0,449</a:t>
                      </a:r>
                    </a:p>
                  </a:txBody>
                  <a:tcPr marL="82296" marR="82296" anchor="ctr">
                    <a:solidFill>
                      <a:srgbClr val="FFFFFF"/>
                    </a:solidFill>
                  </a:tcPr>
                </a:tc>
                <a:extLst>
                  <a:ext uri="{0D108BD9-81ED-4DB2-BD59-A6C34878D82A}">
                    <a16:rowId xmlns:a16="http://schemas.microsoft.com/office/drawing/2014/main" val="10002"/>
                  </a:ext>
                </a:extLst>
              </a:tr>
              <a:tr h="329184">
                <a:tc>
                  <a:txBody>
                    <a:bodyPr/>
                    <a:lstStyle/>
                    <a:p>
                      <a:pPr algn="l"/>
                      <a:r>
                        <a:rPr sz="1200" b="0">
                          <a:solidFill>
                            <a:srgbClr val="17150F"/>
                          </a:solidFill>
                          <a:latin typeface="Arial"/>
                        </a:rPr>
                        <a:t>Asimetría</a:t>
                      </a:r>
                    </a:p>
                  </a:txBody>
                  <a:tcPr marL="82296" marR="82296" anchor="ctr">
                    <a:solidFill>
                      <a:srgbClr val="FFFFFF"/>
                    </a:solidFill>
                  </a:tcPr>
                </a:tc>
                <a:tc>
                  <a:txBody>
                    <a:bodyPr/>
                    <a:lstStyle/>
                    <a:p>
                      <a:pPr algn="r"/>
                      <a:r>
                        <a:rPr sz="1200" b="0">
                          <a:solidFill>
                            <a:srgbClr val="555045"/>
                          </a:solidFill>
                          <a:latin typeface="Arial"/>
                        </a:rPr>
                        <a:t>1,020</a:t>
                      </a:r>
                    </a:p>
                  </a:txBody>
                  <a:tcPr marL="82296" marR="82296" anchor="ctr">
                    <a:solidFill>
                      <a:srgbClr val="FFFFFF"/>
                    </a:solidFill>
                  </a:tcPr>
                </a:tc>
                <a:tc>
                  <a:txBody>
                    <a:bodyPr/>
                    <a:lstStyle/>
                    <a:p>
                      <a:pPr algn="r"/>
                      <a:r>
                        <a:rPr sz="1200" b="0">
                          <a:solidFill>
                            <a:srgbClr val="555045"/>
                          </a:solidFill>
                          <a:latin typeface="Arial"/>
                        </a:rPr>
                        <a:t>0,673</a:t>
                      </a:r>
                    </a:p>
                  </a:txBody>
                  <a:tcPr marL="82296" marR="82296" anchor="ctr">
                    <a:solidFill>
                      <a:srgbClr val="FFFFFF"/>
                    </a:solidFill>
                  </a:tcPr>
                </a:tc>
                <a:extLst>
                  <a:ext uri="{0D108BD9-81ED-4DB2-BD59-A6C34878D82A}">
                    <a16:rowId xmlns:a16="http://schemas.microsoft.com/office/drawing/2014/main" val="10003"/>
                  </a:ext>
                </a:extLst>
              </a:tr>
              <a:tr h="329184">
                <a:tc>
                  <a:txBody>
                    <a:bodyPr/>
                    <a:lstStyle/>
                    <a:p>
                      <a:pPr algn="l"/>
                      <a:r>
                        <a:rPr sz="1200" b="0">
                          <a:solidFill>
                            <a:srgbClr val="17150F"/>
                          </a:solidFill>
                          <a:latin typeface="Arial"/>
                        </a:rPr>
                        <a:t>Ceros</a:t>
                      </a:r>
                    </a:p>
                  </a:txBody>
                  <a:tcPr marL="82296" marR="82296" anchor="ctr">
                    <a:solidFill>
                      <a:srgbClr val="FFFFFF"/>
                    </a:solidFill>
                  </a:tcPr>
                </a:tc>
                <a:tc>
                  <a:txBody>
                    <a:bodyPr/>
                    <a:lstStyle/>
                    <a:p>
                      <a:pPr algn="r"/>
                      <a:r>
                        <a:rPr sz="1200" b="0">
                          <a:solidFill>
                            <a:srgbClr val="555045"/>
                          </a:solidFill>
                          <a:latin typeface="Arial"/>
                        </a:rPr>
                        <a:t>26</a:t>
                      </a:r>
                    </a:p>
                  </a:txBody>
                  <a:tcPr marL="82296" marR="82296" anchor="ctr">
                    <a:solidFill>
                      <a:srgbClr val="FFFFFF"/>
                    </a:solidFill>
                  </a:tcPr>
                </a:tc>
                <a:tc>
                  <a:txBody>
                    <a:bodyPr/>
                    <a:lstStyle/>
                    <a:p>
                      <a:pPr algn="r"/>
                      <a:r>
                        <a:rPr sz="1200" b="0">
                          <a:solidFill>
                            <a:srgbClr val="555045"/>
                          </a:solidFill>
                          <a:latin typeface="Arial"/>
                        </a:rPr>
                        <a:t>0</a:t>
                      </a:r>
                    </a:p>
                  </a:txBody>
                  <a:tcPr marL="82296" marR="82296" anchor="ctr">
                    <a:solidFill>
                      <a:srgbClr val="FFFFFF"/>
                    </a:solidFill>
                  </a:tcPr>
                </a:tc>
                <a:extLst>
                  <a:ext uri="{0D108BD9-81ED-4DB2-BD59-A6C34878D82A}">
                    <a16:rowId xmlns:a16="http://schemas.microsoft.com/office/drawing/2014/main" val="10004"/>
                  </a:ext>
                </a:extLst>
              </a:tr>
              <a:tr h="329184">
                <a:tc>
                  <a:txBody>
                    <a:bodyPr/>
                    <a:lstStyle/>
                    <a:p>
                      <a:pPr algn="l"/>
                      <a:r>
                        <a:rPr sz="1200" b="0">
                          <a:solidFill>
                            <a:srgbClr val="17150F"/>
                          </a:solidFill>
                          <a:latin typeface="Arial"/>
                        </a:rPr>
                        <a:t>Atípicos</a:t>
                      </a:r>
                    </a:p>
                  </a:txBody>
                  <a:tcPr marL="82296" marR="82296" anchor="ctr">
                    <a:solidFill>
                      <a:srgbClr val="FFFFFF"/>
                    </a:solidFill>
                  </a:tcPr>
                </a:tc>
                <a:tc>
                  <a:txBody>
                    <a:bodyPr/>
                    <a:lstStyle/>
                    <a:p>
                      <a:pPr algn="r"/>
                      <a:r>
                        <a:rPr sz="1200" b="0">
                          <a:solidFill>
                            <a:srgbClr val="555045"/>
                          </a:solidFill>
                          <a:latin typeface="Arial"/>
                        </a:rPr>
                        <a:t>127</a:t>
                      </a:r>
                    </a:p>
                  </a:txBody>
                  <a:tcPr marL="82296" marR="82296" anchor="ctr">
                    <a:solidFill>
                      <a:srgbClr val="FFFFFF"/>
                    </a:solidFill>
                  </a:tcPr>
                </a:tc>
                <a:tc>
                  <a:txBody>
                    <a:bodyPr/>
                    <a:lstStyle/>
                    <a:p>
                      <a:pPr algn="r"/>
                      <a:r>
                        <a:rPr sz="1200" b="0">
                          <a:solidFill>
                            <a:srgbClr val="555045"/>
                          </a:solidFill>
                          <a:latin typeface="Arial"/>
                        </a:rPr>
                        <a:t>3</a:t>
                      </a:r>
                    </a:p>
                  </a:txBody>
                  <a:tcPr marL="82296" marR="82296" anchor="ctr">
                    <a:solidFill>
                      <a:srgbClr val="FFFFFF"/>
                    </a:solidFill>
                  </a:tcPr>
                </a:tc>
                <a:extLst>
                  <a:ext uri="{0D108BD9-81ED-4DB2-BD59-A6C34878D82A}">
                    <a16:rowId xmlns:a16="http://schemas.microsoft.com/office/drawing/2014/main" val="10005"/>
                  </a:ext>
                </a:extLst>
              </a:tr>
            </a:tbl>
          </a:graphicData>
        </a:graphic>
      </p:graphicFrame>
      <p:sp>
        <p:nvSpPr>
          <p:cNvPr id="8" name="TextBox 7"/>
          <p:cNvSpPr txBox="1"/>
          <p:nvPr/>
        </p:nvSpPr>
        <p:spPr>
          <a:xfrm>
            <a:off x="6949440" y="4112514"/>
            <a:ext cx="4465015" cy="2011680"/>
          </a:xfrm>
          <a:prstGeom prst="rect">
            <a:avLst/>
          </a:prstGeom>
          <a:noFill/>
        </p:spPr>
        <p:txBody>
          <a:bodyPr wrap="square" lIns="0" tIns="0" rIns="0" bIns="0">
            <a:spAutoFit/>
          </a:bodyPr>
          <a:lstStyle/>
          <a:p>
            <a:pPr algn="l">
              <a:lnSpc>
                <a:spcPct val="130000"/>
              </a:lnSpc>
              <a:spcBef>
                <a:spcPts val="0"/>
              </a:spcBef>
              <a:spcAft>
                <a:spcPts val="1000"/>
              </a:spcAft>
            </a:pPr>
            <a:r>
              <a:rPr sz="1300" b="0">
                <a:solidFill>
                  <a:srgbClr val="555045"/>
                </a:solidFill>
                <a:latin typeface="Arial"/>
              </a:rPr>
              <a:t>Al pasar de día a semana la variable cambia de carácter: campana con cola derecha corta y sin masa pegada al cero.</a:t>
            </a:r>
          </a:p>
          <a:p>
            <a:pPr algn="l">
              <a:lnSpc>
                <a:spcPct val="130000"/>
              </a:lnSpc>
              <a:spcBef>
                <a:spcPts val="0"/>
              </a:spcBef>
              <a:spcAft>
                <a:spcPts val="0"/>
              </a:spcAft>
            </a:pPr>
            <a:r>
              <a:rPr sz="1300" b="1">
                <a:solidFill>
                  <a:srgbClr val="17150F"/>
                </a:solidFill>
                <a:latin typeface="Arial"/>
              </a:rPr>
              <a:t>No hace falta transformación logarítmica, ni modelos de conteo, ni tratamiento de atípicos.</a:t>
            </a:r>
          </a:p>
        </p:txBody>
      </p:sp>
      <p:sp>
        <p:nvSpPr>
          <p:cNvPr id="9" name="Rectangle 8"/>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3-4 · Univariado</a:t>
            </a:r>
          </a:p>
        </p:txBody>
      </p:sp>
      <p:sp>
        <p:nvSpPr>
          <p:cNvPr id="11" name="TextBox 10"/>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PASOS 3 Y 4 · UNIVARIADO</a:t>
            </a:r>
          </a:p>
        </p:txBody>
      </p:sp>
      <p:sp>
        <p:nvSpPr>
          <p:cNvPr id="4" name="TextBox 3"/>
          <p:cNvSpPr txBox="1"/>
          <p:nvPr/>
        </p:nvSpPr>
        <p:spPr>
          <a:xfrm>
            <a:off x="548640" y="704088"/>
            <a:ext cx="5387187" cy="555244"/>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Agregar a semana elimina la señal dominante del dato diario</a:t>
            </a:r>
          </a:p>
        </p:txBody>
      </p:sp>
      <p:pic>
        <p:nvPicPr>
          <p:cNvPr id="5" name="Picture 4" descr="image.png"/>
          <p:cNvPicPr>
            <a:picLocks noChangeAspect="1"/>
          </p:cNvPicPr>
          <p:nvPr/>
        </p:nvPicPr>
        <p:blipFill>
          <a:blip r:embed="rId2"/>
          <a:stretch>
            <a:fillRect/>
          </a:stretch>
        </p:blipFill>
        <p:spPr>
          <a:xfrm>
            <a:off x="548640" y="1295908"/>
            <a:ext cx="4480560" cy="2489200"/>
          </a:xfrm>
          <a:prstGeom prst="rect">
            <a:avLst/>
          </a:prstGeom>
        </p:spPr>
      </p:pic>
      <p:sp>
        <p:nvSpPr>
          <p:cNvPr id="6" name="TextBox 5"/>
          <p:cNvSpPr txBox="1"/>
          <p:nvPr/>
        </p:nvSpPr>
        <p:spPr>
          <a:xfrm>
            <a:off x="548640" y="3876547"/>
            <a:ext cx="5387187" cy="1213408"/>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El fin de semana vende 1,25 veces la media y el jueves 0,82. Una amplitud de 1,54 veces entre el día más alto y el más bajo.</a:t>
            </a:r>
          </a:p>
          <a:p>
            <a:pPr>
              <a:lnSpc>
                <a:spcPct val="118000"/>
              </a:lnSpc>
              <a:spcAft>
                <a:spcPts val="300"/>
              </a:spcAft>
            </a:pPr>
            <a:r>
              <a:rPr sz="1080" b="0">
                <a:solidFill>
                  <a:srgbClr val="555045"/>
                </a:solidFill>
                <a:latin typeface="Arial"/>
              </a:rPr>
              <a:t>Cada semana del periodo contiene exactamente un día de cada tipo, así que al sumar el ciclo se anula por construcción.</a:t>
            </a:r>
          </a:p>
          <a:p>
            <a:pPr>
              <a:lnSpc>
                <a:spcPct val="118000"/>
              </a:lnSpc>
              <a:spcAft>
                <a:spcPts val="300"/>
              </a:spcAft>
            </a:pPr>
            <a:r>
              <a:rPr sz="1080" b="1">
                <a:solidFill>
                  <a:srgbClr val="17150F"/>
                </a:solidFill>
                <a:latin typeface="Arial"/>
              </a:rPr>
              <a:t>La agregación semanal no pierde señal útil y retira una fuente de variación grande.</a:t>
            </a:r>
          </a:p>
        </p:txBody>
      </p:sp>
      <p:sp>
        <p:nvSpPr>
          <p:cNvPr id="7" name="TextBox 6"/>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PASOS 3 Y 4 · UNIVARIADO</a:t>
            </a:r>
          </a:p>
        </p:txBody>
      </p:sp>
      <p:sp>
        <p:nvSpPr>
          <p:cNvPr id="8" name="TextBox 7"/>
          <p:cNvSpPr txBox="1"/>
          <p:nvPr/>
        </p:nvSpPr>
        <p:spPr>
          <a:xfrm>
            <a:off x="6255867"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No hay memoria semanal</a:t>
            </a:r>
          </a:p>
        </p:txBody>
      </p:sp>
      <p:graphicFrame>
        <p:nvGraphicFramePr>
          <p:cNvPr id="9" name="Table 8"/>
          <p:cNvGraphicFramePr>
            <a:graphicFrameLocks noGrp="1"/>
          </p:cNvGraphicFramePr>
          <p:nvPr/>
        </p:nvGraphicFramePr>
        <p:xfrm>
          <a:off x="6255867" y="1060196"/>
          <a:ext cx="5387185" cy="822960"/>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r>
                        <a:rPr sz="810" b="1">
                          <a:solidFill>
                            <a:srgbClr val="8B8478"/>
                          </a:solidFill>
                          <a:latin typeface="Arial"/>
                        </a:rPr>
                        <a:t>Nivel</a:t>
                      </a:r>
                    </a:p>
                  </a:txBody>
                  <a:tcPr marL="82296" marR="82296" anchor="ctr">
                    <a:solidFill>
                      <a:srgbClr val="F4F2ED"/>
                    </a:solidFill>
                  </a:tcPr>
                </a:tc>
                <a:tc>
                  <a:txBody>
                    <a:bodyPr/>
                    <a:lstStyle/>
                    <a:p>
                      <a:pPr algn="r"/>
                      <a:r>
                        <a:rPr sz="810" b="1">
                          <a:solidFill>
                            <a:srgbClr val="8B8478"/>
                          </a:solidFill>
                          <a:latin typeface="Arial"/>
                        </a:rPr>
                        <a:t>Rezago 1</a:t>
                      </a:r>
                    </a:p>
                  </a:txBody>
                  <a:tcPr marL="82296" marR="82296" anchor="ctr">
                    <a:solidFill>
                      <a:srgbClr val="F4F2ED"/>
                    </a:solidFill>
                  </a:tcPr>
                </a:tc>
                <a:tc>
                  <a:txBody>
                    <a:bodyPr/>
                    <a:lstStyle/>
                    <a:p>
                      <a:pPr algn="r"/>
                      <a:r>
                        <a:rPr sz="810" b="1">
                          <a:solidFill>
                            <a:srgbClr val="8B8478"/>
                          </a:solidFill>
                          <a:latin typeface="Arial"/>
                        </a:rPr>
                        <a:t>Significativos</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0">
                          <a:solidFill>
                            <a:srgbClr val="17150F"/>
                          </a:solidFill>
                          <a:latin typeface="Arial"/>
                        </a:rPr>
                        <a:t>Diario</a:t>
                      </a:r>
                    </a:p>
                  </a:txBody>
                  <a:tcPr marL="82296" marR="82296" anchor="ctr">
                    <a:solidFill>
                      <a:srgbClr val="FFFFFF"/>
                    </a:solidFill>
                  </a:tcPr>
                </a:tc>
                <a:tc>
                  <a:txBody>
                    <a:bodyPr/>
                    <a:lstStyle/>
                    <a:p>
                      <a:pPr algn="r"/>
                      <a:r>
                        <a:rPr sz="960" b="0">
                          <a:solidFill>
                            <a:srgbClr val="555045"/>
                          </a:solidFill>
                          <a:latin typeface="Arial"/>
                        </a:rPr>
                        <a:t>0,153</a:t>
                      </a:r>
                    </a:p>
                  </a:txBody>
                  <a:tcPr marL="82296" marR="82296" anchor="ctr">
                    <a:solidFill>
                      <a:srgbClr val="FFFFFF"/>
                    </a:solidFill>
                  </a:tcPr>
                </a:tc>
                <a:tc>
                  <a:txBody>
                    <a:bodyPr/>
                    <a:lstStyle/>
                    <a:p>
                      <a:pPr algn="r"/>
                      <a:r>
                        <a:rPr sz="960" b="0">
                          <a:solidFill>
                            <a:srgbClr val="555045"/>
                          </a:solidFill>
                          <a:latin typeface="Arial"/>
                        </a:rPr>
                        <a:t>7, 14, 21</a:t>
                      </a:r>
                    </a:p>
                  </a:txBody>
                  <a:tcPr marL="82296" marR="82296" anchor="ctr">
                    <a:solidFill>
                      <a:srgbClr val="FFFFF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Semanal</a:t>
                      </a:r>
                    </a:p>
                  </a:txBody>
                  <a:tcPr marL="82296" marR="82296" anchor="ctr">
                    <a:solidFill>
                      <a:srgbClr val="FFFFFF"/>
                    </a:solidFill>
                  </a:tcPr>
                </a:tc>
                <a:tc>
                  <a:txBody>
                    <a:bodyPr/>
                    <a:lstStyle/>
                    <a:p>
                      <a:pPr algn="r"/>
                      <a:r>
                        <a:rPr sz="960" b="0">
                          <a:solidFill>
                            <a:srgbClr val="555045"/>
                          </a:solidFill>
                          <a:latin typeface="Arial"/>
                        </a:rPr>
                        <a:t>0,101</a:t>
                      </a:r>
                    </a:p>
                  </a:txBody>
                  <a:tcPr marL="82296" marR="82296" anchor="ctr">
                    <a:solidFill>
                      <a:srgbClr val="FFFFFF"/>
                    </a:solidFill>
                  </a:tcPr>
                </a:tc>
                <a:tc>
                  <a:txBody>
                    <a:bodyPr/>
                    <a:lstStyle/>
                    <a:p>
                      <a:pPr algn="r"/>
                      <a:r>
                        <a:rPr sz="960" b="0">
                          <a:solidFill>
                            <a:srgbClr val="555045"/>
                          </a:solidFill>
                          <a:latin typeface="Arial"/>
                        </a:rPr>
                        <a:t>ninguno</a:t>
                      </a:r>
                    </a:p>
                  </a:txBody>
                  <a:tcPr marL="82296" marR="82296" anchor="ctr">
                    <a:solidFill>
                      <a:srgbClr val="FFFFFF"/>
                    </a:solidFill>
                  </a:tcPr>
                </a:tc>
                <a:extLst>
                  <a:ext uri="{0D108BD9-81ED-4DB2-BD59-A6C34878D82A}">
                    <a16:rowId xmlns:a16="http://schemas.microsoft.com/office/drawing/2014/main" val="10002"/>
                  </a:ext>
                </a:extLst>
              </a:tr>
            </a:tbl>
          </a:graphicData>
        </a:graphic>
      </p:graphicFrame>
      <p:pic>
        <p:nvPicPr>
          <p:cNvPr id="10" name="Picture 9" descr="image.png"/>
          <p:cNvPicPr>
            <a:picLocks noChangeAspect="1"/>
          </p:cNvPicPr>
          <p:nvPr/>
        </p:nvPicPr>
        <p:blipFill>
          <a:blip r:embed="rId3"/>
          <a:stretch>
            <a:fillRect/>
          </a:stretch>
        </p:blipFill>
        <p:spPr>
          <a:xfrm>
            <a:off x="6255867" y="1956308"/>
            <a:ext cx="4480560" cy="1710759"/>
          </a:xfrm>
          <a:prstGeom prst="rect">
            <a:avLst/>
          </a:prstGeom>
        </p:spPr>
      </p:pic>
      <p:sp>
        <p:nvSpPr>
          <p:cNvPr id="11" name="TextBox 10"/>
          <p:cNvSpPr txBox="1"/>
          <p:nvPr/>
        </p:nvSpPr>
        <p:spPr>
          <a:xfrm>
            <a:off x="6255867" y="3758507"/>
            <a:ext cx="5387187" cy="785164"/>
          </a:xfrm>
          <a:prstGeom prst="rect">
            <a:avLst/>
          </a:prstGeom>
          <a:noFill/>
        </p:spPr>
        <p:txBody>
          <a:bodyPr wrap="square" lIns="0" tIns="0" rIns="0" bIns="0">
            <a:spAutoFit/>
          </a:bodyPr>
          <a:lstStyle/>
          <a:p>
            <a:pPr>
              <a:lnSpc>
                <a:spcPct val="118000"/>
              </a:lnSpc>
              <a:spcAft>
                <a:spcPts val="300"/>
              </a:spcAft>
            </a:pPr>
            <a:r>
              <a:rPr sz="1019" b="1">
                <a:solidFill>
                  <a:srgbClr val="17150F"/>
                </a:solidFill>
                <a:latin typeface="Arial"/>
              </a:rPr>
              <a:t>Consecuencia 1. Pedir lo mismo que la semana pasada es un rival débil, no una buena referencia.</a:t>
            </a:r>
          </a:p>
          <a:p>
            <a:pPr>
              <a:lnSpc>
                <a:spcPct val="118000"/>
              </a:lnSpc>
              <a:spcAft>
                <a:spcPts val="300"/>
              </a:spcAft>
            </a:pPr>
            <a:r>
              <a:rPr sz="1019" b="1">
                <a:solidFill>
                  <a:srgbClr val="17150F"/>
                </a:solidFill>
                <a:latin typeface="Arial"/>
              </a:rPr>
              <a:t>Consecuencia 2. Las variables útiles serán medias móviles, que promedian el ruido, y no el rezago de una semana.</a:t>
            </a:r>
          </a:p>
        </p:txBody>
      </p:sp>
      <p:sp>
        <p:nvSpPr>
          <p:cNvPr id="12" name="Rectangle 11"/>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3-4 · Univariado</a:t>
            </a:r>
          </a:p>
        </p:txBody>
      </p:sp>
      <p:sp>
        <p:nvSpPr>
          <p:cNvPr id="15" name="TextBox 14"/>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PASOS 3 Y 4 · UNIVARIADO</a:t>
            </a:r>
          </a:p>
        </p:txBody>
      </p:sp>
      <p:sp>
        <p:nvSpPr>
          <p:cNvPr id="4" name="TextBox 3"/>
          <p:cNvSpPr txBox="1"/>
          <p:nvPr/>
        </p:nvSpPr>
        <p:spPr>
          <a:xfrm>
            <a:off x="548640"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El techo de lo predecible, y por qué el R² no sirve aquí</a:t>
            </a:r>
          </a:p>
        </p:txBody>
      </p:sp>
      <p:graphicFrame>
        <p:nvGraphicFramePr>
          <p:cNvPr id="5" name="Table 4"/>
          <p:cNvGraphicFramePr>
            <a:graphicFrameLocks noGrp="1"/>
          </p:cNvGraphicFramePr>
          <p:nvPr/>
        </p:nvGraphicFramePr>
        <p:xfrm>
          <a:off x="548640" y="1060196"/>
          <a:ext cx="5387186" cy="1060704"/>
        </p:xfrm>
        <a:graphic>
          <a:graphicData uri="http://schemas.openxmlformats.org/drawingml/2006/table">
            <a:tbl>
              <a:tblPr bandRow="1">
                <a:tableStyleId>{5C22544A-7EE6-4342-B048-85BDC9FD1C3A}</a:tableStyleId>
              </a:tblPr>
              <a:tblGrid>
                <a:gridCol w="3463191">
                  <a:extLst>
                    <a:ext uri="{9D8B030D-6E8A-4147-A177-3AD203B41FA5}">
                      <a16:colId xmlns:a16="http://schemas.microsoft.com/office/drawing/2014/main" val="20000"/>
                    </a:ext>
                  </a:extLst>
                </a:gridCol>
                <a:gridCol w="1923995">
                  <a:extLst>
                    <a:ext uri="{9D8B030D-6E8A-4147-A177-3AD203B41FA5}">
                      <a16:colId xmlns:a16="http://schemas.microsoft.com/office/drawing/2014/main" val="20001"/>
                    </a:ext>
                  </a:extLst>
                </a:gridCol>
              </a:tblGrid>
              <a:tr h="347472">
                <a:tc>
                  <a:txBody>
                    <a:bodyPr/>
                    <a:lstStyle/>
                    <a:p>
                      <a:pPr algn="l"/>
                      <a:r>
                        <a:rPr sz="810" b="1">
                          <a:solidFill>
                            <a:srgbClr val="8B8478"/>
                          </a:solidFill>
                          <a:latin typeface="Arial"/>
                        </a:rPr>
                        <a:t>Fuente de varianza</a:t>
                      </a:r>
                    </a:p>
                  </a:txBody>
                  <a:tcPr marL="82296" marR="82296" anchor="ctr">
                    <a:solidFill>
                      <a:srgbClr val="F4F2ED"/>
                    </a:solidFill>
                  </a:tcPr>
                </a:tc>
                <a:tc>
                  <a:txBody>
                    <a:bodyPr/>
                    <a:lstStyle/>
                    <a:p>
                      <a:pPr algn="r"/>
                      <a:r>
                        <a:rPr sz="810" b="1">
                          <a:solidFill>
                            <a:srgbClr val="8B8478"/>
                          </a:solidFill>
                          <a:latin typeface="Arial"/>
                        </a:rPr>
                        <a:t>Peso</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0">
                          <a:solidFill>
                            <a:srgbClr val="17150F"/>
                          </a:solidFill>
                          <a:latin typeface="Arial"/>
                        </a:rPr>
                        <a:t>Diferencias entre series</a:t>
                      </a:r>
                    </a:p>
                  </a:txBody>
                  <a:tcPr marL="82296" marR="82296" anchor="ctr">
                    <a:solidFill>
                      <a:srgbClr val="FFFFFF"/>
                    </a:solidFill>
                  </a:tcPr>
                </a:tc>
                <a:tc>
                  <a:txBody>
                    <a:bodyPr/>
                    <a:lstStyle/>
                    <a:p>
                      <a:pPr algn="r"/>
                      <a:r>
                        <a:rPr sz="960" b="0">
                          <a:solidFill>
                            <a:srgbClr val="555045"/>
                          </a:solidFill>
                          <a:latin typeface="Arial"/>
                        </a:rPr>
                        <a:t>90,0 %</a:t>
                      </a:r>
                    </a:p>
                  </a:txBody>
                  <a:tcPr marL="82296" marR="82296" anchor="ctr">
                    <a:solidFill>
                      <a:srgbClr val="FFFFFF"/>
                    </a:solidFill>
                  </a:tcPr>
                </a:tc>
                <a:extLst>
                  <a:ext uri="{0D108BD9-81ED-4DB2-BD59-A6C34878D82A}">
                    <a16:rowId xmlns:a16="http://schemas.microsoft.com/office/drawing/2014/main" val="10001"/>
                  </a:ext>
                </a:extLst>
              </a:tr>
              <a:tr h="228600">
                <a:tc>
                  <a:txBody>
                    <a:bodyPr/>
                    <a:lstStyle/>
                    <a:p>
                      <a:pPr algn="l"/>
                      <a:r>
                        <a:rPr sz="960" b="1">
                          <a:solidFill>
                            <a:srgbClr val="17150F"/>
                          </a:solidFill>
                          <a:latin typeface="Arial"/>
                        </a:rPr>
                        <a:t>Tendencia de cada serie</a:t>
                      </a:r>
                    </a:p>
                  </a:txBody>
                  <a:tcPr marL="82296" marR="82296" anchor="ctr">
                    <a:solidFill>
                      <a:srgbClr val="F7EEEF"/>
                    </a:solidFill>
                  </a:tcPr>
                </a:tc>
                <a:tc>
                  <a:txBody>
                    <a:bodyPr/>
                    <a:lstStyle/>
                    <a:p>
                      <a:pPr algn="r"/>
                      <a:r>
                        <a:rPr sz="960" b="1">
                          <a:solidFill>
                            <a:srgbClr val="17150F"/>
                          </a:solidFill>
                          <a:latin typeface="Arial"/>
                        </a:rPr>
                        <a:t>3,6 %</a:t>
                      </a:r>
                    </a:p>
                  </a:txBody>
                  <a:tcPr marL="82296" marR="82296" anchor="ctr">
                    <a:solidFill>
                      <a:srgbClr val="F7EEEF"/>
                    </a:solidFill>
                  </a:tcPr>
                </a:tc>
                <a:extLst>
                  <a:ext uri="{0D108BD9-81ED-4DB2-BD59-A6C34878D82A}">
                    <a16:rowId xmlns:a16="http://schemas.microsoft.com/office/drawing/2014/main" val="10002"/>
                  </a:ext>
                </a:extLst>
              </a:tr>
              <a:tr h="228600">
                <a:tc>
                  <a:txBody>
                    <a:bodyPr/>
                    <a:lstStyle/>
                    <a:p>
                      <a:pPr algn="l"/>
                      <a:r>
                        <a:rPr sz="960" b="0">
                          <a:solidFill>
                            <a:srgbClr val="17150F"/>
                          </a:solidFill>
                          <a:latin typeface="Arial"/>
                        </a:rPr>
                        <a:t>Ruido irrecuperable</a:t>
                      </a:r>
                    </a:p>
                  </a:txBody>
                  <a:tcPr marL="82296" marR="82296" anchor="ctr">
                    <a:solidFill>
                      <a:srgbClr val="FFFFFF"/>
                    </a:solidFill>
                  </a:tcPr>
                </a:tc>
                <a:tc>
                  <a:txBody>
                    <a:bodyPr/>
                    <a:lstStyle/>
                    <a:p>
                      <a:pPr algn="r"/>
                      <a:r>
                        <a:rPr sz="960" b="0">
                          <a:solidFill>
                            <a:srgbClr val="555045"/>
                          </a:solidFill>
                          <a:latin typeface="Arial"/>
                        </a:rPr>
                        <a:t>6,5 %</a:t>
                      </a:r>
                    </a:p>
                  </a:txBody>
                  <a:tcPr marL="82296" marR="82296" anchor="ctr">
                    <a:solidFill>
                      <a:srgbClr val="FFFFFF"/>
                    </a:solidFill>
                  </a:tcPr>
                </a:tc>
                <a:extLst>
                  <a:ext uri="{0D108BD9-81ED-4DB2-BD59-A6C34878D82A}">
                    <a16:rowId xmlns:a16="http://schemas.microsoft.com/office/drawing/2014/main" val="10003"/>
                  </a:ext>
                </a:extLst>
              </a:tr>
            </a:tbl>
          </a:graphicData>
        </a:graphic>
      </p:graphicFrame>
      <p:pic>
        <p:nvPicPr>
          <p:cNvPr id="6" name="Picture 5" descr="image.png"/>
          <p:cNvPicPr>
            <a:picLocks noChangeAspect="1"/>
          </p:cNvPicPr>
          <p:nvPr/>
        </p:nvPicPr>
        <p:blipFill>
          <a:blip r:embed="rId2"/>
          <a:stretch>
            <a:fillRect/>
          </a:stretch>
        </p:blipFill>
        <p:spPr>
          <a:xfrm>
            <a:off x="548640" y="2184907"/>
            <a:ext cx="4480560" cy="1753263"/>
          </a:xfrm>
          <a:prstGeom prst="rect">
            <a:avLst/>
          </a:prstGeom>
        </p:spPr>
      </p:pic>
      <p:sp>
        <p:nvSpPr>
          <p:cNvPr id="7" name="TextBox 6"/>
          <p:cNvSpPr txBox="1"/>
          <p:nvPr/>
        </p:nvSpPr>
        <p:spPr>
          <a:xfrm>
            <a:off x="548640" y="4029609"/>
            <a:ext cx="5387187" cy="1154887"/>
          </a:xfrm>
          <a:prstGeom prst="rect">
            <a:avLst/>
          </a:prstGeom>
          <a:noFill/>
        </p:spPr>
        <p:txBody>
          <a:bodyPr wrap="square" lIns="0" tIns="0" rIns="0" bIns="0">
            <a:spAutoFit/>
          </a:bodyPr>
          <a:lstStyle/>
          <a:p>
            <a:pPr>
              <a:lnSpc>
                <a:spcPct val="118000"/>
              </a:lnSpc>
              <a:spcAft>
                <a:spcPts val="300"/>
              </a:spcAft>
            </a:pPr>
            <a:r>
              <a:rPr sz="1019" b="0">
                <a:solidFill>
                  <a:srgbClr val="555045"/>
                </a:solidFill>
                <a:latin typeface="Arial"/>
              </a:rPr>
              <a:t>Predecir la media de cada serie ya da un R² de 0,900. Un modelo que reporte 0,88 estaría por debajo de una tabla de medias hecha en una hoja de cálculo.</a:t>
            </a:r>
          </a:p>
          <a:p>
            <a:pPr>
              <a:lnSpc>
                <a:spcPct val="118000"/>
              </a:lnSpc>
              <a:spcAft>
                <a:spcPts val="300"/>
              </a:spcAft>
            </a:pPr>
            <a:r>
              <a:rPr sz="1019" b="1">
                <a:solidFill>
                  <a:srgbClr val="17150F"/>
                </a:solidFill>
                <a:latin typeface="Arial"/>
              </a:rPr>
              <a:t>El R² queda descartado como métrica principal. Se mide con error porcentual ponderado y pérdida pinball.</a:t>
            </a:r>
          </a:p>
          <a:p>
            <a:pPr>
              <a:lnSpc>
                <a:spcPct val="118000"/>
              </a:lnSpc>
              <a:spcAft>
                <a:spcPts val="300"/>
              </a:spcAft>
            </a:pPr>
            <a:r>
              <a:rPr sz="1019" b="1">
                <a:solidFill>
                  <a:srgbClr val="17150F"/>
                </a:solidFill>
                <a:latin typeface="Arial"/>
              </a:rPr>
              <a:t>El trabajo del modelo es ese 3,6 % de tendencia. Todo lo demás lo resuelve la identidad de la serie.</a:t>
            </a:r>
          </a:p>
        </p:txBody>
      </p:sp>
      <p:sp>
        <p:nvSpPr>
          <p:cNvPr id="8" name="TextBox 7"/>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PASOS 3 Y 4 · UNIVARIADO</a:t>
            </a:r>
          </a:p>
        </p:txBody>
      </p:sp>
      <p:sp>
        <p:nvSpPr>
          <p:cNvPr id="9" name="TextBox 8"/>
          <p:cNvSpPr txBox="1"/>
          <p:nvPr/>
        </p:nvSpPr>
        <p:spPr>
          <a:xfrm>
            <a:off x="6255867"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Ese 3,6 % es exactamente donde está el caso de negocio</a:t>
            </a:r>
          </a:p>
        </p:txBody>
      </p:sp>
      <p:pic>
        <p:nvPicPr>
          <p:cNvPr id="10" name="Picture 9" descr="image.png"/>
          <p:cNvPicPr>
            <a:picLocks noChangeAspect="1"/>
          </p:cNvPicPr>
          <p:nvPr/>
        </p:nvPicPr>
        <p:blipFill>
          <a:blip r:embed="rId3"/>
          <a:stretch>
            <a:fillRect/>
          </a:stretch>
        </p:blipFill>
        <p:spPr>
          <a:xfrm>
            <a:off x="6255867" y="1060196"/>
            <a:ext cx="4480560" cy="2489200"/>
          </a:xfrm>
          <a:prstGeom prst="rect">
            <a:avLst/>
          </a:prstGeom>
        </p:spPr>
      </p:pic>
      <p:graphicFrame>
        <p:nvGraphicFramePr>
          <p:cNvPr id="11" name="Table 10"/>
          <p:cNvGraphicFramePr>
            <a:graphicFrameLocks noGrp="1"/>
          </p:cNvGraphicFramePr>
          <p:nvPr/>
        </p:nvGraphicFramePr>
        <p:xfrm>
          <a:off x="6255867" y="3640835"/>
          <a:ext cx="5387185" cy="1060704"/>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r>
                        <a:rPr sz="810" b="1">
                          <a:solidFill>
                            <a:srgbClr val="8B8478"/>
                          </a:solidFill>
                          <a:latin typeface="Arial"/>
                        </a:rPr>
                        <a:t>Grupo</a:t>
                      </a:r>
                    </a:p>
                  </a:txBody>
                  <a:tcPr marL="82296" marR="82296" anchor="ctr">
                    <a:solidFill>
                      <a:srgbClr val="F4F2ED"/>
                    </a:solidFill>
                  </a:tcPr>
                </a:tc>
                <a:tc>
                  <a:txBody>
                    <a:bodyPr/>
                    <a:lstStyle/>
                    <a:p>
                      <a:pPr algn="r"/>
                      <a:r>
                        <a:rPr sz="810" b="1">
                          <a:solidFill>
                            <a:srgbClr val="8B8478"/>
                          </a:solidFill>
                          <a:latin typeface="Arial"/>
                        </a:rPr>
                        <a:t>Series</a:t>
                      </a:r>
                    </a:p>
                  </a:txBody>
                  <a:tcPr marL="82296" marR="82296" anchor="ctr">
                    <a:solidFill>
                      <a:srgbClr val="F4F2ED"/>
                    </a:solidFill>
                  </a:tcPr>
                </a:tc>
                <a:tc>
                  <a:txBody>
                    <a:bodyPr/>
                    <a:lstStyle/>
                    <a:p>
                      <a:pPr algn="r"/>
                      <a:r>
                        <a:rPr sz="810" b="1">
                          <a:solidFill>
                            <a:srgbClr val="8B8478"/>
                          </a:solidFill>
                          <a:latin typeface="Arial"/>
                        </a:rPr>
                        <a:t>Recorrido</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0">
                          <a:solidFill>
                            <a:srgbClr val="17150F"/>
                          </a:solidFill>
                          <a:latin typeface="Arial"/>
                        </a:rPr>
                        <a:t>Crecen más de 20 %</a:t>
                      </a:r>
                    </a:p>
                  </a:txBody>
                  <a:tcPr marL="82296" marR="82296" anchor="ctr">
                    <a:solidFill>
                      <a:srgbClr val="FFFFFF"/>
                    </a:solidFill>
                  </a:tcPr>
                </a:tc>
                <a:tc>
                  <a:txBody>
                    <a:bodyPr/>
                    <a:lstStyle/>
                    <a:p>
                      <a:pPr algn="r"/>
                      <a:r>
                        <a:rPr sz="960" b="0">
                          <a:solidFill>
                            <a:srgbClr val="555045"/>
                          </a:solidFill>
                          <a:latin typeface="Arial"/>
                        </a:rPr>
                        <a:t>36</a:t>
                      </a:r>
                    </a:p>
                  </a:txBody>
                  <a:tcPr marL="82296" marR="82296" anchor="ctr">
                    <a:solidFill>
                      <a:srgbClr val="FFFFFF"/>
                    </a:solidFill>
                  </a:tcPr>
                </a:tc>
                <a:tc>
                  <a:txBody>
                    <a:bodyPr/>
                    <a:lstStyle/>
                    <a:p>
                      <a:pPr algn="r"/>
                      <a:r>
                        <a:rPr sz="960" b="0">
                          <a:solidFill>
                            <a:srgbClr val="555045"/>
                          </a:solidFill>
                          <a:latin typeface="Arial"/>
                        </a:rPr>
                        <a:t>hasta +61 %</a:t>
                      </a:r>
                    </a:p>
                  </a:txBody>
                  <a:tcPr marL="82296" marR="82296" anchor="ctr">
                    <a:solidFill>
                      <a:srgbClr val="FFFFF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Planas</a:t>
                      </a:r>
                    </a:p>
                  </a:txBody>
                  <a:tcPr marL="82296" marR="82296" anchor="ctr">
                    <a:solidFill>
                      <a:srgbClr val="FFFFFF"/>
                    </a:solidFill>
                  </a:tcPr>
                </a:tc>
                <a:tc>
                  <a:txBody>
                    <a:bodyPr/>
                    <a:lstStyle/>
                    <a:p>
                      <a:pPr algn="r"/>
                      <a:r>
                        <a:rPr sz="960" b="0">
                          <a:solidFill>
                            <a:srgbClr val="555045"/>
                          </a:solidFill>
                          <a:latin typeface="Arial"/>
                        </a:rPr>
                        <a:t>33</a:t>
                      </a:r>
                    </a:p>
                  </a:txBody>
                  <a:tcPr marL="82296" marR="82296" anchor="ctr">
                    <a:solidFill>
                      <a:srgbClr val="FFFFFF"/>
                    </a:solidFill>
                  </a:tcPr>
                </a:tc>
                <a:tc>
                  <a:txBody>
                    <a:bodyPr/>
                    <a:lstStyle/>
                    <a:p>
                      <a:pPr algn="r"/>
                      <a:r>
                        <a:rPr sz="960" b="0">
                          <a:solidFill>
                            <a:srgbClr val="555045"/>
                          </a:solidFill>
                          <a:latin typeface="Arial"/>
                        </a:rPr>
                        <a:t>±5 %</a:t>
                      </a:r>
                    </a:p>
                  </a:txBody>
                  <a:tcPr marL="82296" marR="82296" anchor="ctr">
                    <a:solidFill>
                      <a:srgbClr val="FFFFFF"/>
                    </a:solidFill>
                  </a:tcPr>
                </a:tc>
                <a:extLst>
                  <a:ext uri="{0D108BD9-81ED-4DB2-BD59-A6C34878D82A}">
                    <a16:rowId xmlns:a16="http://schemas.microsoft.com/office/drawing/2014/main" val="10002"/>
                  </a:ext>
                </a:extLst>
              </a:tr>
              <a:tr h="228600">
                <a:tc>
                  <a:txBody>
                    <a:bodyPr/>
                    <a:lstStyle/>
                    <a:p>
                      <a:pPr algn="l"/>
                      <a:r>
                        <a:rPr sz="960" b="0">
                          <a:solidFill>
                            <a:srgbClr val="17150F"/>
                          </a:solidFill>
                          <a:latin typeface="Arial"/>
                        </a:rPr>
                        <a:t>Caen más de 20 %</a:t>
                      </a:r>
                    </a:p>
                  </a:txBody>
                  <a:tcPr marL="82296" marR="82296" anchor="ctr">
                    <a:solidFill>
                      <a:srgbClr val="FFFFFF"/>
                    </a:solidFill>
                  </a:tcPr>
                </a:tc>
                <a:tc>
                  <a:txBody>
                    <a:bodyPr/>
                    <a:lstStyle/>
                    <a:p>
                      <a:pPr algn="r"/>
                      <a:r>
                        <a:rPr sz="960" b="0">
                          <a:solidFill>
                            <a:srgbClr val="555045"/>
                          </a:solidFill>
                          <a:latin typeface="Arial"/>
                        </a:rPr>
                        <a:t>33</a:t>
                      </a:r>
                    </a:p>
                  </a:txBody>
                  <a:tcPr marL="82296" marR="82296" anchor="ctr">
                    <a:solidFill>
                      <a:srgbClr val="FFFFFF"/>
                    </a:solidFill>
                  </a:tcPr>
                </a:tc>
                <a:tc>
                  <a:txBody>
                    <a:bodyPr/>
                    <a:lstStyle/>
                    <a:p>
                      <a:pPr algn="r"/>
                      <a:r>
                        <a:rPr sz="960" b="0">
                          <a:solidFill>
                            <a:srgbClr val="555045"/>
                          </a:solidFill>
                          <a:latin typeface="Arial"/>
                        </a:rPr>
                        <a:t>hasta −55 %</a:t>
                      </a:r>
                    </a:p>
                  </a:txBody>
                  <a:tcPr marL="82296" marR="82296" anchor="ctr">
                    <a:solidFill>
                      <a:srgbClr val="FFFFFF"/>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6255867" y="4765546"/>
            <a:ext cx="5387187" cy="785164"/>
          </a:xfrm>
          <a:prstGeom prst="rect">
            <a:avLst/>
          </a:prstGeom>
          <a:noFill/>
        </p:spPr>
        <p:txBody>
          <a:bodyPr wrap="square" lIns="0" tIns="0" rIns="0" bIns="0">
            <a:spAutoFit/>
          </a:bodyPr>
          <a:lstStyle/>
          <a:p>
            <a:pPr>
              <a:lnSpc>
                <a:spcPct val="118000"/>
              </a:lnSpc>
              <a:spcAft>
                <a:spcPts val="300"/>
              </a:spcAft>
            </a:pPr>
            <a:r>
              <a:rPr sz="1019" b="0">
                <a:solidFill>
                  <a:srgbClr val="555045"/>
                </a:solidFill>
                <a:latin typeface="Arial"/>
              </a:rPr>
              <a:t>69 de las 160 series se mueven más de un 20 % en trece semanas, y las subidas compensan a las bajadas: no hay deriva global que aprovechar.</a:t>
            </a:r>
          </a:p>
          <a:p>
            <a:pPr>
              <a:lnSpc>
                <a:spcPct val="118000"/>
              </a:lnSpc>
              <a:spcAft>
                <a:spcPts val="300"/>
              </a:spcAft>
            </a:pPr>
            <a:r>
              <a:rPr sz="1019" b="1">
                <a:solidFill>
                  <a:srgbClr val="17150F"/>
                </a:solidFill>
                <a:latin typeface="Arial"/>
              </a:rPr>
              <a:t>En esas 69 series, quien pide mirando el histórico se queda corto en las que suben y acumula merma en las que bajan.</a:t>
            </a:r>
          </a:p>
        </p:txBody>
      </p:sp>
      <p:sp>
        <p:nvSpPr>
          <p:cNvPr id="13" name="Rectangle 12"/>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3-4 · Univariado</a:t>
            </a:r>
          </a:p>
        </p:txBody>
      </p:sp>
      <p:sp>
        <p:nvSpPr>
          <p:cNvPr id="16" name="TextBox 15"/>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PASOS 3 Y 4 · UNIVARIADO</a:t>
            </a:r>
          </a:p>
        </p:txBody>
      </p:sp>
      <p:sp>
        <p:nvSpPr>
          <p:cNvPr id="4" name="TextBox 3"/>
          <p:cNvSpPr txBox="1"/>
          <p:nvPr/>
        </p:nvSpPr>
        <p:spPr>
          <a:xfrm>
            <a:off x="548640"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Qué variables de contexto entran y cuáles se descartan</a:t>
            </a:r>
          </a:p>
        </p:txBody>
      </p:sp>
      <p:pic>
        <p:nvPicPr>
          <p:cNvPr id="5" name="Picture 4" descr="image.png"/>
          <p:cNvPicPr>
            <a:picLocks noChangeAspect="1"/>
          </p:cNvPicPr>
          <p:nvPr/>
        </p:nvPicPr>
        <p:blipFill>
          <a:blip r:embed="rId2"/>
          <a:stretch>
            <a:fillRect/>
          </a:stretch>
        </p:blipFill>
        <p:spPr>
          <a:xfrm>
            <a:off x="548640" y="1060196"/>
            <a:ext cx="4480560" cy="2613660"/>
          </a:xfrm>
          <a:prstGeom prst="rect">
            <a:avLst/>
          </a:prstGeom>
        </p:spPr>
      </p:pic>
      <p:sp>
        <p:nvSpPr>
          <p:cNvPr id="6" name="TextBox 5"/>
          <p:cNvSpPr txBox="1"/>
          <p:nvPr/>
        </p:nvSpPr>
        <p:spPr>
          <a:xfrm>
            <a:off x="548640" y="3765296"/>
            <a:ext cx="5387187" cy="415442"/>
          </a:xfrm>
          <a:prstGeom prst="rect">
            <a:avLst/>
          </a:prstGeom>
          <a:noFill/>
        </p:spPr>
        <p:txBody>
          <a:bodyPr wrap="square" lIns="0" tIns="0" rIns="0" bIns="0">
            <a:spAutoFit/>
          </a:bodyPr>
          <a:lstStyle/>
          <a:p>
            <a:pPr>
              <a:lnSpc>
                <a:spcPct val="118000"/>
              </a:lnSpc>
              <a:spcAft>
                <a:spcPts val="300"/>
              </a:spcAft>
            </a:pPr>
            <a:r>
              <a:rPr sz="1019" b="1">
                <a:solidFill>
                  <a:srgbClr val="17150F"/>
                </a:solidFill>
                <a:latin typeface="Arial"/>
              </a:rPr>
              <a:t>▪ La superficie entra.</a:t>
            </a:r>
            <a:r>
              <a:rPr sz="1019" b="0">
                <a:solidFill>
                  <a:srgbClr val="555045"/>
                </a:solidFill>
                <a:latin typeface="Arial"/>
              </a:rPr>
              <a:t> Correlación 0,976 con la demanda de la tienda. Permite además estimar una tienda nueva sin historial.</a:t>
            </a:r>
          </a:p>
        </p:txBody>
      </p:sp>
      <p:sp>
        <p:nvSpPr>
          <p:cNvPr id="7" name="TextBox 6"/>
          <p:cNvSpPr txBox="1"/>
          <p:nvPr/>
        </p:nvSpPr>
        <p:spPr>
          <a:xfrm>
            <a:off x="548640" y="4217314"/>
            <a:ext cx="5387187" cy="415442"/>
          </a:xfrm>
          <a:prstGeom prst="rect">
            <a:avLst/>
          </a:prstGeom>
          <a:noFill/>
        </p:spPr>
        <p:txBody>
          <a:bodyPr wrap="square" lIns="0" tIns="0" rIns="0" bIns="0">
            <a:spAutoFit/>
          </a:bodyPr>
          <a:lstStyle/>
          <a:p>
            <a:pPr>
              <a:lnSpc>
                <a:spcPct val="118000"/>
              </a:lnSpc>
              <a:spcAft>
                <a:spcPts val="300"/>
              </a:spcAft>
            </a:pPr>
            <a:r>
              <a:rPr sz="1019" b="1">
                <a:solidFill>
                  <a:srgbClr val="17150F"/>
                </a:solidFill>
                <a:latin typeface="Arial"/>
              </a:rPr>
              <a:t>▪ La ciudad se descarta.</a:t>
            </a:r>
            <a:r>
              <a:rPr sz="1019" b="0">
                <a:solidFill>
                  <a:srgbClr val="555045"/>
                </a:solidFill>
                <a:latin typeface="Arial"/>
              </a:rPr>
              <a:t> Sobre el residuo del tamaño no aporta nada, y con una sola tienda en Cali cualquier conclusión sería indefendible.</a:t>
            </a:r>
          </a:p>
        </p:txBody>
      </p:sp>
      <p:sp>
        <p:nvSpPr>
          <p:cNvPr id="8" name="TextBox 7"/>
          <p:cNvSpPr txBox="1"/>
          <p:nvPr/>
        </p:nvSpPr>
        <p:spPr>
          <a:xfrm>
            <a:off x="548640" y="4669332"/>
            <a:ext cx="5387187" cy="415442"/>
          </a:xfrm>
          <a:prstGeom prst="rect">
            <a:avLst/>
          </a:prstGeom>
          <a:noFill/>
        </p:spPr>
        <p:txBody>
          <a:bodyPr wrap="square" lIns="0" tIns="0" rIns="0" bIns="0">
            <a:spAutoFit/>
          </a:bodyPr>
          <a:lstStyle/>
          <a:p>
            <a:pPr>
              <a:lnSpc>
                <a:spcPct val="118000"/>
              </a:lnSpc>
              <a:spcAft>
                <a:spcPts val="300"/>
              </a:spcAft>
            </a:pPr>
            <a:r>
              <a:rPr sz="1019" b="1">
                <a:solidFill>
                  <a:srgbClr val="17150F"/>
                </a:solidFill>
                <a:latin typeface="Arial"/>
              </a:rPr>
              <a:t>▪ Precio y coste se quedan fuera del modelo.</a:t>
            </a:r>
            <a:r>
              <a:rPr sz="1019" b="0">
                <a:solidFill>
                  <a:srgbClr val="555045"/>
                </a:solidFill>
                <a:latin typeface="Arial"/>
              </a:rPr>
              <a:t> Su sitio es la capa de costes, no la matriz de entrada.</a:t>
            </a:r>
          </a:p>
        </p:txBody>
      </p:sp>
      <p:sp>
        <p:nvSpPr>
          <p:cNvPr id="9" name="TextBox 8"/>
          <p:cNvSpPr txBox="1"/>
          <p:nvPr/>
        </p:nvSpPr>
        <p:spPr>
          <a:xfrm>
            <a:off x="548640" y="5121350"/>
            <a:ext cx="5387187" cy="415442"/>
          </a:xfrm>
          <a:prstGeom prst="rect">
            <a:avLst/>
          </a:prstGeom>
          <a:noFill/>
        </p:spPr>
        <p:txBody>
          <a:bodyPr wrap="square" lIns="0" tIns="0" rIns="0" bIns="0">
            <a:spAutoFit/>
          </a:bodyPr>
          <a:lstStyle/>
          <a:p>
            <a:pPr>
              <a:lnSpc>
                <a:spcPct val="118000"/>
              </a:lnSpc>
              <a:spcAft>
                <a:spcPts val="300"/>
              </a:spcAft>
            </a:pPr>
            <a:r>
              <a:rPr sz="1019" b="1">
                <a:solidFill>
                  <a:srgbClr val="17150F"/>
                </a:solidFill>
                <a:latin typeface="Arial"/>
              </a:rPr>
              <a:t>▪ Producto y tienda con indicadoras.</a:t>
            </a:r>
            <a:r>
              <a:rPr sz="1019" b="0">
                <a:solidFill>
                  <a:srgbClr val="555045"/>
                </a:solidFill>
                <a:latin typeface="Arial"/>
              </a:rPr>
              <a:t> El diseño está balanceado, así que codificar por frecuencia devolvería una constante.</a:t>
            </a:r>
          </a:p>
        </p:txBody>
      </p:sp>
      <p:sp>
        <p:nvSpPr>
          <p:cNvPr id="10" name="TextBox 9"/>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PASOS 3 Y 4 · UNIVARIADO</a:t>
            </a:r>
          </a:p>
        </p:txBody>
      </p:sp>
      <p:sp>
        <p:nvSpPr>
          <p:cNvPr id="11" name="TextBox 10"/>
          <p:cNvSpPr txBox="1"/>
          <p:nvPr/>
        </p:nvSpPr>
        <p:spPr>
          <a:xfrm>
            <a:off x="6255867" y="704088"/>
            <a:ext cx="5387187" cy="555244"/>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Las etiquetas de tendencia no describen lo que hacen las series</a:t>
            </a:r>
          </a:p>
        </p:txBody>
      </p:sp>
      <p:pic>
        <p:nvPicPr>
          <p:cNvPr id="12" name="Picture 11" descr="image.png"/>
          <p:cNvPicPr>
            <a:picLocks noChangeAspect="1"/>
          </p:cNvPicPr>
          <p:nvPr/>
        </p:nvPicPr>
        <p:blipFill>
          <a:blip r:embed="rId3"/>
          <a:stretch>
            <a:fillRect/>
          </a:stretch>
        </p:blipFill>
        <p:spPr>
          <a:xfrm>
            <a:off x="6255867" y="1295908"/>
            <a:ext cx="4480560" cy="1194816"/>
          </a:xfrm>
          <a:prstGeom prst="rect">
            <a:avLst/>
          </a:prstGeom>
        </p:spPr>
      </p:pic>
      <p:graphicFrame>
        <p:nvGraphicFramePr>
          <p:cNvPr id="13" name="Table 12"/>
          <p:cNvGraphicFramePr>
            <a:graphicFrameLocks noGrp="1"/>
          </p:cNvGraphicFramePr>
          <p:nvPr/>
        </p:nvGraphicFramePr>
        <p:xfrm>
          <a:off x="6255867" y="2582164"/>
          <a:ext cx="5387185" cy="1298448"/>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r>
                        <a:rPr sz="810" b="1">
                          <a:solidFill>
                            <a:srgbClr val="8B8478"/>
                          </a:solidFill>
                          <a:latin typeface="Arial"/>
                        </a:rPr>
                        <a:t>Patrón</a:t>
                      </a:r>
                    </a:p>
                  </a:txBody>
                  <a:tcPr marL="82296" marR="82296" anchor="ctr">
                    <a:solidFill>
                      <a:srgbClr val="F4F2ED"/>
                    </a:solidFill>
                  </a:tcPr>
                </a:tc>
                <a:tc>
                  <a:txBody>
                    <a:bodyPr/>
                    <a:lstStyle/>
                    <a:p>
                      <a:pPr algn="r"/>
                      <a:r>
                        <a:rPr sz="810" b="1">
                          <a:solidFill>
                            <a:srgbClr val="8B8478"/>
                          </a:solidFill>
                          <a:latin typeface="Arial"/>
                        </a:rPr>
                        <a:t>Series</a:t>
                      </a:r>
                    </a:p>
                  </a:txBody>
                  <a:tcPr marL="82296" marR="82296" anchor="ctr">
                    <a:solidFill>
                      <a:srgbClr val="F4F2ED"/>
                    </a:solidFill>
                  </a:tcPr>
                </a:tc>
                <a:tc>
                  <a:txBody>
                    <a:bodyPr/>
                    <a:lstStyle/>
                    <a:p>
                      <a:pPr algn="r"/>
                      <a:r>
                        <a:rPr sz="810" b="1">
                          <a:solidFill>
                            <a:srgbClr val="8B8478"/>
                          </a:solidFill>
                          <a:latin typeface="Arial"/>
                        </a:rPr>
                        <a:t>Cambio mediano</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0">
                          <a:solidFill>
                            <a:srgbClr val="17150F"/>
                          </a:solidFill>
                          <a:latin typeface="Arial"/>
                        </a:rPr>
                        <a:t>down</a:t>
                      </a:r>
                    </a:p>
                  </a:txBody>
                  <a:tcPr marL="82296" marR="82296" anchor="ctr">
                    <a:solidFill>
                      <a:srgbClr val="FFFFFF"/>
                    </a:solidFill>
                  </a:tcPr>
                </a:tc>
                <a:tc>
                  <a:txBody>
                    <a:bodyPr/>
                    <a:lstStyle/>
                    <a:p>
                      <a:pPr algn="r"/>
                      <a:r>
                        <a:rPr sz="960" b="0">
                          <a:solidFill>
                            <a:srgbClr val="555045"/>
                          </a:solidFill>
                          <a:latin typeface="Arial"/>
                        </a:rPr>
                        <a:t>44</a:t>
                      </a:r>
                    </a:p>
                  </a:txBody>
                  <a:tcPr marL="82296" marR="82296" anchor="ctr">
                    <a:solidFill>
                      <a:srgbClr val="FFFFFF"/>
                    </a:solidFill>
                  </a:tcPr>
                </a:tc>
                <a:tc>
                  <a:txBody>
                    <a:bodyPr/>
                    <a:lstStyle/>
                    <a:p>
                      <a:pPr algn="r"/>
                      <a:r>
                        <a:rPr sz="960" b="0">
                          <a:solidFill>
                            <a:srgbClr val="555045"/>
                          </a:solidFill>
                          <a:latin typeface="Arial"/>
                        </a:rPr>
                        <a:t>−1,0 %</a:t>
                      </a:r>
                    </a:p>
                  </a:txBody>
                  <a:tcPr marL="82296" marR="82296" anchor="ctr">
                    <a:solidFill>
                      <a:srgbClr val="FFFFF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seasonal</a:t>
                      </a:r>
                    </a:p>
                  </a:txBody>
                  <a:tcPr marL="82296" marR="82296" anchor="ctr">
                    <a:solidFill>
                      <a:srgbClr val="FFFFFF"/>
                    </a:solidFill>
                  </a:tcPr>
                </a:tc>
                <a:tc>
                  <a:txBody>
                    <a:bodyPr/>
                    <a:lstStyle/>
                    <a:p>
                      <a:pPr algn="r"/>
                      <a:r>
                        <a:rPr sz="960" b="0">
                          <a:solidFill>
                            <a:srgbClr val="555045"/>
                          </a:solidFill>
                          <a:latin typeface="Arial"/>
                        </a:rPr>
                        <a:t>57</a:t>
                      </a:r>
                    </a:p>
                  </a:txBody>
                  <a:tcPr marL="82296" marR="82296" anchor="ctr">
                    <a:solidFill>
                      <a:srgbClr val="FFFFFF"/>
                    </a:solidFill>
                  </a:tcPr>
                </a:tc>
                <a:tc>
                  <a:txBody>
                    <a:bodyPr/>
                    <a:lstStyle/>
                    <a:p>
                      <a:pPr algn="r"/>
                      <a:r>
                        <a:rPr sz="960" b="0">
                          <a:solidFill>
                            <a:srgbClr val="555045"/>
                          </a:solidFill>
                          <a:latin typeface="Arial"/>
                        </a:rPr>
                        <a:t>−2,5 %</a:t>
                      </a:r>
                    </a:p>
                  </a:txBody>
                  <a:tcPr marL="82296" marR="82296" anchor="ctr">
                    <a:solidFill>
                      <a:srgbClr val="FFFFFF"/>
                    </a:solidFill>
                  </a:tcPr>
                </a:tc>
                <a:extLst>
                  <a:ext uri="{0D108BD9-81ED-4DB2-BD59-A6C34878D82A}">
                    <a16:rowId xmlns:a16="http://schemas.microsoft.com/office/drawing/2014/main" val="10002"/>
                  </a:ext>
                </a:extLst>
              </a:tr>
              <a:tr h="228600">
                <a:tc>
                  <a:txBody>
                    <a:bodyPr/>
                    <a:lstStyle/>
                    <a:p>
                      <a:pPr algn="l"/>
                      <a:r>
                        <a:rPr sz="960" b="0">
                          <a:solidFill>
                            <a:srgbClr val="17150F"/>
                          </a:solidFill>
                          <a:latin typeface="Arial"/>
                        </a:rPr>
                        <a:t>random</a:t>
                      </a:r>
                    </a:p>
                  </a:txBody>
                  <a:tcPr marL="82296" marR="82296" anchor="ctr">
                    <a:solidFill>
                      <a:srgbClr val="FFFFFF"/>
                    </a:solidFill>
                  </a:tcPr>
                </a:tc>
                <a:tc>
                  <a:txBody>
                    <a:bodyPr/>
                    <a:lstStyle/>
                    <a:p>
                      <a:pPr algn="r"/>
                      <a:r>
                        <a:rPr sz="960" b="0">
                          <a:solidFill>
                            <a:srgbClr val="555045"/>
                          </a:solidFill>
                          <a:latin typeface="Arial"/>
                        </a:rPr>
                        <a:t>32</a:t>
                      </a:r>
                    </a:p>
                  </a:txBody>
                  <a:tcPr marL="82296" marR="82296" anchor="ctr">
                    <a:solidFill>
                      <a:srgbClr val="FFFFFF"/>
                    </a:solidFill>
                  </a:tcPr>
                </a:tc>
                <a:tc>
                  <a:txBody>
                    <a:bodyPr/>
                    <a:lstStyle/>
                    <a:p>
                      <a:pPr algn="r"/>
                      <a:r>
                        <a:rPr sz="960" b="0">
                          <a:solidFill>
                            <a:srgbClr val="555045"/>
                          </a:solidFill>
                          <a:latin typeface="Arial"/>
                        </a:rPr>
                        <a:t>+2,8 %</a:t>
                      </a:r>
                    </a:p>
                  </a:txBody>
                  <a:tcPr marL="82296" marR="82296" anchor="ctr">
                    <a:solidFill>
                      <a:srgbClr val="FFFFFF"/>
                    </a:solidFill>
                  </a:tcPr>
                </a:tc>
                <a:extLst>
                  <a:ext uri="{0D108BD9-81ED-4DB2-BD59-A6C34878D82A}">
                    <a16:rowId xmlns:a16="http://schemas.microsoft.com/office/drawing/2014/main" val="10003"/>
                  </a:ext>
                </a:extLst>
              </a:tr>
              <a:tr h="228600">
                <a:tc>
                  <a:txBody>
                    <a:bodyPr/>
                    <a:lstStyle/>
                    <a:p>
                      <a:pPr algn="l"/>
                      <a:r>
                        <a:rPr sz="960" b="0">
                          <a:solidFill>
                            <a:srgbClr val="17150F"/>
                          </a:solidFill>
                          <a:latin typeface="Arial"/>
                        </a:rPr>
                        <a:t>up</a:t>
                      </a:r>
                    </a:p>
                  </a:txBody>
                  <a:tcPr marL="82296" marR="82296" anchor="ctr">
                    <a:solidFill>
                      <a:srgbClr val="FFFFFF"/>
                    </a:solidFill>
                  </a:tcPr>
                </a:tc>
                <a:tc>
                  <a:txBody>
                    <a:bodyPr/>
                    <a:lstStyle/>
                    <a:p>
                      <a:pPr algn="r"/>
                      <a:r>
                        <a:rPr sz="960" b="0">
                          <a:solidFill>
                            <a:srgbClr val="555045"/>
                          </a:solidFill>
                          <a:latin typeface="Arial"/>
                        </a:rPr>
                        <a:t>27</a:t>
                      </a:r>
                    </a:p>
                  </a:txBody>
                  <a:tcPr marL="82296" marR="82296" anchor="ctr">
                    <a:solidFill>
                      <a:srgbClr val="FFFFFF"/>
                    </a:solidFill>
                  </a:tcPr>
                </a:tc>
                <a:tc>
                  <a:txBody>
                    <a:bodyPr/>
                    <a:lstStyle/>
                    <a:p>
                      <a:pPr algn="r"/>
                      <a:r>
                        <a:rPr sz="960" b="0">
                          <a:solidFill>
                            <a:srgbClr val="555045"/>
                          </a:solidFill>
                          <a:latin typeface="Arial"/>
                        </a:rPr>
                        <a:t>+3,5 %</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14" name="TextBox 13"/>
          <p:cNvSpPr txBox="1"/>
          <p:nvPr/>
        </p:nvSpPr>
        <p:spPr>
          <a:xfrm>
            <a:off x="6255867" y="3935476"/>
            <a:ext cx="5387187" cy="785164"/>
          </a:xfrm>
          <a:prstGeom prst="rect">
            <a:avLst/>
          </a:prstGeom>
          <a:noFill/>
        </p:spPr>
        <p:txBody>
          <a:bodyPr wrap="square" lIns="0" tIns="0" rIns="0" bIns="0">
            <a:spAutoFit/>
          </a:bodyPr>
          <a:lstStyle/>
          <a:p>
            <a:pPr>
              <a:lnSpc>
                <a:spcPct val="118000"/>
              </a:lnSpc>
              <a:spcAft>
                <a:spcPts val="300"/>
              </a:spcAft>
            </a:pPr>
            <a:r>
              <a:rPr sz="1019" b="0">
                <a:solidFill>
                  <a:srgbClr val="555045"/>
                </a:solidFill>
                <a:latin typeface="Arial"/>
              </a:rPr>
              <a:t>El contraste de Kruskal-Wallis da p = 0,453: la etiqueta explica el 1,6 % de la variación observada. El panel etiquetado «up» tiene la recta ajustada descendente.</a:t>
            </a:r>
          </a:p>
          <a:p>
            <a:pPr>
              <a:lnSpc>
                <a:spcPct val="118000"/>
              </a:lnSpc>
              <a:spcAft>
                <a:spcPts val="300"/>
              </a:spcAft>
            </a:pPr>
            <a:r>
              <a:rPr sz="1019" b="1">
                <a:solidFill>
                  <a:srgbClr val="17150F"/>
                </a:solidFill>
                <a:latin typeface="Arial"/>
              </a:rPr>
              <a:t>El fichero sigue excluido del modelo, y además su valor como herramienta de diagnóstico es mucho menor de lo esperado.</a:t>
            </a:r>
          </a:p>
        </p:txBody>
      </p:sp>
      <p:sp>
        <p:nvSpPr>
          <p:cNvPr id="15" name="Rectangle 14"/>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3-4 · Univariado</a:t>
            </a:r>
          </a:p>
        </p:txBody>
      </p:sp>
      <p:sp>
        <p:nvSpPr>
          <p:cNvPr id="18" name="TextBox 17"/>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PASOS 5 A 8 · DISEÑO</a:t>
            </a:r>
          </a:p>
        </p:txBody>
      </p:sp>
      <p:sp>
        <p:nvSpPr>
          <p:cNvPr id="4" name="TextBox 3"/>
          <p:cNvSpPr txBox="1"/>
          <p:nvPr/>
        </p:nvSpPr>
        <p:spPr>
          <a:xfrm>
            <a:off x="548640"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Las particiones se congelan antes de modelar</a:t>
            </a:r>
          </a:p>
        </p:txBody>
      </p:sp>
      <p:sp>
        <p:nvSpPr>
          <p:cNvPr id="5" name="TextBox 4"/>
          <p:cNvSpPr txBox="1"/>
          <p:nvPr/>
        </p:nvSpPr>
        <p:spPr>
          <a:xfrm>
            <a:off x="548640" y="1060196"/>
            <a:ext cx="5387187" cy="259384"/>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Ajustarlas después de ver resultados invalidaría toda la evaluación.</a:t>
            </a:r>
          </a:p>
        </p:txBody>
      </p:sp>
      <p:graphicFrame>
        <p:nvGraphicFramePr>
          <p:cNvPr id="6" name="Table 5"/>
          <p:cNvGraphicFramePr>
            <a:graphicFrameLocks noGrp="1"/>
          </p:cNvGraphicFramePr>
          <p:nvPr/>
        </p:nvGraphicFramePr>
        <p:xfrm>
          <a:off x="548640" y="1356156"/>
          <a:ext cx="5387185" cy="1883664"/>
        </p:xfrm>
        <a:graphic>
          <a:graphicData uri="http://schemas.openxmlformats.org/drawingml/2006/table">
            <a:tbl>
              <a:tblPr bandRow="1">
                <a:tableStyleId>{5C22544A-7EE6-4342-B048-85BDC9FD1C3A}</a:tableStyleId>
              </a:tblPr>
              <a:tblGrid>
                <a:gridCol w="2020195">
                  <a:extLst>
                    <a:ext uri="{9D8B030D-6E8A-4147-A177-3AD203B41FA5}">
                      <a16:colId xmlns:a16="http://schemas.microsoft.com/office/drawing/2014/main" val="20000"/>
                    </a:ext>
                  </a:extLst>
                </a:gridCol>
                <a:gridCol w="1122330">
                  <a:extLst>
                    <a:ext uri="{9D8B030D-6E8A-4147-A177-3AD203B41FA5}">
                      <a16:colId xmlns:a16="http://schemas.microsoft.com/office/drawing/2014/main" val="20001"/>
                    </a:ext>
                  </a:extLst>
                </a:gridCol>
                <a:gridCol w="1122330">
                  <a:extLst>
                    <a:ext uri="{9D8B030D-6E8A-4147-A177-3AD203B41FA5}">
                      <a16:colId xmlns:a16="http://schemas.microsoft.com/office/drawing/2014/main" val="20002"/>
                    </a:ext>
                  </a:extLst>
                </a:gridCol>
                <a:gridCol w="1122330">
                  <a:extLst>
                    <a:ext uri="{9D8B030D-6E8A-4147-A177-3AD203B41FA5}">
                      <a16:colId xmlns:a16="http://schemas.microsoft.com/office/drawing/2014/main" val="20003"/>
                    </a:ext>
                  </a:extLst>
                </a:gridCol>
              </a:tblGrid>
              <a:tr h="347472">
                <a:tc>
                  <a:txBody>
                    <a:bodyPr/>
                    <a:lstStyle/>
                    <a:p>
                      <a:pPr algn="l"/>
                      <a:r>
                        <a:rPr sz="810" b="1">
                          <a:solidFill>
                            <a:srgbClr val="8B8478"/>
                          </a:solidFill>
                          <a:latin typeface="Arial"/>
                        </a:rPr>
                        <a:t>Periodo</a:t>
                      </a:r>
                    </a:p>
                  </a:txBody>
                  <a:tcPr marL="82296" marR="82296" anchor="ctr">
                    <a:solidFill>
                      <a:srgbClr val="F4F2ED"/>
                    </a:solidFill>
                  </a:tcPr>
                </a:tc>
                <a:tc>
                  <a:txBody>
                    <a:bodyPr/>
                    <a:lstStyle/>
                    <a:p>
                      <a:pPr algn="r"/>
                      <a:r>
                        <a:rPr sz="810" b="1">
                          <a:solidFill>
                            <a:srgbClr val="8B8478"/>
                          </a:solidFill>
                          <a:latin typeface="Arial"/>
                        </a:rPr>
                        <a:t>Semanas</a:t>
                      </a:r>
                    </a:p>
                  </a:txBody>
                  <a:tcPr marL="82296" marR="82296" anchor="ctr">
                    <a:solidFill>
                      <a:srgbClr val="F4F2ED"/>
                    </a:solidFill>
                  </a:tcPr>
                </a:tc>
                <a:tc>
                  <a:txBody>
                    <a:bodyPr/>
                    <a:lstStyle/>
                    <a:p>
                      <a:pPr algn="r"/>
                      <a:r>
                        <a:rPr sz="810" b="1">
                          <a:solidFill>
                            <a:srgbClr val="8B8478"/>
                          </a:solidFill>
                          <a:latin typeface="Arial"/>
                        </a:rPr>
                        <a:t>Filas</a:t>
                      </a:r>
                    </a:p>
                  </a:txBody>
                  <a:tcPr marL="82296" marR="82296" anchor="ctr">
                    <a:solidFill>
                      <a:srgbClr val="F4F2ED"/>
                    </a:solidFill>
                  </a:tcPr>
                </a:tc>
                <a:tc>
                  <a:txBody>
                    <a:bodyPr/>
                    <a:lstStyle/>
                    <a:p>
                      <a:pPr algn="r"/>
                      <a:r>
                        <a:rPr sz="810" b="1">
                          <a:solidFill>
                            <a:srgbClr val="8B8478"/>
                          </a:solidFill>
                          <a:latin typeface="Arial"/>
                        </a:rPr>
                        <a:t>Uso</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0">
                          <a:solidFill>
                            <a:srgbClr val="17150F"/>
                          </a:solidFill>
                          <a:latin typeface="Arial"/>
                        </a:rPr>
                        <a:t>Historia de los rezagos</a:t>
                      </a:r>
                    </a:p>
                  </a:txBody>
                  <a:tcPr marL="82296" marR="82296" anchor="ctr">
                    <a:solidFill>
                      <a:srgbClr val="FFFFFF"/>
                    </a:solidFill>
                  </a:tcPr>
                </a:tc>
                <a:tc>
                  <a:txBody>
                    <a:bodyPr/>
                    <a:lstStyle/>
                    <a:p>
                      <a:pPr algn="r"/>
                      <a:r>
                        <a:rPr sz="960" b="0">
                          <a:solidFill>
                            <a:srgbClr val="555045"/>
                          </a:solidFill>
                          <a:latin typeface="Arial"/>
                        </a:rPr>
                        <a:t>1 a 4</a:t>
                      </a:r>
                    </a:p>
                  </a:txBody>
                  <a:tcPr marL="82296" marR="82296" anchor="ctr">
                    <a:solidFill>
                      <a:srgbClr val="FFFFFF"/>
                    </a:solidFill>
                  </a:tcPr>
                </a:tc>
                <a:tc>
                  <a:txBody>
                    <a:bodyPr/>
                    <a:lstStyle/>
                    <a:p>
                      <a:pPr algn="r"/>
                      <a:r>
                        <a:rPr sz="960" b="0">
                          <a:solidFill>
                            <a:srgbClr val="555045"/>
                          </a:solidFill>
                          <a:latin typeface="Arial"/>
                        </a:rPr>
                        <a:t>—</a:t>
                      </a:r>
                    </a:p>
                  </a:txBody>
                  <a:tcPr marL="82296" marR="82296" anchor="ctr">
                    <a:solidFill>
                      <a:srgbClr val="FFFFFF"/>
                    </a:solidFill>
                  </a:tcPr>
                </a:tc>
                <a:tc>
                  <a:txBody>
                    <a:bodyPr/>
                    <a:lstStyle/>
                    <a:p>
                      <a:pPr algn="r"/>
                      <a:r>
                        <a:rPr sz="960" b="0">
                          <a:solidFill>
                            <a:srgbClr val="555045"/>
                          </a:solidFill>
                          <a:latin typeface="Arial"/>
                        </a:rPr>
                        <a:t>No genera filas utilizables</a:t>
                      </a:r>
                    </a:p>
                  </a:txBody>
                  <a:tcPr marL="82296" marR="82296" anchor="ctr">
                    <a:solidFill>
                      <a:srgbClr val="FFFFF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Entrenamiento</a:t>
                      </a:r>
                    </a:p>
                  </a:txBody>
                  <a:tcPr marL="82296" marR="82296" anchor="ctr">
                    <a:solidFill>
                      <a:srgbClr val="FFFFFF"/>
                    </a:solidFill>
                  </a:tcPr>
                </a:tc>
                <a:tc>
                  <a:txBody>
                    <a:bodyPr/>
                    <a:lstStyle/>
                    <a:p>
                      <a:pPr algn="r"/>
                      <a:r>
                        <a:rPr sz="960" b="0">
                          <a:solidFill>
                            <a:srgbClr val="555045"/>
                          </a:solidFill>
                          <a:latin typeface="Arial"/>
                        </a:rPr>
                        <a:t>5 a 10</a:t>
                      </a:r>
                    </a:p>
                  </a:txBody>
                  <a:tcPr marL="82296" marR="82296" anchor="ctr">
                    <a:solidFill>
                      <a:srgbClr val="FFFFFF"/>
                    </a:solidFill>
                  </a:tcPr>
                </a:tc>
                <a:tc>
                  <a:txBody>
                    <a:bodyPr/>
                    <a:lstStyle/>
                    <a:p>
                      <a:pPr algn="r"/>
                      <a:r>
                        <a:rPr sz="960" b="0">
                          <a:solidFill>
                            <a:srgbClr val="555045"/>
                          </a:solidFill>
                          <a:latin typeface="Arial"/>
                        </a:rPr>
                        <a:t>960</a:t>
                      </a:r>
                    </a:p>
                  </a:txBody>
                  <a:tcPr marL="82296" marR="82296" anchor="ctr">
                    <a:solidFill>
                      <a:srgbClr val="FFFFFF"/>
                    </a:solidFill>
                  </a:tcPr>
                </a:tc>
                <a:tc>
                  <a:txBody>
                    <a:bodyPr/>
                    <a:lstStyle/>
                    <a:p>
                      <a:pPr algn="r"/>
                      <a:r>
                        <a:rPr sz="960" b="0">
                          <a:solidFill>
                            <a:srgbClr val="555045"/>
                          </a:solidFill>
                          <a:latin typeface="Arial"/>
                        </a:rPr>
                        <a:t>El modelo aprende aquí</a:t>
                      </a:r>
                    </a:p>
                  </a:txBody>
                  <a:tcPr marL="82296" marR="82296" anchor="ctr">
                    <a:solidFill>
                      <a:srgbClr val="FFFFFF"/>
                    </a:solidFill>
                  </a:tcPr>
                </a:tc>
                <a:extLst>
                  <a:ext uri="{0D108BD9-81ED-4DB2-BD59-A6C34878D82A}">
                    <a16:rowId xmlns:a16="http://schemas.microsoft.com/office/drawing/2014/main" val="10002"/>
                  </a:ext>
                </a:extLst>
              </a:tr>
              <a:tr h="228600">
                <a:tc>
                  <a:txBody>
                    <a:bodyPr/>
                    <a:lstStyle/>
                    <a:p>
                      <a:pPr algn="l"/>
                      <a:r>
                        <a:rPr sz="960" b="1">
                          <a:solidFill>
                            <a:srgbClr val="17150F"/>
                          </a:solidFill>
                          <a:latin typeface="Arial"/>
                        </a:rPr>
                        <a:t>Prueba</a:t>
                      </a:r>
                    </a:p>
                  </a:txBody>
                  <a:tcPr marL="82296" marR="82296" anchor="ctr">
                    <a:solidFill>
                      <a:srgbClr val="F7EEEF"/>
                    </a:solidFill>
                  </a:tcPr>
                </a:tc>
                <a:tc>
                  <a:txBody>
                    <a:bodyPr/>
                    <a:lstStyle/>
                    <a:p>
                      <a:pPr algn="r"/>
                      <a:r>
                        <a:rPr sz="960" b="1">
                          <a:solidFill>
                            <a:srgbClr val="17150F"/>
                          </a:solidFill>
                          <a:latin typeface="Arial"/>
                        </a:rPr>
                        <a:t>11 a 13</a:t>
                      </a:r>
                    </a:p>
                  </a:txBody>
                  <a:tcPr marL="82296" marR="82296" anchor="ctr">
                    <a:solidFill>
                      <a:srgbClr val="F7EEEF"/>
                    </a:solidFill>
                  </a:tcPr>
                </a:tc>
                <a:tc>
                  <a:txBody>
                    <a:bodyPr/>
                    <a:lstStyle/>
                    <a:p>
                      <a:pPr algn="r"/>
                      <a:r>
                        <a:rPr sz="960" b="1">
                          <a:solidFill>
                            <a:srgbClr val="17150F"/>
                          </a:solidFill>
                          <a:latin typeface="Arial"/>
                        </a:rPr>
                        <a:t>480</a:t>
                      </a:r>
                    </a:p>
                  </a:txBody>
                  <a:tcPr marL="82296" marR="82296" anchor="ctr">
                    <a:solidFill>
                      <a:srgbClr val="F7EEEF"/>
                    </a:solidFill>
                  </a:tcPr>
                </a:tc>
                <a:tc>
                  <a:txBody>
                    <a:bodyPr/>
                    <a:lstStyle/>
                    <a:p>
                      <a:pPr algn="r"/>
                      <a:r>
                        <a:rPr sz="960" b="1">
                          <a:solidFill>
                            <a:srgbClr val="17150F"/>
                          </a:solidFill>
                          <a:latin typeface="Arial"/>
                        </a:rPr>
                        <a:t>Intacta hasta el final</a:t>
                      </a:r>
                    </a:p>
                  </a:txBody>
                  <a:tcPr marL="82296" marR="82296" anchor="ctr">
                    <a:solidFill>
                      <a:srgbClr val="F7EEEF"/>
                    </a:solidFill>
                  </a:tcPr>
                </a:tc>
                <a:extLst>
                  <a:ext uri="{0D108BD9-81ED-4DB2-BD59-A6C34878D82A}">
                    <a16:rowId xmlns:a16="http://schemas.microsoft.com/office/drawing/2014/main" val="10003"/>
                  </a:ext>
                </a:extLst>
              </a:tr>
              <a:tr h="228600">
                <a:tc>
                  <a:txBody>
                    <a:bodyPr/>
                    <a:lstStyle/>
                    <a:p>
                      <a:pPr algn="l"/>
                      <a:r>
                        <a:rPr sz="960" b="0">
                          <a:solidFill>
                            <a:srgbClr val="17150F"/>
                          </a:solidFill>
                          <a:latin typeface="Arial"/>
                        </a:rPr>
                        <a:t>Predicción</a:t>
                      </a:r>
                    </a:p>
                  </a:txBody>
                  <a:tcPr marL="82296" marR="82296" anchor="ctr">
                    <a:solidFill>
                      <a:srgbClr val="FFFFFF"/>
                    </a:solidFill>
                  </a:tcPr>
                </a:tc>
                <a:tc>
                  <a:txBody>
                    <a:bodyPr/>
                    <a:lstStyle/>
                    <a:p>
                      <a:pPr algn="r"/>
                      <a:r>
                        <a:rPr sz="960" b="0">
                          <a:solidFill>
                            <a:srgbClr val="555045"/>
                          </a:solidFill>
                          <a:latin typeface="Arial"/>
                        </a:rPr>
                        <a:t>14</a:t>
                      </a:r>
                    </a:p>
                  </a:txBody>
                  <a:tcPr marL="82296" marR="82296" anchor="ctr">
                    <a:solidFill>
                      <a:srgbClr val="FFFFFF"/>
                    </a:solidFill>
                  </a:tcPr>
                </a:tc>
                <a:tc>
                  <a:txBody>
                    <a:bodyPr/>
                    <a:lstStyle/>
                    <a:p>
                      <a:pPr algn="r"/>
                      <a:r>
                        <a:rPr sz="960" b="0">
                          <a:solidFill>
                            <a:srgbClr val="555045"/>
                          </a:solidFill>
                          <a:latin typeface="Arial"/>
                        </a:rPr>
                        <a:t>160</a:t>
                      </a:r>
                    </a:p>
                  </a:txBody>
                  <a:tcPr marL="82296" marR="82296" anchor="ctr">
                    <a:solidFill>
                      <a:srgbClr val="FFFFFF"/>
                    </a:solidFill>
                  </a:tcPr>
                </a:tc>
                <a:tc>
                  <a:txBody>
                    <a:bodyPr/>
                    <a:lstStyle/>
                    <a:p>
                      <a:pPr algn="r"/>
                      <a:r>
                        <a:rPr sz="960" b="0">
                          <a:solidFill>
                            <a:srgbClr val="555045"/>
                          </a:solidFill>
                          <a:latin typeface="Arial"/>
                        </a:rPr>
                        <a:t>Se entrega, sin observación real</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48640" y="2709468"/>
            <a:ext cx="5387187" cy="434949"/>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 Dentro de entrenamiento, </a:t>
            </a:r>
            <a:r>
              <a:rPr sz="1080" b="1">
                <a:solidFill>
                  <a:srgbClr val="17150F"/>
                </a:solidFill>
                <a:latin typeface="Arial"/>
              </a:rPr>
              <a:t>tres pliegues de ventana expansiva</a:t>
            </a:r>
            <a:r>
              <a:rPr sz="1080" b="0">
                <a:solidFill>
                  <a:srgbClr val="555045"/>
                </a:solidFill>
                <a:latin typeface="Arial"/>
              </a:rPr>
              <a:t>: ajusta con 5-7 y valida 8, luego 5-8 y valida 9, luego 5-9 y valida 10.</a:t>
            </a:r>
          </a:p>
        </p:txBody>
      </p:sp>
      <p:sp>
        <p:nvSpPr>
          <p:cNvPr id="8" name="TextBox 7"/>
          <p:cNvSpPr txBox="1"/>
          <p:nvPr/>
        </p:nvSpPr>
        <p:spPr>
          <a:xfrm>
            <a:off x="548640" y="3180993"/>
            <a:ext cx="5387187" cy="434949"/>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 Los hiperparámetros y la longitud de la media móvil </a:t>
            </a:r>
            <a:r>
              <a:rPr sz="1080" b="1">
                <a:solidFill>
                  <a:srgbClr val="17150F"/>
                </a:solidFill>
                <a:latin typeface="Arial"/>
              </a:rPr>
              <a:t>se eligen en validación</a:t>
            </a:r>
            <a:r>
              <a:rPr sz="1080" b="0">
                <a:solidFill>
                  <a:srgbClr val="555045"/>
                </a:solidFill>
                <a:latin typeface="Arial"/>
              </a:rPr>
              <a:t>, nunca en prueba.</a:t>
            </a:r>
          </a:p>
        </p:txBody>
      </p:sp>
      <p:sp>
        <p:nvSpPr>
          <p:cNvPr id="9" name="TextBox 8"/>
          <p:cNvSpPr txBox="1"/>
          <p:nvPr/>
        </p:nvSpPr>
        <p:spPr>
          <a:xfrm>
            <a:off x="548640" y="3652518"/>
            <a:ext cx="5387187" cy="434949"/>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 Las semanas </a:t>
            </a:r>
            <a:r>
              <a:rPr sz="1080" b="1">
                <a:solidFill>
                  <a:srgbClr val="17150F"/>
                </a:solidFill>
                <a:latin typeface="Arial"/>
              </a:rPr>
              <a:t>se deducen del panel</a:t>
            </a:r>
            <a:r>
              <a:rPr sz="1080" b="0">
                <a:solidFill>
                  <a:srgbClr val="555045"/>
                </a:solidFill>
                <a:latin typeface="Arial"/>
              </a:rPr>
              <a:t>: no hay ninguna constante con el número de semanas, así que el diseño se recalcula solo si llegan más datos.</a:t>
            </a:r>
          </a:p>
        </p:txBody>
      </p:sp>
      <p:sp>
        <p:nvSpPr>
          <p:cNvPr id="10" name="TextBox 9"/>
          <p:cNvSpPr txBox="1"/>
          <p:nvPr/>
        </p:nvSpPr>
        <p:spPr>
          <a:xfrm>
            <a:off x="548640" y="4124043"/>
            <a:ext cx="5387187" cy="434949"/>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Limitación declarada.</a:t>
            </a:r>
            <a:r>
              <a:rPr sz="1080" b="0">
                <a:solidFill>
                  <a:srgbClr val="555045"/>
                </a:solidFill>
                <a:latin typeface="Arial"/>
              </a:rPr>
              <a:t> El univariado se hizo sobre las trece semanas. Queda escrita en vez de disimularse.</a:t>
            </a:r>
          </a:p>
        </p:txBody>
      </p:sp>
      <p:sp>
        <p:nvSpPr>
          <p:cNvPr id="11" name="TextBox 10"/>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PASOS 5 A 8 · VARIABLES</a:t>
            </a:r>
          </a:p>
        </p:txBody>
      </p:sp>
      <p:sp>
        <p:nvSpPr>
          <p:cNvPr id="12" name="TextBox 11"/>
          <p:cNvSpPr txBox="1"/>
          <p:nvPr/>
        </p:nvSpPr>
        <p:spPr>
          <a:xfrm>
            <a:off x="6255867" y="704088"/>
            <a:ext cx="5387187" cy="555244"/>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Trece variables, todas calculadas de la semana anterior hacia atrás</a:t>
            </a:r>
          </a:p>
        </p:txBody>
      </p:sp>
      <p:graphicFrame>
        <p:nvGraphicFramePr>
          <p:cNvPr id="13" name="Table 12"/>
          <p:cNvGraphicFramePr>
            <a:graphicFrameLocks noGrp="1"/>
          </p:cNvGraphicFramePr>
          <p:nvPr/>
        </p:nvGraphicFramePr>
        <p:xfrm>
          <a:off x="6255867" y="1295908"/>
          <a:ext cx="5387185" cy="2267712"/>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r>
                        <a:rPr sz="810" b="1">
                          <a:solidFill>
                            <a:srgbClr val="8B8478"/>
                          </a:solidFill>
                          <a:latin typeface="Arial"/>
                        </a:rPr>
                        <a:t>Familia</a:t>
                      </a:r>
                    </a:p>
                  </a:txBody>
                  <a:tcPr marL="82296" marR="82296" anchor="ctr">
                    <a:solidFill>
                      <a:srgbClr val="F4F2ED"/>
                    </a:solidFill>
                  </a:tcPr>
                </a:tc>
                <a:tc>
                  <a:txBody>
                    <a:bodyPr/>
                    <a:lstStyle/>
                    <a:p>
                      <a:pPr algn="r"/>
                      <a:r>
                        <a:rPr sz="810" b="1">
                          <a:solidFill>
                            <a:srgbClr val="8B8478"/>
                          </a:solidFill>
                          <a:latin typeface="Arial"/>
                        </a:rPr>
                        <a:t>Variables</a:t>
                      </a:r>
                    </a:p>
                  </a:txBody>
                  <a:tcPr marL="82296" marR="82296" anchor="ctr">
                    <a:solidFill>
                      <a:srgbClr val="F4F2ED"/>
                    </a:solidFill>
                  </a:tcPr>
                </a:tc>
                <a:tc>
                  <a:txBody>
                    <a:bodyPr/>
                    <a:lstStyle/>
                    <a:p>
                      <a:pPr algn="r"/>
                      <a:r>
                        <a:rPr sz="810" b="1">
                          <a:solidFill>
                            <a:srgbClr val="8B8478"/>
                          </a:solidFill>
                          <a:latin typeface="Arial"/>
                        </a:rPr>
                        <a:t>Qué capturan</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0">
                          <a:solidFill>
                            <a:srgbClr val="17150F"/>
                          </a:solidFill>
                          <a:latin typeface="Arial"/>
                        </a:rPr>
                        <a:t>Rezagos</a:t>
                      </a:r>
                    </a:p>
                  </a:txBody>
                  <a:tcPr marL="82296" marR="82296" anchor="ctr">
                    <a:solidFill>
                      <a:srgbClr val="FFFFFF"/>
                    </a:solidFill>
                  </a:tcPr>
                </a:tc>
                <a:tc>
                  <a:txBody>
                    <a:bodyPr/>
                    <a:lstStyle/>
                    <a:p>
                      <a:pPr algn="r"/>
                      <a:r>
                        <a:rPr sz="960" b="0">
                          <a:solidFill>
                            <a:srgbClr val="555045"/>
                          </a:solidFill>
                          <a:latin typeface="Arial"/>
                        </a:rPr>
                        <a:t>rezago_1 a rezago_4</a:t>
                      </a:r>
                    </a:p>
                  </a:txBody>
                  <a:tcPr marL="82296" marR="82296" anchor="ctr">
                    <a:solidFill>
                      <a:srgbClr val="FFFFFF"/>
                    </a:solidFill>
                  </a:tcPr>
                </a:tc>
                <a:tc>
                  <a:txBody>
                    <a:bodyPr/>
                    <a:lstStyle/>
                    <a:p>
                      <a:pPr algn="r"/>
                      <a:r>
                        <a:rPr sz="960" b="0">
                          <a:solidFill>
                            <a:srgbClr val="555045"/>
                          </a:solidFill>
                          <a:latin typeface="Arial"/>
                        </a:rPr>
                        <a:t>El dato crudo de cada semana previa</a:t>
                      </a:r>
                    </a:p>
                  </a:txBody>
                  <a:tcPr marL="82296" marR="82296" anchor="ctr">
                    <a:solidFill>
                      <a:srgbClr val="FFFFF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Medias móviles</a:t>
                      </a:r>
                    </a:p>
                  </a:txBody>
                  <a:tcPr marL="82296" marR="82296" anchor="ctr">
                    <a:solidFill>
                      <a:srgbClr val="FFFFFF"/>
                    </a:solidFill>
                  </a:tcPr>
                </a:tc>
                <a:tc>
                  <a:txBody>
                    <a:bodyPr/>
                    <a:lstStyle/>
                    <a:p>
                      <a:pPr algn="r"/>
                      <a:r>
                        <a:rPr sz="960" b="0">
                          <a:solidFill>
                            <a:srgbClr val="555045"/>
                          </a:solidFill>
                          <a:latin typeface="Arial"/>
                        </a:rPr>
                        <a:t>media_2, media_3, media_4</a:t>
                      </a:r>
                    </a:p>
                  </a:txBody>
                  <a:tcPr marL="82296" marR="82296" anchor="ctr">
                    <a:solidFill>
                      <a:srgbClr val="FFFFFF"/>
                    </a:solidFill>
                  </a:tcPr>
                </a:tc>
                <a:tc>
                  <a:txBody>
                    <a:bodyPr/>
                    <a:lstStyle/>
                    <a:p>
                      <a:pPr algn="r"/>
                      <a:r>
                        <a:rPr sz="960" b="0">
                          <a:solidFill>
                            <a:srgbClr val="555045"/>
                          </a:solidFill>
                          <a:latin typeface="Arial"/>
                        </a:rPr>
                        <a:t>El nivel reciente, promediando el ruido</a:t>
                      </a:r>
                    </a:p>
                  </a:txBody>
                  <a:tcPr marL="82296" marR="82296" anchor="ctr">
                    <a:solidFill>
                      <a:srgbClr val="FFFFFF"/>
                    </a:solidFill>
                  </a:tcPr>
                </a:tc>
                <a:extLst>
                  <a:ext uri="{0D108BD9-81ED-4DB2-BD59-A6C34878D82A}">
                    <a16:rowId xmlns:a16="http://schemas.microsoft.com/office/drawing/2014/main" val="10002"/>
                  </a:ext>
                </a:extLst>
              </a:tr>
              <a:tr h="228600">
                <a:tc>
                  <a:txBody>
                    <a:bodyPr/>
                    <a:lstStyle/>
                    <a:p>
                      <a:pPr algn="l"/>
                      <a:r>
                        <a:rPr sz="960" b="0">
                          <a:solidFill>
                            <a:srgbClr val="17150F"/>
                          </a:solidFill>
                          <a:latin typeface="Arial"/>
                        </a:rPr>
                        <a:t>Desviaciones móviles</a:t>
                      </a:r>
                    </a:p>
                  </a:txBody>
                  <a:tcPr marL="82296" marR="82296" anchor="ctr">
                    <a:solidFill>
                      <a:srgbClr val="FFFFFF"/>
                    </a:solidFill>
                  </a:tcPr>
                </a:tc>
                <a:tc>
                  <a:txBody>
                    <a:bodyPr/>
                    <a:lstStyle/>
                    <a:p>
                      <a:pPr algn="r"/>
                      <a:r>
                        <a:rPr sz="960" b="0">
                          <a:solidFill>
                            <a:srgbClr val="555045"/>
                          </a:solidFill>
                          <a:latin typeface="Arial"/>
                        </a:rPr>
                        <a:t>desv_2, desv_3, desv_4</a:t>
                      </a:r>
                    </a:p>
                  </a:txBody>
                  <a:tcPr marL="82296" marR="82296" anchor="ctr">
                    <a:solidFill>
                      <a:srgbClr val="FFFFFF"/>
                    </a:solidFill>
                  </a:tcPr>
                </a:tc>
                <a:tc>
                  <a:txBody>
                    <a:bodyPr/>
                    <a:lstStyle/>
                    <a:p>
                      <a:pPr algn="r"/>
                      <a:r>
                        <a:rPr sz="960" b="0">
                          <a:solidFill>
                            <a:srgbClr val="555045"/>
                          </a:solidFill>
                          <a:latin typeface="Arial"/>
                        </a:rPr>
                        <a:t>La volatilidad propia de la serie</a:t>
                      </a:r>
                    </a:p>
                  </a:txBody>
                  <a:tcPr marL="82296" marR="82296" anchor="ctr">
                    <a:solidFill>
                      <a:srgbClr val="FFFFFF"/>
                    </a:solidFill>
                  </a:tcPr>
                </a:tc>
                <a:extLst>
                  <a:ext uri="{0D108BD9-81ED-4DB2-BD59-A6C34878D82A}">
                    <a16:rowId xmlns:a16="http://schemas.microsoft.com/office/drawing/2014/main" val="10003"/>
                  </a:ext>
                </a:extLst>
              </a:tr>
              <a:tr h="228600">
                <a:tc>
                  <a:txBody>
                    <a:bodyPr/>
                    <a:lstStyle/>
                    <a:p>
                      <a:pPr algn="l"/>
                      <a:r>
                        <a:rPr sz="960" b="0">
                          <a:solidFill>
                            <a:srgbClr val="17150F"/>
                          </a:solidFill>
                          <a:latin typeface="Arial"/>
                        </a:rPr>
                        <a:t>Dirección</a:t>
                      </a:r>
                    </a:p>
                  </a:txBody>
                  <a:tcPr marL="82296" marR="82296" anchor="ctr">
                    <a:solidFill>
                      <a:srgbClr val="FFFFFF"/>
                    </a:solidFill>
                  </a:tcPr>
                </a:tc>
                <a:tc>
                  <a:txBody>
                    <a:bodyPr/>
                    <a:lstStyle/>
                    <a:p>
                      <a:pPr algn="r"/>
                      <a:r>
                        <a:rPr sz="960" b="0">
                          <a:solidFill>
                            <a:srgbClr val="555045"/>
                          </a:solidFill>
                          <a:latin typeface="Arial"/>
                        </a:rPr>
                        <a:t>pendiente</a:t>
                      </a:r>
                    </a:p>
                  </a:txBody>
                  <a:tcPr marL="82296" marR="82296" anchor="ctr">
                    <a:solidFill>
                      <a:srgbClr val="FFFFFF"/>
                    </a:solidFill>
                  </a:tcPr>
                </a:tc>
                <a:tc>
                  <a:txBody>
                    <a:bodyPr/>
                    <a:lstStyle/>
                    <a:p>
                      <a:pPr algn="r"/>
                      <a:r>
                        <a:rPr sz="960" b="0">
                          <a:solidFill>
                            <a:srgbClr val="555045"/>
                          </a:solidFill>
                          <a:latin typeface="Arial"/>
                        </a:rPr>
                        <a:t>Hacia dónde va la serie</a:t>
                      </a:r>
                    </a:p>
                  </a:txBody>
                  <a:tcPr marL="82296" marR="82296" anchor="ctr">
                    <a:solidFill>
                      <a:srgbClr val="FFFFFF"/>
                    </a:solidFill>
                  </a:tcPr>
                </a:tc>
                <a:extLst>
                  <a:ext uri="{0D108BD9-81ED-4DB2-BD59-A6C34878D82A}">
                    <a16:rowId xmlns:a16="http://schemas.microsoft.com/office/drawing/2014/main" val="10004"/>
                  </a:ext>
                </a:extLst>
              </a:tr>
              <a:tr h="228600">
                <a:tc>
                  <a:txBody>
                    <a:bodyPr/>
                    <a:lstStyle/>
                    <a:p>
                      <a:pPr algn="l"/>
                      <a:r>
                        <a:rPr sz="960" b="0">
                          <a:solidFill>
                            <a:srgbClr val="17150F"/>
                          </a:solidFill>
                          <a:latin typeface="Arial"/>
                        </a:rPr>
                        <a:t>Derivadas</a:t>
                      </a:r>
                    </a:p>
                  </a:txBody>
                  <a:tcPr marL="82296" marR="82296" anchor="ctr">
                    <a:solidFill>
                      <a:srgbClr val="FFFFFF"/>
                    </a:solidFill>
                  </a:tcPr>
                </a:tc>
                <a:tc>
                  <a:txBody>
                    <a:bodyPr/>
                    <a:lstStyle/>
                    <a:p>
                      <a:pPr algn="r"/>
                      <a:r>
                        <a:rPr sz="960" b="0">
                          <a:solidFill>
                            <a:srgbClr val="555045"/>
                          </a:solidFill>
                          <a:latin typeface="Arial"/>
                        </a:rPr>
                        <a:t>razon_ultima, cv_reciente</a:t>
                      </a:r>
                    </a:p>
                  </a:txBody>
                  <a:tcPr marL="82296" marR="82296" anchor="ctr">
                    <a:solidFill>
                      <a:srgbClr val="FFFFFF"/>
                    </a:solidFill>
                  </a:tcPr>
                </a:tc>
                <a:tc>
                  <a:txBody>
                    <a:bodyPr/>
                    <a:lstStyle/>
                    <a:p>
                      <a:pPr algn="r"/>
                      <a:r>
                        <a:rPr sz="960" b="0">
                          <a:solidFill>
                            <a:srgbClr val="555045"/>
                          </a:solidFill>
                          <a:latin typeface="Arial"/>
                        </a:rPr>
                        <a:t>Posición y dispersión relativas</a:t>
                      </a:r>
                    </a:p>
                  </a:txBody>
                  <a:tcPr marL="82296" marR="82296" anchor="ctr">
                    <a:solidFill>
                      <a:srgbClr val="FFFFFF"/>
                    </a:solidFill>
                  </a:tcPr>
                </a:tc>
                <a:extLst>
                  <a:ext uri="{0D108BD9-81ED-4DB2-BD59-A6C34878D82A}">
                    <a16:rowId xmlns:a16="http://schemas.microsoft.com/office/drawing/2014/main" val="10005"/>
                  </a:ext>
                </a:extLst>
              </a:tr>
            </a:tbl>
          </a:graphicData>
        </a:graphic>
      </p:graphicFrame>
      <p:sp>
        <p:nvSpPr>
          <p:cNvPr id="14" name="TextBox 13"/>
          <p:cNvSpPr txBox="1"/>
          <p:nvPr/>
        </p:nvSpPr>
        <p:spPr>
          <a:xfrm>
            <a:off x="6255867" y="2877820"/>
            <a:ext cx="5387187" cy="434949"/>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La prueba antifuga es automática.</a:t>
            </a:r>
            <a:r>
              <a:rPr sz="1080" b="0">
                <a:solidFill>
                  <a:srgbClr val="555045"/>
                </a:solidFill>
                <a:latin typeface="Arial"/>
              </a:rPr>
              <a:t> Reconstruye todas las variables ocultando lo posterior al corte y exige que las filas anteriores salgan idénticas.</a:t>
            </a:r>
          </a:p>
        </p:txBody>
      </p:sp>
      <p:sp>
        <p:nvSpPr>
          <p:cNvPr id="15" name="TextBox 14"/>
          <p:cNvSpPr txBox="1"/>
          <p:nvPr/>
        </p:nvSpPr>
        <p:spPr>
          <a:xfrm>
            <a:off x="6255867" y="3349345"/>
            <a:ext cx="5387187" cy="610514"/>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Las correlaciones marginales engañan.</a:t>
            </a:r>
            <a:r>
              <a:rPr sz="1080" b="0">
                <a:solidFill>
                  <a:srgbClr val="555045"/>
                </a:solidFill>
                <a:latin typeface="Arial"/>
              </a:rPr>
              <a:t> Todas pasan de 0,90 con el objetivo, pero al restar la media de cada serie caen a cero: reflejan el nivel, no predicen.</a:t>
            </a:r>
          </a:p>
        </p:txBody>
      </p:sp>
      <p:sp>
        <p:nvSpPr>
          <p:cNvPr id="16" name="TextBox 15"/>
          <p:cNvSpPr txBox="1"/>
          <p:nvPr/>
        </p:nvSpPr>
        <p:spPr>
          <a:xfrm>
            <a:off x="6255867" y="3996435"/>
            <a:ext cx="5387187" cy="434949"/>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Rezagos y medias móviles son linealmente dependientes.</a:t>
            </a:r>
            <a:r>
              <a:rPr sz="1080" b="0">
                <a:solidFill>
                  <a:srgbClr val="555045"/>
                </a:solidFill>
                <a:latin typeface="Arial"/>
              </a:rPr>
              <a:t> Un modelo lineal no puede recibir ambos: media_2 es la semisuma de rezago_1 y rezago_2.</a:t>
            </a:r>
          </a:p>
        </p:txBody>
      </p:sp>
      <p:sp>
        <p:nvSpPr>
          <p:cNvPr id="17" name="Rectangle 16"/>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5-8 · Diseño experimental</a:t>
            </a:r>
          </a:p>
        </p:txBody>
      </p:sp>
      <p:sp>
        <p:nvSpPr>
          <p:cNvPr id="20" name="TextBox 19"/>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PASOS 5 A 8 · LÍNEAS BASE</a:t>
            </a:r>
          </a:p>
        </p:txBody>
      </p:sp>
      <p:sp>
        <p:nvSpPr>
          <p:cNvPr id="4" name="TextBox 3"/>
          <p:cNvSpPr txBox="1"/>
          <p:nvPr/>
        </p:nvSpPr>
        <p:spPr>
          <a:xfrm>
            <a:off x="548640" y="704088"/>
            <a:ext cx="5387187" cy="555244"/>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Cuántas semanas mirar: el barrido se hace en validación, no en prueba</a:t>
            </a:r>
          </a:p>
        </p:txBody>
      </p:sp>
      <p:sp>
        <p:nvSpPr>
          <p:cNvPr id="5" name="TextBox 4"/>
          <p:cNvSpPr txBox="1"/>
          <p:nvPr/>
        </p:nvSpPr>
        <p:spPr>
          <a:xfrm>
            <a:off x="548640" y="1295908"/>
            <a:ext cx="5387187" cy="1740103"/>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La métrica de la línea base es el WAPE: suma los errores en unidades y los divide entre las ventas reales, así cada serie pesa según lo que vende. A diferencia del MAPE, no se dispara en las series de bajo volumen ni se rompe con ventas cercanas a cero</a:t>
            </a:r>
          </a:p>
          <a:p>
            <a:pPr>
              <a:lnSpc>
                <a:spcPct val="118000"/>
              </a:lnSpc>
              <a:spcAft>
                <a:spcPts val="300"/>
              </a:spcAft>
            </a:pPr>
            <a:r>
              <a:rPr sz="1080" b="0">
                <a:solidFill>
                  <a:srgbClr val="555045"/>
                </a:solidFill>
                <a:latin typeface="Arial"/>
              </a:rPr>
              <a:t>La curva tiene forma de U. Con 4 y 5 semanas el error empata en 11,28 %. Por debajo entra ruido, por encima entra historia desfasada.</a:t>
            </a:r>
          </a:p>
          <a:p>
            <a:pPr>
              <a:lnSpc>
                <a:spcPct val="118000"/>
              </a:lnSpc>
              <a:spcAft>
                <a:spcPts val="300"/>
              </a:spcAft>
            </a:pPr>
            <a:r>
              <a:rPr sz="1080" b="0">
                <a:solidFill>
                  <a:srgbClr val="555045"/>
                </a:solidFill>
                <a:latin typeface="Arial"/>
              </a:rPr>
              <a:t>Se toma 4 porque, a igual error, la ventana más corta gasta una semana menos de historia. Con trece semanas, cada semana extra de ventana cuesta 160 filas de entrenamiento</a:t>
            </a:r>
          </a:p>
        </p:txBody>
      </p:sp>
      <p:pic>
        <p:nvPicPr>
          <p:cNvPr id="6" name="Picture 5" descr="image.png"/>
          <p:cNvPicPr>
            <a:picLocks noChangeAspect="1"/>
          </p:cNvPicPr>
          <p:nvPr/>
        </p:nvPicPr>
        <p:blipFill>
          <a:blip r:embed="rId2"/>
          <a:stretch>
            <a:fillRect/>
          </a:stretch>
        </p:blipFill>
        <p:spPr>
          <a:xfrm>
            <a:off x="548640" y="3072587"/>
            <a:ext cx="4480560" cy="2489200"/>
          </a:xfrm>
          <a:prstGeom prst="rect">
            <a:avLst/>
          </a:prstGeom>
        </p:spPr>
      </p:pic>
      <p:sp>
        <p:nvSpPr>
          <p:cNvPr id="7" name="TextBox 6"/>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PASOS 5 A 8 · LÍNEAS BASE</a:t>
            </a:r>
          </a:p>
        </p:txBody>
      </p:sp>
      <p:sp>
        <p:nvSpPr>
          <p:cNvPr id="8" name="TextBox 7"/>
          <p:cNvSpPr txBox="1"/>
          <p:nvPr/>
        </p:nvSpPr>
        <p:spPr>
          <a:xfrm>
            <a:off x="6255867"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El listón: media móvil de cuatro semanas, 11,91 % de error</a:t>
            </a:r>
          </a:p>
        </p:txBody>
      </p:sp>
      <p:pic>
        <p:nvPicPr>
          <p:cNvPr id="9" name="Picture 8" descr="image.png"/>
          <p:cNvPicPr>
            <a:picLocks noChangeAspect="1"/>
          </p:cNvPicPr>
          <p:nvPr/>
        </p:nvPicPr>
        <p:blipFill>
          <a:blip r:embed="rId3"/>
          <a:stretch>
            <a:fillRect/>
          </a:stretch>
        </p:blipFill>
        <p:spPr>
          <a:xfrm>
            <a:off x="6255867" y="1060196"/>
            <a:ext cx="4480560" cy="2358189"/>
          </a:xfrm>
          <a:prstGeom prst="rect">
            <a:avLst/>
          </a:prstGeom>
        </p:spPr>
      </p:pic>
      <p:graphicFrame>
        <p:nvGraphicFramePr>
          <p:cNvPr id="10" name="Table 9"/>
          <p:cNvGraphicFramePr>
            <a:graphicFrameLocks noGrp="1"/>
          </p:cNvGraphicFramePr>
          <p:nvPr/>
        </p:nvGraphicFramePr>
        <p:xfrm>
          <a:off x="6255867" y="3509825"/>
          <a:ext cx="5387185" cy="1298448"/>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r>
                        <a:rPr sz="810" b="1">
                          <a:solidFill>
                            <a:srgbClr val="8B8478"/>
                          </a:solidFill>
                          <a:latin typeface="Arial"/>
                        </a:rPr>
                        <a:t>Línea base</a:t>
                      </a:r>
                    </a:p>
                  </a:txBody>
                  <a:tcPr marL="82296" marR="82296" anchor="ctr">
                    <a:solidFill>
                      <a:srgbClr val="F4F2ED"/>
                    </a:solidFill>
                  </a:tcPr>
                </a:tc>
                <a:tc>
                  <a:txBody>
                    <a:bodyPr/>
                    <a:lstStyle/>
                    <a:p>
                      <a:pPr algn="r"/>
                      <a:r>
                        <a:rPr sz="810" b="1">
                          <a:solidFill>
                            <a:srgbClr val="8B8478"/>
                          </a:solidFill>
                          <a:latin typeface="Arial"/>
                        </a:rPr>
                        <a:t>WAPE</a:t>
                      </a:r>
                    </a:p>
                  </a:txBody>
                  <a:tcPr marL="82296" marR="82296" anchor="ctr">
                    <a:solidFill>
                      <a:srgbClr val="F4F2ED"/>
                    </a:solidFill>
                  </a:tcPr>
                </a:tc>
                <a:tc>
                  <a:txBody>
                    <a:bodyPr/>
                    <a:lstStyle/>
                    <a:p>
                      <a:pPr algn="r"/>
                      <a:r>
                        <a:rPr sz="810" b="1">
                          <a:solidFill>
                            <a:srgbClr val="8B8478"/>
                          </a:solidFill>
                          <a:latin typeface="Arial"/>
                        </a:rPr>
                        <a:t>R²</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1">
                          <a:solidFill>
                            <a:srgbClr val="17150F"/>
                          </a:solidFill>
                          <a:latin typeface="Arial"/>
                        </a:rPr>
                        <a:t>Media móvil 4</a:t>
                      </a:r>
                    </a:p>
                  </a:txBody>
                  <a:tcPr marL="82296" marR="82296" anchor="ctr">
                    <a:solidFill>
                      <a:srgbClr val="F7EEEF"/>
                    </a:solidFill>
                  </a:tcPr>
                </a:tc>
                <a:tc>
                  <a:txBody>
                    <a:bodyPr/>
                    <a:lstStyle/>
                    <a:p>
                      <a:pPr algn="r"/>
                      <a:r>
                        <a:rPr sz="960" b="1">
                          <a:solidFill>
                            <a:srgbClr val="17150F"/>
                          </a:solidFill>
                          <a:latin typeface="Arial"/>
                        </a:rPr>
                        <a:t>11,91 %</a:t>
                      </a:r>
                    </a:p>
                  </a:txBody>
                  <a:tcPr marL="82296" marR="82296" anchor="ctr">
                    <a:solidFill>
                      <a:srgbClr val="F7EEEF"/>
                    </a:solidFill>
                  </a:tcPr>
                </a:tc>
                <a:tc>
                  <a:txBody>
                    <a:bodyPr/>
                    <a:lstStyle/>
                    <a:p>
                      <a:pPr algn="r"/>
                      <a:r>
                        <a:rPr sz="960" b="1">
                          <a:solidFill>
                            <a:srgbClr val="17150F"/>
                          </a:solidFill>
                          <a:latin typeface="Arial"/>
                        </a:rPr>
                        <a:t>0,899</a:t>
                      </a:r>
                    </a:p>
                  </a:txBody>
                  <a:tcPr marL="82296" marR="82296" anchor="ctr">
                    <a:solidFill>
                      <a:srgbClr val="F7EEE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Persistencia</a:t>
                      </a:r>
                    </a:p>
                  </a:txBody>
                  <a:tcPr marL="82296" marR="82296" anchor="ctr">
                    <a:solidFill>
                      <a:srgbClr val="FFFFFF"/>
                    </a:solidFill>
                  </a:tcPr>
                </a:tc>
                <a:tc>
                  <a:txBody>
                    <a:bodyPr/>
                    <a:lstStyle/>
                    <a:p>
                      <a:pPr algn="r"/>
                      <a:r>
                        <a:rPr sz="960" b="0">
                          <a:solidFill>
                            <a:srgbClr val="555045"/>
                          </a:solidFill>
                          <a:latin typeface="Arial"/>
                        </a:rPr>
                        <a:t>13,40 %</a:t>
                      </a:r>
                    </a:p>
                  </a:txBody>
                  <a:tcPr marL="82296" marR="82296" anchor="ctr">
                    <a:solidFill>
                      <a:srgbClr val="FFFFFF"/>
                    </a:solidFill>
                  </a:tcPr>
                </a:tc>
                <a:tc>
                  <a:txBody>
                    <a:bodyPr/>
                    <a:lstStyle/>
                    <a:p>
                      <a:pPr algn="r"/>
                      <a:r>
                        <a:rPr sz="960" b="0">
                          <a:solidFill>
                            <a:srgbClr val="555045"/>
                          </a:solidFill>
                          <a:latin typeface="Arial"/>
                        </a:rPr>
                        <a:t>0,876</a:t>
                      </a:r>
                    </a:p>
                  </a:txBody>
                  <a:tcPr marL="82296" marR="82296" anchor="ctr">
                    <a:solidFill>
                      <a:srgbClr val="FFFFFF"/>
                    </a:solidFill>
                  </a:tcPr>
                </a:tc>
                <a:extLst>
                  <a:ext uri="{0D108BD9-81ED-4DB2-BD59-A6C34878D82A}">
                    <a16:rowId xmlns:a16="http://schemas.microsoft.com/office/drawing/2014/main" val="10002"/>
                  </a:ext>
                </a:extLst>
              </a:tr>
              <a:tr h="228600">
                <a:tc>
                  <a:txBody>
                    <a:bodyPr/>
                    <a:lstStyle/>
                    <a:p>
                      <a:pPr algn="l"/>
                      <a:r>
                        <a:rPr sz="960" b="0">
                          <a:solidFill>
                            <a:srgbClr val="17150F"/>
                          </a:solidFill>
                          <a:latin typeface="Arial"/>
                        </a:rPr>
                        <a:t>Media histórica</a:t>
                      </a:r>
                    </a:p>
                  </a:txBody>
                  <a:tcPr marL="82296" marR="82296" anchor="ctr">
                    <a:solidFill>
                      <a:srgbClr val="FFFFFF"/>
                    </a:solidFill>
                  </a:tcPr>
                </a:tc>
                <a:tc>
                  <a:txBody>
                    <a:bodyPr/>
                    <a:lstStyle/>
                    <a:p>
                      <a:pPr algn="r"/>
                      <a:r>
                        <a:rPr sz="960" b="0">
                          <a:solidFill>
                            <a:srgbClr val="555045"/>
                          </a:solidFill>
                          <a:latin typeface="Arial"/>
                        </a:rPr>
                        <a:t>13,99 %</a:t>
                      </a:r>
                    </a:p>
                  </a:txBody>
                  <a:tcPr marL="82296" marR="82296" anchor="ctr">
                    <a:solidFill>
                      <a:srgbClr val="FFFFFF"/>
                    </a:solidFill>
                  </a:tcPr>
                </a:tc>
                <a:tc>
                  <a:txBody>
                    <a:bodyPr/>
                    <a:lstStyle/>
                    <a:p>
                      <a:pPr algn="r"/>
                      <a:r>
                        <a:rPr sz="960" b="0">
                          <a:solidFill>
                            <a:srgbClr val="555045"/>
                          </a:solidFill>
                          <a:latin typeface="Arial"/>
                        </a:rPr>
                        <a:t>0,856</a:t>
                      </a:r>
                    </a:p>
                  </a:txBody>
                  <a:tcPr marL="82296" marR="82296" anchor="ctr">
                    <a:solidFill>
                      <a:srgbClr val="FFFFFF"/>
                    </a:solidFill>
                  </a:tcPr>
                </a:tc>
                <a:extLst>
                  <a:ext uri="{0D108BD9-81ED-4DB2-BD59-A6C34878D82A}">
                    <a16:rowId xmlns:a16="http://schemas.microsoft.com/office/drawing/2014/main" val="10003"/>
                  </a:ext>
                </a:extLst>
              </a:tr>
              <a:tr h="228600">
                <a:tc>
                  <a:txBody>
                    <a:bodyPr/>
                    <a:lstStyle/>
                    <a:p>
                      <a:pPr algn="l"/>
                      <a:r>
                        <a:rPr sz="960" b="0">
                          <a:solidFill>
                            <a:srgbClr val="17150F"/>
                          </a:solidFill>
                          <a:latin typeface="Arial"/>
                        </a:rPr>
                        <a:t>Deriva</a:t>
                      </a:r>
                    </a:p>
                  </a:txBody>
                  <a:tcPr marL="82296" marR="82296" anchor="ctr">
                    <a:solidFill>
                      <a:srgbClr val="FFFFFF"/>
                    </a:solidFill>
                  </a:tcPr>
                </a:tc>
                <a:tc>
                  <a:txBody>
                    <a:bodyPr/>
                    <a:lstStyle/>
                    <a:p>
                      <a:pPr algn="r"/>
                      <a:r>
                        <a:rPr sz="960" b="0">
                          <a:solidFill>
                            <a:srgbClr val="555045"/>
                          </a:solidFill>
                          <a:latin typeface="Arial"/>
                        </a:rPr>
                        <a:t>15,51 %</a:t>
                      </a:r>
                    </a:p>
                  </a:txBody>
                  <a:tcPr marL="82296" marR="82296" anchor="ctr">
                    <a:solidFill>
                      <a:srgbClr val="FFFFFF"/>
                    </a:solidFill>
                  </a:tcPr>
                </a:tc>
                <a:tc>
                  <a:txBody>
                    <a:bodyPr/>
                    <a:lstStyle/>
                    <a:p>
                      <a:pPr algn="r"/>
                      <a:r>
                        <a:rPr sz="960" b="0">
                          <a:solidFill>
                            <a:srgbClr val="555045"/>
                          </a:solidFill>
                          <a:latin typeface="Arial"/>
                        </a:rPr>
                        <a:t>0,833</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6255867" y="4863137"/>
            <a:ext cx="5387187" cy="785164"/>
          </a:xfrm>
          <a:prstGeom prst="rect">
            <a:avLst/>
          </a:prstGeom>
          <a:noFill/>
        </p:spPr>
        <p:txBody>
          <a:bodyPr wrap="square" lIns="0" tIns="0" rIns="0" bIns="0">
            <a:spAutoFit/>
          </a:bodyPr>
          <a:lstStyle/>
          <a:p>
            <a:pPr>
              <a:lnSpc>
                <a:spcPct val="118000"/>
              </a:lnSpc>
              <a:spcAft>
                <a:spcPts val="300"/>
              </a:spcAft>
            </a:pPr>
            <a:r>
              <a:rPr sz="1019" b="0">
                <a:solidFill>
                  <a:srgbClr val="555045"/>
                </a:solidFill>
                <a:latin typeface="Arial"/>
              </a:rPr>
              <a:t>La deriva es la peor, y eso es un hallazgo. Estimar la pendiente con cuatro semanas y proyectarla una hacia adelante es casi todo ruido.</a:t>
            </a:r>
          </a:p>
          <a:p>
            <a:pPr>
              <a:lnSpc>
                <a:spcPct val="118000"/>
              </a:lnSpc>
              <a:spcAft>
                <a:spcPts val="300"/>
              </a:spcAft>
            </a:pPr>
            <a:r>
              <a:rPr sz="1019" b="1">
                <a:solidFill>
                  <a:srgbClr val="17150F"/>
                </a:solidFill>
                <a:latin typeface="Arial"/>
              </a:rPr>
              <a:t>Cualquier modelo se mide contra el 11,91 %. Una mejora del 5 al 10 % sería buena; una mejora muy superior debe hacer sospechar de fuga antes que celebrarse.</a:t>
            </a:r>
          </a:p>
        </p:txBody>
      </p:sp>
      <p:sp>
        <p:nvSpPr>
          <p:cNvPr id="12" name="Rectangle 11"/>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Pasos 5-8 · Líneas base</a:t>
            </a:r>
          </a:p>
        </p:txBody>
      </p:sp>
      <p:sp>
        <p:nvSpPr>
          <p:cNvPr id="15" name="TextBox 14"/>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9 · COSTES</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El nivel de servicio no se elige: sale de dos precios</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Este paso se ejecuta antes de entrenar, porque decide cuántos modelos hacen falta y cuáles.</a:t>
            </a:r>
          </a:p>
        </p:txBody>
      </p:sp>
      <p:sp>
        <p:nvSpPr>
          <p:cNvPr id="7" name="Rectangle 6"/>
          <p:cNvSpPr/>
          <p:nvPr/>
        </p:nvSpPr>
        <p:spPr>
          <a:xfrm>
            <a:off x="777240" y="1990979"/>
            <a:ext cx="10637215" cy="132588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228723"/>
            <a:ext cx="9997135" cy="914400"/>
          </a:xfrm>
          <a:prstGeom prst="rect">
            <a:avLst/>
          </a:prstGeom>
          <a:noFill/>
        </p:spPr>
        <p:txBody>
          <a:bodyPr wrap="square" lIns="0" tIns="0" rIns="0" bIns="0">
            <a:spAutoFit/>
          </a:bodyPr>
          <a:lstStyle/>
          <a:p>
            <a:pPr algn="l">
              <a:lnSpc>
                <a:spcPct val="120000"/>
              </a:lnSpc>
              <a:spcBef>
                <a:spcPts val="0"/>
              </a:spcBef>
              <a:spcAft>
                <a:spcPts val="1000"/>
              </a:spcAft>
            </a:pPr>
            <a:r>
              <a:rPr sz="1900" b="1">
                <a:solidFill>
                  <a:srgbClr val="17150F"/>
                </a:solidFill>
                <a:latin typeface="Arial"/>
              </a:rPr>
              <a:t>nivel de servicio  =  margen perdido  ÷  ( margen perdido  +  coste del sobrante )</a:t>
            </a:r>
          </a:p>
          <a:p>
            <a:pPr algn="l">
              <a:lnSpc>
                <a:spcPct val="120000"/>
              </a:lnSpc>
              <a:spcBef>
                <a:spcPts val="0"/>
              </a:spcBef>
              <a:spcAft>
                <a:spcPts val="0"/>
              </a:spcAft>
            </a:pPr>
            <a:r>
              <a:rPr sz="1600" b="1">
                <a:solidFill>
                  <a:srgbClr val="8C2F39"/>
                </a:solidFill>
                <a:latin typeface="Arial"/>
              </a:rPr>
              <a:t>Para el Tinto:   1.700 ÷ ( 1.700 + 810 )  =  0,68</a:t>
            </a:r>
          </a:p>
        </p:txBody>
      </p:sp>
      <p:sp>
        <p:nvSpPr>
          <p:cNvPr id="9" name="Rectangle 8"/>
          <p:cNvSpPr/>
          <p:nvPr/>
        </p:nvSpPr>
        <p:spPr>
          <a:xfrm>
            <a:off x="777240" y="373748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636899"/>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En esa expresión no aparece la demanda.</a:t>
            </a:r>
            <a:r>
              <a:rPr sz="1450" b="0">
                <a:solidFill>
                  <a:srgbClr val="555045"/>
                </a:solidFill>
                <a:latin typeface="Arial"/>
              </a:rPr>
              <a:t> Depende solo de dos precios, y cada producto tiene los suyos.</a:t>
            </a:r>
          </a:p>
        </p:txBody>
      </p:sp>
      <p:sp>
        <p:nvSpPr>
          <p:cNvPr id="11" name="Rectangle 10"/>
          <p:cNvSpPr/>
          <p:nvPr/>
        </p:nvSpPr>
        <p:spPr>
          <a:xfrm>
            <a:off x="777240" y="4148836"/>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78408" y="4048252"/>
            <a:ext cx="10436047" cy="530098"/>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Si mañana cambia el precio del Tinto, no hay que reentrenar nada</a:t>
            </a:r>
            <a:r>
              <a:rPr sz="1450" b="0">
                <a:solidFill>
                  <a:srgbClr val="555045"/>
                </a:solidFill>
                <a:latin typeface="Arial"/>
              </a:rPr>
              <a:t>: se recalcula el nivel y el pedido se ajusta solo.</a:t>
            </a:r>
          </a:p>
        </p:txBody>
      </p:sp>
      <p:sp>
        <p:nvSpPr>
          <p:cNvPr id="13" name="Rectangle 12"/>
          <p:cNvSpPr/>
          <p:nvPr/>
        </p:nvSpPr>
        <p:spPr>
          <a:xfrm>
            <a:off x="777240" y="4806950"/>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706366"/>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El mismo modelo sirve para los ocho productos</a:t>
            </a:r>
            <a:r>
              <a:rPr sz="1450" b="0">
                <a:solidFill>
                  <a:srgbClr val="555045"/>
                </a:solidFill>
                <a:latin typeface="Arial"/>
              </a:rPr>
              <a:t> con políticas distintas.</a:t>
            </a:r>
          </a:p>
        </p:txBody>
      </p:sp>
      <p:sp>
        <p:nvSpPr>
          <p:cNvPr id="15" name="Rectangle 14"/>
          <p:cNvSpPr/>
          <p:nvPr/>
        </p:nvSpPr>
        <p:spPr>
          <a:xfrm>
            <a:off x="777240" y="521830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78408" y="5117719"/>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La conversación con negocio queda separada de la técnica.</a:t>
            </a:r>
            <a:r>
              <a:rPr sz="1450" b="0">
                <a:solidFill>
                  <a:srgbClr val="555045"/>
                </a:solidFill>
                <a:latin typeface="Arial"/>
              </a:rPr>
              <a:t> Discutir costes no es discutir algoritmos.</a:t>
            </a:r>
          </a:p>
        </p:txBody>
      </p:sp>
      <p:sp>
        <p:nvSpPr>
          <p:cNvPr id="17" name="Rectangle 16"/>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9 · Costes y niveles</a:t>
            </a:r>
          </a:p>
        </p:txBody>
      </p:sp>
      <p:sp>
        <p:nvSpPr>
          <p:cNvPr id="19" name="TextBox 18"/>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9 · COSTES</a:t>
            </a:r>
          </a:p>
        </p:txBody>
      </p:sp>
      <p:sp>
        <p:nvSpPr>
          <p:cNvPr id="4" name="TextBox 3"/>
          <p:cNvSpPr txBox="1"/>
          <p:nvPr/>
        </p:nvSpPr>
        <p:spPr>
          <a:xfrm>
            <a:off x="548640" y="704088"/>
            <a:ext cx="5387187" cy="300024"/>
          </a:xfrm>
          <a:prstGeom prst="rect">
            <a:avLst/>
          </a:prstGeom>
          <a:noFill/>
        </p:spPr>
        <p:txBody>
          <a:bodyPr wrap="square" lIns="0" tIns="0" rIns="0" bIns="0">
            <a:spAutoFit/>
          </a:bodyPr>
          <a:lstStyle/>
          <a:p>
            <a:pPr>
              <a:lnSpc>
                <a:spcPct val="118000"/>
              </a:lnSpc>
              <a:spcAft>
                <a:spcPts val="300"/>
              </a:spcAft>
            </a:pPr>
            <a:r>
              <a:rPr sz="1330" b="1">
                <a:solidFill>
                  <a:srgbClr val="17150F"/>
                </a:solidFill>
                <a:latin typeface="Arial"/>
              </a:rPr>
              <a:t>Con el coste del enunciado los ocho productos salen iguales</a:t>
            </a:r>
          </a:p>
        </p:txBody>
      </p:sp>
      <p:graphicFrame>
        <p:nvGraphicFramePr>
          <p:cNvPr id="5" name="Table 4"/>
          <p:cNvGraphicFramePr>
            <a:graphicFrameLocks noGrp="1"/>
          </p:cNvGraphicFramePr>
          <p:nvPr/>
        </p:nvGraphicFramePr>
        <p:xfrm>
          <a:off x="548640" y="1040688"/>
          <a:ext cx="5387185" cy="2151888"/>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r>
                        <a:rPr sz="730" b="1">
                          <a:solidFill>
                            <a:srgbClr val="8B8478"/>
                          </a:solidFill>
                          <a:latin typeface="Arial"/>
                        </a:rPr>
                        <a:t>Producto</a:t>
                      </a:r>
                    </a:p>
                  </a:txBody>
                  <a:tcPr marL="82296" marR="82296" anchor="ctr">
                    <a:solidFill>
                      <a:srgbClr val="F4F2ED"/>
                    </a:solidFill>
                  </a:tcPr>
                </a:tc>
                <a:tc>
                  <a:txBody>
                    <a:bodyPr/>
                    <a:lstStyle/>
                    <a:p>
                      <a:pPr algn="r"/>
                      <a:r>
                        <a:rPr sz="730" b="1">
                          <a:solidFill>
                            <a:srgbClr val="8B8478"/>
                          </a:solidFill>
                          <a:latin typeface="Arial"/>
                        </a:rPr>
                        <a:t>Sin merma</a:t>
                      </a:r>
                    </a:p>
                  </a:txBody>
                  <a:tcPr marL="82296" marR="82296" anchor="ctr">
                    <a:solidFill>
                      <a:srgbClr val="F4F2ED"/>
                    </a:solidFill>
                  </a:tcPr>
                </a:tc>
                <a:tc>
                  <a:txBody>
                    <a:bodyPr/>
                    <a:lstStyle/>
                    <a:p>
                      <a:pPr algn="r"/>
                      <a:r>
                        <a:rPr sz="730" b="1">
                          <a:solidFill>
                            <a:srgbClr val="8B8478"/>
                          </a:solidFill>
                          <a:latin typeface="Arial"/>
                        </a:rPr>
                        <a:t>Con merma</a:t>
                      </a:r>
                    </a:p>
                  </a:txBody>
                  <a:tcPr marL="82296" marR="82296" anchor="ctr">
                    <a:solidFill>
                      <a:srgbClr val="F4F2ED"/>
                    </a:solidFill>
                  </a:tcPr>
                </a:tc>
                <a:extLst>
                  <a:ext uri="{0D108BD9-81ED-4DB2-BD59-A6C34878D82A}">
                    <a16:rowId xmlns:a16="http://schemas.microsoft.com/office/drawing/2014/main" val="10000"/>
                  </a:ext>
                </a:extLst>
              </a:tr>
              <a:tr h="210312">
                <a:tc>
                  <a:txBody>
                    <a:bodyPr/>
                    <a:lstStyle/>
                    <a:p>
                      <a:pPr algn="l"/>
                      <a:r>
                        <a:rPr sz="880" b="0">
                          <a:solidFill>
                            <a:srgbClr val="17150F"/>
                          </a:solidFill>
                          <a:latin typeface="Arial"/>
                        </a:rPr>
                        <a:t>Cappuccino</a:t>
                      </a:r>
                    </a:p>
                  </a:txBody>
                  <a:tcPr marL="82296" marR="82296" anchor="ctr">
                    <a:solidFill>
                      <a:srgbClr val="FFFFFF"/>
                    </a:solidFill>
                  </a:tcPr>
                </a:tc>
                <a:tc>
                  <a:txBody>
                    <a:bodyPr/>
                    <a:lstStyle/>
                    <a:p>
                      <a:pPr algn="r"/>
                      <a:r>
                        <a:rPr sz="880" b="0">
                          <a:solidFill>
                            <a:srgbClr val="555045"/>
                          </a:solidFill>
                          <a:latin typeface="Arial"/>
                        </a:rPr>
                        <a:t>0,995</a:t>
                      </a:r>
                    </a:p>
                  </a:txBody>
                  <a:tcPr marL="82296" marR="82296" anchor="ctr">
                    <a:solidFill>
                      <a:srgbClr val="FFFFFF"/>
                    </a:solidFill>
                  </a:tcPr>
                </a:tc>
                <a:tc>
                  <a:txBody>
                    <a:bodyPr/>
                    <a:lstStyle/>
                    <a:p>
                      <a:pPr algn="r"/>
                      <a:r>
                        <a:rPr sz="880" b="0">
                          <a:solidFill>
                            <a:srgbClr val="555045"/>
                          </a:solidFill>
                          <a:latin typeface="Arial"/>
                        </a:rPr>
                        <a:t>0,66</a:t>
                      </a:r>
                    </a:p>
                  </a:txBody>
                  <a:tcPr marL="82296" marR="82296" anchor="ctr">
                    <a:solidFill>
                      <a:srgbClr val="FFFFFF"/>
                    </a:solidFill>
                  </a:tcPr>
                </a:tc>
                <a:extLst>
                  <a:ext uri="{0D108BD9-81ED-4DB2-BD59-A6C34878D82A}">
                    <a16:rowId xmlns:a16="http://schemas.microsoft.com/office/drawing/2014/main" val="10001"/>
                  </a:ext>
                </a:extLst>
              </a:tr>
              <a:tr h="210312">
                <a:tc>
                  <a:txBody>
                    <a:bodyPr/>
                    <a:lstStyle/>
                    <a:p>
                      <a:pPr algn="l"/>
                      <a:r>
                        <a:rPr sz="880" b="0">
                          <a:solidFill>
                            <a:srgbClr val="17150F"/>
                          </a:solidFill>
                          <a:latin typeface="Arial"/>
                        </a:rPr>
                        <a:t>Tinto</a:t>
                      </a:r>
                    </a:p>
                  </a:txBody>
                  <a:tcPr marL="82296" marR="82296" anchor="ctr">
                    <a:solidFill>
                      <a:srgbClr val="FFFFFF"/>
                    </a:solidFill>
                  </a:tcPr>
                </a:tc>
                <a:tc>
                  <a:txBody>
                    <a:bodyPr/>
                    <a:lstStyle/>
                    <a:p>
                      <a:pPr algn="r"/>
                      <a:r>
                        <a:rPr sz="880" b="0">
                          <a:solidFill>
                            <a:srgbClr val="555045"/>
                          </a:solidFill>
                          <a:latin typeface="Arial"/>
                        </a:rPr>
                        <a:t>0,994</a:t>
                      </a:r>
                    </a:p>
                  </a:txBody>
                  <a:tcPr marL="82296" marR="82296" anchor="ctr">
                    <a:solidFill>
                      <a:srgbClr val="FFFFFF"/>
                    </a:solidFill>
                  </a:tcPr>
                </a:tc>
                <a:tc>
                  <a:txBody>
                    <a:bodyPr/>
                    <a:lstStyle/>
                    <a:p>
                      <a:pPr algn="r"/>
                      <a:r>
                        <a:rPr sz="880" b="0">
                          <a:solidFill>
                            <a:srgbClr val="555045"/>
                          </a:solidFill>
                          <a:latin typeface="Arial"/>
                        </a:rPr>
                        <a:t>0,68</a:t>
                      </a:r>
                    </a:p>
                  </a:txBody>
                  <a:tcPr marL="82296" marR="82296" anchor="ctr">
                    <a:solidFill>
                      <a:srgbClr val="FFFFFF"/>
                    </a:solidFill>
                  </a:tcPr>
                </a:tc>
                <a:extLst>
                  <a:ext uri="{0D108BD9-81ED-4DB2-BD59-A6C34878D82A}">
                    <a16:rowId xmlns:a16="http://schemas.microsoft.com/office/drawing/2014/main" val="10002"/>
                  </a:ext>
                </a:extLst>
              </a:tr>
              <a:tr h="210312">
                <a:tc>
                  <a:txBody>
                    <a:bodyPr/>
                    <a:lstStyle/>
                    <a:p>
                      <a:pPr algn="l"/>
                      <a:r>
                        <a:rPr sz="880" b="0">
                          <a:solidFill>
                            <a:srgbClr val="17150F"/>
                          </a:solidFill>
                          <a:latin typeface="Arial"/>
                        </a:rPr>
                        <a:t>Café con Leche</a:t>
                      </a:r>
                    </a:p>
                  </a:txBody>
                  <a:tcPr marL="82296" marR="82296" anchor="ctr">
                    <a:solidFill>
                      <a:srgbClr val="FFFFFF"/>
                    </a:solidFill>
                  </a:tcPr>
                </a:tc>
                <a:tc>
                  <a:txBody>
                    <a:bodyPr/>
                    <a:lstStyle/>
                    <a:p>
                      <a:pPr algn="r"/>
                      <a:r>
                        <a:rPr sz="880" b="0">
                          <a:solidFill>
                            <a:srgbClr val="555045"/>
                          </a:solidFill>
                          <a:latin typeface="Arial"/>
                        </a:rPr>
                        <a:t>0,994</a:t>
                      </a:r>
                    </a:p>
                  </a:txBody>
                  <a:tcPr marL="82296" marR="82296" anchor="ctr">
                    <a:solidFill>
                      <a:srgbClr val="FFFFFF"/>
                    </a:solidFill>
                  </a:tcPr>
                </a:tc>
                <a:tc>
                  <a:txBody>
                    <a:bodyPr/>
                    <a:lstStyle/>
                    <a:p>
                      <a:pPr algn="r"/>
                      <a:r>
                        <a:rPr sz="880" b="0">
                          <a:solidFill>
                            <a:srgbClr val="555045"/>
                          </a:solidFill>
                          <a:latin typeface="Arial"/>
                        </a:rPr>
                        <a:t>0,65</a:t>
                      </a:r>
                    </a:p>
                  </a:txBody>
                  <a:tcPr marL="82296" marR="82296" anchor="ctr">
                    <a:solidFill>
                      <a:srgbClr val="FFFFFF"/>
                    </a:solidFill>
                  </a:tcPr>
                </a:tc>
                <a:extLst>
                  <a:ext uri="{0D108BD9-81ED-4DB2-BD59-A6C34878D82A}">
                    <a16:rowId xmlns:a16="http://schemas.microsoft.com/office/drawing/2014/main" val="10003"/>
                  </a:ext>
                </a:extLst>
              </a:tr>
              <a:tr h="210312">
                <a:tc>
                  <a:txBody>
                    <a:bodyPr/>
                    <a:lstStyle/>
                    <a:p>
                      <a:pPr algn="l"/>
                      <a:r>
                        <a:rPr sz="880" b="0">
                          <a:solidFill>
                            <a:srgbClr val="17150F"/>
                          </a:solidFill>
                          <a:latin typeface="Arial"/>
                        </a:rPr>
                        <a:t>Croissant</a:t>
                      </a:r>
                    </a:p>
                  </a:txBody>
                  <a:tcPr marL="82296" marR="82296" anchor="ctr">
                    <a:solidFill>
                      <a:srgbClr val="FFFFFF"/>
                    </a:solidFill>
                  </a:tcPr>
                </a:tc>
                <a:tc>
                  <a:txBody>
                    <a:bodyPr/>
                    <a:lstStyle/>
                    <a:p>
                      <a:pPr algn="r"/>
                      <a:r>
                        <a:rPr sz="880" b="0">
                          <a:solidFill>
                            <a:srgbClr val="555045"/>
                          </a:solidFill>
                          <a:latin typeface="Arial"/>
                        </a:rPr>
                        <a:t>0,989</a:t>
                      </a:r>
                    </a:p>
                  </a:txBody>
                  <a:tcPr marL="82296" marR="82296" anchor="ctr">
                    <a:solidFill>
                      <a:srgbClr val="FFFFFF"/>
                    </a:solidFill>
                  </a:tcPr>
                </a:tc>
                <a:tc>
                  <a:txBody>
                    <a:bodyPr/>
                    <a:lstStyle/>
                    <a:p>
                      <a:pPr algn="r"/>
                      <a:r>
                        <a:rPr sz="880" b="0">
                          <a:solidFill>
                            <a:srgbClr val="555045"/>
                          </a:solidFill>
                          <a:latin typeface="Arial"/>
                        </a:rPr>
                        <a:t>0,65</a:t>
                      </a:r>
                    </a:p>
                  </a:txBody>
                  <a:tcPr marL="82296" marR="82296" anchor="ctr">
                    <a:solidFill>
                      <a:srgbClr val="FFFFFF"/>
                    </a:solidFill>
                  </a:tcPr>
                </a:tc>
                <a:extLst>
                  <a:ext uri="{0D108BD9-81ED-4DB2-BD59-A6C34878D82A}">
                    <a16:rowId xmlns:a16="http://schemas.microsoft.com/office/drawing/2014/main" val="10004"/>
                  </a:ext>
                </a:extLst>
              </a:tr>
              <a:tr h="210312">
                <a:tc>
                  <a:txBody>
                    <a:bodyPr/>
                    <a:lstStyle/>
                    <a:p>
                      <a:pPr algn="l"/>
                      <a:r>
                        <a:rPr sz="880" b="0">
                          <a:solidFill>
                            <a:srgbClr val="17150F"/>
                          </a:solidFill>
                          <a:latin typeface="Arial"/>
                        </a:rPr>
                        <a:t>Pan de Bono</a:t>
                      </a:r>
                    </a:p>
                  </a:txBody>
                  <a:tcPr marL="82296" marR="82296" anchor="ctr">
                    <a:solidFill>
                      <a:srgbClr val="FFFFFF"/>
                    </a:solidFill>
                  </a:tcPr>
                </a:tc>
                <a:tc>
                  <a:txBody>
                    <a:bodyPr/>
                    <a:lstStyle/>
                    <a:p>
                      <a:pPr algn="r"/>
                      <a:r>
                        <a:rPr sz="880" b="0">
                          <a:solidFill>
                            <a:srgbClr val="555045"/>
                          </a:solidFill>
                          <a:latin typeface="Arial"/>
                        </a:rPr>
                        <a:t>0,989</a:t>
                      </a:r>
                    </a:p>
                  </a:txBody>
                  <a:tcPr marL="82296" marR="82296" anchor="ctr">
                    <a:solidFill>
                      <a:srgbClr val="FFFFFF"/>
                    </a:solidFill>
                  </a:tcPr>
                </a:tc>
                <a:tc>
                  <a:txBody>
                    <a:bodyPr/>
                    <a:lstStyle/>
                    <a:p>
                      <a:pPr algn="r"/>
                      <a:r>
                        <a:rPr sz="880" b="0">
                          <a:solidFill>
                            <a:srgbClr val="555045"/>
                          </a:solidFill>
                          <a:latin typeface="Arial"/>
                        </a:rPr>
                        <a:t>0,64</a:t>
                      </a:r>
                    </a:p>
                  </a:txBody>
                  <a:tcPr marL="82296" marR="82296" anchor="ctr">
                    <a:solidFill>
                      <a:srgbClr val="FFFFFF"/>
                    </a:solidFill>
                  </a:tcPr>
                </a:tc>
                <a:extLst>
                  <a:ext uri="{0D108BD9-81ED-4DB2-BD59-A6C34878D82A}">
                    <a16:rowId xmlns:a16="http://schemas.microsoft.com/office/drawing/2014/main" val="10005"/>
                  </a:ext>
                </a:extLst>
              </a:tr>
              <a:tr h="210312">
                <a:tc>
                  <a:txBody>
                    <a:bodyPr/>
                    <a:lstStyle/>
                    <a:p>
                      <a:pPr algn="l"/>
                      <a:r>
                        <a:rPr sz="880" b="0">
                          <a:solidFill>
                            <a:srgbClr val="17150F"/>
                          </a:solidFill>
                          <a:latin typeface="Arial"/>
                        </a:rPr>
                        <a:t>Buñuelo</a:t>
                      </a:r>
                    </a:p>
                  </a:txBody>
                  <a:tcPr marL="82296" marR="82296" anchor="ctr">
                    <a:solidFill>
                      <a:srgbClr val="FFFFFF"/>
                    </a:solidFill>
                  </a:tcPr>
                </a:tc>
                <a:tc>
                  <a:txBody>
                    <a:bodyPr/>
                    <a:lstStyle/>
                    <a:p>
                      <a:pPr algn="r"/>
                      <a:r>
                        <a:rPr sz="880" b="0">
                          <a:solidFill>
                            <a:srgbClr val="555045"/>
                          </a:solidFill>
                          <a:latin typeface="Arial"/>
                        </a:rPr>
                        <a:t>0,988</a:t>
                      </a:r>
                    </a:p>
                  </a:txBody>
                  <a:tcPr marL="82296" marR="82296" anchor="ctr">
                    <a:solidFill>
                      <a:srgbClr val="FFFFFF"/>
                    </a:solidFill>
                  </a:tcPr>
                </a:tc>
                <a:tc>
                  <a:txBody>
                    <a:bodyPr/>
                    <a:lstStyle/>
                    <a:p>
                      <a:pPr algn="r"/>
                      <a:r>
                        <a:rPr sz="880" b="0">
                          <a:solidFill>
                            <a:srgbClr val="555045"/>
                          </a:solidFill>
                          <a:latin typeface="Arial"/>
                        </a:rPr>
                        <a:t>0,67</a:t>
                      </a:r>
                    </a:p>
                  </a:txBody>
                  <a:tcPr marL="82296" marR="82296" anchor="ctr">
                    <a:solidFill>
                      <a:srgbClr val="FFFFFF"/>
                    </a:solidFill>
                  </a:tcPr>
                </a:tc>
                <a:extLst>
                  <a:ext uri="{0D108BD9-81ED-4DB2-BD59-A6C34878D82A}">
                    <a16:rowId xmlns:a16="http://schemas.microsoft.com/office/drawing/2014/main" val="10006"/>
                  </a:ext>
                </a:extLst>
              </a:tr>
              <a:tr h="210312">
                <a:tc>
                  <a:txBody>
                    <a:bodyPr/>
                    <a:lstStyle/>
                    <a:p>
                      <a:pPr algn="l"/>
                      <a:r>
                        <a:rPr sz="880" b="0">
                          <a:solidFill>
                            <a:srgbClr val="17150F"/>
                          </a:solidFill>
                          <a:latin typeface="Arial"/>
                        </a:rPr>
                        <a:t>Pastel de Pollo</a:t>
                      </a:r>
                    </a:p>
                  </a:txBody>
                  <a:tcPr marL="82296" marR="82296" anchor="ctr">
                    <a:solidFill>
                      <a:srgbClr val="FFFFFF"/>
                    </a:solidFill>
                  </a:tcPr>
                </a:tc>
                <a:tc>
                  <a:txBody>
                    <a:bodyPr/>
                    <a:lstStyle/>
                    <a:p>
                      <a:pPr algn="r"/>
                      <a:r>
                        <a:rPr sz="880" b="0">
                          <a:solidFill>
                            <a:srgbClr val="555045"/>
                          </a:solidFill>
                          <a:latin typeface="Arial"/>
                        </a:rPr>
                        <a:t>0,985</a:t>
                      </a:r>
                    </a:p>
                  </a:txBody>
                  <a:tcPr marL="82296" marR="82296" anchor="ctr">
                    <a:solidFill>
                      <a:srgbClr val="FFFFFF"/>
                    </a:solidFill>
                  </a:tcPr>
                </a:tc>
                <a:tc>
                  <a:txBody>
                    <a:bodyPr/>
                    <a:lstStyle/>
                    <a:p>
                      <a:pPr algn="r"/>
                      <a:r>
                        <a:rPr sz="880" b="0">
                          <a:solidFill>
                            <a:srgbClr val="555045"/>
                          </a:solidFill>
                          <a:latin typeface="Arial"/>
                        </a:rPr>
                        <a:t>0,57</a:t>
                      </a:r>
                    </a:p>
                  </a:txBody>
                  <a:tcPr marL="82296" marR="82296" anchor="ctr">
                    <a:solidFill>
                      <a:srgbClr val="FFFFFF"/>
                    </a:solidFill>
                  </a:tcPr>
                </a:tc>
                <a:extLst>
                  <a:ext uri="{0D108BD9-81ED-4DB2-BD59-A6C34878D82A}">
                    <a16:rowId xmlns:a16="http://schemas.microsoft.com/office/drawing/2014/main" val="10007"/>
                  </a:ext>
                </a:extLst>
              </a:tr>
              <a:tr h="210312">
                <a:tc>
                  <a:txBody>
                    <a:bodyPr/>
                    <a:lstStyle/>
                    <a:p>
                      <a:pPr algn="l"/>
                      <a:r>
                        <a:rPr sz="880" b="0">
                          <a:solidFill>
                            <a:srgbClr val="17150F"/>
                          </a:solidFill>
                          <a:latin typeface="Arial"/>
                        </a:rPr>
                        <a:t>Jugo de Naranja</a:t>
                      </a:r>
                    </a:p>
                  </a:txBody>
                  <a:tcPr marL="82296" marR="82296" anchor="ctr">
                    <a:solidFill>
                      <a:srgbClr val="FFFFFF"/>
                    </a:solidFill>
                  </a:tcPr>
                </a:tc>
                <a:tc>
                  <a:txBody>
                    <a:bodyPr/>
                    <a:lstStyle/>
                    <a:p>
                      <a:pPr algn="r"/>
                      <a:r>
                        <a:rPr sz="880" b="0">
                          <a:solidFill>
                            <a:srgbClr val="555045"/>
                          </a:solidFill>
                          <a:latin typeface="Arial"/>
                        </a:rPr>
                        <a:t>0,984</a:t>
                      </a:r>
                    </a:p>
                  </a:txBody>
                  <a:tcPr marL="82296" marR="82296" anchor="ctr">
                    <a:solidFill>
                      <a:srgbClr val="FFFFFF"/>
                    </a:solidFill>
                  </a:tcPr>
                </a:tc>
                <a:tc>
                  <a:txBody>
                    <a:bodyPr/>
                    <a:lstStyle/>
                    <a:p>
                      <a:pPr algn="r"/>
                      <a:r>
                        <a:rPr sz="880" b="0">
                          <a:solidFill>
                            <a:srgbClr val="555045"/>
                          </a:solidFill>
                          <a:latin typeface="Arial"/>
                        </a:rPr>
                        <a:t>0,59</a:t>
                      </a:r>
                    </a:p>
                  </a:txBody>
                  <a:tcPr marL="82296" marR="82296" anchor="ctr">
                    <a:solidFill>
                      <a:srgbClr val="FFFFFF"/>
                    </a:solidFill>
                  </a:tcPr>
                </a:tc>
                <a:extLst>
                  <a:ext uri="{0D108BD9-81ED-4DB2-BD59-A6C34878D82A}">
                    <a16:rowId xmlns:a16="http://schemas.microsoft.com/office/drawing/2014/main" val="10008"/>
                  </a:ext>
                </a:extLst>
              </a:tr>
            </a:tbl>
          </a:graphicData>
        </a:graphic>
      </p:graphicFrame>
      <p:pic>
        <p:nvPicPr>
          <p:cNvPr id="6" name="Picture 5" descr="image.png"/>
          <p:cNvPicPr>
            <a:picLocks noChangeAspect="1"/>
          </p:cNvPicPr>
          <p:nvPr/>
        </p:nvPicPr>
        <p:blipFill>
          <a:blip r:embed="rId2"/>
          <a:stretch>
            <a:fillRect/>
          </a:stretch>
        </p:blipFill>
        <p:spPr>
          <a:xfrm>
            <a:off x="548640" y="3162096"/>
            <a:ext cx="4122115" cy="2257349"/>
          </a:xfrm>
          <a:prstGeom prst="rect">
            <a:avLst/>
          </a:prstGeom>
        </p:spPr>
      </p:pic>
      <p:sp>
        <p:nvSpPr>
          <p:cNvPr id="7" name="TextBox 6"/>
          <p:cNvSpPr txBox="1"/>
          <p:nvPr/>
        </p:nvSpPr>
        <p:spPr>
          <a:xfrm>
            <a:off x="548640" y="5510884"/>
            <a:ext cx="5387187" cy="580339"/>
          </a:xfrm>
          <a:prstGeom prst="rect">
            <a:avLst/>
          </a:prstGeom>
          <a:noFill/>
        </p:spPr>
        <p:txBody>
          <a:bodyPr wrap="square" lIns="0" tIns="0" rIns="0" bIns="0">
            <a:spAutoFit/>
          </a:bodyPr>
          <a:lstStyle/>
          <a:p>
            <a:pPr>
              <a:lnSpc>
                <a:spcPct val="118000"/>
              </a:lnSpc>
              <a:spcAft>
                <a:spcPts val="300"/>
              </a:spcAft>
            </a:pPr>
            <a:r>
              <a:rPr sz="940" b="0">
                <a:solidFill>
                  <a:srgbClr val="555045"/>
                </a:solidFill>
                <a:latin typeface="Arial"/>
              </a:rPr>
              <a:t>Sin merma los ocho caben en una amplitud de 0,011: son indistinguibles, y la pregunta del encargo se queda sin respuesta.</a:t>
            </a:r>
          </a:p>
          <a:p>
            <a:pPr>
              <a:lnSpc>
                <a:spcPct val="118000"/>
              </a:lnSpc>
              <a:spcAft>
                <a:spcPts val="300"/>
              </a:spcAft>
            </a:pPr>
            <a:r>
              <a:rPr sz="940" b="1">
                <a:solidFill>
                  <a:srgbClr val="17150F"/>
                </a:solidFill>
                <a:latin typeface="Arial"/>
              </a:rPr>
              <a:t>Con merma se abren de 0,57 a 0,68 y quedan ordenados exactamente por margen.</a:t>
            </a:r>
          </a:p>
        </p:txBody>
      </p:sp>
      <p:sp>
        <p:nvSpPr>
          <p:cNvPr id="8" name="TextBox 7"/>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9 · COSTES</a:t>
            </a:r>
          </a:p>
        </p:txBody>
      </p:sp>
      <p:sp>
        <p:nvSpPr>
          <p:cNvPr id="9" name="TextBox 8"/>
          <p:cNvSpPr txBox="1"/>
          <p:nvPr/>
        </p:nvSpPr>
        <p:spPr>
          <a:xfrm>
            <a:off x="6255867"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La pregunta a negocio no es binaria, es cuantitativa</a:t>
            </a:r>
          </a:p>
        </p:txBody>
      </p:sp>
      <p:pic>
        <p:nvPicPr>
          <p:cNvPr id="10" name="Picture 9" descr="image.png"/>
          <p:cNvPicPr>
            <a:picLocks noChangeAspect="1"/>
          </p:cNvPicPr>
          <p:nvPr/>
        </p:nvPicPr>
        <p:blipFill>
          <a:blip r:embed="rId3"/>
          <a:stretch>
            <a:fillRect/>
          </a:stretch>
        </p:blipFill>
        <p:spPr>
          <a:xfrm>
            <a:off x="6255867" y="1060196"/>
            <a:ext cx="4480560" cy="2604977"/>
          </a:xfrm>
          <a:prstGeom prst="rect">
            <a:avLst/>
          </a:prstGeom>
        </p:spPr>
      </p:pic>
      <p:graphicFrame>
        <p:nvGraphicFramePr>
          <p:cNvPr id="11" name="Table 10"/>
          <p:cNvGraphicFramePr>
            <a:graphicFrameLocks noGrp="1"/>
          </p:cNvGraphicFramePr>
          <p:nvPr/>
        </p:nvGraphicFramePr>
        <p:xfrm>
          <a:off x="6255867" y="3756613"/>
          <a:ext cx="5387186" cy="1536192"/>
        </p:xfrm>
        <a:graphic>
          <a:graphicData uri="http://schemas.openxmlformats.org/drawingml/2006/table">
            <a:tbl>
              <a:tblPr bandRow="1">
                <a:tableStyleId>{5C22544A-7EE6-4342-B048-85BDC9FD1C3A}</a:tableStyleId>
              </a:tblPr>
              <a:tblGrid>
                <a:gridCol w="3463191">
                  <a:extLst>
                    <a:ext uri="{9D8B030D-6E8A-4147-A177-3AD203B41FA5}">
                      <a16:colId xmlns:a16="http://schemas.microsoft.com/office/drawing/2014/main" val="20000"/>
                    </a:ext>
                  </a:extLst>
                </a:gridCol>
                <a:gridCol w="1923995">
                  <a:extLst>
                    <a:ext uri="{9D8B030D-6E8A-4147-A177-3AD203B41FA5}">
                      <a16:colId xmlns:a16="http://schemas.microsoft.com/office/drawing/2014/main" val="20001"/>
                    </a:ext>
                  </a:extLst>
                </a:gridCol>
              </a:tblGrid>
              <a:tr h="347472">
                <a:tc>
                  <a:txBody>
                    <a:bodyPr/>
                    <a:lstStyle/>
                    <a:p>
                      <a:pPr algn="l"/>
                      <a:r>
                        <a:rPr sz="810" b="1">
                          <a:solidFill>
                            <a:srgbClr val="8B8478"/>
                          </a:solidFill>
                          <a:latin typeface="Arial"/>
                        </a:rPr>
                        <a:t>Se descarta</a:t>
                      </a:r>
                    </a:p>
                  </a:txBody>
                  <a:tcPr marL="82296" marR="82296" anchor="ctr">
                    <a:solidFill>
                      <a:srgbClr val="F4F2ED"/>
                    </a:solidFill>
                  </a:tcPr>
                </a:tc>
                <a:tc>
                  <a:txBody>
                    <a:bodyPr/>
                    <a:lstStyle/>
                    <a:p>
                      <a:pPr algn="r"/>
                      <a:r>
                        <a:rPr sz="810" b="1">
                          <a:solidFill>
                            <a:srgbClr val="8B8478"/>
                          </a:solidFill>
                          <a:latin typeface="Arial"/>
                        </a:rPr>
                        <a:t>Nivel del Tinto</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0">
                          <a:solidFill>
                            <a:srgbClr val="17150F"/>
                          </a:solidFill>
                          <a:latin typeface="Arial"/>
                        </a:rPr>
                        <a:t>0 %</a:t>
                      </a:r>
                    </a:p>
                  </a:txBody>
                  <a:tcPr marL="82296" marR="82296" anchor="ctr">
                    <a:solidFill>
                      <a:srgbClr val="FFFFFF"/>
                    </a:solidFill>
                  </a:tcPr>
                </a:tc>
                <a:tc>
                  <a:txBody>
                    <a:bodyPr/>
                    <a:lstStyle/>
                    <a:p>
                      <a:pPr algn="r"/>
                      <a:r>
                        <a:rPr sz="960" b="0">
                          <a:solidFill>
                            <a:srgbClr val="555045"/>
                          </a:solidFill>
                          <a:latin typeface="Arial"/>
                        </a:rPr>
                        <a:t>0,994</a:t>
                      </a:r>
                    </a:p>
                  </a:txBody>
                  <a:tcPr marL="82296" marR="82296" anchor="ctr">
                    <a:solidFill>
                      <a:srgbClr val="FFFFF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20 %</a:t>
                      </a:r>
                    </a:p>
                  </a:txBody>
                  <a:tcPr marL="82296" marR="82296" anchor="ctr">
                    <a:solidFill>
                      <a:srgbClr val="FFFFFF"/>
                    </a:solidFill>
                  </a:tcPr>
                </a:tc>
                <a:tc>
                  <a:txBody>
                    <a:bodyPr/>
                    <a:lstStyle/>
                    <a:p>
                      <a:pPr algn="r"/>
                      <a:r>
                        <a:rPr sz="960" b="0">
                          <a:solidFill>
                            <a:srgbClr val="555045"/>
                          </a:solidFill>
                          <a:latin typeface="Arial"/>
                        </a:rPr>
                        <a:t>0,909</a:t>
                      </a:r>
                    </a:p>
                  </a:txBody>
                  <a:tcPr marL="82296" marR="82296" anchor="ctr">
                    <a:solidFill>
                      <a:srgbClr val="FFFFFF"/>
                    </a:solidFill>
                  </a:tcPr>
                </a:tc>
                <a:extLst>
                  <a:ext uri="{0D108BD9-81ED-4DB2-BD59-A6C34878D82A}">
                    <a16:rowId xmlns:a16="http://schemas.microsoft.com/office/drawing/2014/main" val="10002"/>
                  </a:ext>
                </a:extLst>
              </a:tr>
              <a:tr h="228600">
                <a:tc>
                  <a:txBody>
                    <a:bodyPr/>
                    <a:lstStyle/>
                    <a:p>
                      <a:pPr algn="l"/>
                      <a:r>
                        <a:rPr sz="960" b="0">
                          <a:solidFill>
                            <a:srgbClr val="17150F"/>
                          </a:solidFill>
                          <a:latin typeface="Arial"/>
                        </a:rPr>
                        <a:t>40 %</a:t>
                      </a:r>
                    </a:p>
                  </a:txBody>
                  <a:tcPr marL="82296" marR="82296" anchor="ctr">
                    <a:solidFill>
                      <a:srgbClr val="FFFFFF"/>
                    </a:solidFill>
                  </a:tcPr>
                </a:tc>
                <a:tc>
                  <a:txBody>
                    <a:bodyPr/>
                    <a:lstStyle/>
                    <a:p>
                      <a:pPr algn="r"/>
                      <a:r>
                        <a:rPr sz="960" b="0">
                          <a:solidFill>
                            <a:srgbClr val="555045"/>
                          </a:solidFill>
                          <a:latin typeface="Arial"/>
                        </a:rPr>
                        <a:t>0,837</a:t>
                      </a:r>
                    </a:p>
                  </a:txBody>
                  <a:tcPr marL="82296" marR="82296" anchor="ctr">
                    <a:solidFill>
                      <a:srgbClr val="FFFFFF"/>
                    </a:solidFill>
                  </a:tcPr>
                </a:tc>
                <a:extLst>
                  <a:ext uri="{0D108BD9-81ED-4DB2-BD59-A6C34878D82A}">
                    <a16:rowId xmlns:a16="http://schemas.microsoft.com/office/drawing/2014/main" val="10003"/>
                  </a:ext>
                </a:extLst>
              </a:tr>
              <a:tr h="228600">
                <a:tc>
                  <a:txBody>
                    <a:bodyPr/>
                    <a:lstStyle/>
                    <a:p>
                      <a:pPr algn="l"/>
                      <a:r>
                        <a:rPr sz="960" b="0">
                          <a:solidFill>
                            <a:srgbClr val="17150F"/>
                          </a:solidFill>
                          <a:latin typeface="Arial"/>
                        </a:rPr>
                        <a:t>50 %</a:t>
                      </a:r>
                    </a:p>
                  </a:txBody>
                  <a:tcPr marL="82296" marR="82296" anchor="ctr">
                    <a:solidFill>
                      <a:srgbClr val="FFFFFF"/>
                    </a:solidFill>
                  </a:tcPr>
                </a:tc>
                <a:tc>
                  <a:txBody>
                    <a:bodyPr/>
                    <a:lstStyle/>
                    <a:p>
                      <a:pPr algn="r"/>
                      <a:r>
                        <a:rPr sz="960" b="0">
                          <a:solidFill>
                            <a:srgbClr val="555045"/>
                          </a:solidFill>
                          <a:latin typeface="Arial"/>
                        </a:rPr>
                        <a:t>0,806</a:t>
                      </a:r>
                    </a:p>
                  </a:txBody>
                  <a:tcPr marL="82296" marR="82296" anchor="ctr">
                    <a:solidFill>
                      <a:srgbClr val="FFFFFF"/>
                    </a:solidFill>
                  </a:tcPr>
                </a:tc>
                <a:extLst>
                  <a:ext uri="{0D108BD9-81ED-4DB2-BD59-A6C34878D82A}">
                    <a16:rowId xmlns:a16="http://schemas.microsoft.com/office/drawing/2014/main" val="10004"/>
                  </a:ext>
                </a:extLst>
              </a:tr>
              <a:tr h="228600">
                <a:tc>
                  <a:txBody>
                    <a:bodyPr/>
                    <a:lstStyle/>
                    <a:p>
                      <a:pPr algn="l"/>
                      <a:r>
                        <a:rPr sz="960" b="0">
                          <a:solidFill>
                            <a:srgbClr val="17150F"/>
                          </a:solidFill>
                          <a:latin typeface="Arial"/>
                        </a:rPr>
                        <a:t>100 %</a:t>
                      </a:r>
                    </a:p>
                  </a:txBody>
                  <a:tcPr marL="82296" marR="82296" anchor="ctr">
                    <a:solidFill>
                      <a:srgbClr val="FFFFFF"/>
                    </a:solidFill>
                  </a:tcPr>
                </a:tc>
                <a:tc>
                  <a:txBody>
                    <a:bodyPr/>
                    <a:lstStyle/>
                    <a:p>
                      <a:pPr algn="r"/>
                      <a:r>
                        <a:rPr sz="960" b="0">
                          <a:solidFill>
                            <a:srgbClr val="555045"/>
                          </a:solidFill>
                          <a:latin typeface="Arial"/>
                        </a:rPr>
                        <a:t>0,677</a:t>
                      </a:r>
                    </a:p>
                  </a:txBody>
                  <a:tcPr marL="82296" marR="82296" anchor="ctr">
                    <a:solidFill>
                      <a:srgbClr val="FFFFFF"/>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6255867" y="5338525"/>
            <a:ext cx="5387187" cy="415442"/>
          </a:xfrm>
          <a:prstGeom prst="rect">
            <a:avLst/>
          </a:prstGeom>
          <a:noFill/>
        </p:spPr>
        <p:txBody>
          <a:bodyPr wrap="square" lIns="0" tIns="0" rIns="0" bIns="0">
            <a:spAutoFit/>
          </a:bodyPr>
          <a:lstStyle/>
          <a:p>
            <a:pPr>
              <a:lnSpc>
                <a:spcPct val="118000"/>
              </a:lnSpc>
              <a:spcAft>
                <a:spcPts val="300"/>
              </a:spcAft>
            </a:pPr>
            <a:r>
              <a:rPr sz="1019" b="0">
                <a:solidFill>
                  <a:srgbClr val="555045"/>
                </a:solidFill>
                <a:latin typeface="Arial"/>
              </a:rPr>
              <a:t>La caída más fuerte está al principio. Basta suponer que se pierde un 20 % del sobrante para que el nivel baje de 0,99 a 0,91.</a:t>
            </a:r>
          </a:p>
        </p:txBody>
      </p:sp>
      <p:sp>
        <p:nvSpPr>
          <p:cNvPr id="13" name="Rectangle 12"/>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9 · Costes y niveles</a:t>
            </a:r>
          </a:p>
        </p:txBody>
      </p:sp>
      <p:sp>
        <p:nvSpPr>
          <p:cNvPr id="16" name="TextBox 15"/>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75488"/>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9 · LA REJILLA</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Diecisiete niveles: eso es lo que hay que entrenar</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Hasta tener esta lista no se sabía cuántos modelos de cuantil hacen falta.</a:t>
            </a:r>
          </a:p>
        </p:txBody>
      </p:sp>
      <p:sp>
        <p:nvSpPr>
          <p:cNvPr id="7" name="Rectangle 6"/>
          <p:cNvSpPr/>
          <p:nvPr/>
        </p:nvSpPr>
        <p:spPr>
          <a:xfrm>
            <a:off x="777240" y="1990979"/>
            <a:ext cx="10637215" cy="100584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2210435"/>
            <a:ext cx="9997135" cy="640080"/>
          </a:xfrm>
          <a:prstGeom prst="rect">
            <a:avLst/>
          </a:prstGeom>
          <a:noFill/>
        </p:spPr>
        <p:txBody>
          <a:bodyPr wrap="square" lIns="0" tIns="0" rIns="0" bIns="0">
            <a:spAutoFit/>
          </a:bodyPr>
          <a:lstStyle/>
          <a:p>
            <a:pPr algn="l">
              <a:lnSpc>
                <a:spcPct val="120000"/>
              </a:lnSpc>
              <a:spcBef>
                <a:spcPts val="0"/>
              </a:spcBef>
              <a:spcAft>
                <a:spcPts val="0"/>
              </a:spcAft>
            </a:pPr>
            <a:r>
              <a:rPr sz="1600" b="1" dirty="0">
                <a:solidFill>
                  <a:srgbClr val="17150F"/>
                </a:solidFill>
                <a:latin typeface="Arial"/>
              </a:rPr>
              <a:t>0,50   0,57   0,59   0,64   0,65   0,66   0,67   0,68   0,72   0,74   0,78   0,79   0,80   0,81   0,90   0,98   0,99</a:t>
            </a:r>
          </a:p>
        </p:txBody>
      </p:sp>
      <p:sp>
        <p:nvSpPr>
          <p:cNvPr id="9" name="Rectangle 8"/>
          <p:cNvSpPr/>
          <p:nvPr/>
        </p:nvSpPr>
        <p:spPr>
          <a:xfrm>
            <a:off x="777240" y="341744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3316859"/>
            <a:ext cx="10436047" cy="530098"/>
          </a:xfrm>
          <a:prstGeom prst="rect">
            <a:avLst/>
          </a:prstGeom>
          <a:noFill/>
        </p:spPr>
        <p:txBody>
          <a:bodyPr wrap="square" lIns="0" tIns="0" rIns="0" bIns="0">
            <a:spAutoFit/>
          </a:bodyPr>
          <a:lstStyle/>
          <a:p>
            <a:pPr>
              <a:lnSpc>
                <a:spcPct val="124000"/>
              </a:lnSpc>
              <a:spcAft>
                <a:spcPts val="0"/>
              </a:spcAft>
            </a:pPr>
            <a:r>
              <a:rPr sz="1450" b="0">
                <a:solidFill>
                  <a:srgbClr val="555045"/>
                </a:solidFill>
                <a:latin typeface="Arial"/>
              </a:rPr>
              <a:t>Reúne los niveles que piden los </a:t>
            </a:r>
            <a:r>
              <a:rPr sz="1450" b="1">
                <a:solidFill>
                  <a:srgbClr val="17150F"/>
                </a:solidFill>
                <a:latin typeface="Arial"/>
              </a:rPr>
              <a:t>tres escenarios de coste</a:t>
            </a:r>
            <a:r>
              <a:rPr sz="1450" b="0">
                <a:solidFill>
                  <a:srgbClr val="555045"/>
                </a:solidFill>
                <a:latin typeface="Arial"/>
              </a:rPr>
              <a:t>, más el 0,50 para el pronóstico central que quiere negocio y el 0,90 para auditar la incertidumbre.</a:t>
            </a:r>
          </a:p>
        </p:txBody>
      </p:sp>
      <p:sp>
        <p:nvSpPr>
          <p:cNvPr id="13" name="Rectangle 12"/>
          <p:cNvSpPr/>
          <p:nvPr/>
        </p:nvSpPr>
        <p:spPr>
          <a:xfrm>
            <a:off x="777240" y="425818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408" y="4157599"/>
            <a:ext cx="10436047" cy="249940"/>
          </a:xfrm>
          <a:prstGeom prst="rect">
            <a:avLst/>
          </a:prstGeom>
          <a:noFill/>
        </p:spPr>
        <p:txBody>
          <a:bodyPr wrap="square" lIns="0" tIns="0" rIns="0" bIns="0">
            <a:spAutoFit/>
          </a:bodyPr>
          <a:lstStyle/>
          <a:p>
            <a:pPr>
              <a:lnSpc>
                <a:spcPct val="124000"/>
              </a:lnSpc>
              <a:spcAft>
                <a:spcPts val="0"/>
              </a:spcAft>
            </a:pPr>
            <a:r>
              <a:rPr sz="1450" b="1" dirty="0">
                <a:solidFill>
                  <a:srgbClr val="17150F"/>
                </a:solidFill>
                <a:latin typeface="Arial"/>
              </a:rPr>
              <a:t>Un </a:t>
            </a:r>
            <a:r>
              <a:rPr sz="1450" b="1" dirty="0" err="1">
                <a:solidFill>
                  <a:srgbClr val="17150F"/>
                </a:solidFill>
                <a:latin typeface="Arial"/>
              </a:rPr>
              <a:t>estimador</a:t>
            </a:r>
            <a:r>
              <a:rPr sz="1450" b="1" dirty="0">
                <a:solidFill>
                  <a:srgbClr val="17150F"/>
                </a:solidFill>
                <a:latin typeface="Arial"/>
              </a:rPr>
              <a:t> de </a:t>
            </a:r>
            <a:r>
              <a:rPr sz="1450" b="1" dirty="0" err="1">
                <a:solidFill>
                  <a:srgbClr val="17150F"/>
                </a:solidFill>
                <a:latin typeface="Arial"/>
              </a:rPr>
              <a:t>cuantiles</a:t>
            </a:r>
            <a:r>
              <a:rPr sz="1450" b="1" dirty="0">
                <a:solidFill>
                  <a:srgbClr val="17150F"/>
                </a:solidFill>
                <a:latin typeface="Arial"/>
              </a:rPr>
              <a:t> solo </a:t>
            </a:r>
            <a:r>
              <a:rPr sz="1450" b="1" dirty="0" err="1">
                <a:solidFill>
                  <a:srgbClr val="17150F"/>
                </a:solidFill>
                <a:latin typeface="Arial"/>
              </a:rPr>
              <a:t>devuelve</a:t>
            </a:r>
            <a:r>
              <a:rPr sz="1450" b="1" dirty="0">
                <a:solidFill>
                  <a:srgbClr val="17150F"/>
                </a:solidFill>
                <a:latin typeface="Arial"/>
              </a:rPr>
              <a:t> el </a:t>
            </a:r>
            <a:r>
              <a:rPr sz="1450" b="1" dirty="0" err="1">
                <a:solidFill>
                  <a:srgbClr val="17150F"/>
                </a:solidFill>
                <a:latin typeface="Arial"/>
              </a:rPr>
              <a:t>cuantil</a:t>
            </a:r>
            <a:r>
              <a:rPr sz="1450" b="1" dirty="0">
                <a:solidFill>
                  <a:srgbClr val="17150F"/>
                </a:solidFill>
                <a:latin typeface="Arial"/>
              </a:rPr>
              <a:t> para el </a:t>
            </a:r>
            <a:r>
              <a:rPr sz="1450" b="1" dirty="0" err="1">
                <a:solidFill>
                  <a:srgbClr val="17150F"/>
                </a:solidFill>
                <a:latin typeface="Arial"/>
              </a:rPr>
              <a:t>que</a:t>
            </a:r>
            <a:r>
              <a:rPr sz="1450" b="1" dirty="0">
                <a:solidFill>
                  <a:srgbClr val="17150F"/>
                </a:solidFill>
                <a:latin typeface="Arial"/>
              </a:rPr>
              <a:t> </a:t>
            </a:r>
            <a:r>
              <a:rPr sz="1450" b="1" dirty="0" err="1">
                <a:solidFill>
                  <a:srgbClr val="17150F"/>
                </a:solidFill>
                <a:latin typeface="Arial"/>
              </a:rPr>
              <a:t>fue</a:t>
            </a:r>
            <a:r>
              <a:rPr sz="1450" b="1" dirty="0">
                <a:solidFill>
                  <a:srgbClr val="17150F"/>
                </a:solidFill>
                <a:latin typeface="Arial"/>
              </a:rPr>
              <a:t> </a:t>
            </a:r>
            <a:r>
              <a:rPr sz="1450" b="1" dirty="0" err="1">
                <a:solidFill>
                  <a:srgbClr val="17150F"/>
                </a:solidFill>
                <a:latin typeface="Arial"/>
              </a:rPr>
              <a:t>entrenado</a:t>
            </a:r>
            <a:r>
              <a:rPr sz="1450" b="1" dirty="0">
                <a:solidFill>
                  <a:srgbClr val="17150F"/>
                </a:solidFill>
                <a:latin typeface="Arial"/>
              </a:rPr>
              <a:t>.</a:t>
            </a:r>
            <a:r>
              <a:rPr sz="1450" b="0" dirty="0">
                <a:solidFill>
                  <a:srgbClr val="555045"/>
                </a:solidFill>
                <a:latin typeface="Arial"/>
              </a:rPr>
              <a:t> Por </a:t>
            </a:r>
            <a:r>
              <a:rPr sz="1450" b="0" dirty="0" err="1">
                <a:solidFill>
                  <a:srgbClr val="555045"/>
                </a:solidFill>
                <a:latin typeface="Arial"/>
              </a:rPr>
              <a:t>eso</a:t>
            </a:r>
            <a:r>
              <a:rPr sz="1450" b="0" dirty="0">
                <a:solidFill>
                  <a:srgbClr val="555045"/>
                </a:solidFill>
                <a:latin typeface="Arial"/>
              </a:rPr>
              <a:t> son </a:t>
            </a:r>
            <a:r>
              <a:rPr sz="1450" b="0" dirty="0" err="1">
                <a:solidFill>
                  <a:srgbClr val="555045"/>
                </a:solidFill>
                <a:latin typeface="Arial"/>
              </a:rPr>
              <a:t>diecisiete</a:t>
            </a:r>
            <a:r>
              <a:rPr sz="1450" b="0" dirty="0">
                <a:solidFill>
                  <a:srgbClr val="555045"/>
                </a:solidFill>
                <a:latin typeface="Arial"/>
              </a:rPr>
              <a:t> </a:t>
            </a:r>
            <a:r>
              <a:rPr sz="1450" b="0" dirty="0" err="1">
                <a:solidFill>
                  <a:srgbClr val="555045"/>
                </a:solidFill>
                <a:latin typeface="Arial"/>
              </a:rPr>
              <a:t>modelos</a:t>
            </a:r>
            <a:r>
              <a:rPr sz="1450" b="0" dirty="0">
                <a:solidFill>
                  <a:srgbClr val="555045"/>
                </a:solidFill>
                <a:latin typeface="Arial"/>
              </a:rPr>
              <a:t> y no uno.</a:t>
            </a:r>
            <a:r>
              <a:rPr lang="es-419" sz="1450" b="0" dirty="0">
                <a:solidFill>
                  <a:srgbClr val="555045"/>
                </a:solidFill>
                <a:latin typeface="Arial"/>
              </a:rPr>
              <a:t>z</a:t>
            </a:r>
            <a:endParaRPr sz="1450" b="0" dirty="0">
              <a:solidFill>
                <a:srgbClr val="555045"/>
              </a:solidFill>
              <a:latin typeface="Arial"/>
            </a:endParaRPr>
          </a:p>
        </p:txBody>
      </p:sp>
      <p:sp>
        <p:nvSpPr>
          <p:cNvPr id="17" name="Rectangle 16"/>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9 · La rejilla de niveles</a:t>
            </a:r>
          </a:p>
        </p:txBody>
      </p:sp>
      <p:sp>
        <p:nvSpPr>
          <p:cNvPr id="19" name="TextBox 18"/>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1440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10 · SELECCIÓN</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Cuatro decisiones tomadas antes de mirar ningún resultado</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Siete familias, todas ajustadas con la misma búsqueda y evaluadas en las mismas semanas de prueba.</a:t>
            </a:r>
          </a:p>
        </p:txBody>
      </p:sp>
      <p:sp>
        <p:nvSpPr>
          <p:cNvPr id="9" name="Rectangle 8"/>
          <p:cNvSpPr/>
          <p:nvPr/>
        </p:nvSpPr>
        <p:spPr>
          <a:xfrm>
            <a:off x="776935" y="2319909"/>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103" y="2219325"/>
            <a:ext cx="10436047" cy="776859"/>
          </a:xfrm>
          <a:prstGeom prst="rect">
            <a:avLst/>
          </a:prstGeom>
          <a:noFill/>
        </p:spPr>
        <p:txBody>
          <a:bodyPr wrap="square" lIns="0" tIns="0" rIns="0" bIns="0">
            <a:spAutoFit/>
          </a:bodyPr>
          <a:lstStyle/>
          <a:p>
            <a:pPr>
              <a:lnSpc>
                <a:spcPct val="124000"/>
              </a:lnSpc>
              <a:spcAft>
                <a:spcPts val="0"/>
              </a:spcAft>
            </a:pPr>
            <a:r>
              <a:rPr sz="1450" b="1" dirty="0">
                <a:solidFill>
                  <a:srgbClr val="17150F"/>
                </a:solidFill>
                <a:latin typeface="Arial"/>
              </a:rPr>
              <a:t>Los </a:t>
            </a:r>
            <a:r>
              <a:rPr sz="1450" b="1" dirty="0" err="1">
                <a:solidFill>
                  <a:srgbClr val="17150F"/>
                </a:solidFill>
                <a:latin typeface="Arial"/>
              </a:rPr>
              <a:t>modelos</a:t>
            </a:r>
            <a:r>
              <a:rPr sz="1450" b="1" dirty="0">
                <a:solidFill>
                  <a:srgbClr val="17150F"/>
                </a:solidFill>
                <a:latin typeface="Arial"/>
              </a:rPr>
              <a:t> </a:t>
            </a:r>
            <a:r>
              <a:rPr sz="1450" b="1" dirty="0" err="1">
                <a:solidFill>
                  <a:srgbClr val="17150F"/>
                </a:solidFill>
                <a:latin typeface="Arial"/>
              </a:rPr>
              <a:t>puntuales</a:t>
            </a:r>
            <a:r>
              <a:rPr sz="1450" b="1" dirty="0">
                <a:solidFill>
                  <a:srgbClr val="17150F"/>
                </a:solidFill>
                <a:latin typeface="Arial"/>
              </a:rPr>
              <a:t> </a:t>
            </a:r>
            <a:r>
              <a:rPr sz="1450" b="1" dirty="0" err="1">
                <a:solidFill>
                  <a:srgbClr val="17150F"/>
                </a:solidFill>
                <a:latin typeface="Arial"/>
              </a:rPr>
              <a:t>compiten</a:t>
            </a:r>
            <a:r>
              <a:rPr sz="1450" b="1" dirty="0">
                <a:solidFill>
                  <a:srgbClr val="17150F"/>
                </a:solidFill>
                <a:latin typeface="Arial"/>
              </a:rPr>
              <a:t> </a:t>
            </a:r>
            <a:r>
              <a:rPr sz="1450" b="1" dirty="0" err="1">
                <a:solidFill>
                  <a:srgbClr val="17150F"/>
                </a:solidFill>
                <a:latin typeface="Arial"/>
              </a:rPr>
              <a:t>en</a:t>
            </a:r>
            <a:r>
              <a:rPr sz="1450" b="1" dirty="0">
                <a:solidFill>
                  <a:srgbClr val="17150F"/>
                </a:solidFill>
                <a:latin typeface="Arial"/>
              </a:rPr>
              <a:t> la </a:t>
            </a:r>
            <a:r>
              <a:rPr sz="1450" b="1" dirty="0" err="1">
                <a:solidFill>
                  <a:srgbClr val="17150F"/>
                </a:solidFill>
                <a:latin typeface="Arial"/>
              </a:rPr>
              <a:t>misma</a:t>
            </a:r>
            <a:r>
              <a:rPr sz="1450" b="1" dirty="0">
                <a:solidFill>
                  <a:srgbClr val="17150F"/>
                </a:solidFill>
                <a:latin typeface="Arial"/>
              </a:rPr>
              <a:t> </a:t>
            </a:r>
            <a:r>
              <a:rPr sz="1450" b="1" dirty="0" err="1">
                <a:solidFill>
                  <a:srgbClr val="17150F"/>
                </a:solidFill>
                <a:latin typeface="Arial"/>
              </a:rPr>
              <a:t>métrica</a:t>
            </a:r>
            <a:r>
              <a:rPr sz="1450" b="1" dirty="0">
                <a:solidFill>
                  <a:srgbClr val="17150F"/>
                </a:solidFill>
                <a:latin typeface="Arial"/>
              </a:rPr>
              <a:t>.</a:t>
            </a:r>
            <a:r>
              <a:rPr sz="1450" b="0" dirty="0">
                <a:solidFill>
                  <a:srgbClr val="555045"/>
                </a:solidFill>
                <a:latin typeface="Arial"/>
              </a:rPr>
              <a:t> A Ridge, al boosting y a la media </a:t>
            </a:r>
            <a:r>
              <a:rPr sz="1450" b="0" dirty="0" err="1">
                <a:solidFill>
                  <a:srgbClr val="555045"/>
                </a:solidFill>
                <a:latin typeface="Arial"/>
              </a:rPr>
              <a:t>móvil</a:t>
            </a:r>
            <a:r>
              <a:rPr sz="1450" b="0" dirty="0">
                <a:solidFill>
                  <a:srgbClr val="555045"/>
                </a:solidFill>
                <a:latin typeface="Arial"/>
              </a:rPr>
              <a:t> se les </a:t>
            </a:r>
            <a:r>
              <a:rPr sz="1450" b="0" dirty="0" err="1">
                <a:solidFill>
                  <a:srgbClr val="555045"/>
                </a:solidFill>
                <a:latin typeface="Arial"/>
              </a:rPr>
              <a:t>suma</a:t>
            </a:r>
            <a:r>
              <a:rPr sz="1450" b="0" dirty="0">
                <a:solidFill>
                  <a:srgbClr val="555045"/>
                </a:solidFill>
                <a:latin typeface="Arial"/>
              </a:rPr>
              <a:t> el </a:t>
            </a:r>
            <a:r>
              <a:rPr sz="1450" b="0" dirty="0" err="1">
                <a:solidFill>
                  <a:srgbClr val="555045"/>
                </a:solidFill>
                <a:latin typeface="Arial"/>
              </a:rPr>
              <a:t>cuantil</a:t>
            </a:r>
            <a:r>
              <a:rPr sz="1450" b="0" dirty="0">
                <a:solidFill>
                  <a:srgbClr val="555045"/>
                </a:solidFill>
                <a:latin typeface="Arial"/>
              </a:rPr>
              <a:t> </a:t>
            </a:r>
            <a:r>
              <a:rPr sz="1450" b="0" dirty="0" err="1">
                <a:solidFill>
                  <a:srgbClr val="555045"/>
                </a:solidFill>
                <a:latin typeface="Arial"/>
              </a:rPr>
              <a:t>empírico</a:t>
            </a:r>
            <a:r>
              <a:rPr sz="1450" b="0" dirty="0">
                <a:solidFill>
                  <a:srgbClr val="555045"/>
                </a:solidFill>
                <a:latin typeface="Arial"/>
              </a:rPr>
              <a:t> de sus </a:t>
            </a:r>
            <a:r>
              <a:rPr sz="1450" b="0" dirty="0" err="1">
                <a:solidFill>
                  <a:srgbClr val="555045"/>
                </a:solidFill>
                <a:latin typeface="Arial"/>
              </a:rPr>
              <a:t>propios</a:t>
            </a:r>
            <a:r>
              <a:rPr sz="1450" b="0" dirty="0">
                <a:solidFill>
                  <a:srgbClr val="555045"/>
                </a:solidFill>
                <a:latin typeface="Arial"/>
              </a:rPr>
              <a:t> </a:t>
            </a:r>
            <a:r>
              <a:rPr sz="1450" b="0" dirty="0" err="1">
                <a:solidFill>
                  <a:srgbClr val="555045"/>
                </a:solidFill>
                <a:latin typeface="Arial"/>
              </a:rPr>
              <a:t>residuales</a:t>
            </a:r>
            <a:r>
              <a:rPr sz="1450" b="0" dirty="0">
                <a:solidFill>
                  <a:srgbClr val="555045"/>
                </a:solidFill>
                <a:latin typeface="Arial"/>
              </a:rPr>
              <a:t>. Sin </a:t>
            </a:r>
            <a:r>
              <a:rPr sz="1450" b="0" dirty="0" err="1">
                <a:solidFill>
                  <a:srgbClr val="555045"/>
                </a:solidFill>
                <a:latin typeface="Arial"/>
              </a:rPr>
              <a:t>eso</a:t>
            </a:r>
            <a:r>
              <a:rPr sz="1450" b="0" dirty="0">
                <a:solidFill>
                  <a:srgbClr val="555045"/>
                </a:solidFill>
                <a:latin typeface="Arial"/>
              </a:rPr>
              <a:t>, </a:t>
            </a:r>
            <a:r>
              <a:rPr sz="1450" b="0" dirty="0" err="1">
                <a:solidFill>
                  <a:srgbClr val="555045"/>
                </a:solidFill>
                <a:latin typeface="Arial"/>
              </a:rPr>
              <a:t>cualquier</a:t>
            </a:r>
            <a:r>
              <a:rPr sz="1450" b="0" dirty="0">
                <a:solidFill>
                  <a:srgbClr val="555045"/>
                </a:solidFill>
                <a:latin typeface="Arial"/>
              </a:rPr>
              <a:t> </a:t>
            </a:r>
            <a:r>
              <a:rPr sz="1450" b="0" dirty="0" err="1">
                <a:solidFill>
                  <a:srgbClr val="555045"/>
                </a:solidFill>
                <a:latin typeface="Arial"/>
              </a:rPr>
              <a:t>modelo</a:t>
            </a:r>
            <a:r>
              <a:rPr sz="1450" b="0" dirty="0">
                <a:solidFill>
                  <a:srgbClr val="555045"/>
                </a:solidFill>
                <a:latin typeface="Arial"/>
              </a:rPr>
              <a:t> </a:t>
            </a:r>
            <a:r>
              <a:rPr sz="1450" b="0" dirty="0" err="1">
                <a:solidFill>
                  <a:srgbClr val="555045"/>
                </a:solidFill>
                <a:latin typeface="Arial"/>
              </a:rPr>
              <a:t>probabilístico</a:t>
            </a:r>
            <a:r>
              <a:rPr sz="1450" b="0" dirty="0">
                <a:solidFill>
                  <a:srgbClr val="555045"/>
                </a:solidFill>
                <a:latin typeface="Arial"/>
              </a:rPr>
              <a:t> </a:t>
            </a:r>
            <a:r>
              <a:rPr sz="1450" b="0" dirty="0" err="1">
                <a:solidFill>
                  <a:srgbClr val="555045"/>
                </a:solidFill>
                <a:latin typeface="Arial"/>
              </a:rPr>
              <a:t>habría</a:t>
            </a:r>
            <a:r>
              <a:rPr sz="1450" b="0" dirty="0">
                <a:solidFill>
                  <a:srgbClr val="555045"/>
                </a:solidFill>
                <a:latin typeface="Arial"/>
              </a:rPr>
              <a:t> </a:t>
            </a:r>
            <a:r>
              <a:rPr sz="1450" b="0" dirty="0" err="1">
                <a:solidFill>
                  <a:srgbClr val="555045"/>
                </a:solidFill>
                <a:latin typeface="Arial"/>
              </a:rPr>
              <a:t>ganado</a:t>
            </a:r>
            <a:r>
              <a:rPr sz="1450" b="0" dirty="0">
                <a:solidFill>
                  <a:srgbClr val="555045"/>
                </a:solidFill>
                <a:latin typeface="Arial"/>
              </a:rPr>
              <a:t> </a:t>
            </a:r>
            <a:r>
              <a:rPr sz="1450" b="0" dirty="0" err="1">
                <a:solidFill>
                  <a:srgbClr val="555045"/>
                </a:solidFill>
                <a:latin typeface="Arial"/>
              </a:rPr>
              <a:t>por</a:t>
            </a:r>
            <a:r>
              <a:rPr sz="1450" b="0" dirty="0">
                <a:solidFill>
                  <a:srgbClr val="555045"/>
                </a:solidFill>
                <a:latin typeface="Arial"/>
              </a:rPr>
              <a:t> </a:t>
            </a:r>
            <a:r>
              <a:rPr sz="1450" b="0" dirty="0" err="1">
                <a:solidFill>
                  <a:srgbClr val="555045"/>
                </a:solidFill>
                <a:latin typeface="Arial"/>
              </a:rPr>
              <a:t>defecto</a:t>
            </a:r>
            <a:r>
              <a:rPr sz="1450" b="0" dirty="0">
                <a:solidFill>
                  <a:srgbClr val="555045"/>
                </a:solidFill>
                <a:latin typeface="Arial"/>
              </a:rPr>
              <a:t> y no </a:t>
            </a:r>
            <a:r>
              <a:rPr sz="1450" b="0" dirty="0" err="1">
                <a:solidFill>
                  <a:srgbClr val="555045"/>
                </a:solidFill>
                <a:latin typeface="Arial"/>
              </a:rPr>
              <a:t>por</a:t>
            </a:r>
            <a:r>
              <a:rPr sz="1450" b="0" dirty="0">
                <a:solidFill>
                  <a:srgbClr val="555045"/>
                </a:solidFill>
                <a:latin typeface="Arial"/>
              </a:rPr>
              <a:t> </a:t>
            </a:r>
            <a:r>
              <a:rPr sz="1450" b="0" dirty="0" err="1">
                <a:solidFill>
                  <a:srgbClr val="555045"/>
                </a:solidFill>
                <a:latin typeface="Arial"/>
              </a:rPr>
              <a:t>mérito</a:t>
            </a:r>
            <a:r>
              <a:rPr sz="1450" b="0" dirty="0">
                <a:solidFill>
                  <a:srgbClr val="555045"/>
                </a:solidFill>
                <a:latin typeface="Arial"/>
              </a:rPr>
              <a:t>.</a:t>
            </a:r>
          </a:p>
        </p:txBody>
      </p:sp>
      <p:sp>
        <p:nvSpPr>
          <p:cNvPr id="13" name="Rectangle 12"/>
          <p:cNvSpPr/>
          <p:nvPr/>
        </p:nvSpPr>
        <p:spPr>
          <a:xfrm>
            <a:off x="776935" y="3151505"/>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78103" y="3050921"/>
            <a:ext cx="10436047" cy="530098"/>
          </a:xfrm>
          <a:prstGeom prst="rect">
            <a:avLst/>
          </a:prstGeom>
          <a:noFill/>
        </p:spPr>
        <p:txBody>
          <a:bodyPr wrap="square" lIns="0" tIns="0" rIns="0" bIns="0">
            <a:spAutoFit/>
          </a:bodyPr>
          <a:lstStyle/>
          <a:p>
            <a:pPr>
              <a:lnSpc>
                <a:spcPct val="124000"/>
              </a:lnSpc>
              <a:spcAft>
                <a:spcPts val="0"/>
              </a:spcAft>
            </a:pPr>
            <a:r>
              <a:rPr sz="1450" b="1" dirty="0" err="1">
                <a:solidFill>
                  <a:srgbClr val="17150F"/>
                </a:solidFill>
                <a:latin typeface="Arial"/>
              </a:rPr>
              <a:t>Todas</a:t>
            </a:r>
            <a:r>
              <a:rPr sz="1450" b="1" dirty="0">
                <a:solidFill>
                  <a:srgbClr val="17150F"/>
                </a:solidFill>
                <a:latin typeface="Arial"/>
              </a:rPr>
              <a:t> se </a:t>
            </a:r>
            <a:r>
              <a:rPr sz="1450" b="1" dirty="0" err="1">
                <a:solidFill>
                  <a:srgbClr val="17150F"/>
                </a:solidFill>
                <a:latin typeface="Arial"/>
              </a:rPr>
              <a:t>ajustan</a:t>
            </a:r>
            <a:r>
              <a:rPr sz="1450" b="1" dirty="0">
                <a:solidFill>
                  <a:srgbClr val="17150F"/>
                </a:solidFill>
                <a:latin typeface="Arial"/>
              </a:rPr>
              <a:t> con la </a:t>
            </a:r>
            <a:r>
              <a:rPr sz="1450" b="1" dirty="0" err="1">
                <a:solidFill>
                  <a:srgbClr val="17150F"/>
                </a:solidFill>
                <a:latin typeface="Arial"/>
              </a:rPr>
              <a:t>misma</a:t>
            </a:r>
            <a:r>
              <a:rPr sz="1450" b="1" dirty="0">
                <a:solidFill>
                  <a:srgbClr val="17150F"/>
                </a:solidFill>
                <a:latin typeface="Arial"/>
              </a:rPr>
              <a:t> </a:t>
            </a:r>
            <a:r>
              <a:rPr sz="1450" b="1" dirty="0" err="1">
                <a:solidFill>
                  <a:srgbClr val="17150F"/>
                </a:solidFill>
                <a:latin typeface="Arial"/>
              </a:rPr>
              <a:t>búsqueda</a:t>
            </a:r>
            <a:r>
              <a:rPr sz="1450" b="0" dirty="0">
                <a:solidFill>
                  <a:srgbClr val="555045"/>
                </a:solidFill>
                <a:latin typeface="Arial"/>
              </a:rPr>
              <a:t>: </a:t>
            </a:r>
            <a:r>
              <a:rPr sz="1450" b="0" dirty="0" err="1">
                <a:solidFill>
                  <a:srgbClr val="555045"/>
                </a:solidFill>
                <a:latin typeface="Arial"/>
              </a:rPr>
              <a:t>optimización</a:t>
            </a:r>
            <a:r>
              <a:rPr sz="1450" b="0" dirty="0">
                <a:solidFill>
                  <a:srgbClr val="555045"/>
                </a:solidFill>
                <a:latin typeface="Arial"/>
              </a:rPr>
              <a:t> </a:t>
            </a:r>
            <a:r>
              <a:rPr sz="1450" b="0" dirty="0" err="1">
                <a:solidFill>
                  <a:srgbClr val="555045"/>
                </a:solidFill>
                <a:latin typeface="Arial"/>
              </a:rPr>
              <a:t>bayesiana</a:t>
            </a:r>
            <a:r>
              <a:rPr sz="1450" b="0" dirty="0">
                <a:solidFill>
                  <a:srgbClr val="555045"/>
                </a:solidFill>
                <a:latin typeface="Arial"/>
              </a:rPr>
              <a:t>, 30 </a:t>
            </a:r>
            <a:r>
              <a:rPr sz="1450" b="0" dirty="0" err="1">
                <a:solidFill>
                  <a:srgbClr val="555045"/>
                </a:solidFill>
                <a:latin typeface="Arial"/>
              </a:rPr>
              <a:t>ensayos</a:t>
            </a:r>
            <a:r>
              <a:rPr sz="1450" b="0" dirty="0">
                <a:solidFill>
                  <a:srgbClr val="555045"/>
                </a:solidFill>
                <a:latin typeface="Arial"/>
              </a:rPr>
              <a:t>, </a:t>
            </a:r>
            <a:r>
              <a:rPr sz="1450" b="0" dirty="0" err="1">
                <a:solidFill>
                  <a:srgbClr val="555045"/>
                </a:solidFill>
                <a:latin typeface="Arial"/>
              </a:rPr>
              <a:t>minimizando</a:t>
            </a:r>
            <a:r>
              <a:rPr sz="1450" b="0" dirty="0">
                <a:solidFill>
                  <a:srgbClr val="555045"/>
                </a:solidFill>
                <a:latin typeface="Arial"/>
              </a:rPr>
              <a:t> la </a:t>
            </a:r>
            <a:r>
              <a:rPr sz="1450" b="0" dirty="0" err="1">
                <a:solidFill>
                  <a:srgbClr val="555045"/>
                </a:solidFill>
                <a:latin typeface="Arial"/>
              </a:rPr>
              <a:t>pérdida</a:t>
            </a:r>
            <a:r>
              <a:rPr sz="1450" b="0" dirty="0">
                <a:solidFill>
                  <a:srgbClr val="555045"/>
                </a:solidFill>
                <a:latin typeface="Arial"/>
              </a:rPr>
              <a:t> pinball </a:t>
            </a:r>
            <a:r>
              <a:rPr sz="1450" b="0" dirty="0" err="1">
                <a:solidFill>
                  <a:srgbClr val="555045"/>
                </a:solidFill>
                <a:latin typeface="Arial"/>
              </a:rPr>
              <a:t>sobre</a:t>
            </a:r>
            <a:r>
              <a:rPr sz="1450" b="0" dirty="0">
                <a:solidFill>
                  <a:srgbClr val="555045"/>
                </a:solidFill>
                <a:latin typeface="Arial"/>
              </a:rPr>
              <a:t> </a:t>
            </a:r>
            <a:r>
              <a:rPr sz="1450" b="0" dirty="0" err="1">
                <a:solidFill>
                  <a:srgbClr val="555045"/>
                </a:solidFill>
                <a:latin typeface="Arial"/>
              </a:rPr>
              <a:t>los</a:t>
            </a:r>
            <a:r>
              <a:rPr sz="1450" b="0" dirty="0">
                <a:solidFill>
                  <a:srgbClr val="555045"/>
                </a:solidFill>
                <a:latin typeface="Arial"/>
              </a:rPr>
              <a:t> </a:t>
            </a:r>
            <a:r>
              <a:rPr sz="1450" b="0" dirty="0" err="1">
                <a:solidFill>
                  <a:srgbClr val="555045"/>
                </a:solidFill>
                <a:latin typeface="Arial"/>
              </a:rPr>
              <a:t>pliegues</a:t>
            </a:r>
            <a:r>
              <a:rPr sz="1450" b="0" dirty="0">
                <a:solidFill>
                  <a:srgbClr val="555045"/>
                </a:solidFill>
                <a:latin typeface="Arial"/>
              </a:rPr>
              <a:t> de </a:t>
            </a:r>
            <a:r>
              <a:rPr sz="1450" b="0" dirty="0" err="1">
                <a:solidFill>
                  <a:srgbClr val="555045"/>
                </a:solidFill>
                <a:latin typeface="Arial"/>
              </a:rPr>
              <a:t>validación</a:t>
            </a:r>
            <a:r>
              <a:rPr sz="1450" b="0" dirty="0">
                <a:solidFill>
                  <a:srgbClr val="555045"/>
                </a:solidFill>
                <a:latin typeface="Arial"/>
              </a:rPr>
              <a:t>.</a:t>
            </a:r>
          </a:p>
        </p:txBody>
      </p:sp>
      <p:sp>
        <p:nvSpPr>
          <p:cNvPr id="15" name="TextBox 14"/>
          <p:cNvSpPr txBox="1"/>
          <p:nvPr/>
        </p:nvSpPr>
        <p:spPr>
          <a:xfrm>
            <a:off x="776935" y="3891915"/>
            <a:ext cx="10637215" cy="445008"/>
          </a:xfrm>
          <a:prstGeom prst="rect">
            <a:avLst/>
          </a:prstGeom>
          <a:noFill/>
        </p:spPr>
        <p:txBody>
          <a:bodyPr wrap="square" lIns="0" tIns="0" rIns="0" bIns="0">
            <a:spAutoFit/>
          </a:bodyPr>
          <a:lstStyle/>
          <a:p>
            <a:pPr>
              <a:lnSpc>
                <a:spcPct val="126000"/>
              </a:lnSpc>
              <a:spcAft>
                <a:spcPts val="0"/>
              </a:spcAft>
            </a:pPr>
            <a:r>
              <a:rPr sz="1200" b="1">
                <a:solidFill>
                  <a:srgbClr val="17150F"/>
                </a:solidFill>
                <a:latin typeface="Arial"/>
              </a:rPr>
              <a:t>La métrica principal es la pérdida pinball</a:t>
            </a:r>
            <a:r>
              <a:rPr sz="1200" b="0">
                <a:solidFill>
                  <a:srgbClr val="8B8478"/>
                </a:solidFill>
                <a:latin typeface="Arial"/>
              </a:rPr>
              <a:t>, que penaliza de forma asimétrica igual que lo hace el negocio. El WAPE se reporta sobre el pronóstico central, como en la línea base.</a:t>
            </a:r>
          </a:p>
        </p:txBody>
      </p:sp>
      <p:sp>
        <p:nvSpPr>
          <p:cNvPr id="16" name="Rectangle 15"/>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10 · Selección de familia</a:t>
            </a:r>
          </a:p>
        </p:txBody>
      </p:sp>
      <p:sp>
        <p:nvSpPr>
          <p:cNvPr id="18" name="TextBox 17"/>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10 · RESULTADO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Seis modelos empatan y todos superan a la media móvil</a:t>
            </a:r>
          </a:p>
        </p:txBody>
      </p:sp>
      <p:sp>
        <p:nvSpPr>
          <p:cNvPr id="6" name="TextBox 5"/>
          <p:cNvSpPr txBox="1"/>
          <p:nvPr/>
        </p:nvSpPr>
        <p:spPr>
          <a:xfrm>
            <a:off x="777240" y="1506474"/>
            <a:ext cx="9966960" cy="530098"/>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Sobre las 480 decisiones de las semanas de prueba. Pinball en tres niveles; WAPE, MAE y sesgo sobre el pronóstico central.</a:t>
            </a:r>
          </a:p>
        </p:txBody>
      </p:sp>
      <p:graphicFrame>
        <p:nvGraphicFramePr>
          <p:cNvPr id="7" name="Table 6"/>
          <p:cNvGraphicFramePr>
            <a:graphicFrameLocks noGrp="1"/>
          </p:cNvGraphicFramePr>
          <p:nvPr/>
        </p:nvGraphicFramePr>
        <p:xfrm>
          <a:off x="777240" y="2237740"/>
          <a:ext cx="10637210" cy="2523744"/>
        </p:xfrm>
        <a:graphic>
          <a:graphicData uri="http://schemas.openxmlformats.org/drawingml/2006/table">
            <a:tbl>
              <a:tblPr bandRow="1">
                <a:tableStyleId>{5C22544A-7EE6-4342-B048-85BDC9FD1C3A}</a:tableStyleId>
              </a:tblPr>
              <a:tblGrid>
                <a:gridCol w="2765675">
                  <a:extLst>
                    <a:ext uri="{9D8B030D-6E8A-4147-A177-3AD203B41FA5}">
                      <a16:colId xmlns:a16="http://schemas.microsoft.com/office/drawing/2014/main" val="20000"/>
                    </a:ext>
                  </a:extLst>
                </a:gridCol>
                <a:gridCol w="1170093">
                  <a:extLst>
                    <a:ext uri="{9D8B030D-6E8A-4147-A177-3AD203B41FA5}">
                      <a16:colId xmlns:a16="http://schemas.microsoft.com/office/drawing/2014/main" val="20001"/>
                    </a:ext>
                  </a:extLst>
                </a:gridCol>
                <a:gridCol w="1170093">
                  <a:extLst>
                    <a:ext uri="{9D8B030D-6E8A-4147-A177-3AD203B41FA5}">
                      <a16:colId xmlns:a16="http://schemas.microsoft.com/office/drawing/2014/main" val="20002"/>
                    </a:ext>
                  </a:extLst>
                </a:gridCol>
                <a:gridCol w="1170093">
                  <a:extLst>
                    <a:ext uri="{9D8B030D-6E8A-4147-A177-3AD203B41FA5}">
                      <a16:colId xmlns:a16="http://schemas.microsoft.com/office/drawing/2014/main" val="20003"/>
                    </a:ext>
                  </a:extLst>
                </a:gridCol>
                <a:gridCol w="1276465">
                  <a:extLst>
                    <a:ext uri="{9D8B030D-6E8A-4147-A177-3AD203B41FA5}">
                      <a16:colId xmlns:a16="http://schemas.microsoft.com/office/drawing/2014/main" val="20004"/>
                    </a:ext>
                  </a:extLst>
                </a:gridCol>
                <a:gridCol w="1063721">
                  <a:extLst>
                    <a:ext uri="{9D8B030D-6E8A-4147-A177-3AD203B41FA5}">
                      <a16:colId xmlns:a16="http://schemas.microsoft.com/office/drawing/2014/main" val="20005"/>
                    </a:ext>
                  </a:extLst>
                </a:gridCol>
                <a:gridCol w="957349">
                  <a:extLst>
                    <a:ext uri="{9D8B030D-6E8A-4147-A177-3AD203B41FA5}">
                      <a16:colId xmlns:a16="http://schemas.microsoft.com/office/drawing/2014/main" val="20006"/>
                    </a:ext>
                  </a:extLst>
                </a:gridCol>
                <a:gridCol w="1063721">
                  <a:extLst>
                    <a:ext uri="{9D8B030D-6E8A-4147-A177-3AD203B41FA5}">
                      <a16:colId xmlns:a16="http://schemas.microsoft.com/office/drawing/2014/main" val="20007"/>
                    </a:ext>
                  </a:extLst>
                </a:gridCol>
              </a:tblGrid>
              <a:tr h="347472">
                <a:tc>
                  <a:txBody>
                    <a:bodyPr/>
                    <a:lstStyle/>
                    <a:p>
                      <a:pPr algn="l"/>
                      <a:r>
                        <a:rPr sz="1100" b="1">
                          <a:solidFill>
                            <a:srgbClr val="8B8478"/>
                          </a:solidFill>
                          <a:latin typeface="Arial"/>
                        </a:rPr>
                        <a:t>Familia</a:t>
                      </a:r>
                    </a:p>
                  </a:txBody>
                  <a:tcPr marL="82296" marR="82296" anchor="ctr">
                    <a:solidFill>
                      <a:srgbClr val="F4F2ED"/>
                    </a:solidFill>
                  </a:tcPr>
                </a:tc>
                <a:tc>
                  <a:txBody>
                    <a:bodyPr/>
                    <a:lstStyle/>
                    <a:p>
                      <a:pPr algn="r"/>
                      <a:r>
                        <a:rPr sz="1100" b="1">
                          <a:solidFill>
                            <a:srgbClr val="8B8478"/>
                          </a:solidFill>
                          <a:latin typeface="Arial"/>
                        </a:rPr>
                        <a:t>Pinball 0,50</a:t>
                      </a:r>
                    </a:p>
                  </a:txBody>
                  <a:tcPr marL="82296" marR="82296" anchor="ctr">
                    <a:solidFill>
                      <a:srgbClr val="F4F2ED"/>
                    </a:solidFill>
                  </a:tcPr>
                </a:tc>
                <a:tc>
                  <a:txBody>
                    <a:bodyPr/>
                    <a:lstStyle/>
                    <a:p>
                      <a:pPr algn="r"/>
                      <a:r>
                        <a:rPr sz="1100" b="1">
                          <a:solidFill>
                            <a:srgbClr val="8B8478"/>
                          </a:solidFill>
                          <a:latin typeface="Arial"/>
                        </a:rPr>
                        <a:t>Pinball 0,65</a:t>
                      </a:r>
                    </a:p>
                  </a:txBody>
                  <a:tcPr marL="82296" marR="82296" anchor="ctr">
                    <a:solidFill>
                      <a:srgbClr val="F4F2ED"/>
                    </a:solidFill>
                  </a:tcPr>
                </a:tc>
                <a:tc>
                  <a:txBody>
                    <a:bodyPr/>
                    <a:lstStyle/>
                    <a:p>
                      <a:pPr algn="r"/>
                      <a:r>
                        <a:rPr sz="1100" b="1">
                          <a:solidFill>
                            <a:srgbClr val="8B8478"/>
                          </a:solidFill>
                          <a:latin typeface="Arial"/>
                        </a:rPr>
                        <a:t>Pinball 0,90</a:t>
                      </a:r>
                    </a:p>
                  </a:txBody>
                  <a:tcPr marL="82296" marR="82296" anchor="ctr">
                    <a:solidFill>
                      <a:srgbClr val="F4F2ED"/>
                    </a:solidFill>
                  </a:tcPr>
                </a:tc>
                <a:tc>
                  <a:txBody>
                    <a:bodyPr/>
                    <a:lstStyle/>
                    <a:p>
                      <a:pPr algn="r"/>
                      <a:r>
                        <a:rPr sz="1100" b="1">
                          <a:solidFill>
                            <a:srgbClr val="8B8478"/>
                          </a:solidFill>
                          <a:latin typeface="Arial"/>
                        </a:rPr>
                        <a:t>Pinball media</a:t>
                      </a:r>
                    </a:p>
                  </a:txBody>
                  <a:tcPr marL="82296" marR="82296" anchor="ctr">
                    <a:solidFill>
                      <a:srgbClr val="F4F2ED"/>
                    </a:solidFill>
                  </a:tcPr>
                </a:tc>
                <a:tc>
                  <a:txBody>
                    <a:bodyPr/>
                    <a:lstStyle/>
                    <a:p>
                      <a:pPr algn="r"/>
                      <a:r>
                        <a:rPr sz="1100" b="1">
                          <a:solidFill>
                            <a:srgbClr val="8B8478"/>
                          </a:solidFill>
                          <a:latin typeface="Arial"/>
                        </a:rPr>
                        <a:t>WAPE</a:t>
                      </a:r>
                    </a:p>
                  </a:txBody>
                  <a:tcPr marL="82296" marR="82296" anchor="ctr">
                    <a:solidFill>
                      <a:srgbClr val="F4F2ED"/>
                    </a:solidFill>
                  </a:tcPr>
                </a:tc>
                <a:tc>
                  <a:txBody>
                    <a:bodyPr/>
                    <a:lstStyle/>
                    <a:p>
                      <a:pPr algn="r"/>
                      <a:r>
                        <a:rPr sz="1100" b="1">
                          <a:solidFill>
                            <a:srgbClr val="8B8478"/>
                          </a:solidFill>
                          <a:latin typeface="Arial"/>
                        </a:rPr>
                        <a:t>MAE</a:t>
                      </a:r>
                    </a:p>
                  </a:txBody>
                  <a:tcPr marL="82296" marR="82296" anchor="ctr">
                    <a:solidFill>
                      <a:srgbClr val="F4F2ED"/>
                    </a:solidFill>
                  </a:tcPr>
                </a:tc>
                <a:tc>
                  <a:txBody>
                    <a:bodyPr/>
                    <a:lstStyle/>
                    <a:p>
                      <a:pPr algn="r"/>
                      <a:r>
                        <a:rPr sz="1100" b="1">
                          <a:solidFill>
                            <a:srgbClr val="8B8478"/>
                          </a:solidFill>
                          <a:latin typeface="Arial"/>
                        </a:rPr>
                        <a:t>Sesgo</a:t>
                      </a:r>
                    </a:p>
                  </a:txBody>
                  <a:tcPr marL="82296" marR="82296" anchor="ctr">
                    <a:solidFill>
                      <a:srgbClr val="F4F2ED"/>
                    </a:solidFill>
                  </a:tcPr>
                </a:tc>
                <a:extLst>
                  <a:ext uri="{0D108BD9-81ED-4DB2-BD59-A6C34878D82A}">
                    <a16:rowId xmlns:a16="http://schemas.microsoft.com/office/drawing/2014/main" val="10000"/>
                  </a:ext>
                </a:extLst>
              </a:tr>
              <a:tr h="310896">
                <a:tc>
                  <a:txBody>
                    <a:bodyPr/>
                    <a:lstStyle/>
                    <a:p>
                      <a:pPr algn="l"/>
                      <a:r>
                        <a:rPr sz="1250" b="1">
                          <a:solidFill>
                            <a:srgbClr val="17150F"/>
                          </a:solidFill>
                          <a:latin typeface="Arial"/>
                        </a:rPr>
                        <a:t>Bosque cuantílico</a:t>
                      </a:r>
                    </a:p>
                  </a:txBody>
                  <a:tcPr marL="82296" marR="82296" anchor="ctr">
                    <a:solidFill>
                      <a:srgbClr val="F7EEEF"/>
                    </a:solidFill>
                  </a:tcPr>
                </a:tc>
                <a:tc>
                  <a:txBody>
                    <a:bodyPr/>
                    <a:lstStyle/>
                    <a:p>
                      <a:pPr algn="r"/>
                      <a:r>
                        <a:rPr sz="1250" b="1">
                          <a:solidFill>
                            <a:srgbClr val="17150F"/>
                          </a:solidFill>
                          <a:latin typeface="Arial"/>
                        </a:rPr>
                        <a:t>5,490</a:t>
                      </a:r>
                    </a:p>
                  </a:txBody>
                  <a:tcPr marL="82296" marR="82296" anchor="ctr">
                    <a:solidFill>
                      <a:srgbClr val="F7EEEF"/>
                    </a:solidFill>
                  </a:tcPr>
                </a:tc>
                <a:tc>
                  <a:txBody>
                    <a:bodyPr/>
                    <a:lstStyle/>
                    <a:p>
                      <a:pPr algn="r"/>
                      <a:r>
                        <a:rPr sz="1250" b="1">
                          <a:solidFill>
                            <a:srgbClr val="17150F"/>
                          </a:solidFill>
                          <a:latin typeface="Arial"/>
                        </a:rPr>
                        <a:t>5,103</a:t>
                      </a:r>
                    </a:p>
                  </a:txBody>
                  <a:tcPr marL="82296" marR="82296" anchor="ctr">
                    <a:solidFill>
                      <a:srgbClr val="F7EEEF"/>
                    </a:solidFill>
                  </a:tcPr>
                </a:tc>
                <a:tc>
                  <a:txBody>
                    <a:bodyPr/>
                    <a:lstStyle/>
                    <a:p>
                      <a:pPr algn="r"/>
                      <a:r>
                        <a:rPr sz="1250" b="1">
                          <a:solidFill>
                            <a:srgbClr val="17150F"/>
                          </a:solidFill>
                          <a:latin typeface="Arial"/>
                        </a:rPr>
                        <a:t>2,341</a:t>
                      </a:r>
                    </a:p>
                  </a:txBody>
                  <a:tcPr marL="82296" marR="82296" anchor="ctr">
                    <a:solidFill>
                      <a:srgbClr val="F7EEEF"/>
                    </a:solidFill>
                  </a:tcPr>
                </a:tc>
                <a:tc>
                  <a:txBody>
                    <a:bodyPr/>
                    <a:lstStyle/>
                    <a:p>
                      <a:pPr algn="r"/>
                      <a:r>
                        <a:rPr sz="1250" b="1">
                          <a:solidFill>
                            <a:srgbClr val="17150F"/>
                          </a:solidFill>
                          <a:latin typeface="Arial"/>
                        </a:rPr>
                        <a:t>4,311</a:t>
                      </a:r>
                    </a:p>
                  </a:txBody>
                  <a:tcPr marL="82296" marR="82296" anchor="ctr">
                    <a:solidFill>
                      <a:srgbClr val="F7EEEF"/>
                    </a:solidFill>
                  </a:tcPr>
                </a:tc>
                <a:tc>
                  <a:txBody>
                    <a:bodyPr/>
                    <a:lstStyle/>
                    <a:p>
                      <a:pPr algn="r"/>
                      <a:r>
                        <a:rPr sz="1250" b="1">
                          <a:solidFill>
                            <a:srgbClr val="17150F"/>
                          </a:solidFill>
                          <a:latin typeface="Arial"/>
                        </a:rPr>
                        <a:t>11,77 %</a:t>
                      </a:r>
                    </a:p>
                  </a:txBody>
                  <a:tcPr marL="82296" marR="82296" anchor="ctr">
                    <a:solidFill>
                      <a:srgbClr val="F7EEEF"/>
                    </a:solidFill>
                  </a:tcPr>
                </a:tc>
                <a:tc>
                  <a:txBody>
                    <a:bodyPr/>
                    <a:lstStyle/>
                    <a:p>
                      <a:pPr algn="r"/>
                      <a:r>
                        <a:rPr sz="1250" b="1">
                          <a:solidFill>
                            <a:srgbClr val="17150F"/>
                          </a:solidFill>
                          <a:latin typeface="Arial"/>
                        </a:rPr>
                        <a:t>10,98</a:t>
                      </a:r>
                    </a:p>
                  </a:txBody>
                  <a:tcPr marL="82296" marR="82296" anchor="ctr">
                    <a:solidFill>
                      <a:srgbClr val="F7EEEF"/>
                    </a:solidFill>
                  </a:tcPr>
                </a:tc>
                <a:tc>
                  <a:txBody>
                    <a:bodyPr/>
                    <a:lstStyle/>
                    <a:p>
                      <a:pPr algn="r"/>
                      <a:r>
                        <a:rPr sz="1250" b="1">
                          <a:solidFill>
                            <a:srgbClr val="17150F"/>
                          </a:solidFill>
                          <a:latin typeface="Arial"/>
                        </a:rPr>
                        <a:t>−0,09</a:t>
                      </a:r>
                    </a:p>
                  </a:txBody>
                  <a:tcPr marL="82296" marR="82296" anchor="ctr">
                    <a:solidFill>
                      <a:srgbClr val="F7EEEF"/>
                    </a:solidFill>
                  </a:tcPr>
                </a:tc>
                <a:extLst>
                  <a:ext uri="{0D108BD9-81ED-4DB2-BD59-A6C34878D82A}">
                    <a16:rowId xmlns:a16="http://schemas.microsoft.com/office/drawing/2014/main" val="10001"/>
                  </a:ext>
                </a:extLst>
              </a:tr>
              <a:tr h="310896">
                <a:tc>
                  <a:txBody>
                    <a:bodyPr/>
                    <a:lstStyle/>
                    <a:p>
                      <a:pPr algn="l"/>
                      <a:r>
                        <a:rPr sz="1250" b="0">
                          <a:solidFill>
                            <a:srgbClr val="17150F"/>
                          </a:solidFill>
                          <a:latin typeface="Arial"/>
                        </a:rPr>
                        <a:t>GBR + residuales</a:t>
                      </a:r>
                    </a:p>
                  </a:txBody>
                  <a:tcPr marL="82296" marR="82296" anchor="ctr">
                    <a:solidFill>
                      <a:srgbClr val="FFFFFF"/>
                    </a:solidFill>
                  </a:tcPr>
                </a:tc>
                <a:tc>
                  <a:txBody>
                    <a:bodyPr/>
                    <a:lstStyle/>
                    <a:p>
                      <a:pPr algn="r"/>
                      <a:r>
                        <a:rPr sz="1250" b="0">
                          <a:solidFill>
                            <a:srgbClr val="555045"/>
                          </a:solidFill>
                          <a:latin typeface="Arial"/>
                        </a:rPr>
                        <a:t>5,514</a:t>
                      </a:r>
                    </a:p>
                  </a:txBody>
                  <a:tcPr marL="82296" marR="82296" anchor="ctr">
                    <a:solidFill>
                      <a:srgbClr val="FFFFFF"/>
                    </a:solidFill>
                  </a:tcPr>
                </a:tc>
                <a:tc>
                  <a:txBody>
                    <a:bodyPr/>
                    <a:lstStyle/>
                    <a:p>
                      <a:pPr algn="r"/>
                      <a:r>
                        <a:rPr sz="1250" b="0">
                          <a:solidFill>
                            <a:srgbClr val="555045"/>
                          </a:solidFill>
                          <a:latin typeface="Arial"/>
                        </a:rPr>
                        <a:t>5,117</a:t>
                      </a:r>
                    </a:p>
                  </a:txBody>
                  <a:tcPr marL="82296" marR="82296" anchor="ctr">
                    <a:solidFill>
                      <a:srgbClr val="FFFFFF"/>
                    </a:solidFill>
                  </a:tcPr>
                </a:tc>
                <a:tc>
                  <a:txBody>
                    <a:bodyPr/>
                    <a:lstStyle/>
                    <a:p>
                      <a:pPr algn="r"/>
                      <a:r>
                        <a:rPr sz="1250" b="0">
                          <a:solidFill>
                            <a:srgbClr val="555045"/>
                          </a:solidFill>
                          <a:latin typeface="Arial"/>
                        </a:rPr>
                        <a:t>2,328</a:t>
                      </a:r>
                    </a:p>
                  </a:txBody>
                  <a:tcPr marL="82296" marR="82296" anchor="ctr">
                    <a:solidFill>
                      <a:srgbClr val="FFFFFF"/>
                    </a:solidFill>
                  </a:tcPr>
                </a:tc>
                <a:tc>
                  <a:txBody>
                    <a:bodyPr/>
                    <a:lstStyle/>
                    <a:p>
                      <a:pPr algn="r"/>
                      <a:r>
                        <a:rPr sz="1250" b="0">
                          <a:solidFill>
                            <a:srgbClr val="555045"/>
                          </a:solidFill>
                          <a:latin typeface="Arial"/>
                        </a:rPr>
                        <a:t>4,320</a:t>
                      </a:r>
                    </a:p>
                  </a:txBody>
                  <a:tcPr marL="82296" marR="82296" anchor="ctr">
                    <a:solidFill>
                      <a:srgbClr val="FFFFFF"/>
                    </a:solidFill>
                  </a:tcPr>
                </a:tc>
                <a:tc>
                  <a:txBody>
                    <a:bodyPr/>
                    <a:lstStyle/>
                    <a:p>
                      <a:pPr algn="r"/>
                      <a:r>
                        <a:rPr sz="1250" b="0">
                          <a:solidFill>
                            <a:srgbClr val="555045"/>
                          </a:solidFill>
                          <a:latin typeface="Arial"/>
                        </a:rPr>
                        <a:t>11,82 %</a:t>
                      </a:r>
                    </a:p>
                  </a:txBody>
                  <a:tcPr marL="82296" marR="82296" anchor="ctr">
                    <a:solidFill>
                      <a:srgbClr val="FFFFFF"/>
                    </a:solidFill>
                  </a:tcPr>
                </a:tc>
                <a:tc>
                  <a:txBody>
                    <a:bodyPr/>
                    <a:lstStyle/>
                    <a:p>
                      <a:pPr algn="r"/>
                      <a:r>
                        <a:rPr sz="1250" b="0">
                          <a:solidFill>
                            <a:srgbClr val="555045"/>
                          </a:solidFill>
                          <a:latin typeface="Arial"/>
                        </a:rPr>
                        <a:t>11,03</a:t>
                      </a:r>
                    </a:p>
                  </a:txBody>
                  <a:tcPr marL="82296" marR="82296" anchor="ctr">
                    <a:solidFill>
                      <a:srgbClr val="FFFFFF"/>
                    </a:solidFill>
                  </a:tcPr>
                </a:tc>
                <a:tc>
                  <a:txBody>
                    <a:bodyPr/>
                    <a:lstStyle/>
                    <a:p>
                      <a:pPr algn="r"/>
                      <a:r>
                        <a:rPr sz="1250" b="0">
                          <a:solidFill>
                            <a:srgbClr val="555045"/>
                          </a:solidFill>
                          <a:latin typeface="Arial"/>
                        </a:rPr>
                        <a:t>−0,13</a:t>
                      </a:r>
                    </a:p>
                  </a:txBody>
                  <a:tcPr marL="82296" marR="82296" anchor="ctr">
                    <a:solidFill>
                      <a:srgbClr val="FFFFFF"/>
                    </a:solidFill>
                  </a:tcPr>
                </a:tc>
                <a:extLst>
                  <a:ext uri="{0D108BD9-81ED-4DB2-BD59-A6C34878D82A}">
                    <a16:rowId xmlns:a16="http://schemas.microsoft.com/office/drawing/2014/main" val="10002"/>
                  </a:ext>
                </a:extLst>
              </a:tr>
              <a:tr h="310896">
                <a:tc>
                  <a:txBody>
                    <a:bodyPr/>
                    <a:lstStyle/>
                    <a:p>
                      <a:pPr algn="l"/>
                      <a:r>
                        <a:rPr sz="1250" b="0">
                          <a:solidFill>
                            <a:srgbClr val="17150F"/>
                          </a:solidFill>
                          <a:latin typeface="Arial"/>
                        </a:rPr>
                        <a:t>Boosting cuantílico</a:t>
                      </a:r>
                    </a:p>
                  </a:txBody>
                  <a:tcPr marL="82296" marR="82296" anchor="ctr">
                    <a:solidFill>
                      <a:srgbClr val="FFFFFF"/>
                    </a:solidFill>
                  </a:tcPr>
                </a:tc>
                <a:tc>
                  <a:txBody>
                    <a:bodyPr/>
                    <a:lstStyle/>
                    <a:p>
                      <a:pPr algn="r"/>
                      <a:r>
                        <a:rPr sz="1250" b="0">
                          <a:solidFill>
                            <a:srgbClr val="555045"/>
                          </a:solidFill>
                          <a:latin typeface="Arial"/>
                        </a:rPr>
                        <a:t>5,467</a:t>
                      </a:r>
                    </a:p>
                  </a:txBody>
                  <a:tcPr marL="82296" marR="82296" anchor="ctr">
                    <a:solidFill>
                      <a:srgbClr val="FFFFFF"/>
                    </a:solidFill>
                  </a:tcPr>
                </a:tc>
                <a:tc>
                  <a:txBody>
                    <a:bodyPr/>
                    <a:lstStyle/>
                    <a:p>
                      <a:pPr algn="r"/>
                      <a:r>
                        <a:rPr sz="1250" b="0">
                          <a:solidFill>
                            <a:srgbClr val="555045"/>
                          </a:solidFill>
                          <a:latin typeface="Arial"/>
                        </a:rPr>
                        <a:t>5,136</a:t>
                      </a:r>
                    </a:p>
                  </a:txBody>
                  <a:tcPr marL="82296" marR="82296" anchor="ctr">
                    <a:solidFill>
                      <a:srgbClr val="FFFFFF"/>
                    </a:solidFill>
                  </a:tcPr>
                </a:tc>
                <a:tc>
                  <a:txBody>
                    <a:bodyPr/>
                    <a:lstStyle/>
                    <a:p>
                      <a:pPr algn="r"/>
                      <a:r>
                        <a:rPr sz="1250" b="0">
                          <a:solidFill>
                            <a:srgbClr val="555045"/>
                          </a:solidFill>
                          <a:latin typeface="Arial"/>
                        </a:rPr>
                        <a:t>2,391</a:t>
                      </a:r>
                    </a:p>
                  </a:txBody>
                  <a:tcPr marL="82296" marR="82296" anchor="ctr">
                    <a:solidFill>
                      <a:srgbClr val="FFFFFF"/>
                    </a:solidFill>
                  </a:tcPr>
                </a:tc>
                <a:tc>
                  <a:txBody>
                    <a:bodyPr/>
                    <a:lstStyle/>
                    <a:p>
                      <a:pPr algn="r"/>
                      <a:r>
                        <a:rPr sz="1250" b="0">
                          <a:solidFill>
                            <a:srgbClr val="555045"/>
                          </a:solidFill>
                          <a:latin typeface="Arial"/>
                        </a:rPr>
                        <a:t>4,331</a:t>
                      </a:r>
                    </a:p>
                  </a:txBody>
                  <a:tcPr marL="82296" marR="82296" anchor="ctr">
                    <a:solidFill>
                      <a:srgbClr val="FFFFFF"/>
                    </a:solidFill>
                  </a:tcPr>
                </a:tc>
                <a:tc>
                  <a:txBody>
                    <a:bodyPr/>
                    <a:lstStyle/>
                    <a:p>
                      <a:pPr algn="r"/>
                      <a:r>
                        <a:rPr sz="1250" b="0">
                          <a:solidFill>
                            <a:srgbClr val="555045"/>
                          </a:solidFill>
                          <a:latin typeface="Arial"/>
                        </a:rPr>
                        <a:t>11,72 %</a:t>
                      </a:r>
                    </a:p>
                  </a:txBody>
                  <a:tcPr marL="82296" marR="82296" anchor="ctr">
                    <a:solidFill>
                      <a:srgbClr val="FFFFFF"/>
                    </a:solidFill>
                  </a:tcPr>
                </a:tc>
                <a:tc>
                  <a:txBody>
                    <a:bodyPr/>
                    <a:lstStyle/>
                    <a:p>
                      <a:pPr algn="r"/>
                      <a:r>
                        <a:rPr sz="1250" b="0">
                          <a:solidFill>
                            <a:srgbClr val="555045"/>
                          </a:solidFill>
                          <a:latin typeface="Arial"/>
                        </a:rPr>
                        <a:t>10,93</a:t>
                      </a:r>
                    </a:p>
                  </a:txBody>
                  <a:tcPr marL="82296" marR="82296" anchor="ctr">
                    <a:solidFill>
                      <a:srgbClr val="FFFFFF"/>
                    </a:solidFill>
                  </a:tcPr>
                </a:tc>
                <a:tc>
                  <a:txBody>
                    <a:bodyPr/>
                    <a:lstStyle/>
                    <a:p>
                      <a:pPr algn="r"/>
                      <a:r>
                        <a:rPr sz="1250" b="0">
                          <a:solidFill>
                            <a:srgbClr val="555045"/>
                          </a:solidFill>
                          <a:latin typeface="Arial"/>
                        </a:rPr>
                        <a:t>0,00</a:t>
                      </a:r>
                    </a:p>
                  </a:txBody>
                  <a:tcPr marL="82296" marR="82296" anchor="ctr">
                    <a:solidFill>
                      <a:srgbClr val="FFFFFF"/>
                    </a:solidFill>
                  </a:tcPr>
                </a:tc>
                <a:extLst>
                  <a:ext uri="{0D108BD9-81ED-4DB2-BD59-A6C34878D82A}">
                    <a16:rowId xmlns:a16="http://schemas.microsoft.com/office/drawing/2014/main" val="10003"/>
                  </a:ext>
                </a:extLst>
              </a:tr>
              <a:tr h="310896">
                <a:tc>
                  <a:txBody>
                    <a:bodyPr/>
                    <a:lstStyle/>
                    <a:p>
                      <a:pPr algn="l"/>
                      <a:r>
                        <a:rPr sz="1250" b="0">
                          <a:solidFill>
                            <a:srgbClr val="17150F"/>
                          </a:solidFill>
                          <a:latin typeface="Arial"/>
                        </a:rPr>
                        <a:t>Ridge + residuales</a:t>
                      </a:r>
                    </a:p>
                  </a:txBody>
                  <a:tcPr marL="82296" marR="82296" anchor="ctr">
                    <a:solidFill>
                      <a:srgbClr val="FFFFFF"/>
                    </a:solidFill>
                  </a:tcPr>
                </a:tc>
                <a:tc>
                  <a:txBody>
                    <a:bodyPr/>
                    <a:lstStyle/>
                    <a:p>
                      <a:pPr algn="r"/>
                      <a:r>
                        <a:rPr sz="1250" b="0">
                          <a:solidFill>
                            <a:srgbClr val="555045"/>
                          </a:solidFill>
                          <a:latin typeface="Arial"/>
                        </a:rPr>
                        <a:t>5,508</a:t>
                      </a:r>
                    </a:p>
                  </a:txBody>
                  <a:tcPr marL="82296" marR="82296" anchor="ctr">
                    <a:solidFill>
                      <a:srgbClr val="FFFFFF"/>
                    </a:solidFill>
                  </a:tcPr>
                </a:tc>
                <a:tc>
                  <a:txBody>
                    <a:bodyPr/>
                    <a:lstStyle/>
                    <a:p>
                      <a:pPr algn="r"/>
                      <a:r>
                        <a:rPr sz="1250" b="0">
                          <a:solidFill>
                            <a:srgbClr val="555045"/>
                          </a:solidFill>
                          <a:latin typeface="Arial"/>
                        </a:rPr>
                        <a:t>5,172</a:t>
                      </a:r>
                    </a:p>
                  </a:txBody>
                  <a:tcPr marL="82296" marR="82296" anchor="ctr">
                    <a:solidFill>
                      <a:srgbClr val="FFFFFF"/>
                    </a:solidFill>
                  </a:tcPr>
                </a:tc>
                <a:tc>
                  <a:txBody>
                    <a:bodyPr/>
                    <a:lstStyle/>
                    <a:p>
                      <a:pPr algn="r"/>
                      <a:r>
                        <a:rPr sz="1250" b="0">
                          <a:solidFill>
                            <a:srgbClr val="555045"/>
                          </a:solidFill>
                          <a:latin typeface="Arial"/>
                        </a:rPr>
                        <a:t>2,335</a:t>
                      </a:r>
                    </a:p>
                  </a:txBody>
                  <a:tcPr marL="82296" marR="82296" anchor="ctr">
                    <a:solidFill>
                      <a:srgbClr val="FFFFFF"/>
                    </a:solidFill>
                  </a:tcPr>
                </a:tc>
                <a:tc>
                  <a:txBody>
                    <a:bodyPr/>
                    <a:lstStyle/>
                    <a:p>
                      <a:pPr algn="r"/>
                      <a:r>
                        <a:rPr sz="1250" b="0">
                          <a:solidFill>
                            <a:srgbClr val="555045"/>
                          </a:solidFill>
                          <a:latin typeface="Arial"/>
                        </a:rPr>
                        <a:t>4,338</a:t>
                      </a:r>
                    </a:p>
                  </a:txBody>
                  <a:tcPr marL="82296" marR="82296" anchor="ctr">
                    <a:solidFill>
                      <a:srgbClr val="FFFFFF"/>
                    </a:solidFill>
                  </a:tcPr>
                </a:tc>
                <a:tc>
                  <a:txBody>
                    <a:bodyPr/>
                    <a:lstStyle/>
                    <a:p>
                      <a:pPr algn="r"/>
                      <a:r>
                        <a:rPr sz="1250" b="0">
                          <a:solidFill>
                            <a:srgbClr val="555045"/>
                          </a:solidFill>
                          <a:latin typeface="Arial"/>
                        </a:rPr>
                        <a:t>11,81 %</a:t>
                      </a:r>
                    </a:p>
                  </a:txBody>
                  <a:tcPr marL="82296" marR="82296" anchor="ctr">
                    <a:solidFill>
                      <a:srgbClr val="FFFFFF"/>
                    </a:solidFill>
                  </a:tcPr>
                </a:tc>
                <a:tc>
                  <a:txBody>
                    <a:bodyPr/>
                    <a:lstStyle/>
                    <a:p>
                      <a:pPr algn="r"/>
                      <a:r>
                        <a:rPr sz="1250" b="0">
                          <a:solidFill>
                            <a:srgbClr val="555045"/>
                          </a:solidFill>
                          <a:latin typeface="Arial"/>
                        </a:rPr>
                        <a:t>11,02</a:t>
                      </a:r>
                    </a:p>
                  </a:txBody>
                  <a:tcPr marL="82296" marR="82296" anchor="ctr">
                    <a:solidFill>
                      <a:srgbClr val="FFFFFF"/>
                    </a:solidFill>
                  </a:tcPr>
                </a:tc>
                <a:tc>
                  <a:txBody>
                    <a:bodyPr/>
                    <a:lstStyle/>
                    <a:p>
                      <a:pPr algn="r"/>
                      <a:r>
                        <a:rPr sz="1250" b="0">
                          <a:solidFill>
                            <a:srgbClr val="555045"/>
                          </a:solidFill>
                          <a:latin typeface="Arial"/>
                        </a:rPr>
                        <a:t>+0,24</a:t>
                      </a:r>
                    </a:p>
                  </a:txBody>
                  <a:tcPr marL="82296" marR="82296" anchor="ctr">
                    <a:solidFill>
                      <a:srgbClr val="FFFFFF"/>
                    </a:solidFill>
                  </a:tcPr>
                </a:tc>
                <a:extLst>
                  <a:ext uri="{0D108BD9-81ED-4DB2-BD59-A6C34878D82A}">
                    <a16:rowId xmlns:a16="http://schemas.microsoft.com/office/drawing/2014/main" val="10004"/>
                  </a:ext>
                </a:extLst>
              </a:tr>
              <a:tr h="310896">
                <a:tc>
                  <a:txBody>
                    <a:bodyPr/>
                    <a:lstStyle/>
                    <a:p>
                      <a:pPr algn="l"/>
                      <a:r>
                        <a:rPr sz="1250" b="0">
                          <a:solidFill>
                            <a:srgbClr val="17150F"/>
                          </a:solidFill>
                          <a:latin typeface="Arial"/>
                        </a:rPr>
                        <a:t>Regresión cuantílica</a:t>
                      </a:r>
                    </a:p>
                  </a:txBody>
                  <a:tcPr marL="82296" marR="82296" anchor="ctr">
                    <a:solidFill>
                      <a:srgbClr val="FFFFFF"/>
                    </a:solidFill>
                  </a:tcPr>
                </a:tc>
                <a:tc>
                  <a:txBody>
                    <a:bodyPr/>
                    <a:lstStyle/>
                    <a:p>
                      <a:pPr algn="r"/>
                      <a:r>
                        <a:rPr sz="1250" b="0">
                          <a:solidFill>
                            <a:srgbClr val="555045"/>
                          </a:solidFill>
                          <a:latin typeface="Arial"/>
                        </a:rPr>
                        <a:t>5,484</a:t>
                      </a:r>
                    </a:p>
                  </a:txBody>
                  <a:tcPr marL="82296" marR="82296" anchor="ctr">
                    <a:solidFill>
                      <a:srgbClr val="FFFFFF"/>
                    </a:solidFill>
                  </a:tcPr>
                </a:tc>
                <a:tc>
                  <a:txBody>
                    <a:bodyPr/>
                    <a:lstStyle/>
                    <a:p>
                      <a:pPr algn="r"/>
                      <a:r>
                        <a:rPr sz="1250" b="0">
                          <a:solidFill>
                            <a:srgbClr val="555045"/>
                          </a:solidFill>
                          <a:latin typeface="Arial"/>
                        </a:rPr>
                        <a:t>5,166</a:t>
                      </a:r>
                    </a:p>
                  </a:txBody>
                  <a:tcPr marL="82296" marR="82296" anchor="ctr">
                    <a:solidFill>
                      <a:srgbClr val="FFFFFF"/>
                    </a:solidFill>
                  </a:tcPr>
                </a:tc>
                <a:tc>
                  <a:txBody>
                    <a:bodyPr/>
                    <a:lstStyle/>
                    <a:p>
                      <a:pPr algn="r"/>
                      <a:r>
                        <a:rPr sz="1250" b="0">
                          <a:solidFill>
                            <a:srgbClr val="555045"/>
                          </a:solidFill>
                          <a:latin typeface="Arial"/>
                        </a:rPr>
                        <a:t>2,378</a:t>
                      </a:r>
                    </a:p>
                  </a:txBody>
                  <a:tcPr marL="82296" marR="82296" anchor="ctr">
                    <a:solidFill>
                      <a:srgbClr val="FFFFFF"/>
                    </a:solidFill>
                  </a:tcPr>
                </a:tc>
                <a:tc>
                  <a:txBody>
                    <a:bodyPr/>
                    <a:lstStyle/>
                    <a:p>
                      <a:pPr algn="r"/>
                      <a:r>
                        <a:rPr sz="1250" b="0">
                          <a:solidFill>
                            <a:srgbClr val="555045"/>
                          </a:solidFill>
                          <a:latin typeface="Arial"/>
                        </a:rPr>
                        <a:t>4,343</a:t>
                      </a:r>
                    </a:p>
                  </a:txBody>
                  <a:tcPr marL="82296" marR="82296" anchor="ctr">
                    <a:solidFill>
                      <a:srgbClr val="FFFFFF"/>
                    </a:solidFill>
                  </a:tcPr>
                </a:tc>
                <a:tc>
                  <a:txBody>
                    <a:bodyPr/>
                    <a:lstStyle/>
                    <a:p>
                      <a:pPr algn="r"/>
                      <a:r>
                        <a:rPr sz="1250" b="0">
                          <a:solidFill>
                            <a:srgbClr val="555045"/>
                          </a:solidFill>
                          <a:latin typeface="Arial"/>
                        </a:rPr>
                        <a:t>11,76 %</a:t>
                      </a:r>
                    </a:p>
                  </a:txBody>
                  <a:tcPr marL="82296" marR="82296" anchor="ctr">
                    <a:solidFill>
                      <a:srgbClr val="FFFFFF"/>
                    </a:solidFill>
                  </a:tcPr>
                </a:tc>
                <a:tc>
                  <a:txBody>
                    <a:bodyPr/>
                    <a:lstStyle/>
                    <a:p>
                      <a:pPr algn="r"/>
                      <a:r>
                        <a:rPr sz="1250" b="0">
                          <a:solidFill>
                            <a:srgbClr val="555045"/>
                          </a:solidFill>
                          <a:latin typeface="Arial"/>
                        </a:rPr>
                        <a:t>10,97</a:t>
                      </a:r>
                    </a:p>
                  </a:txBody>
                  <a:tcPr marL="82296" marR="82296" anchor="ctr">
                    <a:solidFill>
                      <a:srgbClr val="FFFFFF"/>
                    </a:solidFill>
                  </a:tcPr>
                </a:tc>
                <a:tc>
                  <a:txBody>
                    <a:bodyPr/>
                    <a:lstStyle/>
                    <a:p>
                      <a:pPr algn="r"/>
                      <a:r>
                        <a:rPr sz="1250" b="0">
                          <a:solidFill>
                            <a:srgbClr val="555045"/>
                          </a:solidFill>
                          <a:latin typeface="Arial"/>
                        </a:rPr>
                        <a:t>+0,11</a:t>
                      </a:r>
                    </a:p>
                  </a:txBody>
                  <a:tcPr marL="82296" marR="82296" anchor="ctr">
                    <a:solidFill>
                      <a:srgbClr val="FFFFFF"/>
                    </a:solidFill>
                  </a:tcPr>
                </a:tc>
                <a:extLst>
                  <a:ext uri="{0D108BD9-81ED-4DB2-BD59-A6C34878D82A}">
                    <a16:rowId xmlns:a16="http://schemas.microsoft.com/office/drawing/2014/main" val="10005"/>
                  </a:ext>
                </a:extLst>
              </a:tr>
              <a:tr h="310896">
                <a:tc>
                  <a:txBody>
                    <a:bodyPr/>
                    <a:lstStyle/>
                    <a:p>
                      <a:pPr algn="l"/>
                      <a:r>
                        <a:rPr sz="1250" b="0">
                          <a:solidFill>
                            <a:srgbClr val="17150F"/>
                          </a:solidFill>
                          <a:latin typeface="Arial"/>
                        </a:rPr>
                        <a:t>Ensemble + residuales</a:t>
                      </a:r>
                    </a:p>
                  </a:txBody>
                  <a:tcPr marL="82296" marR="82296" anchor="ctr">
                    <a:solidFill>
                      <a:srgbClr val="FFFFFF"/>
                    </a:solidFill>
                  </a:tcPr>
                </a:tc>
                <a:tc>
                  <a:txBody>
                    <a:bodyPr/>
                    <a:lstStyle/>
                    <a:p>
                      <a:pPr algn="r"/>
                      <a:r>
                        <a:rPr sz="1250" b="0">
                          <a:solidFill>
                            <a:srgbClr val="555045"/>
                          </a:solidFill>
                          <a:latin typeface="Arial"/>
                        </a:rPr>
                        <a:t>5,574</a:t>
                      </a:r>
                    </a:p>
                  </a:txBody>
                  <a:tcPr marL="82296" marR="82296" anchor="ctr">
                    <a:solidFill>
                      <a:srgbClr val="FFFFFF"/>
                    </a:solidFill>
                  </a:tcPr>
                </a:tc>
                <a:tc>
                  <a:txBody>
                    <a:bodyPr/>
                    <a:lstStyle/>
                    <a:p>
                      <a:pPr algn="r"/>
                      <a:r>
                        <a:rPr sz="1250" b="0">
                          <a:solidFill>
                            <a:srgbClr val="555045"/>
                          </a:solidFill>
                          <a:latin typeface="Arial"/>
                        </a:rPr>
                        <a:t>5,177</a:t>
                      </a:r>
                    </a:p>
                  </a:txBody>
                  <a:tcPr marL="82296" marR="82296" anchor="ctr">
                    <a:solidFill>
                      <a:srgbClr val="FFFFFF"/>
                    </a:solidFill>
                  </a:tcPr>
                </a:tc>
                <a:tc>
                  <a:txBody>
                    <a:bodyPr/>
                    <a:lstStyle/>
                    <a:p>
                      <a:pPr algn="r"/>
                      <a:r>
                        <a:rPr sz="1250" b="0">
                          <a:solidFill>
                            <a:srgbClr val="555045"/>
                          </a:solidFill>
                          <a:latin typeface="Arial"/>
                        </a:rPr>
                        <a:t>2,407</a:t>
                      </a:r>
                    </a:p>
                  </a:txBody>
                  <a:tcPr marL="82296" marR="82296" anchor="ctr">
                    <a:solidFill>
                      <a:srgbClr val="FFFFFF"/>
                    </a:solidFill>
                  </a:tcPr>
                </a:tc>
                <a:tc>
                  <a:txBody>
                    <a:bodyPr/>
                    <a:lstStyle/>
                    <a:p>
                      <a:pPr algn="r"/>
                      <a:r>
                        <a:rPr sz="1250" b="0">
                          <a:solidFill>
                            <a:srgbClr val="555045"/>
                          </a:solidFill>
                          <a:latin typeface="Arial"/>
                        </a:rPr>
                        <a:t>4,386</a:t>
                      </a:r>
                    </a:p>
                  </a:txBody>
                  <a:tcPr marL="82296" marR="82296" anchor="ctr">
                    <a:solidFill>
                      <a:srgbClr val="FFFFFF"/>
                    </a:solidFill>
                  </a:tcPr>
                </a:tc>
                <a:tc>
                  <a:txBody>
                    <a:bodyPr/>
                    <a:lstStyle/>
                    <a:p>
                      <a:pPr algn="r"/>
                      <a:r>
                        <a:rPr sz="1250" b="0">
                          <a:solidFill>
                            <a:srgbClr val="555045"/>
                          </a:solidFill>
                          <a:latin typeface="Arial"/>
                        </a:rPr>
                        <a:t>11,95 %</a:t>
                      </a:r>
                    </a:p>
                  </a:txBody>
                  <a:tcPr marL="82296" marR="82296" anchor="ctr">
                    <a:solidFill>
                      <a:srgbClr val="FFFFFF"/>
                    </a:solidFill>
                  </a:tcPr>
                </a:tc>
                <a:tc>
                  <a:txBody>
                    <a:bodyPr/>
                    <a:lstStyle/>
                    <a:p>
                      <a:pPr algn="r"/>
                      <a:r>
                        <a:rPr sz="1250" b="0">
                          <a:solidFill>
                            <a:srgbClr val="555045"/>
                          </a:solidFill>
                          <a:latin typeface="Arial"/>
                        </a:rPr>
                        <a:t>11,15</a:t>
                      </a:r>
                    </a:p>
                  </a:txBody>
                  <a:tcPr marL="82296" marR="82296" anchor="ctr">
                    <a:solidFill>
                      <a:srgbClr val="FFFFFF"/>
                    </a:solidFill>
                  </a:tcPr>
                </a:tc>
                <a:tc>
                  <a:txBody>
                    <a:bodyPr/>
                    <a:lstStyle/>
                    <a:p>
                      <a:pPr algn="r"/>
                      <a:r>
                        <a:rPr sz="1250" b="0">
                          <a:solidFill>
                            <a:srgbClr val="555045"/>
                          </a:solidFill>
                          <a:latin typeface="Arial"/>
                        </a:rPr>
                        <a:t>+0,08</a:t>
                      </a:r>
                    </a:p>
                  </a:txBody>
                  <a:tcPr marL="82296" marR="82296" anchor="ctr">
                    <a:solidFill>
                      <a:srgbClr val="FFFFFF"/>
                    </a:solidFill>
                  </a:tcPr>
                </a:tc>
                <a:extLst>
                  <a:ext uri="{0D108BD9-81ED-4DB2-BD59-A6C34878D82A}">
                    <a16:rowId xmlns:a16="http://schemas.microsoft.com/office/drawing/2014/main" val="10006"/>
                  </a:ext>
                </a:extLst>
              </a:tr>
              <a:tr h="310896">
                <a:tc>
                  <a:txBody>
                    <a:bodyPr/>
                    <a:lstStyle/>
                    <a:p>
                      <a:pPr algn="l"/>
                      <a:r>
                        <a:rPr sz="1250" b="0">
                          <a:solidFill>
                            <a:srgbClr val="17150F"/>
                          </a:solidFill>
                          <a:latin typeface="Arial"/>
                        </a:rPr>
                        <a:t>Media móvil + residuales</a:t>
                      </a:r>
                    </a:p>
                  </a:txBody>
                  <a:tcPr marL="82296" marR="82296" anchor="ctr">
                    <a:solidFill>
                      <a:srgbClr val="FFFFFF"/>
                    </a:solidFill>
                  </a:tcPr>
                </a:tc>
                <a:tc>
                  <a:txBody>
                    <a:bodyPr/>
                    <a:lstStyle/>
                    <a:p>
                      <a:pPr algn="r"/>
                      <a:r>
                        <a:rPr sz="1250" b="0">
                          <a:solidFill>
                            <a:srgbClr val="555045"/>
                          </a:solidFill>
                          <a:latin typeface="Arial"/>
                        </a:rPr>
                        <a:t>5,563</a:t>
                      </a:r>
                    </a:p>
                  </a:txBody>
                  <a:tcPr marL="82296" marR="82296" anchor="ctr">
                    <a:solidFill>
                      <a:srgbClr val="FFFFFF"/>
                    </a:solidFill>
                  </a:tcPr>
                </a:tc>
                <a:tc>
                  <a:txBody>
                    <a:bodyPr/>
                    <a:lstStyle/>
                    <a:p>
                      <a:pPr algn="r"/>
                      <a:r>
                        <a:rPr sz="1250" b="0">
                          <a:solidFill>
                            <a:srgbClr val="555045"/>
                          </a:solidFill>
                          <a:latin typeface="Arial"/>
                        </a:rPr>
                        <a:t>5,319</a:t>
                      </a:r>
                    </a:p>
                  </a:txBody>
                  <a:tcPr marL="82296" marR="82296" anchor="ctr">
                    <a:solidFill>
                      <a:srgbClr val="FFFFFF"/>
                    </a:solidFill>
                  </a:tcPr>
                </a:tc>
                <a:tc>
                  <a:txBody>
                    <a:bodyPr/>
                    <a:lstStyle/>
                    <a:p>
                      <a:pPr algn="r"/>
                      <a:r>
                        <a:rPr sz="1250" b="0">
                          <a:solidFill>
                            <a:srgbClr val="555045"/>
                          </a:solidFill>
                          <a:latin typeface="Arial"/>
                        </a:rPr>
                        <a:t>2,741</a:t>
                      </a:r>
                    </a:p>
                  </a:txBody>
                  <a:tcPr marL="82296" marR="82296" anchor="ctr">
                    <a:solidFill>
                      <a:srgbClr val="FFFFFF"/>
                    </a:solidFill>
                  </a:tcPr>
                </a:tc>
                <a:tc>
                  <a:txBody>
                    <a:bodyPr/>
                    <a:lstStyle/>
                    <a:p>
                      <a:pPr algn="r"/>
                      <a:r>
                        <a:rPr sz="1250" b="0">
                          <a:solidFill>
                            <a:srgbClr val="555045"/>
                          </a:solidFill>
                          <a:latin typeface="Arial"/>
                        </a:rPr>
                        <a:t>4,541</a:t>
                      </a:r>
                    </a:p>
                  </a:txBody>
                  <a:tcPr marL="82296" marR="82296" anchor="ctr">
                    <a:solidFill>
                      <a:srgbClr val="FFFFFF"/>
                    </a:solidFill>
                  </a:tcPr>
                </a:tc>
                <a:tc>
                  <a:txBody>
                    <a:bodyPr/>
                    <a:lstStyle/>
                    <a:p>
                      <a:pPr algn="r"/>
                      <a:r>
                        <a:rPr sz="1250" b="0">
                          <a:solidFill>
                            <a:srgbClr val="555045"/>
                          </a:solidFill>
                          <a:latin typeface="Arial"/>
                        </a:rPr>
                        <a:t>11,93 %</a:t>
                      </a:r>
                    </a:p>
                  </a:txBody>
                  <a:tcPr marL="82296" marR="82296" anchor="ctr">
                    <a:solidFill>
                      <a:srgbClr val="FFFFFF"/>
                    </a:solidFill>
                  </a:tcPr>
                </a:tc>
                <a:tc>
                  <a:txBody>
                    <a:bodyPr/>
                    <a:lstStyle/>
                    <a:p>
                      <a:pPr algn="r"/>
                      <a:r>
                        <a:rPr sz="1250" b="0">
                          <a:solidFill>
                            <a:srgbClr val="555045"/>
                          </a:solidFill>
                          <a:latin typeface="Arial"/>
                        </a:rPr>
                        <a:t>11,13</a:t>
                      </a:r>
                    </a:p>
                  </a:txBody>
                  <a:tcPr marL="82296" marR="82296" anchor="ctr">
                    <a:solidFill>
                      <a:srgbClr val="FFFFFF"/>
                    </a:solidFill>
                  </a:tcPr>
                </a:tc>
                <a:tc>
                  <a:txBody>
                    <a:bodyPr/>
                    <a:lstStyle/>
                    <a:p>
                      <a:pPr algn="r"/>
                      <a:r>
                        <a:rPr sz="1250" b="0">
                          <a:solidFill>
                            <a:srgbClr val="555045"/>
                          </a:solidFill>
                          <a:latin typeface="Arial"/>
                        </a:rPr>
                        <a:t>−0,02</a:t>
                      </a:r>
                    </a:p>
                  </a:txBody>
                  <a:tcPr marL="82296" marR="82296" anchor="ctr">
                    <a:solidFill>
                      <a:srgbClr val="FFFFFF"/>
                    </a:solidFill>
                  </a:tcPr>
                </a:tc>
                <a:extLst>
                  <a:ext uri="{0D108BD9-81ED-4DB2-BD59-A6C34878D82A}">
                    <a16:rowId xmlns:a16="http://schemas.microsoft.com/office/drawing/2014/main" val="10007"/>
                  </a:ext>
                </a:extLst>
              </a:tr>
            </a:tbl>
          </a:graphicData>
        </a:graphic>
      </p:graphicFrame>
      <p:sp>
        <p:nvSpPr>
          <p:cNvPr id="8" name="Rectangle 7"/>
          <p:cNvSpPr/>
          <p:nvPr/>
        </p:nvSpPr>
        <p:spPr>
          <a:xfrm>
            <a:off x="777240" y="5172964"/>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5072380"/>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Por pérdida pinball gana el bosque cuantílico.</a:t>
            </a:r>
            <a:r>
              <a:rPr sz="1300" b="0">
                <a:solidFill>
                  <a:srgbClr val="555045"/>
                </a:solidFill>
                <a:latin typeface="Arial"/>
              </a:rPr>
              <a:t> Por WAPE del pronóstico central gana el boosting, con 11,72 % frente al 11,91 % de la línea base.</a:t>
            </a:r>
          </a:p>
        </p:txBody>
      </p:sp>
      <p:sp>
        <p:nvSpPr>
          <p:cNvPr id="10" name="Rectangle 9"/>
          <p:cNvSpPr/>
          <p:nvPr/>
        </p:nvSpPr>
        <p:spPr>
          <a:xfrm>
            <a:off x="777240" y="5780024"/>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5679440"/>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Las diferencias entre los seis modelos son de centésimas.</a:t>
            </a:r>
            <a:r>
              <a:rPr sz="1300" b="0">
                <a:solidFill>
                  <a:srgbClr val="555045"/>
                </a:solidFill>
                <a:latin typeface="Arial"/>
              </a:rPr>
              <a:t> La mejora sobre la media móvil es real pero modesta: el techo lo pone la información disponible, no el algoritmo.</a:t>
            </a:r>
          </a:p>
        </p:txBody>
      </p:sp>
      <p:sp>
        <p:nvSpPr>
          <p:cNvPr id="12" name="Rectangle 11"/>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10 · Selección de familia</a:t>
            </a:r>
          </a:p>
        </p:txBody>
      </p:sp>
      <p:sp>
        <p:nvSpPr>
          <p:cNvPr id="14" name="TextBox 13"/>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10 · RESULTADO</a:t>
            </a:r>
          </a:p>
        </p:txBody>
      </p:sp>
      <p:sp>
        <p:nvSpPr>
          <p:cNvPr id="4" name="TextBox 3"/>
          <p:cNvSpPr txBox="1"/>
          <p:nvPr/>
        </p:nvSpPr>
        <p:spPr>
          <a:xfrm>
            <a:off x="548640"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Las diferencias entre los seis modelos son de centésimas</a:t>
            </a:r>
          </a:p>
        </p:txBody>
      </p:sp>
      <p:pic>
        <p:nvPicPr>
          <p:cNvPr id="5" name="Picture 4" descr="image.png"/>
          <p:cNvPicPr>
            <a:picLocks noChangeAspect="1"/>
          </p:cNvPicPr>
          <p:nvPr/>
        </p:nvPicPr>
        <p:blipFill>
          <a:blip r:embed="rId2"/>
          <a:stretch>
            <a:fillRect/>
          </a:stretch>
        </p:blipFill>
        <p:spPr>
          <a:xfrm>
            <a:off x="548640" y="1060196"/>
            <a:ext cx="4480560" cy="2292380"/>
          </a:xfrm>
          <a:prstGeom prst="rect">
            <a:avLst/>
          </a:prstGeom>
        </p:spPr>
      </p:pic>
      <p:sp>
        <p:nvSpPr>
          <p:cNvPr id="6" name="TextBox 5"/>
          <p:cNvSpPr txBox="1"/>
          <p:nvPr/>
        </p:nvSpPr>
        <p:spPr>
          <a:xfrm>
            <a:off x="548640" y="3444015"/>
            <a:ext cx="5387187" cy="415442"/>
          </a:xfrm>
          <a:prstGeom prst="rect">
            <a:avLst/>
          </a:prstGeom>
          <a:noFill/>
        </p:spPr>
        <p:txBody>
          <a:bodyPr wrap="square" lIns="0" tIns="0" rIns="0" bIns="0">
            <a:spAutoFit/>
          </a:bodyPr>
          <a:lstStyle/>
          <a:p>
            <a:pPr>
              <a:lnSpc>
                <a:spcPct val="118000"/>
              </a:lnSpc>
              <a:spcAft>
                <a:spcPts val="300"/>
              </a:spcAft>
            </a:pPr>
            <a:r>
              <a:rPr sz="1019" b="1">
                <a:solidFill>
                  <a:srgbClr val="17150F"/>
                </a:solidFill>
                <a:latin typeface="Arial"/>
              </a:rPr>
              <a:t>▪ En el nivel de operación, 0,65, el mejor y el sexto están a 0,07 de pinball.</a:t>
            </a:r>
            <a:r>
              <a:rPr sz="1019" b="0">
                <a:solidFill>
                  <a:srgbClr val="555045"/>
                </a:solidFill>
                <a:latin typeface="Arial"/>
              </a:rPr>
              <a:t> La media móvil queda a 0,22 del mejor.</a:t>
            </a:r>
          </a:p>
        </p:txBody>
      </p:sp>
      <p:sp>
        <p:nvSpPr>
          <p:cNvPr id="7" name="TextBox 6"/>
          <p:cNvSpPr txBox="1"/>
          <p:nvPr/>
        </p:nvSpPr>
        <p:spPr>
          <a:xfrm>
            <a:off x="548640" y="3896033"/>
            <a:ext cx="5387187" cy="415442"/>
          </a:xfrm>
          <a:prstGeom prst="rect">
            <a:avLst/>
          </a:prstGeom>
          <a:noFill/>
        </p:spPr>
        <p:txBody>
          <a:bodyPr wrap="square" lIns="0" tIns="0" rIns="0" bIns="0">
            <a:spAutoFit/>
          </a:bodyPr>
          <a:lstStyle/>
          <a:p>
            <a:pPr>
              <a:lnSpc>
                <a:spcPct val="118000"/>
              </a:lnSpc>
              <a:spcAft>
                <a:spcPts val="300"/>
              </a:spcAft>
            </a:pPr>
            <a:r>
              <a:rPr sz="1019" b="1">
                <a:solidFill>
                  <a:srgbClr val="17150F"/>
                </a:solidFill>
                <a:latin typeface="Arial"/>
              </a:rPr>
              <a:t>▪ Una mejora muy superior habría sido sospechosa.</a:t>
            </a:r>
            <a:r>
              <a:rPr sz="1019" b="0">
                <a:solidFill>
                  <a:srgbClr val="555045"/>
                </a:solidFill>
                <a:latin typeface="Arial"/>
              </a:rPr>
              <a:t> El univariado ya decía que solo un 3,6 % de la varianza es tendencia predecible.</a:t>
            </a:r>
          </a:p>
        </p:txBody>
      </p:sp>
      <p:sp>
        <p:nvSpPr>
          <p:cNvPr id="8" name="TextBox 7"/>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10 · SELECCIÓN</a:t>
            </a:r>
          </a:p>
        </p:txBody>
      </p:sp>
      <p:sp>
        <p:nvSpPr>
          <p:cNvPr id="9" name="TextBox 8"/>
          <p:cNvSpPr txBox="1"/>
          <p:nvPr/>
        </p:nvSpPr>
        <p:spPr>
          <a:xfrm>
            <a:off x="6255867"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Qué diferencias son reales y cuáles son ruido</a:t>
            </a:r>
          </a:p>
        </p:txBody>
      </p:sp>
      <p:pic>
        <p:nvPicPr>
          <p:cNvPr id="10" name="Picture 9" descr="image.png"/>
          <p:cNvPicPr>
            <a:picLocks noChangeAspect="1"/>
          </p:cNvPicPr>
          <p:nvPr/>
        </p:nvPicPr>
        <p:blipFill>
          <a:blip r:embed="rId3"/>
          <a:stretch>
            <a:fillRect/>
          </a:stretch>
        </p:blipFill>
        <p:spPr>
          <a:xfrm>
            <a:off x="6255867" y="1060196"/>
            <a:ext cx="4480560" cy="2185639"/>
          </a:xfrm>
          <a:prstGeom prst="rect">
            <a:avLst/>
          </a:prstGeom>
        </p:spPr>
      </p:pic>
      <p:sp>
        <p:nvSpPr>
          <p:cNvPr id="11" name="TextBox 10"/>
          <p:cNvSpPr txBox="1"/>
          <p:nvPr/>
        </p:nvSpPr>
        <p:spPr>
          <a:xfrm>
            <a:off x="6255867" y="3337274"/>
            <a:ext cx="5387187" cy="1620316"/>
          </a:xfrm>
          <a:prstGeom prst="rect">
            <a:avLst/>
          </a:prstGeom>
          <a:noFill/>
        </p:spPr>
        <p:txBody>
          <a:bodyPr wrap="square" lIns="0" tIns="0" rIns="0" bIns="0">
            <a:spAutoFit/>
          </a:bodyPr>
          <a:lstStyle/>
          <a:p>
            <a:pPr>
              <a:lnSpc>
                <a:spcPct val="118000"/>
              </a:lnSpc>
              <a:spcAft>
                <a:spcPts val="300"/>
              </a:spcAft>
            </a:pPr>
            <a:r>
              <a:rPr sz="1019" b="0">
                <a:solidFill>
                  <a:srgbClr val="555045"/>
                </a:solidFill>
                <a:latin typeface="Arial"/>
              </a:rPr>
              <a:t>Contraste de Diebold-Mariano contra el mejor, en el nivel de operación.</a:t>
            </a:r>
          </a:p>
          <a:p>
            <a:pPr>
              <a:lnSpc>
                <a:spcPct val="118000"/>
              </a:lnSpc>
              <a:spcAft>
                <a:spcPts val="300"/>
              </a:spcAft>
            </a:pPr>
            <a:r>
              <a:rPr sz="1080" b="1">
                <a:solidFill>
                  <a:srgbClr val="8C2F39"/>
                </a:solidFill>
                <a:latin typeface="Arial"/>
              </a:rPr>
              <a:t>Los seis modelos: empate técnico</a:t>
            </a:r>
          </a:p>
          <a:p>
            <a:pPr>
              <a:lnSpc>
                <a:spcPct val="118000"/>
              </a:lnSpc>
              <a:spcAft>
                <a:spcPts val="300"/>
              </a:spcAft>
            </a:pPr>
            <a:r>
              <a:rPr sz="1019" b="0">
                <a:solidFill>
                  <a:srgbClr val="555045"/>
                </a:solidFill>
                <a:latin typeface="Arial"/>
              </a:rPr>
              <a:t>p entre 0,12 y 0,58. No se puede afirmar que ninguno sea mejor que otro.</a:t>
            </a:r>
          </a:p>
          <a:p>
            <a:pPr>
              <a:lnSpc>
                <a:spcPct val="118000"/>
              </a:lnSpc>
              <a:spcAft>
                <a:spcPts val="300"/>
              </a:spcAft>
            </a:pPr>
            <a:r>
              <a:rPr sz="1080" b="1">
                <a:solidFill>
                  <a:srgbClr val="8C2F39"/>
                </a:solidFill>
                <a:latin typeface="Arial"/>
              </a:rPr>
              <a:t>La media móvil: pierde con evidencia</a:t>
            </a:r>
          </a:p>
          <a:p>
            <a:pPr>
              <a:lnSpc>
                <a:spcPct val="118000"/>
              </a:lnSpc>
              <a:spcAft>
                <a:spcPts val="300"/>
              </a:spcAft>
            </a:pPr>
            <a:r>
              <a:rPr sz="1019" b="0">
                <a:solidFill>
                  <a:srgbClr val="555045"/>
                </a:solidFill>
                <a:latin typeface="Arial"/>
              </a:rPr>
              <a:t>p = 0,008. Que los modelos superan a la línea base sí está demostrado.</a:t>
            </a:r>
          </a:p>
          <a:p>
            <a:pPr>
              <a:lnSpc>
                <a:spcPct val="118000"/>
              </a:lnSpc>
              <a:spcAft>
                <a:spcPts val="300"/>
              </a:spcAft>
            </a:pPr>
            <a:r>
              <a:rPr sz="1019" b="1">
                <a:solidFill>
                  <a:srgbClr val="17150F"/>
                </a:solidFill>
                <a:latin typeface="Arial"/>
              </a:rPr>
              <a:t>Las bandas al 95 % se solapan entre todas las familias: no hay un ganador estadístico dentro de los seis modelos. La elección tendrá que decidirse por otros criterios.</a:t>
            </a:r>
          </a:p>
        </p:txBody>
      </p:sp>
      <p:sp>
        <p:nvSpPr>
          <p:cNvPr id="12" name="Rectangle 11"/>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10 · Selección de familia</a:t>
            </a:r>
          </a:p>
        </p:txBody>
      </p:sp>
      <p:sp>
        <p:nvSpPr>
          <p:cNvPr id="15" name="TextBox 14"/>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10 · SELECCIÓN</a:t>
            </a:r>
          </a:p>
        </p:txBody>
      </p:sp>
      <p:sp>
        <p:nvSpPr>
          <p:cNvPr id="4" name="TextBox 3"/>
          <p:cNvSpPr txBox="1"/>
          <p:nvPr/>
        </p:nvSpPr>
        <p:spPr>
          <a:xfrm>
            <a:off x="548640"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El colchón decide entre los que empatan</a:t>
            </a:r>
          </a:p>
        </p:txBody>
      </p:sp>
      <p:pic>
        <p:nvPicPr>
          <p:cNvPr id="5" name="Picture 4" descr="image.png"/>
          <p:cNvPicPr>
            <a:picLocks noChangeAspect="1"/>
          </p:cNvPicPr>
          <p:nvPr/>
        </p:nvPicPr>
        <p:blipFill>
          <a:blip r:embed="rId2"/>
          <a:stretch>
            <a:fillRect/>
          </a:stretch>
        </p:blipFill>
        <p:spPr>
          <a:xfrm>
            <a:off x="548640" y="1060196"/>
            <a:ext cx="4480560" cy="2346960"/>
          </a:xfrm>
          <a:prstGeom prst="rect">
            <a:avLst/>
          </a:prstGeom>
        </p:spPr>
      </p:pic>
      <p:sp>
        <p:nvSpPr>
          <p:cNvPr id="6" name="TextBox 5"/>
          <p:cNvSpPr txBox="1"/>
          <p:nvPr/>
        </p:nvSpPr>
        <p:spPr>
          <a:xfrm>
            <a:off x="548640" y="3498595"/>
            <a:ext cx="5387187" cy="415442"/>
          </a:xfrm>
          <a:prstGeom prst="rect">
            <a:avLst/>
          </a:prstGeom>
          <a:noFill/>
        </p:spPr>
        <p:txBody>
          <a:bodyPr wrap="square" lIns="0" tIns="0" rIns="0" bIns="0">
            <a:spAutoFit/>
          </a:bodyPr>
          <a:lstStyle/>
          <a:p>
            <a:pPr>
              <a:lnSpc>
                <a:spcPct val="118000"/>
              </a:lnSpc>
              <a:spcAft>
                <a:spcPts val="300"/>
              </a:spcAft>
            </a:pPr>
            <a:r>
              <a:rPr sz="1019" b="1">
                <a:solidFill>
                  <a:srgbClr val="17150F"/>
                </a:solidFill>
                <a:latin typeface="Arial"/>
              </a:rPr>
              <a:t>▪ El colchón es la distancia entre el nivel 0,90 y el 0,50</a:t>
            </a:r>
            <a:r>
              <a:rPr sz="1019" b="0">
                <a:solidFill>
                  <a:srgbClr val="555045"/>
                </a:solidFill>
                <a:latin typeface="Arial"/>
              </a:rPr>
              <a:t> de cada serie. Cada punto es una de las 480 decisiones de prueba.</a:t>
            </a:r>
          </a:p>
        </p:txBody>
      </p:sp>
      <p:sp>
        <p:nvSpPr>
          <p:cNvPr id="7" name="TextBox 6"/>
          <p:cNvSpPr txBox="1"/>
          <p:nvPr/>
        </p:nvSpPr>
        <p:spPr>
          <a:xfrm>
            <a:off x="548640" y="3950613"/>
            <a:ext cx="5387187" cy="415442"/>
          </a:xfrm>
          <a:prstGeom prst="rect">
            <a:avLst/>
          </a:prstGeom>
          <a:noFill/>
        </p:spPr>
        <p:txBody>
          <a:bodyPr wrap="square" lIns="0" tIns="0" rIns="0" bIns="0">
            <a:spAutoFit/>
          </a:bodyPr>
          <a:lstStyle/>
          <a:p>
            <a:pPr>
              <a:lnSpc>
                <a:spcPct val="118000"/>
              </a:lnSpc>
              <a:spcAft>
                <a:spcPts val="300"/>
              </a:spcAft>
            </a:pPr>
            <a:r>
              <a:rPr sz="1019" b="1">
                <a:solidFill>
                  <a:srgbClr val="17150F"/>
                </a:solidFill>
                <a:latin typeface="Arial"/>
              </a:rPr>
              <a:t>▪ La media móvil aplica el mismo colchón a las 160 series</a:t>
            </a:r>
            <a:r>
              <a:rPr sz="1019" b="0">
                <a:solidFill>
                  <a:srgbClr val="555045"/>
                </a:solidFill>
                <a:latin typeface="Arial"/>
              </a:rPr>
              <a:t>, a la más estable y a la más volátil: su nube es una línea. Por eso no sirve para operar.</a:t>
            </a:r>
          </a:p>
        </p:txBody>
      </p:sp>
      <p:sp>
        <p:nvSpPr>
          <p:cNvPr id="8" name="TextBox 7"/>
          <p:cNvSpPr txBox="1"/>
          <p:nvPr/>
        </p:nvSpPr>
        <p:spPr>
          <a:xfrm>
            <a:off x="548640" y="4402631"/>
            <a:ext cx="5387187" cy="747064"/>
          </a:xfrm>
          <a:prstGeom prst="rect">
            <a:avLst/>
          </a:prstGeom>
          <a:noFill/>
        </p:spPr>
        <p:txBody>
          <a:bodyPr wrap="square" lIns="0" tIns="0" rIns="0" bIns="0">
            <a:spAutoFit/>
          </a:bodyPr>
          <a:lstStyle/>
          <a:p>
            <a:pPr>
              <a:lnSpc>
                <a:spcPct val="118000"/>
              </a:lnSpc>
              <a:spcAft>
                <a:spcPts val="300"/>
              </a:spcAft>
            </a:pPr>
            <a:r>
              <a:rPr sz="1019" b="1">
                <a:solidFill>
                  <a:srgbClr val="17150F"/>
                </a:solidFill>
                <a:latin typeface="Arial"/>
              </a:rPr>
              <a:t>▪ Los seis modelos lo gradúan serie a serie.</a:t>
            </a:r>
            <a:r>
              <a:rPr sz="1019" b="0">
                <a:solidFill>
                  <a:srgbClr val="555045"/>
                </a:solidFill>
                <a:latin typeface="Arial"/>
              </a:rPr>
              <a:t> Entre ellos, la regresión cuantílica tiene el colchón más estable: desviación de 6,6 unidades y mínimo de 5,4, frente a mínimos de 2,8 en otras familias que en series pequeñas dejan un margen demasiado ajustado.</a:t>
            </a:r>
          </a:p>
        </p:txBody>
      </p:sp>
      <p:sp>
        <p:nvSpPr>
          <p:cNvPr id="9" name="TextBox 8"/>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10 · SELECCIÓN</a:t>
            </a:r>
          </a:p>
        </p:txBody>
      </p:sp>
      <p:sp>
        <p:nvSpPr>
          <p:cNvPr id="10" name="TextBox 9"/>
          <p:cNvSpPr txBox="1"/>
          <p:nvPr/>
        </p:nvSpPr>
        <p:spPr>
          <a:xfrm>
            <a:off x="6255867"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Ante un empate de seis, se elige por interpretabilidad</a:t>
            </a:r>
          </a:p>
        </p:txBody>
      </p:sp>
      <p:sp>
        <p:nvSpPr>
          <p:cNvPr id="11" name="TextBox 10"/>
          <p:cNvSpPr txBox="1"/>
          <p:nvPr/>
        </p:nvSpPr>
        <p:spPr>
          <a:xfrm>
            <a:off x="6255867" y="1060196"/>
            <a:ext cx="5387187" cy="434949"/>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Cuando las diferencias no se distinguen del ruido, elegir por lo que se puede explicar es la decisión correcta, y hay que decirlo así.</a:t>
            </a:r>
          </a:p>
        </p:txBody>
      </p:sp>
      <p:sp>
        <p:nvSpPr>
          <p:cNvPr id="12" name="TextBox 11"/>
          <p:cNvSpPr txBox="1"/>
          <p:nvPr/>
        </p:nvSpPr>
        <p:spPr>
          <a:xfrm>
            <a:off x="6255867" y="1531721"/>
            <a:ext cx="5387187" cy="786079"/>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Interpretabilidad.</a:t>
            </a:r>
            <a:r>
              <a:rPr sz="1080" b="0">
                <a:solidFill>
                  <a:srgbClr val="555045"/>
                </a:solidFill>
                <a:latin typeface="Arial"/>
              </a:rPr>
              <a:t> Es la única con coeficientes que se pueden enseñar, y como trabaja en proporción se leen en porcentaje: una desviación típica en la última semana mueve la predicción un 1,85 % sobre la media reciente. Eso se le explica a un jefe de tienda. Un bosque de 300 árboles, no.</a:t>
            </a:r>
          </a:p>
        </p:txBody>
      </p:sp>
      <p:sp>
        <p:nvSpPr>
          <p:cNvPr id="13" name="TextBox 12"/>
          <p:cNvSpPr txBox="1"/>
          <p:nvPr/>
        </p:nvSpPr>
        <p:spPr>
          <a:xfrm>
            <a:off x="6255867" y="2354376"/>
            <a:ext cx="5387187" cy="434949"/>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Estabilidad del colchón.</a:t>
            </a:r>
            <a:r>
              <a:rPr sz="1080" b="0">
                <a:solidFill>
                  <a:srgbClr val="555045"/>
                </a:solidFill>
                <a:latin typeface="Arial"/>
              </a:rPr>
              <a:t> La menor desviación de las seis y el mínimo más alto. En series pequeñas eso evita márgenes demasiado ajustados.</a:t>
            </a:r>
          </a:p>
        </p:txBody>
      </p:sp>
      <p:sp>
        <p:nvSpPr>
          <p:cNvPr id="14" name="TextBox 13"/>
          <p:cNvSpPr txBox="1"/>
          <p:nvPr/>
        </p:nvSpPr>
        <p:spPr>
          <a:xfrm>
            <a:off x="6255867" y="2825901"/>
            <a:ext cx="5387187" cy="259384"/>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Coste de cómputo despreciable</a:t>
            </a:r>
            <a:r>
              <a:rPr sz="1080" b="0">
                <a:solidFill>
                  <a:srgbClr val="555045"/>
                </a:solidFill>
                <a:latin typeface="Arial"/>
              </a:rPr>
              <a:t> y sin dependencias adicionales.</a:t>
            </a:r>
          </a:p>
        </p:txBody>
      </p:sp>
      <p:sp>
        <p:nvSpPr>
          <p:cNvPr id="15" name="TextBox 14"/>
          <p:cNvSpPr txBox="1"/>
          <p:nvPr/>
        </p:nvSpPr>
        <p:spPr>
          <a:xfrm>
            <a:off x="6255867" y="3121861"/>
            <a:ext cx="5387187" cy="434949"/>
          </a:xfrm>
          <a:prstGeom prst="rect">
            <a:avLst/>
          </a:prstGeom>
          <a:noFill/>
        </p:spPr>
        <p:txBody>
          <a:bodyPr wrap="square" lIns="0" tIns="0" rIns="0" bIns="0">
            <a:spAutoFit/>
          </a:bodyPr>
          <a:lstStyle/>
          <a:p>
            <a:pPr>
              <a:lnSpc>
                <a:spcPct val="118000"/>
              </a:lnSpc>
              <a:spcAft>
                <a:spcPts val="300"/>
              </a:spcAft>
            </a:pPr>
            <a:r>
              <a:rPr sz="1080" b="1">
                <a:solidFill>
                  <a:srgbClr val="8C2F39"/>
                </a:solidFill>
                <a:latin typeface="Arial"/>
              </a:rPr>
              <a:t>Configuración operativa: regresión cuantílica, 17 niveles, mismos hiperparámetros en todos.</a:t>
            </a:r>
          </a:p>
        </p:txBody>
      </p:sp>
      <p:sp>
        <p:nvSpPr>
          <p:cNvPr id="16" name="Rectangle 15"/>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10 · Selección de familia</a:t>
            </a:r>
          </a:p>
        </p:txBody>
      </p:sp>
      <p:sp>
        <p:nvSpPr>
          <p:cNvPr id="19" name="TextBox 18"/>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11 · LA REJILLA ENTRENADA</a:t>
            </a:r>
          </a:p>
        </p:txBody>
      </p:sp>
      <p:sp>
        <p:nvSpPr>
          <p:cNvPr id="4" name="TextBox 3"/>
          <p:cNvSpPr txBox="1"/>
          <p:nvPr/>
        </p:nvSpPr>
        <p:spPr>
          <a:xfrm>
            <a:off x="548640" y="704088"/>
            <a:ext cx="5387187" cy="291896"/>
          </a:xfrm>
          <a:prstGeom prst="rect">
            <a:avLst/>
          </a:prstGeom>
          <a:noFill/>
        </p:spPr>
        <p:txBody>
          <a:bodyPr wrap="square" lIns="0" tIns="0" rIns="0" bIns="0">
            <a:spAutoFit/>
          </a:bodyPr>
          <a:lstStyle/>
          <a:p>
            <a:pPr>
              <a:lnSpc>
                <a:spcPct val="118000"/>
              </a:lnSpc>
              <a:spcAft>
                <a:spcPts val="300"/>
              </a:spcAft>
            </a:pPr>
            <a:r>
              <a:rPr sz="1280" b="1">
                <a:solidFill>
                  <a:srgbClr val="17150F"/>
                </a:solidFill>
                <a:latin typeface="Arial"/>
              </a:rPr>
              <a:t>El nivel de servicio que se promete es real, no una etiqueta</a:t>
            </a:r>
          </a:p>
        </p:txBody>
      </p:sp>
      <p:pic>
        <p:nvPicPr>
          <p:cNvPr id="5" name="Picture 4" descr="image.png"/>
          <p:cNvPicPr>
            <a:picLocks noChangeAspect="1"/>
          </p:cNvPicPr>
          <p:nvPr/>
        </p:nvPicPr>
        <p:blipFill>
          <a:blip r:embed="rId2"/>
          <a:stretch>
            <a:fillRect/>
          </a:stretch>
        </p:blipFill>
        <p:spPr>
          <a:xfrm>
            <a:off x="548640" y="1032560"/>
            <a:ext cx="3942892" cy="2664116"/>
          </a:xfrm>
          <a:prstGeom prst="rect">
            <a:avLst/>
          </a:prstGeom>
        </p:spPr>
      </p:pic>
      <p:graphicFrame>
        <p:nvGraphicFramePr>
          <p:cNvPr id="6" name="Table 5"/>
          <p:cNvGraphicFramePr>
            <a:graphicFrameLocks noGrp="1"/>
          </p:cNvGraphicFramePr>
          <p:nvPr/>
        </p:nvGraphicFramePr>
        <p:xfrm>
          <a:off x="548640" y="3788115"/>
          <a:ext cx="5387185" cy="1894332"/>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r>
                        <a:rPr sz="700" b="1">
                          <a:solidFill>
                            <a:srgbClr val="8B8478"/>
                          </a:solidFill>
                          <a:latin typeface="Arial"/>
                        </a:rPr>
                        <a:t>Nivel</a:t>
                      </a:r>
                    </a:p>
                  </a:txBody>
                  <a:tcPr marL="82296" marR="82296" anchor="ctr">
                    <a:solidFill>
                      <a:srgbClr val="F4F2ED"/>
                    </a:solidFill>
                  </a:tcPr>
                </a:tc>
                <a:tc>
                  <a:txBody>
                    <a:bodyPr/>
                    <a:lstStyle/>
                    <a:p>
                      <a:pPr algn="r"/>
                      <a:r>
                        <a:rPr sz="700" b="1">
                          <a:solidFill>
                            <a:srgbClr val="8B8478"/>
                          </a:solidFill>
                          <a:latin typeface="Arial"/>
                        </a:rPr>
                        <a:t>Cobertura</a:t>
                      </a:r>
                    </a:p>
                  </a:txBody>
                  <a:tcPr marL="82296" marR="82296" anchor="ctr">
                    <a:solidFill>
                      <a:srgbClr val="F4F2ED"/>
                    </a:solidFill>
                  </a:tcPr>
                </a:tc>
                <a:tc>
                  <a:txBody>
                    <a:bodyPr/>
                    <a:lstStyle/>
                    <a:p>
                      <a:pPr algn="r"/>
                      <a:r>
                        <a:rPr sz="700" b="1">
                          <a:solidFill>
                            <a:srgbClr val="8B8478"/>
                          </a:solidFill>
                          <a:latin typeface="Arial"/>
                        </a:rPr>
                        <a:t>Desvío</a:t>
                      </a:r>
                    </a:p>
                  </a:txBody>
                  <a:tcPr marL="82296" marR="82296" anchor="ctr">
                    <a:solidFill>
                      <a:srgbClr val="F4F2ED"/>
                    </a:solidFill>
                  </a:tcPr>
                </a:tc>
                <a:extLst>
                  <a:ext uri="{0D108BD9-81ED-4DB2-BD59-A6C34878D82A}">
                    <a16:rowId xmlns:a16="http://schemas.microsoft.com/office/drawing/2014/main" val="10000"/>
                  </a:ext>
                </a:extLst>
              </a:tr>
              <a:tr h="201168">
                <a:tc>
                  <a:txBody>
                    <a:bodyPr/>
                    <a:lstStyle/>
                    <a:p>
                      <a:pPr algn="l"/>
                      <a:r>
                        <a:rPr sz="850" b="0">
                          <a:solidFill>
                            <a:srgbClr val="17150F"/>
                          </a:solidFill>
                          <a:latin typeface="Arial"/>
                        </a:rPr>
                        <a:t>0,50</a:t>
                      </a:r>
                    </a:p>
                  </a:txBody>
                  <a:tcPr marL="82296" marR="82296" anchor="ctr">
                    <a:solidFill>
                      <a:srgbClr val="FFFFFF"/>
                    </a:solidFill>
                  </a:tcPr>
                </a:tc>
                <a:tc>
                  <a:txBody>
                    <a:bodyPr/>
                    <a:lstStyle/>
                    <a:p>
                      <a:pPr algn="r"/>
                      <a:r>
                        <a:rPr sz="850" b="0">
                          <a:solidFill>
                            <a:srgbClr val="555045"/>
                          </a:solidFill>
                          <a:latin typeface="Arial"/>
                        </a:rPr>
                        <a:t>0,510</a:t>
                      </a:r>
                    </a:p>
                  </a:txBody>
                  <a:tcPr marL="82296" marR="82296" anchor="ctr">
                    <a:solidFill>
                      <a:srgbClr val="FFFFFF"/>
                    </a:solidFill>
                  </a:tcPr>
                </a:tc>
                <a:tc>
                  <a:txBody>
                    <a:bodyPr/>
                    <a:lstStyle/>
                    <a:p>
                      <a:pPr algn="r"/>
                      <a:r>
                        <a:rPr sz="850" b="0">
                          <a:solidFill>
                            <a:srgbClr val="555045"/>
                          </a:solidFill>
                          <a:latin typeface="Arial"/>
                        </a:rPr>
                        <a:t>+0,010</a:t>
                      </a:r>
                    </a:p>
                  </a:txBody>
                  <a:tcPr marL="82296" marR="82296" anchor="ctr">
                    <a:solidFill>
                      <a:srgbClr val="FFFFFF"/>
                    </a:solidFill>
                  </a:tcPr>
                </a:tc>
                <a:extLst>
                  <a:ext uri="{0D108BD9-81ED-4DB2-BD59-A6C34878D82A}">
                    <a16:rowId xmlns:a16="http://schemas.microsoft.com/office/drawing/2014/main" val="10001"/>
                  </a:ext>
                </a:extLst>
              </a:tr>
              <a:tr h="201168">
                <a:tc>
                  <a:txBody>
                    <a:bodyPr/>
                    <a:lstStyle/>
                    <a:p>
                      <a:pPr algn="l"/>
                      <a:r>
                        <a:rPr sz="850" b="0">
                          <a:solidFill>
                            <a:srgbClr val="17150F"/>
                          </a:solidFill>
                          <a:latin typeface="Arial"/>
                        </a:rPr>
                        <a:t>0,59</a:t>
                      </a:r>
                    </a:p>
                  </a:txBody>
                  <a:tcPr marL="82296" marR="82296" anchor="ctr">
                    <a:solidFill>
                      <a:srgbClr val="FFFFFF"/>
                    </a:solidFill>
                  </a:tcPr>
                </a:tc>
                <a:tc>
                  <a:txBody>
                    <a:bodyPr/>
                    <a:lstStyle/>
                    <a:p>
                      <a:pPr algn="r"/>
                      <a:r>
                        <a:rPr sz="850" b="0">
                          <a:solidFill>
                            <a:srgbClr val="555045"/>
                          </a:solidFill>
                          <a:latin typeface="Arial"/>
                        </a:rPr>
                        <a:t>0,633</a:t>
                      </a:r>
                    </a:p>
                  </a:txBody>
                  <a:tcPr marL="82296" marR="82296" anchor="ctr">
                    <a:solidFill>
                      <a:srgbClr val="FFFFFF"/>
                    </a:solidFill>
                  </a:tcPr>
                </a:tc>
                <a:tc>
                  <a:txBody>
                    <a:bodyPr/>
                    <a:lstStyle/>
                    <a:p>
                      <a:pPr algn="r"/>
                      <a:r>
                        <a:rPr sz="850" b="0">
                          <a:solidFill>
                            <a:srgbClr val="555045"/>
                          </a:solidFill>
                          <a:latin typeface="Arial"/>
                        </a:rPr>
                        <a:t>+0,043</a:t>
                      </a:r>
                    </a:p>
                  </a:txBody>
                  <a:tcPr marL="82296" marR="82296" anchor="ctr">
                    <a:solidFill>
                      <a:srgbClr val="FFFFFF"/>
                    </a:solidFill>
                  </a:tcPr>
                </a:tc>
                <a:extLst>
                  <a:ext uri="{0D108BD9-81ED-4DB2-BD59-A6C34878D82A}">
                    <a16:rowId xmlns:a16="http://schemas.microsoft.com/office/drawing/2014/main" val="10002"/>
                  </a:ext>
                </a:extLst>
              </a:tr>
              <a:tr h="201168">
                <a:tc>
                  <a:txBody>
                    <a:bodyPr/>
                    <a:lstStyle/>
                    <a:p>
                      <a:pPr algn="l"/>
                      <a:r>
                        <a:rPr sz="850" b="0">
                          <a:solidFill>
                            <a:srgbClr val="17150F"/>
                          </a:solidFill>
                          <a:latin typeface="Arial"/>
                        </a:rPr>
                        <a:t>0,65</a:t>
                      </a:r>
                    </a:p>
                  </a:txBody>
                  <a:tcPr marL="82296" marR="82296" anchor="ctr">
                    <a:solidFill>
                      <a:srgbClr val="FFFFFF"/>
                    </a:solidFill>
                  </a:tcPr>
                </a:tc>
                <a:tc>
                  <a:txBody>
                    <a:bodyPr/>
                    <a:lstStyle/>
                    <a:p>
                      <a:pPr algn="r"/>
                      <a:r>
                        <a:rPr sz="850" b="0">
                          <a:solidFill>
                            <a:srgbClr val="555045"/>
                          </a:solidFill>
                          <a:latin typeface="Arial"/>
                        </a:rPr>
                        <a:t>0,675</a:t>
                      </a:r>
                    </a:p>
                  </a:txBody>
                  <a:tcPr marL="82296" marR="82296" anchor="ctr">
                    <a:solidFill>
                      <a:srgbClr val="FFFFFF"/>
                    </a:solidFill>
                  </a:tcPr>
                </a:tc>
                <a:tc>
                  <a:txBody>
                    <a:bodyPr/>
                    <a:lstStyle/>
                    <a:p>
                      <a:pPr algn="r"/>
                      <a:r>
                        <a:rPr sz="850" b="0">
                          <a:solidFill>
                            <a:srgbClr val="555045"/>
                          </a:solidFill>
                          <a:latin typeface="Arial"/>
                        </a:rPr>
                        <a:t>+0,025</a:t>
                      </a:r>
                    </a:p>
                  </a:txBody>
                  <a:tcPr marL="82296" marR="82296" anchor="ctr">
                    <a:solidFill>
                      <a:srgbClr val="FFFFFF"/>
                    </a:solidFill>
                  </a:tcPr>
                </a:tc>
                <a:extLst>
                  <a:ext uri="{0D108BD9-81ED-4DB2-BD59-A6C34878D82A}">
                    <a16:rowId xmlns:a16="http://schemas.microsoft.com/office/drawing/2014/main" val="10003"/>
                  </a:ext>
                </a:extLst>
              </a:tr>
              <a:tr h="201168">
                <a:tc>
                  <a:txBody>
                    <a:bodyPr/>
                    <a:lstStyle/>
                    <a:p>
                      <a:pPr algn="l"/>
                      <a:r>
                        <a:rPr sz="850" b="1">
                          <a:solidFill>
                            <a:srgbClr val="17150F"/>
                          </a:solidFill>
                          <a:latin typeface="Arial"/>
                        </a:rPr>
                        <a:t>0,68</a:t>
                      </a:r>
                    </a:p>
                  </a:txBody>
                  <a:tcPr marL="82296" marR="82296" anchor="ctr">
                    <a:solidFill>
                      <a:srgbClr val="F7EEEF"/>
                    </a:solidFill>
                  </a:tcPr>
                </a:tc>
                <a:tc>
                  <a:txBody>
                    <a:bodyPr/>
                    <a:lstStyle/>
                    <a:p>
                      <a:pPr algn="r"/>
                      <a:r>
                        <a:rPr sz="850" b="1">
                          <a:solidFill>
                            <a:srgbClr val="17150F"/>
                          </a:solidFill>
                          <a:latin typeface="Arial"/>
                        </a:rPr>
                        <a:t>0,692</a:t>
                      </a:r>
                    </a:p>
                  </a:txBody>
                  <a:tcPr marL="82296" marR="82296" anchor="ctr">
                    <a:solidFill>
                      <a:srgbClr val="F7EEEF"/>
                    </a:solidFill>
                  </a:tcPr>
                </a:tc>
                <a:tc>
                  <a:txBody>
                    <a:bodyPr/>
                    <a:lstStyle/>
                    <a:p>
                      <a:pPr algn="r"/>
                      <a:r>
                        <a:rPr sz="850" b="1">
                          <a:solidFill>
                            <a:srgbClr val="17150F"/>
                          </a:solidFill>
                          <a:latin typeface="Arial"/>
                        </a:rPr>
                        <a:t>+0,012</a:t>
                      </a:r>
                    </a:p>
                  </a:txBody>
                  <a:tcPr marL="82296" marR="82296" anchor="ctr">
                    <a:solidFill>
                      <a:srgbClr val="F7EEEF"/>
                    </a:solidFill>
                  </a:tcPr>
                </a:tc>
                <a:extLst>
                  <a:ext uri="{0D108BD9-81ED-4DB2-BD59-A6C34878D82A}">
                    <a16:rowId xmlns:a16="http://schemas.microsoft.com/office/drawing/2014/main" val="10004"/>
                  </a:ext>
                </a:extLst>
              </a:tr>
              <a:tr h="201168">
                <a:tc>
                  <a:txBody>
                    <a:bodyPr/>
                    <a:lstStyle/>
                    <a:p>
                      <a:pPr algn="l"/>
                      <a:r>
                        <a:rPr sz="850" b="0">
                          <a:solidFill>
                            <a:srgbClr val="17150F"/>
                          </a:solidFill>
                          <a:latin typeface="Arial"/>
                        </a:rPr>
                        <a:t>0,81</a:t>
                      </a:r>
                    </a:p>
                  </a:txBody>
                  <a:tcPr marL="82296" marR="82296" anchor="ctr">
                    <a:solidFill>
                      <a:srgbClr val="FFFFFF"/>
                    </a:solidFill>
                  </a:tcPr>
                </a:tc>
                <a:tc>
                  <a:txBody>
                    <a:bodyPr/>
                    <a:lstStyle/>
                    <a:p>
                      <a:pPr algn="r"/>
                      <a:r>
                        <a:rPr sz="850" b="0">
                          <a:solidFill>
                            <a:srgbClr val="555045"/>
                          </a:solidFill>
                          <a:latin typeface="Arial"/>
                        </a:rPr>
                        <a:t>0,785</a:t>
                      </a:r>
                    </a:p>
                  </a:txBody>
                  <a:tcPr marL="82296" marR="82296" anchor="ctr">
                    <a:solidFill>
                      <a:srgbClr val="FFFFFF"/>
                    </a:solidFill>
                  </a:tcPr>
                </a:tc>
                <a:tc>
                  <a:txBody>
                    <a:bodyPr/>
                    <a:lstStyle/>
                    <a:p>
                      <a:pPr algn="r"/>
                      <a:r>
                        <a:rPr sz="850" b="0">
                          <a:solidFill>
                            <a:srgbClr val="555045"/>
                          </a:solidFill>
                          <a:latin typeface="Arial"/>
                        </a:rPr>
                        <a:t>−0,025</a:t>
                      </a:r>
                    </a:p>
                  </a:txBody>
                  <a:tcPr marL="82296" marR="82296" anchor="ctr">
                    <a:solidFill>
                      <a:srgbClr val="FFFFFF"/>
                    </a:solidFill>
                  </a:tcPr>
                </a:tc>
                <a:extLst>
                  <a:ext uri="{0D108BD9-81ED-4DB2-BD59-A6C34878D82A}">
                    <a16:rowId xmlns:a16="http://schemas.microsoft.com/office/drawing/2014/main" val="10005"/>
                  </a:ext>
                </a:extLst>
              </a:tr>
              <a:tr h="201168">
                <a:tc>
                  <a:txBody>
                    <a:bodyPr/>
                    <a:lstStyle/>
                    <a:p>
                      <a:pPr algn="l"/>
                      <a:r>
                        <a:rPr sz="850" b="0">
                          <a:solidFill>
                            <a:srgbClr val="17150F"/>
                          </a:solidFill>
                          <a:latin typeface="Arial"/>
                        </a:rPr>
                        <a:t>0,90</a:t>
                      </a:r>
                    </a:p>
                  </a:txBody>
                  <a:tcPr marL="82296" marR="82296" anchor="ctr">
                    <a:solidFill>
                      <a:srgbClr val="FFFFFF"/>
                    </a:solidFill>
                  </a:tcPr>
                </a:tc>
                <a:tc>
                  <a:txBody>
                    <a:bodyPr/>
                    <a:lstStyle/>
                    <a:p>
                      <a:pPr algn="r"/>
                      <a:r>
                        <a:rPr sz="850" b="0">
                          <a:solidFill>
                            <a:srgbClr val="555045"/>
                          </a:solidFill>
                          <a:latin typeface="Arial"/>
                        </a:rPr>
                        <a:t>0,888</a:t>
                      </a:r>
                    </a:p>
                  </a:txBody>
                  <a:tcPr marL="82296" marR="82296" anchor="ctr">
                    <a:solidFill>
                      <a:srgbClr val="FFFFFF"/>
                    </a:solidFill>
                  </a:tcPr>
                </a:tc>
                <a:tc>
                  <a:txBody>
                    <a:bodyPr/>
                    <a:lstStyle/>
                    <a:p>
                      <a:pPr algn="r"/>
                      <a:r>
                        <a:rPr sz="850" b="0">
                          <a:solidFill>
                            <a:srgbClr val="555045"/>
                          </a:solidFill>
                          <a:latin typeface="Arial"/>
                        </a:rPr>
                        <a:t>−0,013</a:t>
                      </a:r>
                    </a:p>
                  </a:txBody>
                  <a:tcPr marL="82296" marR="82296" anchor="ctr">
                    <a:solidFill>
                      <a:srgbClr val="FFFFFF"/>
                    </a:solidFill>
                  </a:tcPr>
                </a:tc>
                <a:extLst>
                  <a:ext uri="{0D108BD9-81ED-4DB2-BD59-A6C34878D82A}">
                    <a16:rowId xmlns:a16="http://schemas.microsoft.com/office/drawing/2014/main" val="10006"/>
                  </a:ext>
                </a:extLst>
              </a:tr>
              <a:tr h="201168">
                <a:tc>
                  <a:txBody>
                    <a:bodyPr/>
                    <a:lstStyle/>
                    <a:p>
                      <a:pPr algn="l"/>
                      <a:r>
                        <a:rPr sz="850" b="0">
                          <a:solidFill>
                            <a:srgbClr val="17150F"/>
                          </a:solidFill>
                          <a:latin typeface="Arial"/>
                        </a:rPr>
                        <a:t>0,99</a:t>
                      </a:r>
                    </a:p>
                  </a:txBody>
                  <a:tcPr marL="82296" marR="82296" anchor="ctr">
                    <a:solidFill>
                      <a:srgbClr val="FFFFFF"/>
                    </a:solidFill>
                  </a:tcPr>
                </a:tc>
                <a:tc>
                  <a:txBody>
                    <a:bodyPr/>
                    <a:lstStyle/>
                    <a:p>
                      <a:pPr algn="r"/>
                      <a:r>
                        <a:rPr sz="850" b="0">
                          <a:solidFill>
                            <a:srgbClr val="555045"/>
                          </a:solidFill>
                          <a:latin typeface="Arial"/>
                        </a:rPr>
                        <a:t>0,996</a:t>
                      </a:r>
                    </a:p>
                  </a:txBody>
                  <a:tcPr marL="82296" marR="82296" anchor="ctr">
                    <a:solidFill>
                      <a:srgbClr val="FFFFFF"/>
                    </a:solidFill>
                  </a:tcPr>
                </a:tc>
                <a:tc>
                  <a:txBody>
                    <a:bodyPr/>
                    <a:lstStyle/>
                    <a:p>
                      <a:pPr algn="r"/>
                      <a:r>
                        <a:rPr sz="850" b="0">
                          <a:solidFill>
                            <a:srgbClr val="555045"/>
                          </a:solidFill>
                          <a:latin typeface="Arial"/>
                        </a:rPr>
                        <a:t>+0,006</a:t>
                      </a:r>
                    </a:p>
                  </a:txBody>
                  <a:tcPr marL="82296" marR="82296" anchor="ctr">
                    <a:solidFill>
                      <a:srgbClr val="FFFFFF"/>
                    </a:solidFill>
                  </a:tcPr>
                </a:tc>
                <a:extLst>
                  <a:ext uri="{0D108BD9-81ED-4DB2-BD59-A6C34878D82A}">
                    <a16:rowId xmlns:a16="http://schemas.microsoft.com/office/drawing/2014/main" val="10007"/>
                  </a:ext>
                </a:extLst>
              </a:tr>
            </a:tbl>
          </a:graphicData>
        </a:graphic>
      </p:graphicFrame>
      <p:sp>
        <p:nvSpPr>
          <p:cNvPr id="7" name="TextBox 6"/>
          <p:cNvSpPr txBox="1"/>
          <p:nvPr/>
        </p:nvSpPr>
        <p:spPr>
          <a:xfrm>
            <a:off x="548640" y="5635203"/>
            <a:ext cx="5387187" cy="560832"/>
          </a:xfrm>
          <a:prstGeom prst="rect">
            <a:avLst/>
          </a:prstGeom>
          <a:noFill/>
        </p:spPr>
        <p:txBody>
          <a:bodyPr wrap="square" lIns="0" tIns="0" rIns="0" bIns="0">
            <a:spAutoFit/>
          </a:bodyPr>
          <a:lstStyle/>
          <a:p>
            <a:pPr>
              <a:lnSpc>
                <a:spcPct val="118000"/>
              </a:lnSpc>
              <a:spcAft>
                <a:spcPts val="300"/>
              </a:spcAft>
            </a:pPr>
            <a:r>
              <a:rPr sz="900" b="0">
                <a:solidFill>
                  <a:srgbClr val="555045"/>
                </a:solidFill>
                <a:latin typeface="Arial"/>
              </a:rPr>
              <a:t>Cuando la política promete cubrir el 68 % de las semanas, cubre el 69 %. El desvío medio es de +0,006 y el peor caso de 0,043.</a:t>
            </a:r>
          </a:p>
          <a:p>
            <a:pPr>
              <a:lnSpc>
                <a:spcPct val="118000"/>
              </a:lnSpc>
              <a:spcAft>
                <a:spcPts val="300"/>
              </a:spcAft>
            </a:pPr>
            <a:r>
              <a:rPr sz="900" b="0">
                <a:solidFill>
                  <a:srgbClr val="555045"/>
                </a:solidFill>
                <a:latin typeface="Arial"/>
              </a:rPr>
              <a:t>Los niveles se ajustan por separado.</a:t>
            </a:r>
          </a:p>
        </p:txBody>
      </p:sp>
      <p:sp>
        <p:nvSpPr>
          <p:cNvPr id="8" name="TextBox 7"/>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13 · CALIBRACIÓN CONFORMAL</a:t>
            </a:r>
          </a:p>
        </p:txBody>
      </p:sp>
      <p:sp>
        <p:nvSpPr>
          <p:cNvPr id="9" name="TextBox 8"/>
          <p:cNvSpPr txBox="1"/>
          <p:nvPr/>
        </p:nvSpPr>
        <p:spPr>
          <a:xfrm>
            <a:off x="6255867" y="704088"/>
            <a:ext cx="5387187" cy="282143"/>
          </a:xfrm>
          <a:prstGeom prst="rect">
            <a:avLst/>
          </a:prstGeom>
          <a:noFill/>
        </p:spPr>
        <p:txBody>
          <a:bodyPr wrap="square" lIns="0" tIns="0" rIns="0" bIns="0">
            <a:spAutoFit/>
          </a:bodyPr>
          <a:lstStyle/>
          <a:p>
            <a:pPr>
              <a:lnSpc>
                <a:spcPct val="118000"/>
              </a:lnSpc>
              <a:spcAft>
                <a:spcPts val="300"/>
              </a:spcAft>
            </a:pPr>
            <a:r>
              <a:rPr sz="1220" b="1">
                <a:solidFill>
                  <a:srgbClr val="17150F"/>
                </a:solidFill>
                <a:latin typeface="Arial"/>
              </a:rPr>
              <a:t>Calibración del Modelo</a:t>
            </a:r>
          </a:p>
        </p:txBody>
      </p:sp>
      <p:pic>
        <p:nvPicPr>
          <p:cNvPr id="10" name="Picture 9" descr="image.png"/>
          <p:cNvPicPr>
            <a:picLocks noChangeAspect="1"/>
          </p:cNvPicPr>
          <p:nvPr/>
        </p:nvPicPr>
        <p:blipFill>
          <a:blip r:embed="rId3"/>
          <a:stretch>
            <a:fillRect/>
          </a:stretch>
        </p:blipFill>
        <p:spPr>
          <a:xfrm>
            <a:off x="6255867" y="1022807"/>
            <a:ext cx="3763670" cy="2476099"/>
          </a:xfrm>
          <a:prstGeom prst="rect">
            <a:avLst/>
          </a:prstGeom>
        </p:spPr>
      </p:pic>
      <p:pic>
        <p:nvPicPr>
          <p:cNvPr id="11" name="Picture 10" descr="image.png"/>
          <p:cNvPicPr>
            <a:picLocks noChangeAspect="1"/>
          </p:cNvPicPr>
          <p:nvPr/>
        </p:nvPicPr>
        <p:blipFill>
          <a:blip r:embed="rId4"/>
          <a:stretch>
            <a:fillRect/>
          </a:stretch>
        </p:blipFill>
        <p:spPr>
          <a:xfrm>
            <a:off x="6255867" y="3590345"/>
            <a:ext cx="3763670" cy="2326632"/>
          </a:xfrm>
          <a:prstGeom prst="rect">
            <a:avLst/>
          </a:prstGeom>
        </p:spPr>
      </p:pic>
      <p:sp>
        <p:nvSpPr>
          <p:cNvPr id="12" name="Rectangle 11"/>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11 · Rejilla de niveles</a:t>
            </a:r>
          </a:p>
        </p:txBody>
      </p:sp>
      <p:sp>
        <p:nvSpPr>
          <p:cNvPr id="15" name="TextBox 14"/>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11 · LA REJILLA ENTRENADA</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836676"/>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El abanico se adapta a cada serie, que es para lo que se eligió</a:t>
            </a:r>
          </a:p>
        </p:txBody>
      </p:sp>
      <p:sp>
        <p:nvSpPr>
          <p:cNvPr id="7" name="TextBox 6"/>
          <p:cNvSpPr txBox="1"/>
          <p:nvPr/>
        </p:nvSpPr>
        <p:spPr>
          <a:xfrm>
            <a:off x="1028700" y="4006054"/>
            <a:ext cx="9858642" cy="1231684"/>
          </a:xfrm>
          <a:prstGeom prst="rect">
            <a:avLst/>
          </a:prstGeom>
          <a:noFill/>
        </p:spPr>
        <p:txBody>
          <a:bodyPr wrap="square" lIns="0" tIns="0" rIns="0" bIns="0">
            <a:spAutoFit/>
          </a:bodyPr>
          <a:lstStyle/>
          <a:p>
            <a:pPr algn="l">
              <a:lnSpc>
                <a:spcPct val="130000"/>
              </a:lnSpc>
              <a:spcBef>
                <a:spcPts val="0"/>
              </a:spcBef>
              <a:spcAft>
                <a:spcPts val="1400"/>
              </a:spcAft>
            </a:pPr>
            <a:r>
              <a:rPr lang="en-US" sz="1350" b="0" dirty="0">
                <a:solidFill>
                  <a:srgbClr val="555045"/>
                </a:solidFill>
                <a:latin typeface="Arial"/>
              </a:rPr>
              <a:t>Cuatro series de las </a:t>
            </a:r>
            <a:r>
              <a:rPr lang="en-US" sz="1350" b="0" dirty="0" err="1">
                <a:solidFill>
                  <a:srgbClr val="555045"/>
                </a:solidFill>
                <a:latin typeface="Arial"/>
              </a:rPr>
              <a:t>semanas</a:t>
            </a:r>
            <a:r>
              <a:rPr lang="en-US" sz="1350" b="0" dirty="0">
                <a:solidFill>
                  <a:srgbClr val="555045"/>
                </a:solidFill>
                <a:latin typeface="Arial"/>
              </a:rPr>
              <a:t> de </a:t>
            </a:r>
            <a:r>
              <a:rPr lang="en-US" sz="1350" b="0" dirty="0" err="1">
                <a:solidFill>
                  <a:srgbClr val="555045"/>
                </a:solidFill>
                <a:latin typeface="Arial"/>
              </a:rPr>
              <a:t>prueba</a:t>
            </a:r>
            <a:r>
              <a:rPr lang="en-US" sz="1350" b="0" dirty="0">
                <a:solidFill>
                  <a:srgbClr val="555045"/>
                </a:solidFill>
                <a:latin typeface="Arial"/>
              </a:rPr>
              <a:t>, </a:t>
            </a:r>
            <a:r>
              <a:rPr lang="en-US" sz="1350" b="0" dirty="0" err="1">
                <a:solidFill>
                  <a:srgbClr val="555045"/>
                </a:solidFill>
                <a:latin typeface="Arial"/>
              </a:rPr>
              <a:t>elegidas</a:t>
            </a:r>
            <a:r>
              <a:rPr lang="en-US" sz="1350" b="0" dirty="0">
                <a:solidFill>
                  <a:srgbClr val="555045"/>
                </a:solidFill>
                <a:latin typeface="Arial"/>
              </a:rPr>
              <a:t> </a:t>
            </a:r>
            <a:r>
              <a:rPr lang="en-US" sz="1350" b="0" dirty="0" err="1">
                <a:solidFill>
                  <a:srgbClr val="555045"/>
                </a:solidFill>
                <a:latin typeface="Arial"/>
              </a:rPr>
              <a:t>por</a:t>
            </a:r>
            <a:r>
              <a:rPr lang="en-US" sz="1350" b="0" dirty="0">
                <a:solidFill>
                  <a:srgbClr val="555045"/>
                </a:solidFill>
                <a:latin typeface="Arial"/>
              </a:rPr>
              <a:t> </a:t>
            </a:r>
            <a:r>
              <a:rPr lang="en-US" sz="1350" b="0" dirty="0" err="1">
                <a:solidFill>
                  <a:srgbClr val="555045"/>
                </a:solidFill>
                <a:latin typeface="Arial"/>
              </a:rPr>
              <a:t>dato</a:t>
            </a:r>
            <a:r>
              <a:rPr lang="en-US" sz="1350" b="0" dirty="0">
                <a:solidFill>
                  <a:srgbClr val="555045"/>
                </a:solidFill>
                <a:latin typeface="Arial"/>
              </a:rPr>
              <a:t>: </a:t>
            </a:r>
            <a:r>
              <a:rPr lang="en-US" sz="1350" b="0" dirty="0" err="1">
                <a:solidFill>
                  <a:srgbClr val="555045"/>
                </a:solidFill>
                <a:latin typeface="Arial"/>
              </a:rPr>
              <a:t>tres</a:t>
            </a:r>
            <a:r>
              <a:rPr lang="en-US" sz="1350" b="0" dirty="0">
                <a:solidFill>
                  <a:srgbClr val="555045"/>
                </a:solidFill>
                <a:latin typeface="Arial"/>
              </a:rPr>
              <a:t> de las </a:t>
            </a:r>
            <a:r>
              <a:rPr lang="en-US" sz="1350" b="0" dirty="0" err="1">
                <a:solidFill>
                  <a:srgbClr val="555045"/>
                </a:solidFill>
                <a:latin typeface="Arial"/>
              </a:rPr>
              <a:t>mejor</a:t>
            </a:r>
            <a:r>
              <a:rPr lang="en-US" sz="1350" b="0" dirty="0">
                <a:solidFill>
                  <a:srgbClr val="555045"/>
                </a:solidFill>
                <a:latin typeface="Arial"/>
              </a:rPr>
              <a:t> </a:t>
            </a:r>
            <a:r>
              <a:rPr lang="en-US" sz="1350" b="0" dirty="0" err="1">
                <a:solidFill>
                  <a:srgbClr val="555045"/>
                </a:solidFill>
                <a:latin typeface="Arial"/>
              </a:rPr>
              <a:t>cubiertas</a:t>
            </a:r>
            <a:r>
              <a:rPr lang="en-US" sz="1350" b="0" dirty="0">
                <a:solidFill>
                  <a:srgbClr val="555045"/>
                </a:solidFill>
                <a:latin typeface="Arial"/>
              </a:rPr>
              <a:t> y la </a:t>
            </a:r>
            <a:r>
              <a:rPr lang="en-US" sz="1350" b="0" dirty="0" err="1">
                <a:solidFill>
                  <a:srgbClr val="555045"/>
                </a:solidFill>
                <a:latin typeface="Arial"/>
              </a:rPr>
              <a:t>peor</a:t>
            </a:r>
            <a:r>
              <a:rPr lang="en-US" sz="1350" b="0" dirty="0">
                <a:solidFill>
                  <a:srgbClr val="555045"/>
                </a:solidFill>
                <a:latin typeface="Arial"/>
              </a:rPr>
              <a:t> de las 160. La </a:t>
            </a:r>
            <a:r>
              <a:rPr lang="en-US" sz="1350" b="0" dirty="0" err="1">
                <a:solidFill>
                  <a:srgbClr val="555045"/>
                </a:solidFill>
                <a:latin typeface="Arial"/>
              </a:rPr>
              <a:t>línea</a:t>
            </a:r>
            <a:r>
              <a:rPr lang="en-US" sz="1350" b="0" dirty="0">
                <a:solidFill>
                  <a:srgbClr val="555045"/>
                </a:solidFill>
                <a:latin typeface="Arial"/>
              </a:rPr>
              <a:t> </a:t>
            </a:r>
            <a:r>
              <a:rPr lang="en-US" sz="1350" b="0" dirty="0" err="1">
                <a:solidFill>
                  <a:srgbClr val="555045"/>
                </a:solidFill>
                <a:latin typeface="Arial"/>
              </a:rPr>
              <a:t>discontinua</a:t>
            </a:r>
            <a:r>
              <a:rPr lang="en-US" sz="1350" b="0" dirty="0">
                <a:solidFill>
                  <a:srgbClr val="555045"/>
                </a:solidFill>
                <a:latin typeface="Arial"/>
              </a:rPr>
              <a:t> es lo </a:t>
            </a:r>
            <a:r>
              <a:rPr lang="en-US" sz="1350" b="0" dirty="0" err="1">
                <a:solidFill>
                  <a:srgbClr val="555045"/>
                </a:solidFill>
                <a:latin typeface="Arial"/>
              </a:rPr>
              <a:t>que</a:t>
            </a:r>
            <a:r>
              <a:rPr lang="en-US" sz="1350" b="0" dirty="0">
                <a:solidFill>
                  <a:srgbClr val="555045"/>
                </a:solidFill>
                <a:latin typeface="Arial"/>
              </a:rPr>
              <a:t> se </a:t>
            </a:r>
            <a:r>
              <a:rPr lang="en-US" sz="1350" b="0" dirty="0" err="1">
                <a:solidFill>
                  <a:srgbClr val="555045"/>
                </a:solidFill>
                <a:latin typeface="Arial"/>
              </a:rPr>
              <a:t>pediría</a:t>
            </a:r>
            <a:r>
              <a:rPr lang="en-US" sz="1350" b="0" dirty="0">
                <a:solidFill>
                  <a:srgbClr val="555045"/>
                </a:solidFill>
                <a:latin typeface="Arial"/>
              </a:rPr>
              <a:t>; la </a:t>
            </a:r>
            <a:r>
              <a:rPr lang="en-US" sz="1350" b="0" dirty="0" err="1">
                <a:solidFill>
                  <a:srgbClr val="555045"/>
                </a:solidFill>
                <a:latin typeface="Arial"/>
              </a:rPr>
              <a:t>franja</a:t>
            </a:r>
            <a:r>
              <a:rPr lang="en-US" sz="1350" b="0" dirty="0">
                <a:solidFill>
                  <a:srgbClr val="555045"/>
                </a:solidFill>
                <a:latin typeface="Arial"/>
              </a:rPr>
              <a:t>, el </a:t>
            </a:r>
            <a:r>
              <a:rPr lang="en-US" sz="1350" b="0" dirty="0" err="1">
                <a:solidFill>
                  <a:srgbClr val="555045"/>
                </a:solidFill>
                <a:latin typeface="Arial"/>
              </a:rPr>
              <a:t>colchón</a:t>
            </a:r>
            <a:r>
              <a:rPr lang="en-US" sz="1350" b="0" dirty="0">
                <a:solidFill>
                  <a:srgbClr val="555045"/>
                </a:solidFill>
                <a:latin typeface="Arial"/>
              </a:rPr>
              <a:t> </a:t>
            </a:r>
            <a:r>
              <a:rPr lang="en-US" sz="1350" b="0" dirty="0" err="1">
                <a:solidFill>
                  <a:srgbClr val="555045"/>
                </a:solidFill>
                <a:latin typeface="Arial"/>
              </a:rPr>
              <a:t>sobre</a:t>
            </a:r>
            <a:r>
              <a:rPr lang="en-US" sz="1350" b="0" dirty="0">
                <a:solidFill>
                  <a:srgbClr val="555045"/>
                </a:solidFill>
                <a:latin typeface="Arial"/>
              </a:rPr>
              <a:t> el </a:t>
            </a:r>
            <a:r>
              <a:rPr lang="en-US" sz="1350" b="0" dirty="0" err="1">
                <a:solidFill>
                  <a:srgbClr val="555045"/>
                </a:solidFill>
                <a:latin typeface="Arial"/>
              </a:rPr>
              <a:t>pronóstico</a:t>
            </a:r>
            <a:r>
              <a:rPr lang="en-US" sz="1350" b="0" dirty="0">
                <a:solidFill>
                  <a:srgbClr val="555045"/>
                </a:solidFill>
                <a:latin typeface="Arial"/>
              </a:rPr>
              <a:t> central.</a:t>
            </a:r>
          </a:p>
          <a:p>
            <a:pPr algn="l">
              <a:lnSpc>
                <a:spcPct val="130000"/>
              </a:lnSpc>
              <a:spcBef>
                <a:spcPts val="0"/>
              </a:spcBef>
              <a:spcAft>
                <a:spcPts val="1400"/>
              </a:spcAft>
            </a:pPr>
            <a:r>
              <a:rPr lang="en-US" sz="1350" dirty="0">
                <a:solidFill>
                  <a:srgbClr val="555045"/>
                </a:solidFill>
                <a:latin typeface="Arial"/>
              </a:rPr>
              <a:t>En las </a:t>
            </a:r>
            <a:r>
              <a:rPr lang="en-US" sz="1350" dirty="0" err="1">
                <a:solidFill>
                  <a:srgbClr val="555045"/>
                </a:solidFill>
                <a:latin typeface="Arial"/>
              </a:rPr>
              <a:t>buenas</a:t>
            </a:r>
            <a:r>
              <a:rPr lang="en-US" sz="1350" dirty="0">
                <a:solidFill>
                  <a:srgbClr val="555045"/>
                </a:solidFill>
                <a:latin typeface="Arial"/>
              </a:rPr>
              <a:t>, el </a:t>
            </a:r>
            <a:r>
              <a:rPr lang="en-US" sz="1350" dirty="0" err="1">
                <a:solidFill>
                  <a:srgbClr val="555045"/>
                </a:solidFill>
                <a:latin typeface="Arial"/>
              </a:rPr>
              <a:t>pedido</a:t>
            </a:r>
            <a:r>
              <a:rPr lang="en-US" sz="1350" dirty="0">
                <a:solidFill>
                  <a:srgbClr val="555045"/>
                </a:solidFill>
                <a:latin typeface="Arial"/>
              </a:rPr>
              <a:t> </a:t>
            </a:r>
            <a:r>
              <a:rPr lang="en-US" sz="1350" dirty="0" err="1">
                <a:solidFill>
                  <a:srgbClr val="555045"/>
                </a:solidFill>
                <a:latin typeface="Arial"/>
              </a:rPr>
              <a:t>cubre</a:t>
            </a:r>
            <a:r>
              <a:rPr lang="en-US" sz="1350" dirty="0">
                <a:solidFill>
                  <a:srgbClr val="555045"/>
                </a:solidFill>
                <a:latin typeface="Arial"/>
              </a:rPr>
              <a:t> la </a:t>
            </a:r>
            <a:r>
              <a:rPr lang="en-US" sz="1350" dirty="0" err="1">
                <a:solidFill>
                  <a:srgbClr val="555045"/>
                </a:solidFill>
                <a:latin typeface="Arial"/>
              </a:rPr>
              <a:t>venta</a:t>
            </a:r>
            <a:r>
              <a:rPr lang="en-US" sz="1350" dirty="0">
                <a:solidFill>
                  <a:srgbClr val="555045"/>
                </a:solidFill>
                <a:latin typeface="Arial"/>
              </a:rPr>
              <a:t> con </a:t>
            </a:r>
            <a:r>
              <a:rPr lang="en-US" sz="1350" dirty="0" err="1">
                <a:solidFill>
                  <a:srgbClr val="555045"/>
                </a:solidFill>
                <a:latin typeface="Arial"/>
              </a:rPr>
              <a:t>sobrante</a:t>
            </a:r>
            <a:r>
              <a:rPr lang="en-US" sz="1350" dirty="0">
                <a:solidFill>
                  <a:srgbClr val="555045"/>
                </a:solidFill>
                <a:latin typeface="Arial"/>
              </a:rPr>
              <a:t> </a:t>
            </a:r>
            <a:r>
              <a:rPr lang="en-US" sz="1350" dirty="0" err="1">
                <a:solidFill>
                  <a:srgbClr val="555045"/>
                </a:solidFill>
                <a:latin typeface="Arial"/>
              </a:rPr>
              <a:t>pequeño</a:t>
            </a:r>
            <a:r>
              <a:rPr lang="en-US" sz="1350" dirty="0">
                <a:solidFill>
                  <a:srgbClr val="555045"/>
                </a:solidFill>
                <a:latin typeface="Arial"/>
              </a:rPr>
              <a:t> y el </a:t>
            </a:r>
            <a:r>
              <a:rPr lang="en-US" sz="1350" dirty="0" err="1">
                <a:solidFill>
                  <a:srgbClr val="555045"/>
                </a:solidFill>
                <a:latin typeface="Arial"/>
              </a:rPr>
              <a:t>colchón</a:t>
            </a:r>
            <a:r>
              <a:rPr lang="en-US" sz="1350" dirty="0">
                <a:solidFill>
                  <a:srgbClr val="555045"/>
                </a:solidFill>
                <a:latin typeface="Arial"/>
              </a:rPr>
              <a:t> cambia con </a:t>
            </a:r>
            <a:r>
              <a:rPr lang="en-US" sz="1350" dirty="0" err="1">
                <a:solidFill>
                  <a:srgbClr val="555045"/>
                </a:solidFill>
                <a:latin typeface="Arial"/>
              </a:rPr>
              <a:t>cada</a:t>
            </a:r>
            <a:r>
              <a:rPr lang="en-US" sz="1350" dirty="0">
                <a:solidFill>
                  <a:srgbClr val="555045"/>
                </a:solidFill>
                <a:latin typeface="Arial"/>
              </a:rPr>
              <a:t> </a:t>
            </a:r>
            <a:r>
              <a:rPr lang="en-US" sz="1350" dirty="0" err="1">
                <a:solidFill>
                  <a:srgbClr val="555045"/>
                </a:solidFill>
                <a:latin typeface="Arial"/>
              </a:rPr>
              <a:t>serie</a:t>
            </a:r>
            <a:r>
              <a:rPr lang="en-US" sz="1350" dirty="0">
                <a:solidFill>
                  <a:srgbClr val="555045"/>
                </a:solidFill>
                <a:latin typeface="Arial"/>
              </a:rPr>
              <a:t>. La </a:t>
            </a:r>
            <a:r>
              <a:rPr lang="en-US" sz="1350" dirty="0" err="1">
                <a:solidFill>
                  <a:srgbClr val="555045"/>
                </a:solidFill>
                <a:latin typeface="Arial"/>
              </a:rPr>
              <a:t>peor</a:t>
            </a:r>
            <a:r>
              <a:rPr lang="en-US" sz="1350" dirty="0">
                <a:solidFill>
                  <a:srgbClr val="555045"/>
                </a:solidFill>
                <a:latin typeface="Arial"/>
              </a:rPr>
              <a:t>, STORE_09 con Café con Leche, es la </a:t>
            </a:r>
            <a:r>
              <a:rPr lang="en-US" sz="1350" dirty="0" err="1">
                <a:solidFill>
                  <a:srgbClr val="555045"/>
                </a:solidFill>
                <a:latin typeface="Arial"/>
              </a:rPr>
              <a:t>misma</a:t>
            </a:r>
            <a:r>
              <a:rPr lang="en-US" sz="1350" dirty="0">
                <a:solidFill>
                  <a:srgbClr val="555045"/>
                </a:solidFill>
                <a:latin typeface="Arial"/>
              </a:rPr>
              <a:t> </a:t>
            </a:r>
            <a:r>
              <a:rPr lang="en-US" sz="1350" dirty="0" err="1">
                <a:solidFill>
                  <a:srgbClr val="555045"/>
                </a:solidFill>
                <a:latin typeface="Arial"/>
              </a:rPr>
              <a:t>que</a:t>
            </a:r>
            <a:r>
              <a:rPr lang="en-US" sz="1350" dirty="0">
                <a:solidFill>
                  <a:srgbClr val="555045"/>
                </a:solidFill>
                <a:latin typeface="Arial"/>
              </a:rPr>
              <a:t> el </a:t>
            </a:r>
            <a:r>
              <a:rPr lang="en-US" sz="1350" dirty="0" err="1">
                <a:solidFill>
                  <a:srgbClr val="555045"/>
                </a:solidFill>
                <a:latin typeface="Arial"/>
              </a:rPr>
              <a:t>diagnóstico</a:t>
            </a:r>
            <a:r>
              <a:rPr lang="en-US" sz="1350" dirty="0">
                <a:solidFill>
                  <a:srgbClr val="555045"/>
                </a:solidFill>
                <a:latin typeface="Arial"/>
              </a:rPr>
              <a:t> </a:t>
            </a:r>
            <a:r>
              <a:rPr lang="en-US" sz="1350" dirty="0" err="1">
                <a:solidFill>
                  <a:srgbClr val="555045"/>
                </a:solidFill>
                <a:latin typeface="Arial"/>
              </a:rPr>
              <a:t>señala</a:t>
            </a:r>
            <a:r>
              <a:rPr lang="en-US" sz="1350" dirty="0">
                <a:solidFill>
                  <a:srgbClr val="555045"/>
                </a:solidFill>
                <a:latin typeface="Arial"/>
              </a:rPr>
              <a:t> primero: el </a:t>
            </a:r>
            <a:r>
              <a:rPr lang="en-US" sz="1350" dirty="0" err="1">
                <a:solidFill>
                  <a:srgbClr val="555045"/>
                </a:solidFill>
                <a:latin typeface="Arial"/>
              </a:rPr>
              <a:t>proceso</a:t>
            </a:r>
            <a:r>
              <a:rPr lang="en-US" sz="1350" dirty="0">
                <a:solidFill>
                  <a:srgbClr val="555045"/>
                </a:solidFill>
                <a:latin typeface="Arial"/>
              </a:rPr>
              <a:t> </a:t>
            </a:r>
            <a:r>
              <a:rPr lang="en-US" sz="1350" dirty="0" err="1">
                <a:solidFill>
                  <a:srgbClr val="555045"/>
                </a:solidFill>
                <a:latin typeface="Arial"/>
              </a:rPr>
              <a:t>detecta</a:t>
            </a:r>
            <a:r>
              <a:rPr lang="en-US" sz="1350" dirty="0">
                <a:solidFill>
                  <a:srgbClr val="555045"/>
                </a:solidFill>
                <a:latin typeface="Arial"/>
              </a:rPr>
              <a:t> </a:t>
            </a:r>
            <a:r>
              <a:rPr lang="en-US" sz="1350" dirty="0" err="1">
                <a:solidFill>
                  <a:srgbClr val="555045"/>
                </a:solidFill>
                <a:latin typeface="Arial"/>
              </a:rPr>
              <a:t>dónde</a:t>
            </a:r>
            <a:r>
              <a:rPr lang="en-US" sz="1350" dirty="0">
                <a:solidFill>
                  <a:srgbClr val="555045"/>
                </a:solidFill>
                <a:latin typeface="Arial"/>
              </a:rPr>
              <a:t> no </a:t>
            </a:r>
            <a:r>
              <a:rPr lang="en-US" sz="1350" dirty="0" err="1">
                <a:solidFill>
                  <a:srgbClr val="555045"/>
                </a:solidFill>
                <a:latin typeface="Arial"/>
              </a:rPr>
              <a:t>acierta</a:t>
            </a:r>
            <a:r>
              <a:rPr lang="en-US" sz="1350" dirty="0">
                <a:solidFill>
                  <a:srgbClr val="555045"/>
                </a:solidFill>
                <a:latin typeface="Arial"/>
              </a:rPr>
              <a:t>.</a:t>
            </a:r>
          </a:p>
        </p:txBody>
      </p:sp>
      <p:sp>
        <p:nvSpPr>
          <p:cNvPr id="8" name="Rectangle 7"/>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11 · Rejilla de niveles</a:t>
            </a:r>
          </a:p>
        </p:txBody>
      </p:sp>
      <p:sp>
        <p:nvSpPr>
          <p:cNvPr id="10" name="TextBox 9"/>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18</a:t>
            </a:r>
          </a:p>
        </p:txBody>
      </p:sp>
      <p:pic>
        <p:nvPicPr>
          <p:cNvPr id="11" name="Picture 10">
            <a:extLst>
              <a:ext uri="{FF2B5EF4-FFF2-40B4-BE49-F238E27FC236}">
                <a16:creationId xmlns:a16="http://schemas.microsoft.com/office/drawing/2014/main" id="{AD19F758-A52B-5402-7951-2B928DEF516C}"/>
              </a:ext>
            </a:extLst>
          </p:cNvPr>
          <p:cNvPicPr>
            <a:picLocks noChangeAspect="1"/>
          </p:cNvPicPr>
          <p:nvPr/>
        </p:nvPicPr>
        <p:blipFill>
          <a:blip r:embed="rId2"/>
          <a:stretch>
            <a:fillRect/>
          </a:stretch>
        </p:blipFill>
        <p:spPr>
          <a:xfrm>
            <a:off x="1474862" y="1502743"/>
            <a:ext cx="7772400" cy="231918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12 · DIAGNÓSTICO</a:t>
            </a:r>
          </a:p>
        </p:txBody>
      </p:sp>
      <p:sp>
        <p:nvSpPr>
          <p:cNvPr id="4" name="TextBox 3"/>
          <p:cNvSpPr txBox="1"/>
          <p:nvPr/>
        </p:nvSpPr>
        <p:spPr>
          <a:xfrm>
            <a:off x="548640"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El error se concentra en las tiendas pequeñas</a:t>
            </a:r>
          </a:p>
        </p:txBody>
      </p:sp>
      <p:pic>
        <p:nvPicPr>
          <p:cNvPr id="5" name="Picture 4" descr="image.png"/>
          <p:cNvPicPr>
            <a:picLocks noChangeAspect="1"/>
          </p:cNvPicPr>
          <p:nvPr/>
        </p:nvPicPr>
        <p:blipFill>
          <a:blip r:embed="rId2"/>
          <a:stretch>
            <a:fillRect/>
          </a:stretch>
        </p:blipFill>
        <p:spPr>
          <a:xfrm>
            <a:off x="548640" y="1060196"/>
            <a:ext cx="4480560" cy="1873689"/>
          </a:xfrm>
          <a:prstGeom prst="rect">
            <a:avLst/>
          </a:prstGeom>
        </p:spPr>
      </p:pic>
      <p:graphicFrame>
        <p:nvGraphicFramePr>
          <p:cNvPr id="6" name="Table 5"/>
          <p:cNvGraphicFramePr>
            <a:graphicFrameLocks noGrp="1"/>
          </p:cNvGraphicFramePr>
          <p:nvPr/>
        </p:nvGraphicFramePr>
        <p:xfrm>
          <a:off x="548640" y="3025324"/>
          <a:ext cx="5387185" cy="1298448"/>
        </p:xfrm>
        <a:graphic>
          <a:graphicData uri="http://schemas.openxmlformats.org/drawingml/2006/table">
            <a:tbl>
              <a:tblPr bandRow="1">
                <a:tableStyleId>{5C22544A-7EE6-4342-B048-85BDC9FD1C3A}</a:tableStyleId>
              </a:tblPr>
              <a:tblGrid>
                <a:gridCol w="2020195">
                  <a:extLst>
                    <a:ext uri="{9D8B030D-6E8A-4147-A177-3AD203B41FA5}">
                      <a16:colId xmlns:a16="http://schemas.microsoft.com/office/drawing/2014/main" val="20000"/>
                    </a:ext>
                  </a:extLst>
                </a:gridCol>
                <a:gridCol w="1122330">
                  <a:extLst>
                    <a:ext uri="{9D8B030D-6E8A-4147-A177-3AD203B41FA5}">
                      <a16:colId xmlns:a16="http://schemas.microsoft.com/office/drawing/2014/main" val="20001"/>
                    </a:ext>
                  </a:extLst>
                </a:gridCol>
                <a:gridCol w="1122330">
                  <a:extLst>
                    <a:ext uri="{9D8B030D-6E8A-4147-A177-3AD203B41FA5}">
                      <a16:colId xmlns:a16="http://schemas.microsoft.com/office/drawing/2014/main" val="20002"/>
                    </a:ext>
                  </a:extLst>
                </a:gridCol>
                <a:gridCol w="1122330">
                  <a:extLst>
                    <a:ext uri="{9D8B030D-6E8A-4147-A177-3AD203B41FA5}">
                      <a16:colId xmlns:a16="http://schemas.microsoft.com/office/drawing/2014/main" val="20003"/>
                    </a:ext>
                  </a:extLst>
                </a:gridCol>
              </a:tblGrid>
              <a:tr h="347472">
                <a:tc>
                  <a:txBody>
                    <a:bodyPr/>
                    <a:lstStyle/>
                    <a:p>
                      <a:pPr algn="l"/>
                      <a:r>
                        <a:rPr sz="810" b="1">
                          <a:solidFill>
                            <a:srgbClr val="8B8478"/>
                          </a:solidFill>
                          <a:latin typeface="Arial"/>
                        </a:rPr>
                        <a:t>Tramo</a:t>
                      </a:r>
                    </a:p>
                  </a:txBody>
                  <a:tcPr marL="82296" marR="82296" anchor="ctr">
                    <a:solidFill>
                      <a:srgbClr val="F4F2ED"/>
                    </a:solidFill>
                  </a:tcPr>
                </a:tc>
                <a:tc>
                  <a:txBody>
                    <a:bodyPr/>
                    <a:lstStyle/>
                    <a:p>
                      <a:pPr algn="r"/>
                      <a:r>
                        <a:rPr sz="810" b="1">
                          <a:solidFill>
                            <a:srgbClr val="8B8478"/>
                          </a:solidFill>
                          <a:latin typeface="Arial"/>
                        </a:rPr>
                        <a:t>Demanda</a:t>
                      </a:r>
                    </a:p>
                  </a:txBody>
                  <a:tcPr marL="82296" marR="82296" anchor="ctr">
                    <a:solidFill>
                      <a:srgbClr val="F4F2ED"/>
                    </a:solidFill>
                  </a:tcPr>
                </a:tc>
                <a:tc>
                  <a:txBody>
                    <a:bodyPr/>
                    <a:lstStyle/>
                    <a:p>
                      <a:pPr algn="r"/>
                      <a:r>
                        <a:rPr sz="810" b="1">
                          <a:solidFill>
                            <a:srgbClr val="8B8478"/>
                          </a:solidFill>
                          <a:latin typeface="Arial"/>
                        </a:rPr>
                        <a:t>Error</a:t>
                      </a:r>
                    </a:p>
                  </a:txBody>
                  <a:tcPr marL="82296" marR="82296" anchor="ctr">
                    <a:solidFill>
                      <a:srgbClr val="F4F2ED"/>
                    </a:solidFill>
                  </a:tcPr>
                </a:tc>
                <a:tc>
                  <a:txBody>
                    <a:bodyPr/>
                    <a:lstStyle/>
                    <a:p>
                      <a:pPr algn="r"/>
                      <a:r>
                        <a:rPr sz="810" b="1">
                          <a:solidFill>
                            <a:srgbClr val="8B8478"/>
                          </a:solidFill>
                          <a:latin typeface="Arial"/>
                        </a:rPr>
                        <a:t>Sesgo</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0">
                          <a:solidFill>
                            <a:srgbClr val="17150F"/>
                          </a:solidFill>
                          <a:latin typeface="Arial"/>
                        </a:rPr>
                        <a:t>1 · el más bajo</a:t>
                      </a:r>
                    </a:p>
                  </a:txBody>
                  <a:tcPr marL="82296" marR="82296" anchor="ctr">
                    <a:solidFill>
                      <a:srgbClr val="FFFFFF"/>
                    </a:solidFill>
                  </a:tcPr>
                </a:tc>
                <a:tc>
                  <a:txBody>
                    <a:bodyPr/>
                    <a:lstStyle/>
                    <a:p>
                      <a:pPr algn="r"/>
                      <a:r>
                        <a:rPr sz="960" b="0">
                          <a:solidFill>
                            <a:srgbClr val="555045"/>
                          </a:solidFill>
                          <a:latin typeface="Arial"/>
                        </a:rPr>
                        <a:t>44,6</a:t>
                      </a:r>
                    </a:p>
                  </a:txBody>
                  <a:tcPr marL="82296" marR="82296" anchor="ctr">
                    <a:solidFill>
                      <a:srgbClr val="FFFFFF"/>
                    </a:solidFill>
                  </a:tcPr>
                </a:tc>
                <a:tc>
                  <a:txBody>
                    <a:bodyPr/>
                    <a:lstStyle/>
                    <a:p>
                      <a:pPr algn="r"/>
                      <a:r>
                        <a:rPr sz="960" b="0">
                          <a:solidFill>
                            <a:srgbClr val="555045"/>
                          </a:solidFill>
                          <a:latin typeface="Arial"/>
                        </a:rPr>
                        <a:t>17,8 %</a:t>
                      </a:r>
                    </a:p>
                  </a:txBody>
                  <a:tcPr marL="82296" marR="82296" anchor="ctr">
                    <a:solidFill>
                      <a:srgbClr val="FFFFFF"/>
                    </a:solidFill>
                  </a:tcPr>
                </a:tc>
                <a:tc>
                  <a:txBody>
                    <a:bodyPr/>
                    <a:lstStyle/>
                    <a:p>
                      <a:pPr algn="r"/>
                      <a:r>
                        <a:rPr sz="960" b="0">
                          <a:solidFill>
                            <a:srgbClr val="555045"/>
                          </a:solidFill>
                          <a:latin typeface="Arial"/>
                        </a:rPr>
                        <a:t>−3,44</a:t>
                      </a:r>
                    </a:p>
                  </a:txBody>
                  <a:tcPr marL="82296" marR="82296" anchor="ctr">
                    <a:solidFill>
                      <a:srgbClr val="FFFFF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2</a:t>
                      </a:r>
                    </a:p>
                  </a:txBody>
                  <a:tcPr marL="82296" marR="82296" anchor="ctr">
                    <a:solidFill>
                      <a:srgbClr val="FFFFFF"/>
                    </a:solidFill>
                  </a:tcPr>
                </a:tc>
                <a:tc>
                  <a:txBody>
                    <a:bodyPr/>
                    <a:lstStyle/>
                    <a:p>
                      <a:pPr algn="r"/>
                      <a:r>
                        <a:rPr sz="960" b="0">
                          <a:solidFill>
                            <a:srgbClr val="555045"/>
                          </a:solidFill>
                          <a:latin typeface="Arial"/>
                        </a:rPr>
                        <a:t>73,1</a:t>
                      </a:r>
                    </a:p>
                  </a:txBody>
                  <a:tcPr marL="82296" marR="82296" anchor="ctr">
                    <a:solidFill>
                      <a:srgbClr val="FFFFFF"/>
                    </a:solidFill>
                  </a:tcPr>
                </a:tc>
                <a:tc>
                  <a:txBody>
                    <a:bodyPr/>
                    <a:lstStyle/>
                    <a:p>
                      <a:pPr algn="r"/>
                      <a:r>
                        <a:rPr sz="960" b="0">
                          <a:solidFill>
                            <a:srgbClr val="555045"/>
                          </a:solidFill>
                          <a:latin typeface="Arial"/>
                        </a:rPr>
                        <a:t>12,4 %</a:t>
                      </a:r>
                    </a:p>
                  </a:txBody>
                  <a:tcPr marL="82296" marR="82296" anchor="ctr">
                    <a:solidFill>
                      <a:srgbClr val="FFFFFF"/>
                    </a:solidFill>
                  </a:tcPr>
                </a:tc>
                <a:tc>
                  <a:txBody>
                    <a:bodyPr/>
                    <a:lstStyle/>
                    <a:p>
                      <a:pPr algn="r"/>
                      <a:r>
                        <a:rPr sz="960" b="0">
                          <a:solidFill>
                            <a:srgbClr val="555045"/>
                          </a:solidFill>
                          <a:latin typeface="Arial"/>
                        </a:rPr>
                        <a:t>+0,15</a:t>
                      </a:r>
                    </a:p>
                  </a:txBody>
                  <a:tcPr marL="82296" marR="82296" anchor="ctr">
                    <a:solidFill>
                      <a:srgbClr val="FFFFFF"/>
                    </a:solidFill>
                  </a:tcPr>
                </a:tc>
                <a:extLst>
                  <a:ext uri="{0D108BD9-81ED-4DB2-BD59-A6C34878D82A}">
                    <a16:rowId xmlns:a16="http://schemas.microsoft.com/office/drawing/2014/main" val="10002"/>
                  </a:ext>
                </a:extLst>
              </a:tr>
              <a:tr h="228600">
                <a:tc>
                  <a:txBody>
                    <a:bodyPr/>
                    <a:lstStyle/>
                    <a:p>
                      <a:pPr algn="l"/>
                      <a:r>
                        <a:rPr sz="960" b="0">
                          <a:solidFill>
                            <a:srgbClr val="17150F"/>
                          </a:solidFill>
                          <a:latin typeface="Arial"/>
                        </a:rPr>
                        <a:t>3</a:t>
                      </a:r>
                    </a:p>
                  </a:txBody>
                  <a:tcPr marL="82296" marR="82296" anchor="ctr">
                    <a:solidFill>
                      <a:srgbClr val="FFFFFF"/>
                    </a:solidFill>
                  </a:tcPr>
                </a:tc>
                <a:tc>
                  <a:txBody>
                    <a:bodyPr/>
                    <a:lstStyle/>
                    <a:p>
                      <a:pPr algn="r"/>
                      <a:r>
                        <a:rPr sz="960" b="0">
                          <a:solidFill>
                            <a:srgbClr val="555045"/>
                          </a:solidFill>
                          <a:latin typeface="Arial"/>
                        </a:rPr>
                        <a:t>102,4</a:t>
                      </a:r>
                    </a:p>
                  </a:txBody>
                  <a:tcPr marL="82296" marR="82296" anchor="ctr">
                    <a:solidFill>
                      <a:srgbClr val="FFFFFF"/>
                    </a:solidFill>
                  </a:tcPr>
                </a:tc>
                <a:tc>
                  <a:txBody>
                    <a:bodyPr/>
                    <a:lstStyle/>
                    <a:p>
                      <a:pPr algn="r"/>
                      <a:r>
                        <a:rPr sz="960" b="0">
                          <a:solidFill>
                            <a:srgbClr val="555045"/>
                          </a:solidFill>
                          <a:latin typeface="Arial"/>
                        </a:rPr>
                        <a:t>10,8 %</a:t>
                      </a:r>
                    </a:p>
                  </a:txBody>
                  <a:tcPr marL="82296" marR="82296" anchor="ctr">
                    <a:solidFill>
                      <a:srgbClr val="FFFFFF"/>
                    </a:solidFill>
                  </a:tcPr>
                </a:tc>
                <a:tc>
                  <a:txBody>
                    <a:bodyPr/>
                    <a:lstStyle/>
                    <a:p>
                      <a:pPr algn="r"/>
                      <a:r>
                        <a:rPr sz="960" b="0">
                          <a:solidFill>
                            <a:srgbClr val="555045"/>
                          </a:solidFill>
                          <a:latin typeface="Arial"/>
                        </a:rPr>
                        <a:t>−3,20</a:t>
                      </a:r>
                    </a:p>
                  </a:txBody>
                  <a:tcPr marL="82296" marR="82296" anchor="ctr">
                    <a:solidFill>
                      <a:srgbClr val="FFFFFF"/>
                    </a:solidFill>
                  </a:tcPr>
                </a:tc>
                <a:extLst>
                  <a:ext uri="{0D108BD9-81ED-4DB2-BD59-A6C34878D82A}">
                    <a16:rowId xmlns:a16="http://schemas.microsoft.com/office/drawing/2014/main" val="10003"/>
                  </a:ext>
                </a:extLst>
              </a:tr>
              <a:tr h="228600">
                <a:tc>
                  <a:txBody>
                    <a:bodyPr/>
                    <a:lstStyle/>
                    <a:p>
                      <a:pPr algn="l"/>
                      <a:r>
                        <a:rPr sz="960" b="0">
                          <a:solidFill>
                            <a:srgbClr val="17150F"/>
                          </a:solidFill>
                          <a:latin typeface="Arial"/>
                        </a:rPr>
                        <a:t>4 · el más alto</a:t>
                      </a:r>
                    </a:p>
                  </a:txBody>
                  <a:tcPr marL="82296" marR="82296" anchor="ctr">
                    <a:solidFill>
                      <a:srgbClr val="FFFFFF"/>
                    </a:solidFill>
                  </a:tcPr>
                </a:tc>
                <a:tc>
                  <a:txBody>
                    <a:bodyPr/>
                    <a:lstStyle/>
                    <a:p>
                      <a:pPr algn="r"/>
                      <a:r>
                        <a:rPr sz="960" b="0">
                          <a:solidFill>
                            <a:srgbClr val="555045"/>
                          </a:solidFill>
                          <a:latin typeface="Arial"/>
                        </a:rPr>
                        <a:t>153,8</a:t>
                      </a:r>
                    </a:p>
                  </a:txBody>
                  <a:tcPr marL="82296" marR="82296" anchor="ctr">
                    <a:solidFill>
                      <a:srgbClr val="FFFFFF"/>
                    </a:solidFill>
                  </a:tcPr>
                </a:tc>
                <a:tc>
                  <a:txBody>
                    <a:bodyPr/>
                    <a:lstStyle/>
                    <a:p>
                      <a:pPr algn="r"/>
                      <a:r>
                        <a:rPr sz="960" b="0">
                          <a:solidFill>
                            <a:srgbClr val="555045"/>
                          </a:solidFill>
                          <a:latin typeface="Arial"/>
                        </a:rPr>
                        <a:t>10,3 %</a:t>
                      </a:r>
                    </a:p>
                  </a:txBody>
                  <a:tcPr marL="82296" marR="82296" anchor="ctr">
                    <a:solidFill>
                      <a:srgbClr val="FFFFFF"/>
                    </a:solidFill>
                  </a:tcPr>
                </a:tc>
                <a:tc>
                  <a:txBody>
                    <a:bodyPr/>
                    <a:lstStyle/>
                    <a:p>
                      <a:pPr algn="r"/>
                      <a:r>
                        <a:rPr sz="960" b="0">
                          <a:solidFill>
                            <a:srgbClr val="555045"/>
                          </a:solidFill>
                          <a:latin typeface="Arial"/>
                        </a:rPr>
                        <a:t>+6,85</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48640" y="4378636"/>
            <a:ext cx="5387187" cy="1154887"/>
          </a:xfrm>
          <a:prstGeom prst="rect">
            <a:avLst/>
          </a:prstGeom>
          <a:noFill/>
        </p:spPr>
        <p:txBody>
          <a:bodyPr wrap="square" lIns="0" tIns="0" rIns="0" bIns="0">
            <a:spAutoFit/>
          </a:bodyPr>
          <a:lstStyle/>
          <a:p>
            <a:pPr>
              <a:lnSpc>
                <a:spcPct val="118000"/>
              </a:lnSpc>
              <a:spcAft>
                <a:spcPts val="300"/>
              </a:spcAft>
            </a:pPr>
            <a:r>
              <a:rPr sz="1019" b="0">
                <a:solidFill>
                  <a:srgbClr val="555045"/>
                </a:solidFill>
                <a:latin typeface="Arial"/>
              </a:rPr>
              <a:t>En una serie que vende 45, un error de 8 es un 18 %. En una que vende 154, un error de 16 es un 10 %. La demanda baja es proporcionalmente más ruidosa.</a:t>
            </a:r>
          </a:p>
          <a:p>
            <a:pPr>
              <a:lnSpc>
                <a:spcPct val="118000"/>
              </a:lnSpc>
              <a:spcAft>
                <a:spcPts val="300"/>
              </a:spcAft>
            </a:pPr>
            <a:r>
              <a:rPr sz="1019" b="0">
                <a:solidFill>
                  <a:srgbClr val="555045"/>
                </a:solidFill>
                <a:latin typeface="Arial"/>
              </a:rPr>
              <a:t>Queda un sesgo residual por tamaño, reducido un 32 % pero no eliminado: el modelo sobrepredice las series pequeñas y subpredice las grandes.</a:t>
            </a:r>
          </a:p>
          <a:p>
            <a:pPr>
              <a:lnSpc>
                <a:spcPct val="118000"/>
              </a:lnSpc>
              <a:spcAft>
                <a:spcPts val="300"/>
              </a:spcAft>
            </a:pPr>
            <a:r>
              <a:rPr sz="1019" b="1">
                <a:solidFill>
                  <a:srgbClr val="17150F"/>
                </a:solidFill>
                <a:latin typeface="Arial"/>
              </a:rPr>
              <a:t>Se traduce en merma en las tiendas pequeñas y ventas perdidas en las grandes. Queda como línea de mejora antes del piloto.</a:t>
            </a:r>
          </a:p>
        </p:txBody>
      </p:sp>
      <p:sp>
        <p:nvSpPr>
          <p:cNvPr id="8" name="TextBox 7"/>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12 · DIAGNÓSTICO</a:t>
            </a:r>
          </a:p>
        </p:txBody>
      </p:sp>
      <p:sp>
        <p:nvSpPr>
          <p:cNvPr id="9" name="TextBox 8"/>
          <p:cNvSpPr txBox="1"/>
          <p:nvPr/>
        </p:nvSpPr>
        <p:spPr>
          <a:xfrm>
            <a:off x="6255867"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Lo que está bien, comprobado y no supuesto</a:t>
            </a:r>
          </a:p>
        </p:txBody>
      </p:sp>
      <p:pic>
        <p:nvPicPr>
          <p:cNvPr id="10" name="Picture 9" descr="image.png"/>
          <p:cNvPicPr>
            <a:picLocks noChangeAspect="1"/>
          </p:cNvPicPr>
          <p:nvPr/>
        </p:nvPicPr>
        <p:blipFill>
          <a:blip r:embed="rId3"/>
          <a:stretch>
            <a:fillRect/>
          </a:stretch>
        </p:blipFill>
        <p:spPr>
          <a:xfrm>
            <a:off x="6255867" y="1060196"/>
            <a:ext cx="4480560" cy="1456182"/>
          </a:xfrm>
          <a:prstGeom prst="rect">
            <a:avLst/>
          </a:prstGeom>
        </p:spPr>
      </p:pic>
      <p:sp>
        <p:nvSpPr>
          <p:cNvPr id="11" name="TextBox 10"/>
          <p:cNvSpPr txBox="1"/>
          <p:nvPr/>
        </p:nvSpPr>
        <p:spPr>
          <a:xfrm>
            <a:off x="6255867" y="2607818"/>
            <a:ext cx="5387187" cy="395935"/>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 No queda estructura temporal sin capturar.</a:t>
            </a:r>
            <a:r>
              <a:rPr sz="960" b="0">
                <a:solidFill>
                  <a:srgbClr val="555045"/>
                </a:solidFill>
                <a:latin typeface="Arial"/>
              </a:rPr>
              <a:t> El contraste de Ljung-Box no detecta autocorrelación en ninguna de las 160 series.</a:t>
            </a:r>
          </a:p>
        </p:txBody>
      </p:sp>
      <p:sp>
        <p:nvSpPr>
          <p:cNvPr id="12" name="TextBox 11"/>
          <p:cNvSpPr txBox="1"/>
          <p:nvPr/>
        </p:nvSpPr>
        <p:spPr>
          <a:xfrm>
            <a:off x="6255867" y="3040329"/>
            <a:ext cx="5387187" cy="395935"/>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 Los residuales están casi centrados.</a:t>
            </a:r>
            <a:r>
              <a:rPr sz="960" b="0">
                <a:solidFill>
                  <a:srgbClr val="555045"/>
                </a:solidFill>
                <a:latin typeface="Arial"/>
              </a:rPr>
              <a:t> Media de 0,11 unidades sobre una demanda media de 93, y asimetría de 0,29.</a:t>
            </a:r>
          </a:p>
        </p:txBody>
      </p:sp>
      <p:sp>
        <p:nvSpPr>
          <p:cNvPr id="13" name="TextBox 12"/>
          <p:cNvSpPr txBox="1"/>
          <p:nvPr/>
        </p:nvSpPr>
        <p:spPr>
          <a:xfrm>
            <a:off x="6255867" y="3472840"/>
            <a:ext cx="5387187" cy="395935"/>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 No hay error sistemático por tipo de patrón.</a:t>
            </a:r>
            <a:r>
              <a:rPr sz="960" b="0">
                <a:solidFill>
                  <a:srgbClr val="555045"/>
                </a:solidFill>
                <a:latin typeface="Arial"/>
              </a:rPr>
              <a:t> Los cuatro tipos quedan entre 11,2 y 12,2 % de error.</a:t>
            </a:r>
          </a:p>
        </p:txBody>
      </p:sp>
      <p:sp>
        <p:nvSpPr>
          <p:cNvPr id="14" name="TextBox 13"/>
          <p:cNvSpPr txBox="1"/>
          <p:nvPr/>
        </p:nvSpPr>
        <p:spPr>
          <a:xfrm>
            <a:off x="6255867" y="3905351"/>
            <a:ext cx="5387187" cy="395935"/>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 Hay heterocedasticidad y es esperable.</a:t>
            </a:r>
            <a:r>
              <a:rPr sz="960" b="0">
                <a:solidFill>
                  <a:srgbClr val="555045"/>
                </a:solidFill>
                <a:latin typeface="Arial"/>
              </a:rPr>
              <a:t> El error crece con el nivel de la serie, con correlación +0,36. Por eso un colchón plano sería incorrecto.</a:t>
            </a:r>
          </a:p>
        </p:txBody>
      </p:sp>
      <p:sp>
        <p:nvSpPr>
          <p:cNvPr id="15" name="Rectangle 14"/>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12 · Diagnóstico</a:t>
            </a:r>
          </a:p>
        </p:txBody>
      </p:sp>
      <p:sp>
        <p:nvSpPr>
          <p:cNvPr id="18" name="TextBox 17"/>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PASO 12 · DIAGNÓSTICO</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09151"/>
          </a:xfrm>
          <a:prstGeom prst="rect">
            <a:avLst/>
          </a:prstGeom>
          <a:noFill/>
        </p:spPr>
        <p:txBody>
          <a:bodyPr wrap="square" lIns="0" tIns="0" rIns="0" bIns="0">
            <a:spAutoFit/>
          </a:bodyPr>
          <a:lstStyle/>
          <a:p>
            <a:pPr algn="l">
              <a:lnSpc>
                <a:spcPct val="106000"/>
              </a:lnSpc>
              <a:spcBef>
                <a:spcPts val="0"/>
              </a:spcBef>
              <a:spcAft>
                <a:spcPts val="0"/>
              </a:spcAft>
            </a:pPr>
            <a:r>
              <a:rPr lang="es-419" sz="2700" b="1" dirty="0">
                <a:solidFill>
                  <a:srgbClr val="17150F"/>
                </a:solidFill>
                <a:latin typeface="Arial"/>
              </a:rPr>
              <a:t>10</a:t>
            </a:r>
            <a:r>
              <a:rPr sz="2700" b="1" dirty="0">
                <a:solidFill>
                  <a:srgbClr val="17150F"/>
                </a:solidFill>
                <a:latin typeface="Arial"/>
              </a:rPr>
              <a:t> series </a:t>
            </a:r>
            <a:r>
              <a:rPr sz="2700" b="1" dirty="0" err="1">
                <a:solidFill>
                  <a:srgbClr val="17150F"/>
                </a:solidFill>
                <a:latin typeface="Arial"/>
              </a:rPr>
              <a:t>necesitan</a:t>
            </a:r>
            <a:r>
              <a:rPr sz="2700" b="1" dirty="0">
                <a:solidFill>
                  <a:srgbClr val="17150F"/>
                </a:solidFill>
                <a:latin typeface="Arial"/>
              </a:rPr>
              <a:t> </a:t>
            </a:r>
            <a:r>
              <a:rPr sz="2700" b="1" dirty="0" err="1">
                <a:solidFill>
                  <a:srgbClr val="17150F"/>
                </a:solidFill>
                <a:latin typeface="Arial"/>
              </a:rPr>
              <a:t>revisión</a:t>
            </a:r>
            <a:endParaRPr sz="2700" b="1" dirty="0">
              <a:solidFill>
                <a:srgbClr val="17150F"/>
              </a:solidFill>
              <a:latin typeface="Arial"/>
            </a:endParaRPr>
          </a:p>
        </p:txBody>
      </p:sp>
      <p:sp>
        <p:nvSpPr>
          <p:cNvPr id="6" name="TextBox 5"/>
          <p:cNvSpPr txBox="1"/>
          <p:nvPr/>
        </p:nvSpPr>
        <p:spPr>
          <a:xfrm>
            <a:off x="777240" y="1506474"/>
            <a:ext cx="9966960" cy="259943"/>
          </a:xfrm>
          <a:prstGeom prst="rect">
            <a:avLst/>
          </a:prstGeom>
          <a:noFill/>
        </p:spPr>
        <p:txBody>
          <a:bodyPr wrap="square" lIns="0" tIns="0" rIns="0" bIns="0">
            <a:spAutoFit/>
          </a:bodyPr>
          <a:lstStyle/>
          <a:p>
            <a:pPr algn="l">
              <a:lnSpc>
                <a:spcPct val="130000"/>
              </a:lnSpc>
              <a:spcBef>
                <a:spcPts val="0"/>
              </a:spcBef>
              <a:spcAft>
                <a:spcPts val="0"/>
              </a:spcAft>
            </a:pPr>
            <a:r>
              <a:rPr sz="1450" b="0" dirty="0">
                <a:solidFill>
                  <a:srgbClr val="555045"/>
                </a:solidFill>
                <a:latin typeface="Arial"/>
              </a:rPr>
              <a:t>De las 160, </a:t>
            </a:r>
            <a:r>
              <a:rPr lang="es-419" sz="1450" dirty="0">
                <a:solidFill>
                  <a:srgbClr val="555045"/>
                </a:solidFill>
                <a:latin typeface="Arial"/>
              </a:rPr>
              <a:t>10</a:t>
            </a:r>
            <a:r>
              <a:rPr sz="1450" b="0" dirty="0">
                <a:solidFill>
                  <a:srgbClr val="555045"/>
                </a:solidFill>
                <a:latin typeface="Arial"/>
              </a:rPr>
              <a:t> </a:t>
            </a:r>
            <a:r>
              <a:rPr sz="1450" b="0" dirty="0" err="1">
                <a:solidFill>
                  <a:srgbClr val="555045"/>
                </a:solidFill>
                <a:latin typeface="Arial"/>
              </a:rPr>
              <a:t>superan</a:t>
            </a:r>
            <a:r>
              <a:rPr sz="1450" b="0" dirty="0">
                <a:solidFill>
                  <a:srgbClr val="555045"/>
                </a:solidFill>
                <a:latin typeface="Arial"/>
              </a:rPr>
              <a:t> el doble del error </a:t>
            </a:r>
            <a:r>
              <a:rPr sz="1450" b="0" dirty="0" err="1">
                <a:solidFill>
                  <a:srgbClr val="555045"/>
                </a:solidFill>
                <a:latin typeface="Arial"/>
              </a:rPr>
              <a:t>mediano</a:t>
            </a:r>
            <a:r>
              <a:rPr sz="1450" b="0" dirty="0">
                <a:solidFill>
                  <a:srgbClr val="555045"/>
                </a:solidFill>
                <a:latin typeface="Arial"/>
              </a:rPr>
              <a:t>. Tres de las </a:t>
            </a:r>
            <a:r>
              <a:rPr sz="1450" b="0" dirty="0" err="1">
                <a:solidFill>
                  <a:srgbClr val="555045"/>
                </a:solidFill>
                <a:latin typeface="Arial"/>
              </a:rPr>
              <a:t>cinco</a:t>
            </a:r>
            <a:r>
              <a:rPr sz="1450" b="0" dirty="0">
                <a:solidFill>
                  <a:srgbClr val="555045"/>
                </a:solidFill>
                <a:latin typeface="Arial"/>
              </a:rPr>
              <a:t> </a:t>
            </a:r>
            <a:r>
              <a:rPr sz="1450" b="0" dirty="0" err="1">
                <a:solidFill>
                  <a:srgbClr val="555045"/>
                </a:solidFill>
                <a:latin typeface="Arial"/>
              </a:rPr>
              <a:t>peores</a:t>
            </a:r>
            <a:r>
              <a:rPr sz="1450" b="0" dirty="0">
                <a:solidFill>
                  <a:srgbClr val="555045"/>
                </a:solidFill>
                <a:latin typeface="Arial"/>
              </a:rPr>
              <a:t> </a:t>
            </a:r>
            <a:r>
              <a:rPr sz="1450" b="0" dirty="0" err="1">
                <a:solidFill>
                  <a:srgbClr val="555045"/>
                </a:solidFill>
                <a:latin typeface="Arial"/>
              </a:rPr>
              <a:t>están</a:t>
            </a:r>
            <a:r>
              <a:rPr sz="1450" b="0" dirty="0">
                <a:solidFill>
                  <a:srgbClr val="555045"/>
                </a:solidFill>
                <a:latin typeface="Arial"/>
              </a:rPr>
              <a:t> </a:t>
            </a:r>
            <a:r>
              <a:rPr sz="1450" b="0" dirty="0" err="1">
                <a:solidFill>
                  <a:srgbClr val="555045"/>
                </a:solidFill>
                <a:latin typeface="Arial"/>
              </a:rPr>
              <a:t>en</a:t>
            </a:r>
            <a:r>
              <a:rPr sz="1450" b="0" dirty="0">
                <a:solidFill>
                  <a:srgbClr val="555045"/>
                </a:solidFill>
                <a:latin typeface="Arial"/>
              </a:rPr>
              <a:t> la </a:t>
            </a:r>
            <a:r>
              <a:rPr sz="1450" b="0" dirty="0" err="1">
                <a:solidFill>
                  <a:srgbClr val="555045"/>
                </a:solidFill>
                <a:latin typeface="Arial"/>
              </a:rPr>
              <a:t>misma</a:t>
            </a:r>
            <a:r>
              <a:rPr sz="1450" b="0" dirty="0">
                <a:solidFill>
                  <a:srgbClr val="555045"/>
                </a:solidFill>
                <a:latin typeface="Arial"/>
              </a:rPr>
              <a:t> tienda.</a:t>
            </a:r>
          </a:p>
        </p:txBody>
      </p:sp>
      <p:sp>
        <p:nvSpPr>
          <p:cNvPr id="8" name="Rectangle 7"/>
          <p:cNvSpPr/>
          <p:nvPr/>
        </p:nvSpPr>
        <p:spPr>
          <a:xfrm>
            <a:off x="777240" y="4597019"/>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4496435"/>
            <a:ext cx="10436047" cy="249940"/>
          </a:xfrm>
          <a:prstGeom prst="rect">
            <a:avLst/>
          </a:prstGeom>
          <a:noFill/>
        </p:spPr>
        <p:txBody>
          <a:bodyPr wrap="square" lIns="0" tIns="0" rIns="0" bIns="0">
            <a:spAutoFit/>
          </a:bodyPr>
          <a:lstStyle/>
          <a:p>
            <a:pPr>
              <a:lnSpc>
                <a:spcPct val="124000"/>
              </a:lnSpc>
              <a:spcAft>
                <a:spcPts val="0"/>
              </a:spcAft>
            </a:pPr>
            <a:r>
              <a:rPr sz="1450" b="1" dirty="0" err="1">
                <a:solidFill>
                  <a:srgbClr val="17150F"/>
                </a:solidFill>
                <a:latin typeface="Arial"/>
              </a:rPr>
              <a:t>Todas</a:t>
            </a:r>
            <a:r>
              <a:rPr sz="1450" b="1" dirty="0">
                <a:solidFill>
                  <a:srgbClr val="17150F"/>
                </a:solidFill>
                <a:latin typeface="Arial"/>
              </a:rPr>
              <a:t> </a:t>
            </a:r>
            <a:r>
              <a:rPr sz="1450" b="1" dirty="0" err="1">
                <a:solidFill>
                  <a:srgbClr val="17150F"/>
                </a:solidFill>
                <a:latin typeface="Arial"/>
              </a:rPr>
              <a:t>tienen</a:t>
            </a:r>
            <a:r>
              <a:rPr sz="1450" b="1" dirty="0">
                <a:solidFill>
                  <a:srgbClr val="17150F"/>
                </a:solidFill>
                <a:latin typeface="Arial"/>
              </a:rPr>
              <a:t> </a:t>
            </a:r>
            <a:r>
              <a:rPr sz="1450" b="1" dirty="0" err="1">
                <a:solidFill>
                  <a:srgbClr val="17150F"/>
                </a:solidFill>
                <a:latin typeface="Arial"/>
              </a:rPr>
              <a:t>sesgo</a:t>
            </a:r>
            <a:r>
              <a:rPr sz="1450" b="1" dirty="0">
                <a:solidFill>
                  <a:srgbClr val="17150F"/>
                </a:solidFill>
                <a:latin typeface="Arial"/>
              </a:rPr>
              <a:t> </a:t>
            </a:r>
            <a:r>
              <a:rPr sz="1450" b="1" dirty="0" err="1">
                <a:solidFill>
                  <a:srgbClr val="17150F"/>
                </a:solidFill>
                <a:latin typeface="Arial"/>
              </a:rPr>
              <a:t>negativo</a:t>
            </a:r>
            <a:r>
              <a:rPr sz="1450" b="0" dirty="0">
                <a:solidFill>
                  <a:srgbClr val="555045"/>
                </a:solidFill>
                <a:latin typeface="Arial"/>
              </a:rPr>
              <a:t>: el </a:t>
            </a:r>
            <a:r>
              <a:rPr sz="1450" b="0" dirty="0" err="1">
                <a:solidFill>
                  <a:srgbClr val="555045"/>
                </a:solidFill>
                <a:latin typeface="Arial"/>
              </a:rPr>
              <a:t>modelo</a:t>
            </a:r>
            <a:r>
              <a:rPr sz="1450" b="0" dirty="0">
                <a:solidFill>
                  <a:srgbClr val="555045"/>
                </a:solidFill>
                <a:latin typeface="Arial"/>
              </a:rPr>
              <a:t> </a:t>
            </a:r>
            <a:r>
              <a:rPr sz="1450" b="0" dirty="0" err="1">
                <a:solidFill>
                  <a:srgbClr val="555045"/>
                </a:solidFill>
                <a:latin typeface="Arial"/>
              </a:rPr>
              <a:t>pide</a:t>
            </a:r>
            <a:r>
              <a:rPr sz="1450" b="0" dirty="0">
                <a:solidFill>
                  <a:srgbClr val="555045"/>
                </a:solidFill>
                <a:latin typeface="Arial"/>
              </a:rPr>
              <a:t> de </a:t>
            </a:r>
            <a:r>
              <a:rPr sz="1450" b="0" dirty="0" err="1">
                <a:solidFill>
                  <a:srgbClr val="555045"/>
                </a:solidFill>
                <a:latin typeface="Arial"/>
              </a:rPr>
              <a:t>más</a:t>
            </a:r>
            <a:r>
              <a:rPr sz="1450" b="0" dirty="0">
                <a:solidFill>
                  <a:srgbClr val="555045"/>
                </a:solidFill>
                <a:latin typeface="Arial"/>
              </a:rPr>
              <a:t> </a:t>
            </a:r>
            <a:r>
              <a:rPr sz="1450" b="0" dirty="0" err="1">
                <a:solidFill>
                  <a:srgbClr val="555045"/>
                </a:solidFill>
                <a:latin typeface="Arial"/>
              </a:rPr>
              <a:t>en</a:t>
            </a:r>
            <a:r>
              <a:rPr sz="1450" b="0" dirty="0">
                <a:solidFill>
                  <a:srgbClr val="555045"/>
                </a:solidFill>
                <a:latin typeface="Arial"/>
              </a:rPr>
              <a:t> las </a:t>
            </a:r>
            <a:r>
              <a:rPr lang="es-419" sz="1450" dirty="0">
                <a:solidFill>
                  <a:srgbClr val="555045"/>
                </a:solidFill>
                <a:latin typeface="Arial"/>
              </a:rPr>
              <a:t>10</a:t>
            </a:r>
            <a:r>
              <a:rPr sz="1450" b="0" dirty="0">
                <a:solidFill>
                  <a:srgbClr val="555045"/>
                </a:solidFill>
                <a:latin typeface="Arial"/>
              </a:rPr>
              <a:t>.</a:t>
            </a:r>
          </a:p>
        </p:txBody>
      </p:sp>
      <p:sp>
        <p:nvSpPr>
          <p:cNvPr id="10" name="Rectangle 9"/>
          <p:cNvSpPr/>
          <p:nvPr/>
        </p:nvSpPr>
        <p:spPr>
          <a:xfrm>
            <a:off x="777240" y="5008372"/>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907788"/>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Que STORE_09 aparezca tres veces sugiere algo propio de esa tienda</a:t>
            </a:r>
            <a:r>
              <a:rPr sz="1450" b="0">
                <a:solidFill>
                  <a:srgbClr val="555045"/>
                </a:solidFill>
                <a:latin typeface="Arial"/>
              </a:rPr>
              <a:t>, no del modelo. Conviene mirarla aparte.</a:t>
            </a:r>
          </a:p>
        </p:txBody>
      </p:sp>
      <p:sp>
        <p:nvSpPr>
          <p:cNvPr id="12" name="Rectangle 11"/>
          <p:cNvSpPr/>
          <p:nvPr/>
        </p:nvSpPr>
        <p:spPr>
          <a:xfrm>
            <a:off x="777240" y="5419725"/>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5319141"/>
            <a:ext cx="10436047" cy="283337"/>
          </a:xfrm>
          <a:prstGeom prst="rect">
            <a:avLst/>
          </a:prstGeom>
          <a:noFill/>
        </p:spPr>
        <p:txBody>
          <a:bodyPr wrap="square" lIns="0" tIns="0" rIns="0" bIns="0">
            <a:spAutoFit/>
          </a:bodyPr>
          <a:lstStyle/>
          <a:p>
            <a:pPr>
              <a:lnSpc>
                <a:spcPct val="124000"/>
              </a:lnSpc>
              <a:spcAft>
                <a:spcPts val="0"/>
              </a:spcAft>
            </a:pPr>
            <a:r>
              <a:rPr sz="1450" b="1">
                <a:solidFill>
                  <a:srgbClr val="17150F"/>
                </a:solidFill>
                <a:latin typeface="Arial"/>
              </a:rPr>
              <a:t>Acción concreta.</a:t>
            </a:r>
            <a:r>
              <a:rPr sz="1450" b="0">
                <a:solidFill>
                  <a:srgbClr val="555045"/>
                </a:solidFill>
                <a:latin typeface="Arial"/>
              </a:rPr>
              <a:t> Revisarlas antes de implantar, y excluirlas del piloto o vigilarlas por separado.</a:t>
            </a:r>
          </a:p>
        </p:txBody>
      </p:sp>
      <p:sp>
        <p:nvSpPr>
          <p:cNvPr id="14" name="Rectangle 13"/>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12 · Diagnóstico</a:t>
            </a:r>
          </a:p>
        </p:txBody>
      </p:sp>
      <p:sp>
        <p:nvSpPr>
          <p:cNvPr id="16" name="TextBox 15"/>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20</a:t>
            </a:r>
          </a:p>
        </p:txBody>
      </p:sp>
      <p:pic>
        <p:nvPicPr>
          <p:cNvPr id="17" name="Picture 16">
            <a:extLst>
              <a:ext uri="{FF2B5EF4-FFF2-40B4-BE49-F238E27FC236}">
                <a16:creationId xmlns:a16="http://schemas.microsoft.com/office/drawing/2014/main" id="{38334DE1-DEE6-5C5E-BB1F-B464B94588C9}"/>
              </a:ext>
            </a:extLst>
          </p:cNvPr>
          <p:cNvPicPr>
            <a:picLocks noChangeAspect="1"/>
          </p:cNvPicPr>
          <p:nvPr/>
        </p:nvPicPr>
        <p:blipFill>
          <a:blip r:embed="rId2"/>
          <a:stretch>
            <a:fillRect/>
          </a:stretch>
        </p:blipFill>
        <p:spPr>
          <a:xfrm>
            <a:off x="1374163" y="1912914"/>
            <a:ext cx="8461494" cy="225122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14 · EL OPTIMIZADOR</a:t>
            </a:r>
          </a:p>
        </p:txBody>
      </p:sp>
      <p:sp>
        <p:nvSpPr>
          <p:cNvPr id="4" name="TextBox 3"/>
          <p:cNvSpPr txBox="1"/>
          <p:nvPr/>
        </p:nvSpPr>
        <p:spPr>
          <a:xfrm>
            <a:off x="548640"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Toda la decisión cabe en tres líneas</a:t>
            </a:r>
          </a:p>
        </p:txBody>
      </p:sp>
      <p:sp>
        <p:nvSpPr>
          <p:cNvPr id="5" name="TextBox 4"/>
          <p:cNvSpPr txBox="1"/>
          <p:nvPr/>
        </p:nvSpPr>
        <p:spPr>
          <a:xfrm>
            <a:off x="548640" y="1060196"/>
            <a:ext cx="5387187" cy="686714"/>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nivel de servicio  =  el que marcan los costes del producto</a:t>
            </a:r>
          </a:p>
          <a:p>
            <a:pPr>
              <a:lnSpc>
                <a:spcPct val="118000"/>
              </a:lnSpc>
              <a:spcAft>
                <a:spcPts val="300"/>
              </a:spcAft>
            </a:pPr>
            <a:r>
              <a:rPr sz="1080" b="1">
                <a:solidFill>
                  <a:srgbClr val="17150F"/>
                </a:solidFill>
                <a:latin typeface="Arial"/>
              </a:rPr>
              <a:t>objetivo  =  la predicción del modelo a ese nivel, redondeada</a:t>
            </a:r>
          </a:p>
          <a:p>
            <a:pPr>
              <a:lnSpc>
                <a:spcPct val="118000"/>
              </a:lnSpc>
              <a:spcAft>
                <a:spcPts val="300"/>
              </a:spcAft>
            </a:pPr>
            <a:r>
              <a:rPr sz="1080" b="1">
                <a:solidFill>
                  <a:srgbClr val="8C2F39"/>
                </a:solidFill>
                <a:latin typeface="Arial"/>
              </a:rPr>
              <a:t>pedido  =  máximo ( 0 ,  objetivo − stock en estantería )</a:t>
            </a:r>
          </a:p>
        </p:txBody>
      </p:sp>
      <p:sp>
        <p:nvSpPr>
          <p:cNvPr id="6" name="TextBox 5"/>
          <p:cNvSpPr txBox="1"/>
          <p:nvPr/>
        </p:nvSpPr>
        <p:spPr>
          <a:xfrm>
            <a:off x="548640" y="1783486"/>
            <a:ext cx="5387187" cy="786079"/>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Seis propiedades se verifican en cada ejecución</a:t>
            </a:r>
            <a:r>
              <a:rPr sz="1080" b="0">
                <a:solidFill>
                  <a:srgbClr val="555045"/>
                </a:solidFill>
                <a:latin typeface="Arial"/>
              </a:rPr>
              <a:t>: ningún pedido negativo, todas las cantidades enteras, el pedido más el stock alcanza el objetivo, cero pedido donde el stock ya cubre, cada producto con su nivel, y ningún objetivo por debajo del pronóstico central.</a:t>
            </a:r>
          </a:p>
        </p:txBody>
      </p:sp>
      <p:sp>
        <p:nvSpPr>
          <p:cNvPr id="7" name="TextBox 6"/>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14 · EL COLCHÓN</a:t>
            </a:r>
          </a:p>
        </p:txBody>
      </p:sp>
      <p:sp>
        <p:nvSpPr>
          <p:cNvPr id="8" name="TextBox 7"/>
          <p:cNvSpPr txBox="1"/>
          <p:nvPr/>
        </p:nvSpPr>
        <p:spPr>
          <a:xfrm>
            <a:off x="6255867" y="704088"/>
            <a:ext cx="5387187" cy="291896"/>
          </a:xfrm>
          <a:prstGeom prst="rect">
            <a:avLst/>
          </a:prstGeom>
          <a:noFill/>
        </p:spPr>
        <p:txBody>
          <a:bodyPr wrap="square" lIns="0" tIns="0" rIns="0" bIns="0">
            <a:spAutoFit/>
          </a:bodyPr>
          <a:lstStyle/>
          <a:p>
            <a:pPr>
              <a:lnSpc>
                <a:spcPct val="118000"/>
              </a:lnSpc>
              <a:spcAft>
                <a:spcPts val="300"/>
              </a:spcAft>
            </a:pPr>
            <a:r>
              <a:rPr sz="1280" b="1">
                <a:solidFill>
                  <a:srgbClr val="17150F"/>
                </a:solidFill>
                <a:latin typeface="Arial"/>
              </a:rPr>
              <a:t>La respuesta visible a la pregunta del encargo</a:t>
            </a:r>
          </a:p>
        </p:txBody>
      </p:sp>
      <p:pic>
        <p:nvPicPr>
          <p:cNvPr id="9" name="Picture 8" descr="image.png"/>
          <p:cNvPicPr>
            <a:picLocks noChangeAspect="1"/>
          </p:cNvPicPr>
          <p:nvPr/>
        </p:nvPicPr>
        <p:blipFill>
          <a:blip r:embed="rId2"/>
          <a:stretch>
            <a:fillRect/>
          </a:stretch>
        </p:blipFill>
        <p:spPr>
          <a:xfrm>
            <a:off x="6255867" y="1032560"/>
            <a:ext cx="3942892" cy="1901866"/>
          </a:xfrm>
          <a:prstGeom prst="rect">
            <a:avLst/>
          </a:prstGeom>
        </p:spPr>
      </p:pic>
      <p:pic>
        <p:nvPicPr>
          <p:cNvPr id="10" name="Picture 9" descr="image.png"/>
          <p:cNvPicPr>
            <a:picLocks noChangeAspect="1"/>
          </p:cNvPicPr>
          <p:nvPr/>
        </p:nvPicPr>
        <p:blipFill>
          <a:blip r:embed="rId3"/>
          <a:stretch>
            <a:fillRect/>
          </a:stretch>
        </p:blipFill>
        <p:spPr>
          <a:xfrm>
            <a:off x="6255867" y="3025865"/>
            <a:ext cx="3942892" cy="2253081"/>
          </a:xfrm>
          <a:prstGeom prst="rect">
            <a:avLst/>
          </a:prstGeom>
        </p:spPr>
      </p:pic>
      <p:sp>
        <p:nvSpPr>
          <p:cNvPr id="11" name="TextBox 10"/>
          <p:cNvSpPr txBox="1"/>
          <p:nvPr/>
        </p:nvSpPr>
        <p:spPr>
          <a:xfrm>
            <a:off x="6255867" y="5370386"/>
            <a:ext cx="5387187" cy="707136"/>
          </a:xfrm>
          <a:prstGeom prst="rect">
            <a:avLst/>
          </a:prstGeom>
          <a:noFill/>
        </p:spPr>
        <p:txBody>
          <a:bodyPr wrap="square" lIns="0" tIns="0" rIns="0" bIns="0">
            <a:spAutoFit/>
          </a:bodyPr>
          <a:lstStyle/>
          <a:p>
            <a:pPr>
              <a:lnSpc>
                <a:spcPct val="118000"/>
              </a:lnSpc>
              <a:spcAft>
                <a:spcPts val="300"/>
              </a:spcAft>
            </a:pPr>
            <a:r>
              <a:rPr sz="900" b="0">
                <a:solidFill>
                  <a:srgbClr val="555045"/>
                </a:solidFill>
                <a:latin typeface="Arial"/>
              </a:rPr>
              <a:t>El colchón es lo que se pide por encima de lo esperado. El producto con más margen se protege más del doble que el de menos margen, y nadie lo decidió a mano.</a:t>
            </a:r>
          </a:p>
          <a:p>
            <a:pPr>
              <a:lnSpc>
                <a:spcPct val="118000"/>
              </a:lnSpc>
              <a:spcAft>
                <a:spcPts val="300"/>
              </a:spcAft>
            </a:pPr>
            <a:r>
              <a:rPr sz="900" b="1">
                <a:solidFill>
                  <a:srgbClr val="17150F"/>
                </a:solidFill>
                <a:latin typeface="Arial"/>
              </a:rPr>
              <a:t>Al Pastel de Pollo pasarse le duele casi tanto como quedarse corto: margen bajo y almacenaje caro. Al Tinto le compensa arriesgar.</a:t>
            </a:r>
          </a:p>
        </p:txBody>
      </p:sp>
      <p:sp>
        <p:nvSpPr>
          <p:cNvPr id="12" name="Rectangle 11"/>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14 · Optimizador del pedido</a:t>
            </a:r>
          </a:p>
        </p:txBody>
      </p:sp>
      <p:sp>
        <p:nvSpPr>
          <p:cNvPr id="15" name="TextBox 14"/>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15 · SIMULACIÓN</a:t>
            </a:r>
          </a:p>
        </p:txBody>
      </p:sp>
      <p:sp>
        <p:nvSpPr>
          <p:cNvPr id="4" name="TextBox 3"/>
          <p:cNvSpPr txBox="1"/>
          <p:nvPr/>
        </p:nvSpPr>
        <p:spPr>
          <a:xfrm>
            <a:off x="548640"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Cinco políticas, no dos, para poder atribuir el ahorro</a:t>
            </a:r>
          </a:p>
        </p:txBody>
      </p:sp>
      <p:sp>
        <p:nvSpPr>
          <p:cNvPr id="5" name="TextBox 4"/>
          <p:cNvSpPr txBox="1"/>
          <p:nvPr/>
        </p:nvSpPr>
        <p:spPr>
          <a:xfrm>
            <a:off x="548640" y="1060196"/>
            <a:ext cx="5387187" cy="434949"/>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Demanda real, decisión hipotética, sobre las 480 decisiones de las semanas de prueba.</a:t>
            </a:r>
          </a:p>
        </p:txBody>
      </p:sp>
      <p:sp>
        <p:nvSpPr>
          <p:cNvPr id="6" name="TextBox 5"/>
          <p:cNvSpPr txBox="1"/>
          <p:nvPr/>
        </p:nvSpPr>
        <p:spPr>
          <a:xfrm>
            <a:off x="548640" y="1531721"/>
            <a:ext cx="5387187" cy="989076"/>
          </a:xfrm>
          <a:prstGeom prst="rect">
            <a:avLst/>
          </a:prstGeom>
          <a:noFill/>
        </p:spPr>
        <p:txBody>
          <a:bodyPr wrap="square" lIns="0" tIns="0" rIns="0" bIns="0">
            <a:spAutoFit/>
          </a:bodyPr>
          <a:lstStyle/>
          <a:p>
            <a:pPr>
              <a:lnSpc>
                <a:spcPct val="118000"/>
              </a:lnSpc>
              <a:spcAft>
                <a:spcPts val="300"/>
              </a:spcAft>
            </a:pPr>
            <a:r>
              <a:rPr sz="1019" b="0">
                <a:solidFill>
                  <a:srgbClr val="555045"/>
                </a:solidFill>
                <a:latin typeface="Arial"/>
              </a:rPr>
              <a:t>Más P0, repetir lo de la semana anterior, que aproxima la práctica actual.</a:t>
            </a:r>
          </a:p>
          <a:p>
            <a:pPr>
              <a:lnSpc>
                <a:spcPct val="118000"/>
              </a:lnSpc>
              <a:spcAft>
                <a:spcPts val="300"/>
              </a:spcAft>
            </a:pPr>
            <a:r>
              <a:rPr sz="1019" b="1">
                <a:solidFill>
                  <a:srgbClr val="8C2F39"/>
                </a:solidFill>
                <a:latin typeface="Arial"/>
              </a:rPr>
              <a:t>Por qué no bastan dos</a:t>
            </a:r>
          </a:p>
          <a:p>
            <a:pPr>
              <a:lnSpc>
                <a:spcPct val="118000"/>
              </a:lnSpc>
              <a:spcAft>
                <a:spcPts val="300"/>
              </a:spcAft>
            </a:pPr>
            <a:r>
              <a:rPr sz="1019" b="0">
                <a:solidFill>
                  <a:srgbClr val="555045"/>
                </a:solidFill>
                <a:latin typeface="Arial"/>
              </a:rPr>
              <a:t>Comparar solo P0 contra P4 daría un ahorro grande sin saber a qué atribuirlo. Con una asimetría de costes como la de este catálogo, casi cualquier regla que pida más gana esa comparación.</a:t>
            </a:r>
          </a:p>
        </p:txBody>
      </p:sp>
      <p:graphicFrame>
        <p:nvGraphicFramePr>
          <p:cNvPr id="7" name="Table 6"/>
          <p:cNvGraphicFramePr>
            <a:graphicFrameLocks noGrp="1"/>
          </p:cNvGraphicFramePr>
          <p:nvPr/>
        </p:nvGraphicFramePr>
        <p:xfrm>
          <a:off x="548640" y="2557373"/>
          <a:ext cx="5387185" cy="841248"/>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endParaRPr/>
                    </a:p>
                  </a:txBody>
                  <a:tcPr marL="82296" marR="82296" anchor="ctr">
                    <a:solidFill>
                      <a:srgbClr val="F4F2ED"/>
                    </a:solidFill>
                  </a:tcPr>
                </a:tc>
                <a:tc>
                  <a:txBody>
                    <a:bodyPr/>
                    <a:lstStyle/>
                    <a:p>
                      <a:pPr algn="r"/>
                      <a:r>
                        <a:rPr sz="810" b="1">
                          <a:solidFill>
                            <a:srgbClr val="8B8478"/>
                          </a:solidFill>
                          <a:latin typeface="Arial"/>
                        </a:rPr>
                        <a:t>Pedir el centro (0.50) </a:t>
                      </a:r>
                    </a:p>
                  </a:txBody>
                  <a:tcPr marL="82296" marR="82296" anchor="ctr">
                    <a:solidFill>
                      <a:srgbClr val="F4F2ED"/>
                    </a:solidFill>
                  </a:tcPr>
                </a:tc>
                <a:tc>
                  <a:txBody>
                    <a:bodyPr/>
                    <a:lstStyle/>
                    <a:p>
                      <a:pPr algn="r"/>
                      <a:r>
                        <a:rPr sz="810" b="1">
                          <a:solidFill>
                            <a:srgbClr val="8B8478"/>
                          </a:solidFill>
                          <a:latin typeface="Arial"/>
                        </a:rPr>
                        <a:t>Pedir el nivel de servicio</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0">
                          <a:solidFill>
                            <a:srgbClr val="17150F"/>
                          </a:solidFill>
                          <a:latin typeface="Arial"/>
                        </a:rPr>
                        <a:t>Pronóstico ingenuo (media móvil)</a:t>
                      </a:r>
                    </a:p>
                  </a:txBody>
                  <a:tcPr marL="82296" marR="82296" anchor="ctr">
                    <a:solidFill>
                      <a:srgbClr val="FFFFFF"/>
                    </a:solidFill>
                  </a:tcPr>
                </a:tc>
                <a:tc>
                  <a:txBody>
                    <a:bodyPr/>
                    <a:lstStyle/>
                    <a:p>
                      <a:pPr algn="r"/>
                      <a:r>
                        <a:rPr sz="960" b="0">
                          <a:solidFill>
                            <a:srgbClr val="555045"/>
                          </a:solidFill>
                          <a:latin typeface="Arial"/>
                        </a:rPr>
                        <a:t>P1</a:t>
                      </a:r>
                    </a:p>
                  </a:txBody>
                  <a:tcPr marL="82296" marR="82296" anchor="ctr">
                    <a:solidFill>
                      <a:srgbClr val="FFFFFF"/>
                    </a:solidFill>
                  </a:tcPr>
                </a:tc>
                <a:tc>
                  <a:txBody>
                    <a:bodyPr/>
                    <a:lstStyle/>
                    <a:p>
                      <a:pPr algn="r"/>
                      <a:r>
                        <a:rPr sz="960" b="0">
                          <a:solidFill>
                            <a:srgbClr val="555045"/>
                          </a:solidFill>
                          <a:latin typeface="Arial"/>
                        </a:rPr>
                        <a:t>P3</a:t>
                      </a:r>
                    </a:p>
                  </a:txBody>
                  <a:tcPr marL="82296" marR="82296" anchor="ctr">
                    <a:solidFill>
                      <a:srgbClr val="FFFFF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Pronóstico del modelo</a:t>
                      </a:r>
                    </a:p>
                  </a:txBody>
                  <a:tcPr marL="82296" marR="82296" anchor="ctr">
                    <a:solidFill>
                      <a:srgbClr val="FFFFFF"/>
                    </a:solidFill>
                  </a:tcPr>
                </a:tc>
                <a:tc>
                  <a:txBody>
                    <a:bodyPr/>
                    <a:lstStyle/>
                    <a:p>
                      <a:pPr algn="r"/>
                      <a:r>
                        <a:rPr sz="960" b="0">
                          <a:solidFill>
                            <a:srgbClr val="555045"/>
                          </a:solidFill>
                          <a:latin typeface="Arial"/>
                        </a:rPr>
                        <a:t>P2</a:t>
                      </a:r>
                    </a:p>
                  </a:txBody>
                  <a:tcPr marL="82296" marR="82296" anchor="ctr">
                    <a:solidFill>
                      <a:srgbClr val="FFFFFF"/>
                    </a:solidFill>
                  </a:tcPr>
                </a:tc>
                <a:tc>
                  <a:txBody>
                    <a:bodyPr/>
                    <a:lstStyle/>
                    <a:p>
                      <a:pPr algn="r"/>
                      <a:r>
                        <a:rPr sz="960" b="0">
                          <a:solidFill>
                            <a:srgbClr val="555045"/>
                          </a:solidFill>
                          <a:latin typeface="Arial"/>
                        </a:rPr>
                        <a:t>P4 · la propuesta</a:t>
                      </a:r>
                    </a:p>
                  </a:txBody>
                  <a:tcPr marL="82296" marR="82296" anchor="ctr">
                    <a:solidFill>
                      <a:srgbClr val="FFFFFF"/>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15 · RESULTADO</a:t>
            </a:r>
          </a:p>
        </p:txBody>
      </p:sp>
      <p:sp>
        <p:nvSpPr>
          <p:cNvPr id="9" name="TextBox 8"/>
          <p:cNvSpPr txBox="1"/>
          <p:nvPr/>
        </p:nvSpPr>
        <p:spPr>
          <a:xfrm>
            <a:off x="6255867" y="704088"/>
            <a:ext cx="5387187" cy="535736"/>
          </a:xfrm>
          <a:prstGeom prst="rect">
            <a:avLst/>
          </a:prstGeom>
          <a:noFill/>
        </p:spPr>
        <p:txBody>
          <a:bodyPr wrap="square" lIns="0" tIns="0" rIns="0" bIns="0">
            <a:spAutoFit/>
          </a:bodyPr>
          <a:lstStyle/>
          <a:p>
            <a:pPr>
              <a:lnSpc>
                <a:spcPct val="118000"/>
              </a:lnSpc>
              <a:spcAft>
                <a:spcPts val="300"/>
              </a:spcAft>
            </a:pPr>
            <a:r>
              <a:rPr sz="1390" b="1">
                <a:solidFill>
                  <a:srgbClr val="17150F"/>
                </a:solidFill>
                <a:latin typeface="Arial"/>
              </a:rPr>
              <a:t>La propuesta cambia merma por ventas perdidas, y el saldo es favorable</a:t>
            </a:r>
          </a:p>
        </p:txBody>
      </p:sp>
      <p:graphicFrame>
        <p:nvGraphicFramePr>
          <p:cNvPr id="10" name="Table 9"/>
          <p:cNvGraphicFramePr>
            <a:graphicFrameLocks noGrp="1"/>
          </p:cNvGraphicFramePr>
          <p:nvPr/>
        </p:nvGraphicFramePr>
        <p:xfrm>
          <a:off x="6255867" y="1276400"/>
          <a:ext cx="5387185" cy="1505077"/>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r>
                        <a:rPr sz="769" b="1">
                          <a:solidFill>
                            <a:srgbClr val="8B8478"/>
                          </a:solidFill>
                          <a:latin typeface="Arial"/>
                        </a:rPr>
                        <a:t>Política</a:t>
                      </a:r>
                    </a:p>
                  </a:txBody>
                  <a:tcPr marL="82296" marR="82296" anchor="ctr">
                    <a:solidFill>
                      <a:srgbClr val="F4F2ED"/>
                    </a:solidFill>
                  </a:tcPr>
                </a:tc>
                <a:tc>
                  <a:txBody>
                    <a:bodyPr/>
                    <a:lstStyle/>
                    <a:p>
                      <a:pPr algn="r"/>
                      <a:r>
                        <a:rPr sz="769" b="1">
                          <a:solidFill>
                            <a:srgbClr val="8B8478"/>
                          </a:solidFill>
                          <a:latin typeface="Arial"/>
                        </a:rPr>
                        <a:t>Coste</a:t>
                      </a:r>
                    </a:p>
                  </a:txBody>
                  <a:tcPr marL="82296" marR="82296" anchor="ctr">
                    <a:solidFill>
                      <a:srgbClr val="F4F2ED"/>
                    </a:solidFill>
                  </a:tcPr>
                </a:tc>
                <a:tc>
                  <a:txBody>
                    <a:bodyPr/>
                    <a:lstStyle/>
                    <a:p>
                      <a:pPr algn="r"/>
                      <a:r>
                        <a:rPr sz="769" b="1">
                          <a:solidFill>
                            <a:srgbClr val="8B8478"/>
                          </a:solidFill>
                          <a:latin typeface="Arial"/>
                        </a:rPr>
                        <a:t>Servicio</a:t>
                      </a:r>
                    </a:p>
                  </a:txBody>
                  <a:tcPr marL="82296" marR="82296" anchor="ctr">
                    <a:solidFill>
                      <a:srgbClr val="F4F2ED"/>
                    </a:solidFill>
                  </a:tcPr>
                </a:tc>
                <a:extLst>
                  <a:ext uri="{0D108BD9-81ED-4DB2-BD59-A6C34878D82A}">
                    <a16:rowId xmlns:a16="http://schemas.microsoft.com/office/drawing/2014/main" val="10000"/>
                  </a:ext>
                </a:extLst>
              </a:tr>
              <a:tr h="219456">
                <a:tc>
                  <a:txBody>
                    <a:bodyPr/>
                    <a:lstStyle/>
                    <a:p>
                      <a:pPr algn="l"/>
                      <a:r>
                        <a:rPr sz="919" b="1">
                          <a:solidFill>
                            <a:srgbClr val="17150F"/>
                          </a:solidFill>
                          <a:latin typeface="Arial"/>
                        </a:rPr>
                        <a:t>P4 modelo + nivel</a:t>
                      </a:r>
                    </a:p>
                  </a:txBody>
                  <a:tcPr marL="82296" marR="82296" anchor="ctr">
                    <a:solidFill>
                      <a:srgbClr val="F7EEEF"/>
                    </a:solidFill>
                  </a:tcPr>
                </a:tc>
                <a:tc>
                  <a:txBody>
                    <a:bodyPr/>
                    <a:lstStyle/>
                    <a:p>
                      <a:pPr algn="r"/>
                      <a:r>
                        <a:rPr sz="919" b="1">
                          <a:solidFill>
                            <a:srgbClr val="17150F"/>
                          </a:solidFill>
                          <a:latin typeface="Arial"/>
                        </a:rPr>
                        <a:t>9.062.061</a:t>
                      </a:r>
                    </a:p>
                  </a:txBody>
                  <a:tcPr marL="82296" marR="82296" anchor="ctr">
                    <a:solidFill>
                      <a:srgbClr val="F7EEEF"/>
                    </a:solidFill>
                  </a:tcPr>
                </a:tc>
                <a:tc>
                  <a:txBody>
                    <a:bodyPr/>
                    <a:lstStyle/>
                    <a:p>
                      <a:pPr algn="r"/>
                      <a:r>
                        <a:rPr sz="919" b="1">
                          <a:solidFill>
                            <a:srgbClr val="17150F"/>
                          </a:solidFill>
                          <a:latin typeface="Arial"/>
                        </a:rPr>
                        <a:t>96,1 %</a:t>
                      </a:r>
                    </a:p>
                  </a:txBody>
                  <a:tcPr marL="82296" marR="82296" anchor="ctr">
                    <a:solidFill>
                      <a:srgbClr val="F7EEEF"/>
                    </a:solidFill>
                  </a:tcPr>
                </a:tc>
                <a:extLst>
                  <a:ext uri="{0D108BD9-81ED-4DB2-BD59-A6C34878D82A}">
                    <a16:rowId xmlns:a16="http://schemas.microsoft.com/office/drawing/2014/main" val="10001"/>
                  </a:ext>
                </a:extLst>
              </a:tr>
              <a:tr h="219456">
                <a:tc>
                  <a:txBody>
                    <a:bodyPr/>
                    <a:lstStyle/>
                    <a:p>
                      <a:pPr algn="l"/>
                      <a:r>
                        <a:rPr sz="919" b="0">
                          <a:solidFill>
                            <a:srgbClr val="17150F"/>
                          </a:solidFill>
                          <a:latin typeface="Arial"/>
                        </a:rPr>
                        <a:t>P3 media móvil + nivel</a:t>
                      </a:r>
                    </a:p>
                  </a:txBody>
                  <a:tcPr marL="82296" marR="82296" anchor="ctr">
                    <a:solidFill>
                      <a:srgbClr val="FFFFFF"/>
                    </a:solidFill>
                  </a:tcPr>
                </a:tc>
                <a:tc>
                  <a:txBody>
                    <a:bodyPr/>
                    <a:lstStyle/>
                    <a:p>
                      <a:pPr algn="r"/>
                      <a:r>
                        <a:rPr sz="919" b="0">
                          <a:solidFill>
                            <a:srgbClr val="555045"/>
                          </a:solidFill>
                          <a:latin typeface="Arial"/>
                        </a:rPr>
                        <a:t>9.255.833</a:t>
                      </a:r>
                    </a:p>
                  </a:txBody>
                  <a:tcPr marL="82296" marR="82296" anchor="ctr">
                    <a:solidFill>
                      <a:srgbClr val="FFFFFF"/>
                    </a:solidFill>
                  </a:tcPr>
                </a:tc>
                <a:tc>
                  <a:txBody>
                    <a:bodyPr/>
                    <a:lstStyle/>
                    <a:p>
                      <a:pPr algn="r"/>
                      <a:r>
                        <a:rPr sz="919" b="0">
                          <a:solidFill>
                            <a:srgbClr val="555045"/>
                          </a:solidFill>
                          <a:latin typeface="Arial"/>
                        </a:rPr>
                        <a:t>96,0 %</a:t>
                      </a:r>
                    </a:p>
                  </a:txBody>
                  <a:tcPr marL="82296" marR="82296" anchor="ctr">
                    <a:solidFill>
                      <a:srgbClr val="FFFFFF"/>
                    </a:solidFill>
                  </a:tcPr>
                </a:tc>
                <a:extLst>
                  <a:ext uri="{0D108BD9-81ED-4DB2-BD59-A6C34878D82A}">
                    <a16:rowId xmlns:a16="http://schemas.microsoft.com/office/drawing/2014/main" val="10002"/>
                  </a:ext>
                </a:extLst>
              </a:tr>
              <a:tr h="219456">
                <a:tc>
                  <a:txBody>
                    <a:bodyPr/>
                    <a:lstStyle/>
                    <a:p>
                      <a:pPr algn="l"/>
                      <a:r>
                        <a:rPr sz="919" b="0">
                          <a:solidFill>
                            <a:srgbClr val="17150F"/>
                          </a:solidFill>
                          <a:latin typeface="Arial"/>
                        </a:rPr>
                        <a:t>P2 modelo + centro</a:t>
                      </a:r>
                    </a:p>
                  </a:txBody>
                  <a:tcPr marL="82296" marR="82296" anchor="ctr">
                    <a:solidFill>
                      <a:srgbClr val="FFFFFF"/>
                    </a:solidFill>
                  </a:tcPr>
                </a:tc>
                <a:tc>
                  <a:txBody>
                    <a:bodyPr/>
                    <a:lstStyle/>
                    <a:p>
                      <a:pPr algn="r"/>
                      <a:r>
                        <a:rPr sz="919" b="0">
                          <a:solidFill>
                            <a:srgbClr val="555045"/>
                          </a:solidFill>
                          <a:latin typeface="Arial"/>
                        </a:rPr>
                        <a:t>9.512.699</a:t>
                      </a:r>
                    </a:p>
                  </a:txBody>
                  <a:tcPr marL="82296" marR="82296" anchor="ctr">
                    <a:solidFill>
                      <a:srgbClr val="FFFFFF"/>
                    </a:solidFill>
                  </a:tcPr>
                </a:tc>
                <a:tc>
                  <a:txBody>
                    <a:bodyPr/>
                    <a:lstStyle/>
                    <a:p>
                      <a:pPr algn="r"/>
                      <a:r>
                        <a:rPr sz="919" b="0">
                          <a:solidFill>
                            <a:srgbClr val="555045"/>
                          </a:solidFill>
                          <a:latin typeface="Arial"/>
                        </a:rPr>
                        <a:t>93,9 %</a:t>
                      </a:r>
                    </a:p>
                  </a:txBody>
                  <a:tcPr marL="82296" marR="82296" anchor="ctr">
                    <a:solidFill>
                      <a:srgbClr val="FFFFFF"/>
                    </a:solidFill>
                  </a:tcPr>
                </a:tc>
                <a:extLst>
                  <a:ext uri="{0D108BD9-81ED-4DB2-BD59-A6C34878D82A}">
                    <a16:rowId xmlns:a16="http://schemas.microsoft.com/office/drawing/2014/main" val="10003"/>
                  </a:ext>
                </a:extLst>
              </a:tr>
              <a:tr h="219456">
                <a:tc>
                  <a:txBody>
                    <a:bodyPr/>
                    <a:lstStyle/>
                    <a:p>
                      <a:pPr algn="l"/>
                      <a:r>
                        <a:rPr sz="919" b="0">
                          <a:solidFill>
                            <a:srgbClr val="17150F"/>
                          </a:solidFill>
                          <a:latin typeface="Arial"/>
                        </a:rPr>
                        <a:t>P1 media móvil + centro</a:t>
                      </a:r>
                    </a:p>
                  </a:txBody>
                  <a:tcPr marL="82296" marR="82296" anchor="ctr">
                    <a:solidFill>
                      <a:srgbClr val="FFFFFF"/>
                    </a:solidFill>
                  </a:tcPr>
                </a:tc>
                <a:tc>
                  <a:txBody>
                    <a:bodyPr/>
                    <a:lstStyle/>
                    <a:p>
                      <a:pPr algn="r"/>
                      <a:r>
                        <a:rPr sz="919" b="0">
                          <a:solidFill>
                            <a:srgbClr val="555045"/>
                          </a:solidFill>
                          <a:latin typeface="Arial"/>
                        </a:rPr>
                        <a:t>9.561.518</a:t>
                      </a:r>
                    </a:p>
                  </a:txBody>
                  <a:tcPr marL="82296" marR="82296" anchor="ctr">
                    <a:solidFill>
                      <a:srgbClr val="FFFFFF"/>
                    </a:solidFill>
                  </a:tcPr>
                </a:tc>
                <a:tc>
                  <a:txBody>
                    <a:bodyPr/>
                    <a:lstStyle/>
                    <a:p>
                      <a:pPr algn="r"/>
                      <a:r>
                        <a:rPr sz="919" b="0">
                          <a:solidFill>
                            <a:srgbClr val="555045"/>
                          </a:solidFill>
                          <a:latin typeface="Arial"/>
                        </a:rPr>
                        <a:t>94,0 %</a:t>
                      </a:r>
                    </a:p>
                  </a:txBody>
                  <a:tcPr marL="82296" marR="82296" anchor="ctr">
                    <a:solidFill>
                      <a:srgbClr val="FFFFFF"/>
                    </a:solidFill>
                  </a:tcPr>
                </a:tc>
                <a:extLst>
                  <a:ext uri="{0D108BD9-81ED-4DB2-BD59-A6C34878D82A}">
                    <a16:rowId xmlns:a16="http://schemas.microsoft.com/office/drawing/2014/main" val="10004"/>
                  </a:ext>
                </a:extLst>
              </a:tr>
              <a:tr h="219456">
                <a:tc>
                  <a:txBody>
                    <a:bodyPr/>
                    <a:lstStyle/>
                    <a:p>
                      <a:pPr algn="l"/>
                      <a:r>
                        <a:rPr sz="919" b="0">
                          <a:solidFill>
                            <a:srgbClr val="17150F"/>
                          </a:solidFill>
                          <a:latin typeface="Arial"/>
                        </a:rPr>
                        <a:t>P0 repetir la semana</a:t>
                      </a:r>
                    </a:p>
                  </a:txBody>
                  <a:tcPr marL="82296" marR="82296" anchor="ctr">
                    <a:solidFill>
                      <a:srgbClr val="FFFFFF"/>
                    </a:solidFill>
                  </a:tcPr>
                </a:tc>
                <a:tc>
                  <a:txBody>
                    <a:bodyPr/>
                    <a:lstStyle/>
                    <a:p>
                      <a:pPr algn="r"/>
                      <a:r>
                        <a:rPr sz="919" b="0">
                          <a:solidFill>
                            <a:srgbClr val="555045"/>
                          </a:solidFill>
                          <a:latin typeface="Arial"/>
                        </a:rPr>
                        <a:t>11.022.905</a:t>
                      </a:r>
                    </a:p>
                  </a:txBody>
                  <a:tcPr marL="82296" marR="82296" anchor="ctr">
                    <a:solidFill>
                      <a:srgbClr val="FFFFFF"/>
                    </a:solidFill>
                  </a:tcPr>
                </a:tc>
                <a:tc>
                  <a:txBody>
                    <a:bodyPr/>
                    <a:lstStyle/>
                    <a:p>
                      <a:pPr algn="r"/>
                      <a:r>
                        <a:rPr sz="919" b="0">
                          <a:solidFill>
                            <a:srgbClr val="555045"/>
                          </a:solidFill>
                          <a:latin typeface="Arial"/>
                        </a:rPr>
                        <a:t>93,1 %</a:t>
                      </a:r>
                    </a:p>
                  </a:txBody>
                  <a:tcPr marL="82296" marR="82296" anchor="ctr">
                    <a:solidFill>
                      <a:srgbClr val="FFFFFF"/>
                    </a:solidFill>
                  </a:tcPr>
                </a:tc>
                <a:extLst>
                  <a:ext uri="{0D108BD9-81ED-4DB2-BD59-A6C34878D82A}">
                    <a16:rowId xmlns:a16="http://schemas.microsoft.com/office/drawing/2014/main" val="10005"/>
                  </a:ext>
                </a:extLst>
              </a:tr>
            </a:tbl>
          </a:graphicData>
        </a:graphic>
      </p:graphicFrame>
      <p:pic>
        <p:nvPicPr>
          <p:cNvPr id="11" name="Picture 10" descr="image.png"/>
          <p:cNvPicPr>
            <a:picLocks noChangeAspect="1"/>
          </p:cNvPicPr>
          <p:nvPr/>
        </p:nvPicPr>
        <p:blipFill>
          <a:blip r:embed="rId2"/>
          <a:stretch>
            <a:fillRect/>
          </a:stretch>
        </p:blipFill>
        <p:spPr>
          <a:xfrm>
            <a:off x="6255867" y="2812592"/>
            <a:ext cx="4301337" cy="2150668"/>
          </a:xfrm>
          <a:prstGeom prst="rect">
            <a:avLst/>
          </a:prstGeom>
        </p:spPr>
      </p:pic>
      <p:sp>
        <p:nvSpPr>
          <p:cNvPr id="12" name="TextBox 11"/>
          <p:cNvSpPr txBox="1"/>
          <p:nvPr/>
        </p:nvSpPr>
        <p:spPr>
          <a:xfrm>
            <a:off x="6255867" y="5054700"/>
            <a:ext cx="5387187" cy="1115872"/>
          </a:xfrm>
          <a:prstGeom prst="rect">
            <a:avLst/>
          </a:prstGeom>
          <a:noFill/>
        </p:spPr>
        <p:txBody>
          <a:bodyPr wrap="square" lIns="0" tIns="0" rIns="0" bIns="0">
            <a:spAutoFit/>
          </a:bodyPr>
          <a:lstStyle/>
          <a:p>
            <a:pPr>
              <a:lnSpc>
                <a:spcPct val="118000"/>
              </a:lnSpc>
              <a:spcAft>
                <a:spcPts val="300"/>
              </a:spcAft>
            </a:pPr>
            <a:r>
              <a:rPr sz="980" b="1">
                <a:solidFill>
                  <a:srgbClr val="17150F"/>
                </a:solidFill>
                <a:latin typeface="Arial"/>
              </a:rPr>
              <a:t>Un 17,8 % menos que la práctica actual y un 5,2 % menos que pedir el pronóstico central.</a:t>
            </a:r>
          </a:p>
          <a:p>
            <a:pPr>
              <a:lnSpc>
                <a:spcPct val="118000"/>
              </a:lnSpc>
              <a:spcAft>
                <a:spcPts val="300"/>
              </a:spcAft>
            </a:pPr>
            <a:r>
              <a:rPr sz="980" b="0">
                <a:solidFill>
                  <a:srgbClr val="555045"/>
                </a:solidFill>
                <a:latin typeface="Arial"/>
              </a:rPr>
              <a:t>Fíjate en la composición, no solo en el total. P4 tiene 1,8 millones más de merma que P1, pero 2,2 millones menos en ventas perdidas. El servicio real sube del 94,0 % al 96,1 %.</a:t>
            </a:r>
          </a:p>
          <a:p>
            <a:pPr>
              <a:lnSpc>
                <a:spcPct val="118000"/>
              </a:lnSpc>
              <a:spcAft>
                <a:spcPts val="300"/>
              </a:spcAft>
            </a:pPr>
            <a:r>
              <a:rPr sz="980" b="0">
                <a:solidFill>
                  <a:srgbClr val="555045"/>
                </a:solidFill>
                <a:latin typeface="Arial"/>
              </a:rPr>
              <a:t>Extrapolado a 52 semanas serían 8,7 millones. Es orden de magnitud, no compromiso.</a:t>
            </a:r>
          </a:p>
        </p:txBody>
      </p:sp>
      <p:sp>
        <p:nvSpPr>
          <p:cNvPr id="13" name="Rectangle 12"/>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15 · Simulación de políticas</a:t>
            </a:r>
          </a:p>
        </p:txBody>
      </p:sp>
      <p:sp>
        <p:nvSpPr>
          <p:cNvPr id="16" name="TextBox 15"/>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15 · ATRIBUCIÓN</a:t>
            </a:r>
          </a:p>
        </p:txBody>
      </p:sp>
      <p:sp>
        <p:nvSpPr>
          <p:cNvPr id="4" name="TextBox 3"/>
          <p:cNvSpPr txBox="1"/>
          <p:nvPr/>
        </p:nvSpPr>
        <p:spPr>
          <a:xfrm>
            <a:off x="548640" y="704088"/>
            <a:ext cx="5387187" cy="555244"/>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Seis de cada diez pesos vienen de cambiar la regla, no de predecir mejor</a:t>
            </a:r>
          </a:p>
        </p:txBody>
      </p:sp>
      <p:pic>
        <p:nvPicPr>
          <p:cNvPr id="5" name="Picture 4" descr="image.png"/>
          <p:cNvPicPr>
            <a:picLocks noChangeAspect="1"/>
          </p:cNvPicPr>
          <p:nvPr/>
        </p:nvPicPr>
        <p:blipFill>
          <a:blip r:embed="rId2"/>
          <a:stretch>
            <a:fillRect/>
          </a:stretch>
        </p:blipFill>
        <p:spPr>
          <a:xfrm>
            <a:off x="548640" y="1295908"/>
            <a:ext cx="4480560" cy="1655859"/>
          </a:xfrm>
          <a:prstGeom prst="rect">
            <a:avLst/>
          </a:prstGeom>
        </p:spPr>
      </p:pic>
      <p:graphicFrame>
        <p:nvGraphicFramePr>
          <p:cNvPr id="6" name="Table 5"/>
          <p:cNvGraphicFramePr>
            <a:graphicFrameLocks noGrp="1"/>
          </p:cNvGraphicFramePr>
          <p:nvPr/>
        </p:nvGraphicFramePr>
        <p:xfrm>
          <a:off x="548640" y="3043207"/>
          <a:ext cx="5387185" cy="1298448"/>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r>
                        <a:rPr sz="810" b="1">
                          <a:solidFill>
                            <a:srgbClr val="8B8478"/>
                          </a:solidFill>
                          <a:latin typeface="Arial"/>
                        </a:rPr>
                        <a:t>Componente</a:t>
                      </a:r>
                    </a:p>
                  </a:txBody>
                  <a:tcPr marL="82296" marR="82296" anchor="ctr">
                    <a:solidFill>
                      <a:srgbClr val="F4F2ED"/>
                    </a:solidFill>
                  </a:tcPr>
                </a:tc>
                <a:tc>
                  <a:txBody>
                    <a:bodyPr/>
                    <a:lstStyle/>
                    <a:p>
                      <a:pPr algn="r"/>
                      <a:r>
                        <a:rPr sz="810" b="1">
                          <a:solidFill>
                            <a:srgbClr val="8B8478"/>
                          </a:solidFill>
                          <a:latin typeface="Arial"/>
                        </a:rPr>
                        <a:t>Ahorro</a:t>
                      </a:r>
                    </a:p>
                  </a:txBody>
                  <a:tcPr marL="82296" marR="82296" anchor="ctr">
                    <a:solidFill>
                      <a:srgbClr val="F4F2ED"/>
                    </a:solidFill>
                  </a:tcPr>
                </a:tc>
                <a:tc>
                  <a:txBody>
                    <a:bodyPr/>
                    <a:lstStyle/>
                    <a:p>
                      <a:pPr algn="r"/>
                      <a:r>
                        <a:rPr sz="810" b="1">
                          <a:solidFill>
                            <a:srgbClr val="8B8478"/>
                          </a:solidFill>
                          <a:latin typeface="Arial"/>
                        </a:rPr>
                        <a:t>Peso</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1">
                          <a:solidFill>
                            <a:srgbClr val="17150F"/>
                          </a:solidFill>
                          <a:latin typeface="Arial"/>
                        </a:rPr>
                        <a:t>Efecto de la regla</a:t>
                      </a:r>
                    </a:p>
                  </a:txBody>
                  <a:tcPr marL="82296" marR="82296" anchor="ctr">
                    <a:solidFill>
                      <a:srgbClr val="F7EEEF"/>
                    </a:solidFill>
                  </a:tcPr>
                </a:tc>
                <a:tc>
                  <a:txBody>
                    <a:bodyPr/>
                    <a:lstStyle/>
                    <a:p>
                      <a:pPr algn="r"/>
                      <a:r>
                        <a:rPr sz="960" b="1">
                          <a:solidFill>
                            <a:srgbClr val="17150F"/>
                          </a:solidFill>
                          <a:latin typeface="Arial"/>
                        </a:rPr>
                        <a:t>305.685</a:t>
                      </a:r>
                    </a:p>
                  </a:txBody>
                  <a:tcPr marL="82296" marR="82296" anchor="ctr">
                    <a:solidFill>
                      <a:srgbClr val="F7EEEF"/>
                    </a:solidFill>
                  </a:tcPr>
                </a:tc>
                <a:tc>
                  <a:txBody>
                    <a:bodyPr/>
                    <a:lstStyle/>
                    <a:p>
                      <a:pPr algn="r"/>
                      <a:r>
                        <a:rPr sz="960" b="1">
                          <a:solidFill>
                            <a:srgbClr val="17150F"/>
                          </a:solidFill>
                          <a:latin typeface="Arial"/>
                        </a:rPr>
                        <a:t>61 %</a:t>
                      </a:r>
                    </a:p>
                  </a:txBody>
                  <a:tcPr marL="82296" marR="82296" anchor="ctr">
                    <a:solidFill>
                      <a:srgbClr val="F7EEE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Interacción</a:t>
                      </a:r>
                    </a:p>
                  </a:txBody>
                  <a:tcPr marL="82296" marR="82296" anchor="ctr">
                    <a:solidFill>
                      <a:srgbClr val="FFFFFF"/>
                    </a:solidFill>
                  </a:tcPr>
                </a:tc>
                <a:tc>
                  <a:txBody>
                    <a:bodyPr/>
                    <a:lstStyle/>
                    <a:p>
                      <a:pPr algn="r"/>
                      <a:r>
                        <a:rPr sz="960" b="0">
                          <a:solidFill>
                            <a:srgbClr val="555045"/>
                          </a:solidFill>
                          <a:latin typeface="Arial"/>
                        </a:rPr>
                        <a:t>144.953</a:t>
                      </a:r>
                    </a:p>
                  </a:txBody>
                  <a:tcPr marL="82296" marR="82296" anchor="ctr">
                    <a:solidFill>
                      <a:srgbClr val="FFFFFF"/>
                    </a:solidFill>
                  </a:tcPr>
                </a:tc>
                <a:tc>
                  <a:txBody>
                    <a:bodyPr/>
                    <a:lstStyle/>
                    <a:p>
                      <a:pPr algn="r"/>
                      <a:r>
                        <a:rPr sz="960" b="0">
                          <a:solidFill>
                            <a:srgbClr val="555045"/>
                          </a:solidFill>
                          <a:latin typeface="Arial"/>
                        </a:rPr>
                        <a:t>29 %</a:t>
                      </a:r>
                    </a:p>
                  </a:txBody>
                  <a:tcPr marL="82296" marR="82296" anchor="ctr">
                    <a:solidFill>
                      <a:srgbClr val="FFFFFF"/>
                    </a:solidFill>
                  </a:tcPr>
                </a:tc>
                <a:extLst>
                  <a:ext uri="{0D108BD9-81ED-4DB2-BD59-A6C34878D82A}">
                    <a16:rowId xmlns:a16="http://schemas.microsoft.com/office/drawing/2014/main" val="10002"/>
                  </a:ext>
                </a:extLst>
              </a:tr>
              <a:tr h="228600">
                <a:tc>
                  <a:txBody>
                    <a:bodyPr/>
                    <a:lstStyle/>
                    <a:p>
                      <a:pPr algn="l"/>
                      <a:r>
                        <a:rPr sz="960" b="0">
                          <a:solidFill>
                            <a:srgbClr val="17150F"/>
                          </a:solidFill>
                          <a:latin typeface="Arial"/>
                        </a:rPr>
                        <a:t>Efecto del modelo</a:t>
                      </a:r>
                    </a:p>
                  </a:txBody>
                  <a:tcPr marL="82296" marR="82296" anchor="ctr">
                    <a:solidFill>
                      <a:srgbClr val="FFFFFF"/>
                    </a:solidFill>
                  </a:tcPr>
                </a:tc>
                <a:tc>
                  <a:txBody>
                    <a:bodyPr/>
                    <a:lstStyle/>
                    <a:p>
                      <a:pPr algn="r"/>
                      <a:r>
                        <a:rPr sz="960" b="0">
                          <a:solidFill>
                            <a:srgbClr val="555045"/>
                          </a:solidFill>
                          <a:latin typeface="Arial"/>
                        </a:rPr>
                        <a:t>48.819</a:t>
                      </a:r>
                    </a:p>
                  </a:txBody>
                  <a:tcPr marL="82296" marR="82296" anchor="ctr">
                    <a:solidFill>
                      <a:srgbClr val="FFFFFF"/>
                    </a:solidFill>
                  </a:tcPr>
                </a:tc>
                <a:tc>
                  <a:txBody>
                    <a:bodyPr/>
                    <a:lstStyle/>
                    <a:p>
                      <a:pPr algn="r"/>
                      <a:r>
                        <a:rPr sz="960" b="0">
                          <a:solidFill>
                            <a:srgbClr val="555045"/>
                          </a:solidFill>
                          <a:latin typeface="Arial"/>
                        </a:rPr>
                        <a:t>10 %</a:t>
                      </a:r>
                    </a:p>
                  </a:txBody>
                  <a:tcPr marL="82296" marR="82296" anchor="ctr">
                    <a:solidFill>
                      <a:srgbClr val="FFFFFF"/>
                    </a:solidFill>
                  </a:tcPr>
                </a:tc>
                <a:extLst>
                  <a:ext uri="{0D108BD9-81ED-4DB2-BD59-A6C34878D82A}">
                    <a16:rowId xmlns:a16="http://schemas.microsoft.com/office/drawing/2014/main" val="10003"/>
                  </a:ext>
                </a:extLst>
              </a:tr>
              <a:tr h="228600">
                <a:tc>
                  <a:txBody>
                    <a:bodyPr/>
                    <a:lstStyle/>
                    <a:p>
                      <a:pPr algn="l"/>
                      <a:r>
                        <a:rPr sz="960" b="0">
                          <a:solidFill>
                            <a:srgbClr val="17150F"/>
                          </a:solidFill>
                          <a:latin typeface="Arial"/>
                        </a:rPr>
                        <a:t>Total</a:t>
                      </a:r>
                    </a:p>
                  </a:txBody>
                  <a:tcPr marL="82296" marR="82296" anchor="ctr">
                    <a:solidFill>
                      <a:srgbClr val="FFFFFF"/>
                    </a:solidFill>
                  </a:tcPr>
                </a:tc>
                <a:tc>
                  <a:txBody>
                    <a:bodyPr/>
                    <a:lstStyle/>
                    <a:p>
                      <a:pPr algn="r"/>
                      <a:r>
                        <a:rPr sz="960" b="0">
                          <a:solidFill>
                            <a:srgbClr val="555045"/>
                          </a:solidFill>
                          <a:latin typeface="Arial"/>
                        </a:rPr>
                        <a:t>499.457</a:t>
                      </a:r>
                    </a:p>
                  </a:txBody>
                  <a:tcPr marL="82296" marR="82296" anchor="ctr">
                    <a:solidFill>
                      <a:srgbClr val="FFFFFF"/>
                    </a:solidFill>
                  </a:tcPr>
                </a:tc>
                <a:tc>
                  <a:txBody>
                    <a:bodyPr/>
                    <a:lstStyle/>
                    <a:p>
                      <a:pPr algn="r"/>
                      <a:r>
                        <a:rPr sz="960" b="0">
                          <a:solidFill>
                            <a:srgbClr val="555045"/>
                          </a:solidFill>
                          <a:latin typeface="Arial"/>
                        </a:rPr>
                        <a:t>100 %</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48640" y="4396519"/>
            <a:ext cx="5387187" cy="1320698"/>
          </a:xfrm>
          <a:prstGeom prst="rect">
            <a:avLst/>
          </a:prstGeom>
          <a:noFill/>
        </p:spPr>
        <p:txBody>
          <a:bodyPr wrap="square" lIns="0" tIns="0" rIns="0" bIns="0">
            <a:spAutoFit/>
          </a:bodyPr>
          <a:lstStyle/>
          <a:p>
            <a:pPr>
              <a:lnSpc>
                <a:spcPct val="118000"/>
              </a:lnSpc>
              <a:spcAft>
                <a:spcPts val="300"/>
              </a:spcAft>
            </a:pPr>
            <a:r>
              <a:rPr sz="1019" b="0">
                <a:solidFill>
                  <a:srgbClr val="555045"/>
                </a:solidFill>
                <a:latin typeface="Arial"/>
              </a:rPr>
              <a:t>Es lo que la tesis del proyecto anticipaba desde el análisis exploratorio, y ahora está medido con un diseño que lo aísla.</a:t>
            </a:r>
          </a:p>
          <a:p>
            <a:pPr>
              <a:lnSpc>
                <a:spcPct val="118000"/>
              </a:lnSpc>
              <a:spcAft>
                <a:spcPts val="300"/>
              </a:spcAft>
            </a:pPr>
            <a:r>
              <a:rPr sz="1019" b="1">
                <a:solidFill>
                  <a:srgbClr val="17150F"/>
                </a:solidFill>
                <a:latin typeface="Arial"/>
              </a:rPr>
              <a:t>Presentar los 499.000 pesos como logro del modelo sería atribuirle un mérito que no tiene.</a:t>
            </a:r>
          </a:p>
          <a:p>
            <a:pPr>
              <a:lnSpc>
                <a:spcPct val="118000"/>
              </a:lnSpc>
              <a:spcAft>
                <a:spcPts val="300"/>
              </a:spcAft>
            </a:pPr>
            <a:r>
              <a:rPr sz="1019" b="0">
                <a:solidFill>
                  <a:srgbClr val="555045"/>
                </a:solidFill>
                <a:latin typeface="Arial"/>
              </a:rPr>
              <a:t>La interacción merece atención. Esos 145.000 salen de que el modelo, además de acertar el centro, gradúa el ancho del abanico por serie. Es lo que justifica haber elegido un modelo cuantílico y no uno puntual.</a:t>
            </a:r>
          </a:p>
        </p:txBody>
      </p:sp>
      <p:sp>
        <p:nvSpPr>
          <p:cNvPr id="8" name="TextBox 7"/>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15 · QUÉ ESTÁ DEMOSTRADO</a:t>
            </a:r>
          </a:p>
        </p:txBody>
      </p:sp>
      <p:sp>
        <p:nvSpPr>
          <p:cNvPr id="9" name="TextBox 8"/>
          <p:cNvSpPr txBox="1"/>
          <p:nvPr/>
        </p:nvSpPr>
        <p:spPr>
          <a:xfrm>
            <a:off x="6255867" y="704088"/>
            <a:ext cx="5387187" cy="319532"/>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Solo dos de las cuatro comparaciones son significativas</a:t>
            </a:r>
          </a:p>
        </p:txBody>
      </p:sp>
      <p:sp>
        <p:nvSpPr>
          <p:cNvPr id="10" name="TextBox 9"/>
          <p:cNvSpPr txBox="1"/>
          <p:nvPr/>
        </p:nvSpPr>
        <p:spPr>
          <a:xfrm>
            <a:off x="6255867" y="1060196"/>
            <a:ext cx="5387187" cy="434949"/>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Bandas de confianza al 95 % por remuestreo de series, no de filas, porque las semanas de una misma serie están correlacionadas.</a:t>
            </a:r>
          </a:p>
        </p:txBody>
      </p:sp>
      <p:graphicFrame>
        <p:nvGraphicFramePr>
          <p:cNvPr id="11" name="Table 10"/>
          <p:cNvGraphicFramePr>
            <a:graphicFrameLocks noGrp="1"/>
          </p:cNvGraphicFramePr>
          <p:nvPr/>
        </p:nvGraphicFramePr>
        <p:xfrm>
          <a:off x="6255867" y="1531721"/>
          <a:ext cx="5387185" cy="1737360"/>
        </p:xfrm>
        <a:graphic>
          <a:graphicData uri="http://schemas.openxmlformats.org/drawingml/2006/table">
            <a:tbl>
              <a:tblPr bandRow="1">
                <a:tableStyleId>{5C22544A-7EE6-4342-B048-85BDC9FD1C3A}</a:tableStyleId>
              </a:tblPr>
              <a:tblGrid>
                <a:gridCol w="2020195">
                  <a:extLst>
                    <a:ext uri="{9D8B030D-6E8A-4147-A177-3AD203B41FA5}">
                      <a16:colId xmlns:a16="http://schemas.microsoft.com/office/drawing/2014/main" val="20000"/>
                    </a:ext>
                  </a:extLst>
                </a:gridCol>
                <a:gridCol w="1122330">
                  <a:extLst>
                    <a:ext uri="{9D8B030D-6E8A-4147-A177-3AD203B41FA5}">
                      <a16:colId xmlns:a16="http://schemas.microsoft.com/office/drawing/2014/main" val="20001"/>
                    </a:ext>
                  </a:extLst>
                </a:gridCol>
                <a:gridCol w="1122330">
                  <a:extLst>
                    <a:ext uri="{9D8B030D-6E8A-4147-A177-3AD203B41FA5}">
                      <a16:colId xmlns:a16="http://schemas.microsoft.com/office/drawing/2014/main" val="20002"/>
                    </a:ext>
                  </a:extLst>
                </a:gridCol>
                <a:gridCol w="1122330">
                  <a:extLst>
                    <a:ext uri="{9D8B030D-6E8A-4147-A177-3AD203B41FA5}">
                      <a16:colId xmlns:a16="http://schemas.microsoft.com/office/drawing/2014/main" val="20003"/>
                    </a:ext>
                  </a:extLst>
                </a:gridCol>
              </a:tblGrid>
              <a:tr h="347472">
                <a:tc>
                  <a:txBody>
                    <a:bodyPr/>
                    <a:lstStyle/>
                    <a:p>
                      <a:pPr algn="l"/>
                      <a:r>
                        <a:rPr sz="810" b="1">
                          <a:solidFill>
                            <a:srgbClr val="8B8478"/>
                          </a:solidFill>
                          <a:latin typeface="Arial"/>
                        </a:rPr>
                        <a:t>Comparación</a:t>
                      </a:r>
                    </a:p>
                  </a:txBody>
                  <a:tcPr marL="82296" marR="82296" anchor="ctr">
                    <a:solidFill>
                      <a:srgbClr val="F4F2ED"/>
                    </a:solidFill>
                  </a:tcPr>
                </a:tc>
                <a:tc>
                  <a:txBody>
                    <a:bodyPr/>
                    <a:lstStyle/>
                    <a:p>
                      <a:pPr algn="r"/>
                      <a:r>
                        <a:rPr sz="810" b="1">
                          <a:solidFill>
                            <a:srgbClr val="8B8478"/>
                          </a:solidFill>
                          <a:latin typeface="Arial"/>
                        </a:rPr>
                        <a:t>Ahorro</a:t>
                      </a:r>
                    </a:p>
                  </a:txBody>
                  <a:tcPr marL="82296" marR="82296" anchor="ctr">
                    <a:solidFill>
                      <a:srgbClr val="F4F2ED"/>
                    </a:solidFill>
                  </a:tcPr>
                </a:tc>
                <a:tc>
                  <a:txBody>
                    <a:bodyPr/>
                    <a:lstStyle/>
                    <a:p>
                      <a:pPr algn="r"/>
                      <a:r>
                        <a:rPr sz="810" b="1">
                          <a:solidFill>
                            <a:srgbClr val="8B8478"/>
                          </a:solidFill>
                          <a:latin typeface="Arial"/>
                        </a:rPr>
                        <a:t>Banda 95 %</a:t>
                      </a:r>
                    </a:p>
                  </a:txBody>
                  <a:tcPr marL="82296" marR="82296" anchor="ctr">
                    <a:solidFill>
                      <a:srgbClr val="F4F2ED"/>
                    </a:solidFill>
                  </a:tcPr>
                </a:tc>
                <a:tc>
                  <a:txBody>
                    <a:bodyPr/>
                    <a:lstStyle/>
                    <a:p>
                      <a:pPr algn="r"/>
                      <a:r>
                        <a:rPr sz="810" b="1">
                          <a:solidFill>
                            <a:srgbClr val="8B8478"/>
                          </a:solidFill>
                          <a:latin typeface="Arial"/>
                        </a:rPr>
                        <a:t>¿Significativo?</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1">
                          <a:solidFill>
                            <a:srgbClr val="17150F"/>
                          </a:solidFill>
                          <a:latin typeface="Arial"/>
                        </a:rPr>
                        <a:t>P4 frente a P0 · la práctica actual</a:t>
                      </a:r>
                    </a:p>
                  </a:txBody>
                  <a:tcPr marL="82296" marR="82296" anchor="ctr">
                    <a:solidFill>
                      <a:srgbClr val="F7EEEF"/>
                    </a:solidFill>
                  </a:tcPr>
                </a:tc>
                <a:tc>
                  <a:txBody>
                    <a:bodyPr/>
                    <a:lstStyle/>
                    <a:p>
                      <a:pPr algn="r"/>
                      <a:r>
                        <a:rPr sz="960" b="1">
                          <a:solidFill>
                            <a:srgbClr val="17150F"/>
                          </a:solidFill>
                          <a:latin typeface="Arial"/>
                        </a:rPr>
                        <a:t>1.960.844</a:t>
                      </a:r>
                    </a:p>
                  </a:txBody>
                  <a:tcPr marL="82296" marR="82296" anchor="ctr">
                    <a:solidFill>
                      <a:srgbClr val="F7EEEF"/>
                    </a:solidFill>
                  </a:tcPr>
                </a:tc>
                <a:tc>
                  <a:txBody>
                    <a:bodyPr/>
                    <a:lstStyle/>
                    <a:p>
                      <a:pPr algn="r"/>
                      <a:r>
                        <a:rPr sz="960" b="1">
                          <a:solidFill>
                            <a:srgbClr val="17150F"/>
                          </a:solidFill>
                          <a:latin typeface="Arial"/>
                        </a:rPr>
                        <a:t>1.325.913 a 2.598.960</a:t>
                      </a:r>
                    </a:p>
                  </a:txBody>
                  <a:tcPr marL="82296" marR="82296" anchor="ctr">
                    <a:solidFill>
                      <a:srgbClr val="F7EEEF"/>
                    </a:solidFill>
                  </a:tcPr>
                </a:tc>
                <a:tc>
                  <a:txBody>
                    <a:bodyPr/>
                    <a:lstStyle/>
                    <a:p>
                      <a:pPr algn="r"/>
                      <a:r>
                        <a:rPr sz="960" b="1">
                          <a:solidFill>
                            <a:srgbClr val="17150F"/>
                          </a:solidFill>
                          <a:latin typeface="Arial"/>
                        </a:rPr>
                        <a:t>Sí</a:t>
                      </a:r>
                    </a:p>
                  </a:txBody>
                  <a:tcPr marL="82296" marR="82296" anchor="ctr">
                    <a:solidFill>
                      <a:srgbClr val="F7EEEF"/>
                    </a:solidFill>
                  </a:tcPr>
                </a:tc>
                <a:extLst>
                  <a:ext uri="{0D108BD9-81ED-4DB2-BD59-A6C34878D82A}">
                    <a16:rowId xmlns:a16="http://schemas.microsoft.com/office/drawing/2014/main" val="10001"/>
                  </a:ext>
                </a:extLst>
              </a:tr>
              <a:tr h="228600">
                <a:tc>
                  <a:txBody>
                    <a:bodyPr/>
                    <a:lstStyle/>
                    <a:p>
                      <a:pPr algn="l"/>
                      <a:r>
                        <a:rPr sz="960" b="1">
                          <a:solidFill>
                            <a:srgbClr val="17150F"/>
                          </a:solidFill>
                          <a:latin typeface="Arial"/>
                        </a:rPr>
                        <a:t>P4 frente a P1 · pedir el centro</a:t>
                      </a:r>
                    </a:p>
                  </a:txBody>
                  <a:tcPr marL="82296" marR="82296" anchor="ctr">
                    <a:solidFill>
                      <a:srgbClr val="F7EEEF"/>
                    </a:solidFill>
                  </a:tcPr>
                </a:tc>
                <a:tc>
                  <a:txBody>
                    <a:bodyPr/>
                    <a:lstStyle/>
                    <a:p>
                      <a:pPr algn="r"/>
                      <a:r>
                        <a:rPr sz="960" b="1">
                          <a:solidFill>
                            <a:srgbClr val="17150F"/>
                          </a:solidFill>
                          <a:latin typeface="Arial"/>
                        </a:rPr>
                        <a:t>499.457</a:t>
                      </a:r>
                    </a:p>
                  </a:txBody>
                  <a:tcPr marL="82296" marR="82296" anchor="ctr">
                    <a:solidFill>
                      <a:srgbClr val="F7EEEF"/>
                    </a:solidFill>
                  </a:tcPr>
                </a:tc>
                <a:tc>
                  <a:txBody>
                    <a:bodyPr/>
                    <a:lstStyle/>
                    <a:p>
                      <a:pPr algn="r"/>
                      <a:r>
                        <a:rPr sz="960" b="1">
                          <a:solidFill>
                            <a:srgbClr val="17150F"/>
                          </a:solidFill>
                          <a:latin typeface="Arial"/>
                        </a:rPr>
                        <a:t>87.470 a 963.945</a:t>
                      </a:r>
                    </a:p>
                  </a:txBody>
                  <a:tcPr marL="82296" marR="82296" anchor="ctr">
                    <a:solidFill>
                      <a:srgbClr val="F7EEEF"/>
                    </a:solidFill>
                  </a:tcPr>
                </a:tc>
                <a:tc>
                  <a:txBody>
                    <a:bodyPr/>
                    <a:lstStyle/>
                    <a:p>
                      <a:pPr algn="r"/>
                      <a:r>
                        <a:rPr sz="960" b="1">
                          <a:solidFill>
                            <a:srgbClr val="17150F"/>
                          </a:solidFill>
                          <a:latin typeface="Arial"/>
                        </a:rPr>
                        <a:t>Sí</a:t>
                      </a:r>
                    </a:p>
                  </a:txBody>
                  <a:tcPr marL="82296" marR="82296" anchor="ctr">
                    <a:solidFill>
                      <a:srgbClr val="F7EEEF"/>
                    </a:solidFill>
                  </a:tcPr>
                </a:tc>
                <a:extLst>
                  <a:ext uri="{0D108BD9-81ED-4DB2-BD59-A6C34878D82A}">
                    <a16:rowId xmlns:a16="http://schemas.microsoft.com/office/drawing/2014/main" val="10002"/>
                  </a:ext>
                </a:extLst>
              </a:tr>
              <a:tr h="228600">
                <a:tc>
                  <a:txBody>
                    <a:bodyPr/>
                    <a:lstStyle/>
                    <a:p>
                      <a:pPr algn="l"/>
                      <a:r>
                        <a:rPr sz="960" b="0">
                          <a:solidFill>
                            <a:srgbClr val="17150F"/>
                          </a:solidFill>
                          <a:latin typeface="Arial"/>
                        </a:rPr>
                        <a:t>P4 frente a P3 · aporte del modelo</a:t>
                      </a:r>
                    </a:p>
                  </a:txBody>
                  <a:tcPr marL="82296" marR="82296" anchor="ctr">
                    <a:solidFill>
                      <a:srgbClr val="FFFFFF"/>
                    </a:solidFill>
                  </a:tcPr>
                </a:tc>
                <a:tc>
                  <a:txBody>
                    <a:bodyPr/>
                    <a:lstStyle/>
                    <a:p>
                      <a:pPr algn="r"/>
                      <a:r>
                        <a:rPr sz="960" b="0">
                          <a:solidFill>
                            <a:srgbClr val="555045"/>
                          </a:solidFill>
                          <a:latin typeface="Arial"/>
                        </a:rPr>
                        <a:t>193.772</a:t>
                      </a:r>
                    </a:p>
                  </a:txBody>
                  <a:tcPr marL="82296" marR="82296" anchor="ctr">
                    <a:solidFill>
                      <a:srgbClr val="FFFFFF"/>
                    </a:solidFill>
                  </a:tcPr>
                </a:tc>
                <a:tc>
                  <a:txBody>
                    <a:bodyPr/>
                    <a:lstStyle/>
                    <a:p>
                      <a:pPr algn="r"/>
                      <a:r>
                        <a:rPr sz="960" b="0">
                          <a:solidFill>
                            <a:srgbClr val="555045"/>
                          </a:solidFill>
                          <a:latin typeface="Arial"/>
                        </a:rPr>
                        <a:t>−17.437 a 422.048</a:t>
                      </a:r>
                    </a:p>
                  </a:txBody>
                  <a:tcPr marL="82296" marR="82296" anchor="ctr">
                    <a:solidFill>
                      <a:srgbClr val="FFFFFF"/>
                    </a:solidFill>
                  </a:tcPr>
                </a:tc>
                <a:tc>
                  <a:txBody>
                    <a:bodyPr/>
                    <a:lstStyle/>
                    <a:p>
                      <a:pPr algn="r"/>
                      <a:r>
                        <a:rPr sz="960" b="0">
                          <a:solidFill>
                            <a:srgbClr val="555045"/>
                          </a:solidFill>
                          <a:latin typeface="Arial"/>
                        </a:rPr>
                        <a:t>No</a:t>
                      </a:r>
                    </a:p>
                  </a:txBody>
                  <a:tcPr marL="82296" marR="82296" anchor="ctr">
                    <a:solidFill>
                      <a:srgbClr val="FFFFFF"/>
                    </a:solidFill>
                  </a:tcPr>
                </a:tc>
                <a:extLst>
                  <a:ext uri="{0D108BD9-81ED-4DB2-BD59-A6C34878D82A}">
                    <a16:rowId xmlns:a16="http://schemas.microsoft.com/office/drawing/2014/main" val="10003"/>
                  </a:ext>
                </a:extLst>
              </a:tr>
              <a:tr h="228600">
                <a:tc>
                  <a:txBody>
                    <a:bodyPr/>
                    <a:lstStyle/>
                    <a:p>
                      <a:pPr algn="l"/>
                      <a:r>
                        <a:rPr sz="960" b="0">
                          <a:solidFill>
                            <a:srgbClr val="17150F"/>
                          </a:solidFill>
                          <a:latin typeface="Arial"/>
                        </a:rPr>
                        <a:t>P3 frente a P1 · aporte de la regla</a:t>
                      </a:r>
                    </a:p>
                  </a:txBody>
                  <a:tcPr marL="82296" marR="82296" anchor="ctr">
                    <a:solidFill>
                      <a:srgbClr val="FFFFFF"/>
                    </a:solidFill>
                  </a:tcPr>
                </a:tc>
                <a:tc>
                  <a:txBody>
                    <a:bodyPr/>
                    <a:lstStyle/>
                    <a:p>
                      <a:pPr algn="r"/>
                      <a:r>
                        <a:rPr sz="960" b="0">
                          <a:solidFill>
                            <a:srgbClr val="555045"/>
                          </a:solidFill>
                          <a:latin typeface="Arial"/>
                        </a:rPr>
                        <a:t>305.685</a:t>
                      </a:r>
                    </a:p>
                  </a:txBody>
                  <a:tcPr marL="82296" marR="82296" anchor="ctr">
                    <a:solidFill>
                      <a:srgbClr val="FFFFFF"/>
                    </a:solidFill>
                  </a:tcPr>
                </a:tc>
                <a:tc>
                  <a:txBody>
                    <a:bodyPr/>
                    <a:lstStyle/>
                    <a:p>
                      <a:pPr algn="r"/>
                      <a:r>
                        <a:rPr sz="960" b="0">
                          <a:solidFill>
                            <a:srgbClr val="555045"/>
                          </a:solidFill>
                          <a:latin typeface="Arial"/>
                        </a:rPr>
                        <a:t>−37.446 a 681.407</a:t>
                      </a:r>
                    </a:p>
                  </a:txBody>
                  <a:tcPr marL="82296" marR="82296" anchor="ctr">
                    <a:solidFill>
                      <a:srgbClr val="FFFFFF"/>
                    </a:solidFill>
                  </a:tcPr>
                </a:tc>
                <a:tc>
                  <a:txBody>
                    <a:bodyPr/>
                    <a:lstStyle/>
                    <a:p>
                      <a:pPr algn="r"/>
                      <a:r>
                        <a:rPr sz="960" b="0">
                          <a:solidFill>
                            <a:srgbClr val="555045"/>
                          </a:solidFill>
                          <a:latin typeface="Arial"/>
                        </a:rPr>
                        <a:t>No</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6255867" y="2885033"/>
            <a:ext cx="5387187" cy="434949"/>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Lo que se puede afirmar.</a:t>
            </a:r>
            <a:r>
              <a:rPr sz="1080" b="0">
                <a:solidFill>
                  <a:srgbClr val="555045"/>
                </a:solidFill>
                <a:latin typeface="Arial"/>
              </a:rPr>
              <a:t> Que la propuesta completa mejora la práctica actual y mejora pedir el centro. Las dos bandas excluyen el cero.</a:t>
            </a:r>
          </a:p>
        </p:txBody>
      </p:sp>
      <p:sp>
        <p:nvSpPr>
          <p:cNvPr id="13" name="TextBox 12"/>
          <p:cNvSpPr txBox="1"/>
          <p:nvPr/>
        </p:nvSpPr>
        <p:spPr>
          <a:xfrm>
            <a:off x="6255867" y="3356558"/>
            <a:ext cx="5387187" cy="434949"/>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Lo que no se puede afirmar.</a:t>
            </a:r>
            <a:r>
              <a:rPr sz="1080" b="0">
                <a:solidFill>
                  <a:srgbClr val="555045"/>
                </a:solidFill>
                <a:latin typeface="Arial"/>
              </a:rPr>
              <a:t> Que el modelo aporte por encima de la regla ingenua, ni que la regla aporte por sí sola. Sus bandas cruzan el cero.</a:t>
            </a:r>
          </a:p>
        </p:txBody>
      </p:sp>
      <p:sp>
        <p:nvSpPr>
          <p:cNvPr id="14" name="TextBox 13"/>
          <p:cNvSpPr txBox="1"/>
          <p:nvPr/>
        </p:nvSpPr>
        <p:spPr>
          <a:xfrm>
            <a:off x="6255867" y="3828083"/>
            <a:ext cx="5387187" cy="610514"/>
          </a:xfrm>
          <a:prstGeom prst="rect">
            <a:avLst/>
          </a:prstGeom>
          <a:noFill/>
        </p:spPr>
        <p:txBody>
          <a:bodyPr wrap="square" lIns="0" tIns="0" rIns="0" bIns="0">
            <a:spAutoFit/>
          </a:bodyPr>
          <a:lstStyle/>
          <a:p>
            <a:pPr>
              <a:lnSpc>
                <a:spcPct val="118000"/>
              </a:lnSpc>
              <a:spcAft>
                <a:spcPts val="300"/>
              </a:spcAft>
            </a:pPr>
            <a:r>
              <a:rPr sz="1080" b="1">
                <a:solidFill>
                  <a:srgbClr val="17150F"/>
                </a:solidFill>
                <a:latin typeface="Arial"/>
              </a:rPr>
              <a:t>▪ Con 160 series y tres semanas no hay potencia</a:t>
            </a:r>
            <a:r>
              <a:rPr sz="1080" b="0">
                <a:solidFill>
                  <a:srgbClr val="555045"/>
                </a:solidFill>
                <a:latin typeface="Arial"/>
              </a:rPr>
              <a:t> para separar efectos de ese tamaño. La descomposición indica de dónde parece venir el ahorro; la significación solo alcanza para el total.</a:t>
            </a:r>
          </a:p>
        </p:txBody>
      </p:sp>
      <p:sp>
        <p:nvSpPr>
          <p:cNvPr id="15" name="Rectangle 14"/>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15 · Simulación de políticas</a:t>
            </a:r>
          </a:p>
        </p:txBody>
      </p:sp>
      <p:sp>
        <p:nvSpPr>
          <p:cNvPr id="18" name="TextBox 17"/>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22219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LA DECISIÓN QUE NO NOS CORRESPONDE</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Una sola suposición mueve el ahorro del 5 % al 93 %</a:t>
            </a:r>
          </a:p>
        </p:txBody>
      </p:sp>
      <p:sp>
        <p:nvSpPr>
          <p:cNvPr id="6" name="TextBox 5"/>
          <p:cNvSpPr txBox="1"/>
          <p:nvPr/>
        </p:nvSpPr>
        <p:spPr>
          <a:xfrm>
            <a:off x="777240" y="1506474"/>
            <a:ext cx="9966960" cy="530098"/>
          </a:xfrm>
          <a:prstGeom prst="rect">
            <a:avLst/>
          </a:prstGeom>
          <a:noFill/>
        </p:spPr>
        <p:txBody>
          <a:bodyPr wrap="square" lIns="0" tIns="0" rIns="0" bIns="0">
            <a:spAutoFit/>
          </a:bodyPr>
          <a:lstStyle/>
          <a:p>
            <a:pPr algn="l">
              <a:lnSpc>
                <a:spcPct val="130000"/>
              </a:lnSpc>
              <a:spcBef>
                <a:spcPts val="0"/>
              </a:spcBef>
              <a:spcAft>
                <a:spcPts val="0"/>
              </a:spcAft>
            </a:pPr>
            <a:r>
              <a:rPr sz="1450" b="0" dirty="0" err="1">
                <a:solidFill>
                  <a:srgbClr val="555045"/>
                </a:solidFill>
                <a:latin typeface="Arial"/>
              </a:rPr>
              <a:t>Mismos</a:t>
            </a:r>
            <a:r>
              <a:rPr sz="1450" b="0" dirty="0">
                <a:solidFill>
                  <a:srgbClr val="555045"/>
                </a:solidFill>
                <a:latin typeface="Arial"/>
              </a:rPr>
              <a:t> </a:t>
            </a:r>
            <a:r>
              <a:rPr sz="1450" b="0" dirty="0" err="1">
                <a:solidFill>
                  <a:srgbClr val="555045"/>
                </a:solidFill>
                <a:latin typeface="Arial"/>
              </a:rPr>
              <a:t>datos</a:t>
            </a:r>
            <a:r>
              <a:rPr sz="1450" b="0" dirty="0">
                <a:solidFill>
                  <a:srgbClr val="555045"/>
                </a:solidFill>
                <a:latin typeface="Arial"/>
              </a:rPr>
              <a:t>, </a:t>
            </a:r>
            <a:r>
              <a:rPr sz="1450" b="0" dirty="0" err="1">
                <a:solidFill>
                  <a:srgbClr val="555045"/>
                </a:solidFill>
                <a:latin typeface="Arial"/>
              </a:rPr>
              <a:t>mismo</a:t>
            </a:r>
            <a:r>
              <a:rPr sz="1450" b="0" dirty="0">
                <a:solidFill>
                  <a:srgbClr val="555045"/>
                </a:solidFill>
                <a:latin typeface="Arial"/>
              </a:rPr>
              <a:t> </a:t>
            </a:r>
            <a:r>
              <a:rPr sz="1450" b="0" dirty="0" err="1">
                <a:solidFill>
                  <a:srgbClr val="555045"/>
                </a:solidFill>
                <a:latin typeface="Arial"/>
              </a:rPr>
              <a:t>modelo</a:t>
            </a:r>
            <a:r>
              <a:rPr sz="1450" b="0" dirty="0">
                <a:solidFill>
                  <a:srgbClr val="555045"/>
                </a:solidFill>
                <a:latin typeface="Arial"/>
              </a:rPr>
              <a:t>, </a:t>
            </a:r>
            <a:r>
              <a:rPr sz="1450" b="0" dirty="0" err="1">
                <a:solidFill>
                  <a:srgbClr val="555045"/>
                </a:solidFill>
                <a:latin typeface="Arial"/>
              </a:rPr>
              <a:t>mismas</a:t>
            </a:r>
            <a:r>
              <a:rPr sz="1450" b="0" dirty="0">
                <a:solidFill>
                  <a:srgbClr val="555045"/>
                </a:solidFill>
                <a:latin typeface="Arial"/>
              </a:rPr>
              <a:t> </a:t>
            </a:r>
            <a:r>
              <a:rPr sz="1450" b="0" dirty="0" err="1">
                <a:solidFill>
                  <a:srgbClr val="555045"/>
                </a:solidFill>
                <a:latin typeface="Arial"/>
              </a:rPr>
              <a:t>predicciones</a:t>
            </a:r>
            <a:r>
              <a:rPr sz="1450" b="0" dirty="0">
                <a:solidFill>
                  <a:srgbClr val="555045"/>
                </a:solidFill>
                <a:latin typeface="Arial"/>
              </a:rPr>
              <a:t>. Lo </a:t>
            </a:r>
            <a:r>
              <a:rPr sz="1450" b="0" dirty="0" err="1">
                <a:solidFill>
                  <a:srgbClr val="555045"/>
                </a:solidFill>
                <a:latin typeface="Arial"/>
              </a:rPr>
              <a:t>único</a:t>
            </a:r>
            <a:r>
              <a:rPr sz="1450" b="0" dirty="0">
                <a:solidFill>
                  <a:srgbClr val="555045"/>
                </a:solidFill>
                <a:latin typeface="Arial"/>
              </a:rPr>
              <a:t> </a:t>
            </a:r>
            <a:r>
              <a:rPr sz="1450" b="0" dirty="0" err="1">
                <a:solidFill>
                  <a:srgbClr val="555045"/>
                </a:solidFill>
                <a:latin typeface="Arial"/>
              </a:rPr>
              <a:t>que</a:t>
            </a:r>
            <a:r>
              <a:rPr sz="1450" b="0" dirty="0">
                <a:solidFill>
                  <a:srgbClr val="555045"/>
                </a:solidFill>
                <a:latin typeface="Arial"/>
              </a:rPr>
              <a:t> cambia es </a:t>
            </a:r>
            <a:r>
              <a:rPr sz="1450" b="0" dirty="0" err="1">
                <a:solidFill>
                  <a:srgbClr val="555045"/>
                </a:solidFill>
                <a:latin typeface="Arial"/>
              </a:rPr>
              <a:t>qué</a:t>
            </a:r>
            <a:r>
              <a:rPr sz="1450" b="0" dirty="0">
                <a:solidFill>
                  <a:srgbClr val="555045"/>
                </a:solidFill>
                <a:latin typeface="Arial"/>
              </a:rPr>
              <a:t> se </a:t>
            </a:r>
            <a:r>
              <a:rPr sz="1450" b="0" dirty="0" err="1">
                <a:solidFill>
                  <a:srgbClr val="555045"/>
                </a:solidFill>
                <a:latin typeface="Arial"/>
              </a:rPr>
              <a:t>supone</a:t>
            </a:r>
            <a:r>
              <a:rPr sz="1450" b="0" dirty="0">
                <a:solidFill>
                  <a:srgbClr val="555045"/>
                </a:solidFill>
                <a:latin typeface="Arial"/>
              </a:rPr>
              <a:t> </a:t>
            </a:r>
            <a:r>
              <a:rPr sz="1450" b="0" dirty="0" err="1">
                <a:solidFill>
                  <a:srgbClr val="555045"/>
                </a:solidFill>
                <a:latin typeface="Arial"/>
              </a:rPr>
              <a:t>que</a:t>
            </a:r>
            <a:r>
              <a:rPr sz="1450" b="0" dirty="0">
                <a:solidFill>
                  <a:srgbClr val="555045"/>
                </a:solidFill>
                <a:latin typeface="Arial"/>
              </a:rPr>
              <a:t> </a:t>
            </a:r>
            <a:r>
              <a:rPr sz="1450" b="0" dirty="0" err="1">
                <a:solidFill>
                  <a:srgbClr val="555045"/>
                </a:solidFill>
                <a:latin typeface="Arial"/>
              </a:rPr>
              <a:t>pasa</a:t>
            </a:r>
            <a:r>
              <a:rPr sz="1450" b="0" dirty="0">
                <a:solidFill>
                  <a:srgbClr val="555045"/>
                </a:solidFill>
                <a:latin typeface="Arial"/>
              </a:rPr>
              <a:t> con el </a:t>
            </a:r>
            <a:r>
              <a:rPr sz="1450" b="0" dirty="0" err="1">
                <a:solidFill>
                  <a:srgbClr val="555045"/>
                </a:solidFill>
                <a:latin typeface="Arial"/>
              </a:rPr>
              <a:t>sobrante</a:t>
            </a:r>
            <a:r>
              <a:rPr sz="1450" b="0" dirty="0">
                <a:solidFill>
                  <a:srgbClr val="555045"/>
                </a:solidFill>
                <a:latin typeface="Arial"/>
              </a:rPr>
              <a:t> al </a:t>
            </a:r>
            <a:r>
              <a:rPr sz="1450" b="0" dirty="0" err="1">
                <a:solidFill>
                  <a:srgbClr val="555045"/>
                </a:solidFill>
                <a:latin typeface="Arial"/>
              </a:rPr>
              <a:t>cierre</a:t>
            </a:r>
            <a:r>
              <a:rPr sz="1450" b="0" dirty="0">
                <a:solidFill>
                  <a:srgbClr val="555045"/>
                </a:solidFill>
                <a:latin typeface="Arial"/>
              </a:rPr>
              <a:t>.</a:t>
            </a:r>
          </a:p>
        </p:txBody>
      </p:sp>
      <p:sp>
        <p:nvSpPr>
          <p:cNvPr id="14" name="Rectangle 13"/>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Escenario del sobrante</a:t>
            </a:r>
          </a:p>
        </p:txBody>
      </p:sp>
      <p:sp>
        <p:nvSpPr>
          <p:cNvPr id="16" name="TextBox 15"/>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24</a:t>
            </a:r>
          </a:p>
        </p:txBody>
      </p:sp>
      <p:pic>
        <p:nvPicPr>
          <p:cNvPr id="21" name="Picture 20">
            <a:extLst>
              <a:ext uri="{FF2B5EF4-FFF2-40B4-BE49-F238E27FC236}">
                <a16:creationId xmlns:a16="http://schemas.microsoft.com/office/drawing/2014/main" id="{9F41FD98-7E2B-A4CC-DC14-4F7690F55049}"/>
              </a:ext>
            </a:extLst>
          </p:cNvPr>
          <p:cNvPicPr>
            <a:picLocks noChangeAspect="1"/>
          </p:cNvPicPr>
          <p:nvPr/>
        </p:nvPicPr>
        <p:blipFill>
          <a:blip r:embed="rId2"/>
          <a:stretch>
            <a:fillRect/>
          </a:stretch>
        </p:blipFill>
        <p:spPr>
          <a:xfrm>
            <a:off x="849414" y="2152397"/>
            <a:ext cx="9005389" cy="2028240"/>
          </a:xfrm>
          <a:prstGeom prst="rect">
            <a:avLst/>
          </a:prstGeom>
        </p:spPr>
      </p:pic>
      <p:sp>
        <p:nvSpPr>
          <p:cNvPr id="22" name="TextBox 21">
            <a:extLst>
              <a:ext uri="{FF2B5EF4-FFF2-40B4-BE49-F238E27FC236}">
                <a16:creationId xmlns:a16="http://schemas.microsoft.com/office/drawing/2014/main" id="{5CB0B64C-6B09-1876-8E6A-943E54679106}"/>
              </a:ext>
            </a:extLst>
          </p:cNvPr>
          <p:cNvSpPr txBox="1"/>
          <p:nvPr/>
        </p:nvSpPr>
        <p:spPr>
          <a:xfrm>
            <a:off x="777240" y="4340254"/>
            <a:ext cx="9966960" cy="1130181"/>
          </a:xfrm>
          <a:prstGeom prst="rect">
            <a:avLst/>
          </a:prstGeom>
          <a:noFill/>
        </p:spPr>
        <p:txBody>
          <a:bodyPr wrap="square" lIns="0" tIns="0" rIns="0" bIns="0">
            <a:spAutoFit/>
          </a:bodyPr>
          <a:lstStyle/>
          <a:p>
            <a:pPr algn="l">
              <a:lnSpc>
                <a:spcPct val="130000"/>
              </a:lnSpc>
              <a:spcBef>
                <a:spcPts val="0"/>
              </a:spcBef>
              <a:spcAft>
                <a:spcPts val="0"/>
              </a:spcAft>
            </a:pPr>
            <a:r>
              <a:rPr lang="en-US" sz="1450" b="0" dirty="0">
                <a:solidFill>
                  <a:srgbClr val="555045"/>
                </a:solidFill>
                <a:latin typeface="Arial"/>
              </a:rPr>
              <a:t>La </a:t>
            </a:r>
            <a:r>
              <a:rPr lang="en-US" sz="1450" b="0" dirty="0" err="1">
                <a:solidFill>
                  <a:srgbClr val="555045"/>
                </a:solidFill>
                <a:latin typeface="Arial"/>
              </a:rPr>
              <a:t>misma</a:t>
            </a:r>
            <a:r>
              <a:rPr lang="en-US" sz="1450" b="0" dirty="0">
                <a:solidFill>
                  <a:srgbClr val="555045"/>
                </a:solidFill>
                <a:latin typeface="Arial"/>
              </a:rPr>
              <a:t> </a:t>
            </a:r>
            <a:r>
              <a:rPr lang="en-US" sz="1450" b="0" dirty="0" err="1">
                <a:solidFill>
                  <a:srgbClr val="555045"/>
                </a:solidFill>
                <a:latin typeface="Arial"/>
              </a:rPr>
              <a:t>propuesta</a:t>
            </a:r>
            <a:r>
              <a:rPr lang="en-US" sz="1450" b="0" dirty="0">
                <a:solidFill>
                  <a:srgbClr val="555045"/>
                </a:solidFill>
                <a:latin typeface="Arial"/>
              </a:rPr>
              <a:t> </a:t>
            </a:r>
            <a:r>
              <a:rPr lang="en-US" sz="1450" b="0" dirty="0" err="1">
                <a:solidFill>
                  <a:srgbClr val="555045"/>
                </a:solidFill>
                <a:latin typeface="Arial"/>
              </a:rPr>
              <a:t>ahorra</a:t>
            </a:r>
            <a:r>
              <a:rPr lang="en-US" sz="1450" b="0" dirty="0">
                <a:solidFill>
                  <a:srgbClr val="555045"/>
                </a:solidFill>
                <a:latin typeface="Arial"/>
              </a:rPr>
              <a:t> entre un 18 % y un 94 % </a:t>
            </a:r>
            <a:r>
              <a:rPr lang="en-US" sz="1450" b="0" dirty="0" err="1">
                <a:solidFill>
                  <a:srgbClr val="555045"/>
                </a:solidFill>
                <a:latin typeface="Arial"/>
              </a:rPr>
              <a:t>según</a:t>
            </a:r>
            <a:r>
              <a:rPr lang="en-US" sz="1450" b="0" dirty="0">
                <a:solidFill>
                  <a:srgbClr val="555045"/>
                </a:solidFill>
                <a:latin typeface="Arial"/>
              </a:rPr>
              <a:t> </a:t>
            </a:r>
            <a:r>
              <a:rPr lang="en-US" sz="1450" b="0" dirty="0" err="1">
                <a:solidFill>
                  <a:srgbClr val="555045"/>
                </a:solidFill>
                <a:latin typeface="Arial"/>
              </a:rPr>
              <a:t>qué</a:t>
            </a:r>
            <a:r>
              <a:rPr lang="en-US" sz="1450" b="0" dirty="0">
                <a:solidFill>
                  <a:srgbClr val="555045"/>
                </a:solidFill>
                <a:latin typeface="Arial"/>
              </a:rPr>
              <a:t> se </a:t>
            </a:r>
            <a:r>
              <a:rPr lang="en-US" sz="1450" b="0" dirty="0" err="1">
                <a:solidFill>
                  <a:srgbClr val="555045"/>
                </a:solidFill>
                <a:latin typeface="Arial"/>
              </a:rPr>
              <a:t>suponga</a:t>
            </a:r>
            <a:r>
              <a:rPr lang="en-US" sz="1450" b="0" dirty="0">
                <a:solidFill>
                  <a:srgbClr val="555045"/>
                </a:solidFill>
                <a:latin typeface="Arial"/>
              </a:rPr>
              <a:t> </a:t>
            </a:r>
            <a:r>
              <a:rPr lang="en-US" sz="1450" b="0" dirty="0" err="1">
                <a:solidFill>
                  <a:srgbClr val="555045"/>
                </a:solidFill>
                <a:latin typeface="Arial"/>
              </a:rPr>
              <a:t>que</a:t>
            </a:r>
            <a:r>
              <a:rPr lang="en-US" sz="1450" b="0" dirty="0">
                <a:solidFill>
                  <a:srgbClr val="555045"/>
                </a:solidFill>
                <a:latin typeface="Arial"/>
              </a:rPr>
              <a:t> </a:t>
            </a:r>
            <a:r>
              <a:rPr lang="en-US" sz="1450" b="0" dirty="0" err="1">
                <a:solidFill>
                  <a:srgbClr val="555045"/>
                </a:solidFill>
                <a:latin typeface="Arial"/>
              </a:rPr>
              <a:t>pasa</a:t>
            </a:r>
            <a:r>
              <a:rPr lang="en-US" sz="1450" b="0" dirty="0">
                <a:solidFill>
                  <a:srgbClr val="555045"/>
                </a:solidFill>
                <a:latin typeface="Arial"/>
              </a:rPr>
              <a:t> con el </a:t>
            </a:r>
            <a:r>
              <a:rPr lang="en-US" sz="1450" b="0" dirty="0" err="1">
                <a:solidFill>
                  <a:srgbClr val="555045"/>
                </a:solidFill>
                <a:latin typeface="Arial"/>
              </a:rPr>
              <a:t>producto</a:t>
            </a:r>
            <a:r>
              <a:rPr lang="en-US" sz="1450" b="0" dirty="0">
                <a:solidFill>
                  <a:srgbClr val="555045"/>
                </a:solidFill>
                <a:latin typeface="Arial"/>
              </a:rPr>
              <a:t> </a:t>
            </a:r>
            <a:r>
              <a:rPr lang="en-US" sz="1450" b="0" dirty="0" err="1">
                <a:solidFill>
                  <a:srgbClr val="555045"/>
                </a:solidFill>
                <a:latin typeface="Arial"/>
              </a:rPr>
              <a:t>que</a:t>
            </a:r>
            <a:r>
              <a:rPr lang="en-US" sz="1450" b="0" dirty="0">
                <a:solidFill>
                  <a:srgbClr val="555045"/>
                </a:solidFill>
                <a:latin typeface="Arial"/>
              </a:rPr>
              <a:t> </a:t>
            </a:r>
            <a:r>
              <a:rPr lang="en-US" sz="1450" b="0" dirty="0" err="1">
                <a:solidFill>
                  <a:srgbClr val="555045"/>
                </a:solidFill>
                <a:latin typeface="Arial"/>
              </a:rPr>
              <a:t>sobra</a:t>
            </a:r>
            <a:r>
              <a:rPr lang="en-US" sz="1450" b="0" dirty="0">
                <a:solidFill>
                  <a:srgbClr val="555045"/>
                </a:solidFill>
                <a:latin typeface="Arial"/>
              </a:rPr>
              <a:t> al </a:t>
            </a:r>
            <a:r>
              <a:rPr lang="en-US" sz="1450" b="0" dirty="0" err="1">
                <a:solidFill>
                  <a:srgbClr val="555045"/>
                </a:solidFill>
                <a:latin typeface="Arial"/>
              </a:rPr>
              <a:t>cierre</a:t>
            </a:r>
            <a:r>
              <a:rPr lang="en-US" sz="1450" b="0" dirty="0">
                <a:solidFill>
                  <a:srgbClr val="555045"/>
                </a:solidFill>
                <a:latin typeface="Arial"/>
              </a:rPr>
              <a:t>. Si se </a:t>
            </a:r>
            <a:r>
              <a:rPr lang="en-US" sz="1450" b="0" dirty="0" err="1">
                <a:solidFill>
                  <a:srgbClr val="555045"/>
                </a:solidFill>
                <a:latin typeface="Arial"/>
              </a:rPr>
              <a:t>guarda</a:t>
            </a:r>
            <a:r>
              <a:rPr lang="en-US" sz="1450" b="0" dirty="0">
                <a:solidFill>
                  <a:srgbClr val="555045"/>
                </a:solidFill>
                <a:latin typeface="Arial"/>
              </a:rPr>
              <a:t> y se </a:t>
            </a:r>
            <a:r>
              <a:rPr lang="en-US" sz="1450" b="0" dirty="0" err="1">
                <a:solidFill>
                  <a:srgbClr val="555045"/>
                </a:solidFill>
                <a:latin typeface="Arial"/>
              </a:rPr>
              <a:t>vende</a:t>
            </a:r>
            <a:r>
              <a:rPr lang="en-US" sz="1450" b="0" dirty="0">
                <a:solidFill>
                  <a:srgbClr val="555045"/>
                </a:solidFill>
                <a:latin typeface="Arial"/>
              </a:rPr>
              <a:t> </a:t>
            </a:r>
            <a:r>
              <a:rPr lang="en-US" sz="1450" b="0" dirty="0" err="1">
                <a:solidFill>
                  <a:srgbClr val="555045"/>
                </a:solidFill>
                <a:latin typeface="Arial"/>
              </a:rPr>
              <a:t>después</a:t>
            </a:r>
            <a:r>
              <a:rPr lang="en-US" sz="1450" b="0" dirty="0">
                <a:solidFill>
                  <a:srgbClr val="555045"/>
                </a:solidFill>
                <a:latin typeface="Arial"/>
              </a:rPr>
              <a:t>, </a:t>
            </a:r>
            <a:r>
              <a:rPr lang="en-US" sz="1450" b="0" dirty="0" err="1">
                <a:solidFill>
                  <a:srgbClr val="555045"/>
                </a:solidFill>
                <a:latin typeface="Arial"/>
              </a:rPr>
              <a:t>sobrar</a:t>
            </a:r>
            <a:r>
              <a:rPr lang="en-US" sz="1450" b="0" dirty="0">
                <a:solidFill>
                  <a:srgbClr val="555045"/>
                </a:solidFill>
                <a:latin typeface="Arial"/>
              </a:rPr>
              <a:t> </a:t>
            </a:r>
            <a:r>
              <a:rPr lang="en-US" sz="1450" b="0" dirty="0" err="1">
                <a:solidFill>
                  <a:srgbClr val="555045"/>
                </a:solidFill>
                <a:latin typeface="Arial"/>
              </a:rPr>
              <a:t>casi</a:t>
            </a:r>
            <a:r>
              <a:rPr lang="en-US" sz="1450" b="0" dirty="0">
                <a:solidFill>
                  <a:srgbClr val="555045"/>
                </a:solidFill>
                <a:latin typeface="Arial"/>
              </a:rPr>
              <a:t> no cuesta, la </a:t>
            </a:r>
            <a:r>
              <a:rPr lang="en-US" sz="1450" b="0" dirty="0" err="1">
                <a:solidFill>
                  <a:srgbClr val="555045"/>
                </a:solidFill>
                <a:latin typeface="Arial"/>
              </a:rPr>
              <a:t>política</a:t>
            </a:r>
            <a:r>
              <a:rPr lang="en-US" sz="1450" b="0" dirty="0">
                <a:solidFill>
                  <a:srgbClr val="555045"/>
                </a:solidFill>
                <a:latin typeface="Arial"/>
              </a:rPr>
              <a:t> </a:t>
            </a:r>
            <a:r>
              <a:rPr lang="en-US" sz="1450" b="0" dirty="0" err="1">
                <a:solidFill>
                  <a:srgbClr val="555045"/>
                </a:solidFill>
                <a:latin typeface="Arial"/>
              </a:rPr>
              <a:t>pide</a:t>
            </a:r>
            <a:r>
              <a:rPr lang="en-US" sz="1450" b="0" dirty="0">
                <a:solidFill>
                  <a:srgbClr val="555045"/>
                </a:solidFill>
                <a:latin typeface="Arial"/>
              </a:rPr>
              <a:t> con </a:t>
            </a:r>
            <a:r>
              <a:rPr lang="en-US" sz="1450" b="0" dirty="0" err="1">
                <a:solidFill>
                  <a:srgbClr val="555045"/>
                </a:solidFill>
                <a:latin typeface="Arial"/>
              </a:rPr>
              <a:t>holgura</a:t>
            </a:r>
            <a:r>
              <a:rPr lang="en-US" sz="1450" b="0" dirty="0">
                <a:solidFill>
                  <a:srgbClr val="555045"/>
                </a:solidFill>
                <a:latin typeface="Arial"/>
              </a:rPr>
              <a:t> y el </a:t>
            </a:r>
            <a:r>
              <a:rPr lang="en-US" sz="1450" b="0" dirty="0" err="1">
                <a:solidFill>
                  <a:srgbClr val="555045"/>
                </a:solidFill>
                <a:latin typeface="Arial"/>
              </a:rPr>
              <a:t>coste</a:t>
            </a:r>
            <a:r>
              <a:rPr lang="en-US" sz="1450" b="0" dirty="0">
                <a:solidFill>
                  <a:srgbClr val="555045"/>
                </a:solidFill>
                <a:latin typeface="Arial"/>
              </a:rPr>
              <a:t> se </a:t>
            </a:r>
            <a:r>
              <a:rPr lang="en-US" sz="1450" b="0" dirty="0" err="1">
                <a:solidFill>
                  <a:srgbClr val="555045"/>
                </a:solidFill>
                <a:latin typeface="Arial"/>
              </a:rPr>
              <a:t>desploma</a:t>
            </a:r>
            <a:r>
              <a:rPr lang="en-US" sz="1450" b="0" dirty="0">
                <a:solidFill>
                  <a:srgbClr val="555045"/>
                </a:solidFill>
                <a:latin typeface="Arial"/>
              </a:rPr>
              <a:t>. Si se </a:t>
            </a:r>
            <a:r>
              <a:rPr lang="en-US" sz="1450" b="0" dirty="0" err="1">
                <a:solidFill>
                  <a:srgbClr val="555045"/>
                </a:solidFill>
                <a:latin typeface="Arial"/>
              </a:rPr>
              <a:t>descarta</a:t>
            </a:r>
            <a:r>
              <a:rPr lang="en-US" sz="1450" b="0" dirty="0">
                <a:solidFill>
                  <a:srgbClr val="555045"/>
                </a:solidFill>
                <a:latin typeface="Arial"/>
              </a:rPr>
              <a:t>, </a:t>
            </a:r>
            <a:r>
              <a:rPr lang="en-US" sz="1450" b="0" dirty="0" err="1">
                <a:solidFill>
                  <a:srgbClr val="555045"/>
                </a:solidFill>
                <a:latin typeface="Arial"/>
              </a:rPr>
              <a:t>sobrar</a:t>
            </a:r>
            <a:r>
              <a:rPr lang="en-US" sz="1450" b="0" dirty="0">
                <a:solidFill>
                  <a:srgbClr val="555045"/>
                </a:solidFill>
                <a:latin typeface="Arial"/>
              </a:rPr>
              <a:t> cuesta lo </a:t>
            </a:r>
            <a:r>
              <a:rPr lang="en-US" sz="1450" b="0" dirty="0" err="1">
                <a:solidFill>
                  <a:srgbClr val="555045"/>
                </a:solidFill>
                <a:latin typeface="Arial"/>
              </a:rPr>
              <a:t>que</a:t>
            </a:r>
            <a:r>
              <a:rPr lang="en-US" sz="1450" b="0" dirty="0">
                <a:solidFill>
                  <a:srgbClr val="555045"/>
                </a:solidFill>
                <a:latin typeface="Arial"/>
              </a:rPr>
              <a:t> </a:t>
            </a:r>
            <a:r>
              <a:rPr lang="en-US" sz="1450" b="0" dirty="0" err="1">
                <a:solidFill>
                  <a:srgbClr val="555045"/>
                </a:solidFill>
                <a:latin typeface="Arial"/>
              </a:rPr>
              <a:t>costó</a:t>
            </a:r>
            <a:r>
              <a:rPr lang="en-US" sz="1450" b="0" dirty="0">
                <a:solidFill>
                  <a:srgbClr val="555045"/>
                </a:solidFill>
                <a:latin typeface="Arial"/>
              </a:rPr>
              <a:t> </a:t>
            </a:r>
            <a:r>
              <a:rPr lang="en-US" sz="1450" b="0" dirty="0" err="1">
                <a:solidFill>
                  <a:srgbClr val="555045"/>
                </a:solidFill>
                <a:latin typeface="Arial"/>
              </a:rPr>
              <a:t>producirlo</a:t>
            </a:r>
            <a:r>
              <a:rPr lang="en-US" sz="1450" b="0" dirty="0">
                <a:solidFill>
                  <a:srgbClr val="555045"/>
                </a:solidFill>
                <a:latin typeface="Arial"/>
              </a:rPr>
              <a:t>, la </a:t>
            </a:r>
            <a:r>
              <a:rPr lang="en-US" sz="1450" b="0" dirty="0" err="1">
                <a:solidFill>
                  <a:srgbClr val="555045"/>
                </a:solidFill>
                <a:latin typeface="Arial"/>
              </a:rPr>
              <a:t>política</a:t>
            </a:r>
            <a:r>
              <a:rPr lang="en-US" sz="1450" b="0" dirty="0">
                <a:solidFill>
                  <a:srgbClr val="555045"/>
                </a:solidFill>
                <a:latin typeface="Arial"/>
              </a:rPr>
              <a:t> </a:t>
            </a:r>
            <a:r>
              <a:rPr lang="en-US" sz="1450" b="0" dirty="0" err="1">
                <a:solidFill>
                  <a:srgbClr val="555045"/>
                </a:solidFill>
                <a:latin typeface="Arial"/>
              </a:rPr>
              <a:t>pide</a:t>
            </a:r>
            <a:r>
              <a:rPr lang="en-US" sz="1450" b="0" dirty="0">
                <a:solidFill>
                  <a:srgbClr val="555045"/>
                </a:solidFill>
                <a:latin typeface="Arial"/>
              </a:rPr>
              <a:t> con </a:t>
            </a:r>
            <a:r>
              <a:rPr lang="en-US" sz="1450" b="0" dirty="0" err="1">
                <a:solidFill>
                  <a:srgbClr val="555045"/>
                </a:solidFill>
                <a:latin typeface="Arial"/>
              </a:rPr>
              <a:t>cuidado</a:t>
            </a:r>
            <a:r>
              <a:rPr lang="en-US" sz="1450" b="0" dirty="0">
                <a:solidFill>
                  <a:srgbClr val="555045"/>
                </a:solidFill>
                <a:latin typeface="Arial"/>
              </a:rPr>
              <a:t> y el </a:t>
            </a:r>
            <a:r>
              <a:rPr lang="en-US" sz="1450" b="0" dirty="0" err="1">
                <a:solidFill>
                  <a:srgbClr val="555045"/>
                </a:solidFill>
                <a:latin typeface="Arial"/>
              </a:rPr>
              <a:t>ahorro</a:t>
            </a:r>
            <a:r>
              <a:rPr lang="en-US" sz="1450" b="0" dirty="0">
                <a:solidFill>
                  <a:srgbClr val="555045"/>
                </a:solidFill>
                <a:latin typeface="Arial"/>
              </a:rPr>
              <a:t> </a:t>
            </a:r>
            <a:r>
              <a:rPr lang="en-US" sz="1450" b="0" dirty="0" err="1">
                <a:solidFill>
                  <a:srgbClr val="555045"/>
                </a:solidFill>
                <a:latin typeface="Arial"/>
              </a:rPr>
              <a:t>frente</a:t>
            </a:r>
            <a:r>
              <a:rPr lang="en-US" sz="1450" b="0" dirty="0">
                <a:solidFill>
                  <a:srgbClr val="555045"/>
                </a:solidFill>
                <a:latin typeface="Arial"/>
              </a:rPr>
              <a:t> a la </a:t>
            </a:r>
            <a:r>
              <a:rPr lang="en-US" sz="1450" b="0" dirty="0" err="1">
                <a:solidFill>
                  <a:srgbClr val="555045"/>
                </a:solidFill>
                <a:latin typeface="Arial"/>
              </a:rPr>
              <a:t>práctica</a:t>
            </a:r>
            <a:r>
              <a:rPr lang="en-US" sz="1450" b="0" dirty="0">
                <a:solidFill>
                  <a:srgbClr val="555045"/>
                </a:solidFill>
                <a:latin typeface="Arial"/>
              </a:rPr>
              <a:t> actual </a:t>
            </a:r>
            <a:r>
              <a:rPr lang="en-US" sz="1450" b="0" dirty="0" err="1">
                <a:solidFill>
                  <a:srgbClr val="555045"/>
                </a:solidFill>
                <a:latin typeface="Arial"/>
              </a:rPr>
              <a:t>queda</a:t>
            </a:r>
            <a:r>
              <a:rPr lang="en-US" sz="1450" b="0" dirty="0">
                <a:solidFill>
                  <a:srgbClr val="555045"/>
                </a:solidFill>
                <a:latin typeface="Arial"/>
              </a:rPr>
              <a:t> </a:t>
            </a:r>
            <a:r>
              <a:rPr lang="en-US" sz="1450" b="0" dirty="0" err="1">
                <a:solidFill>
                  <a:srgbClr val="555045"/>
                </a:solidFill>
                <a:latin typeface="Arial"/>
              </a:rPr>
              <a:t>en</a:t>
            </a:r>
            <a:r>
              <a:rPr lang="en-US" sz="1450" b="0" dirty="0">
                <a:solidFill>
                  <a:srgbClr val="555045"/>
                </a:solidFill>
                <a:latin typeface="Arial"/>
              </a:rPr>
              <a:t> un 17,8 %, y </a:t>
            </a:r>
            <a:r>
              <a:rPr lang="en-US" sz="1450" b="0" dirty="0" err="1">
                <a:solidFill>
                  <a:srgbClr val="555045"/>
                </a:solidFill>
                <a:latin typeface="Arial"/>
              </a:rPr>
              <a:t>en</a:t>
            </a:r>
            <a:r>
              <a:rPr lang="en-US" sz="1450" b="0" dirty="0">
                <a:solidFill>
                  <a:srgbClr val="555045"/>
                </a:solidFill>
                <a:latin typeface="Arial"/>
              </a:rPr>
              <a:t> un 5,2 % </a:t>
            </a:r>
            <a:r>
              <a:rPr lang="en-US" sz="1450" b="0" dirty="0" err="1">
                <a:solidFill>
                  <a:srgbClr val="555045"/>
                </a:solidFill>
                <a:latin typeface="Arial"/>
              </a:rPr>
              <a:t>frente</a:t>
            </a:r>
            <a:r>
              <a:rPr lang="en-US" sz="1450" b="0" dirty="0">
                <a:solidFill>
                  <a:srgbClr val="555045"/>
                </a:solidFill>
                <a:latin typeface="Arial"/>
              </a:rPr>
              <a:t> a </a:t>
            </a:r>
            <a:r>
              <a:rPr lang="en-US" sz="1450" b="0" dirty="0" err="1">
                <a:solidFill>
                  <a:srgbClr val="555045"/>
                </a:solidFill>
                <a:latin typeface="Arial"/>
              </a:rPr>
              <a:t>quien</a:t>
            </a:r>
            <a:r>
              <a:rPr lang="en-US" sz="1450" b="0" dirty="0">
                <a:solidFill>
                  <a:srgbClr val="555045"/>
                </a:solidFill>
                <a:latin typeface="Arial"/>
              </a:rPr>
              <a:t> </a:t>
            </a:r>
            <a:r>
              <a:rPr lang="en-US" sz="1450" b="0" dirty="0" err="1">
                <a:solidFill>
                  <a:srgbClr val="555045"/>
                </a:solidFill>
                <a:latin typeface="Arial"/>
              </a:rPr>
              <a:t>ya</a:t>
            </a:r>
            <a:r>
              <a:rPr lang="en-US" sz="1450" b="0" dirty="0">
                <a:solidFill>
                  <a:srgbClr val="555045"/>
                </a:solidFill>
                <a:latin typeface="Arial"/>
              </a:rPr>
              <a:t> </a:t>
            </a:r>
            <a:r>
              <a:rPr lang="en-US" sz="1450" b="0" dirty="0" err="1">
                <a:solidFill>
                  <a:srgbClr val="555045"/>
                </a:solidFill>
                <a:latin typeface="Arial"/>
              </a:rPr>
              <a:t>pide</a:t>
            </a:r>
            <a:r>
              <a:rPr lang="en-US" sz="1450" b="0" dirty="0">
                <a:solidFill>
                  <a:srgbClr val="555045"/>
                </a:solidFill>
                <a:latin typeface="Arial"/>
              </a:rPr>
              <a:t> bien con </a:t>
            </a:r>
            <a:r>
              <a:rPr lang="en-US" sz="1450" b="0" dirty="0" err="1">
                <a:solidFill>
                  <a:srgbClr val="555045"/>
                </a:solidFill>
                <a:latin typeface="Arial"/>
              </a:rPr>
              <a:t>una</a:t>
            </a:r>
            <a:r>
              <a:rPr lang="en-US" sz="1450" b="0" dirty="0">
                <a:solidFill>
                  <a:srgbClr val="555045"/>
                </a:solidFill>
                <a:latin typeface="Arial"/>
              </a:rPr>
              <a:t> media </a:t>
            </a:r>
            <a:r>
              <a:rPr lang="en-US" sz="1450" b="0" dirty="0" err="1">
                <a:solidFill>
                  <a:srgbClr val="555045"/>
                </a:solidFill>
                <a:latin typeface="Arial"/>
              </a:rPr>
              <a:t>móvil</a:t>
            </a:r>
            <a:r>
              <a:rPr lang="en-US" sz="1450" b="0" dirty="0">
                <a:solidFill>
                  <a:srgbClr val="555045"/>
                </a:solidFill>
                <a:latin typeface="Arial"/>
              </a:rPr>
              <a:t>.</a:t>
            </a:r>
            <a:endParaRPr sz="1450" b="0" dirty="0">
              <a:solidFill>
                <a:srgbClr val="555045"/>
              </a:solidFill>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16 · LA ENTREGA</a:t>
            </a:r>
          </a:p>
        </p:txBody>
      </p:sp>
      <p:sp>
        <p:nvSpPr>
          <p:cNvPr id="4" name="TextBox 3"/>
          <p:cNvSpPr txBox="1"/>
          <p:nvPr/>
        </p:nvSpPr>
        <p:spPr>
          <a:xfrm>
            <a:off x="548640" y="704088"/>
            <a:ext cx="5387187" cy="555244"/>
          </a:xfrm>
          <a:prstGeom prst="rect">
            <a:avLst/>
          </a:prstGeom>
          <a:noFill/>
        </p:spPr>
        <p:txBody>
          <a:bodyPr wrap="square" lIns="0" tIns="0" rIns="0" bIns="0">
            <a:spAutoFit/>
          </a:bodyPr>
          <a:lstStyle/>
          <a:p>
            <a:pPr>
              <a:lnSpc>
                <a:spcPct val="118000"/>
              </a:lnSpc>
              <a:spcAft>
                <a:spcPts val="300"/>
              </a:spcAft>
            </a:pPr>
            <a:r>
              <a:rPr sz="1450" b="1">
                <a:solidFill>
                  <a:srgbClr val="17150F"/>
                </a:solidFill>
                <a:latin typeface="Arial"/>
              </a:rPr>
              <a:t>Una tabla de 160 filas que la tienda ejecuta sin interpretar nada</a:t>
            </a:r>
          </a:p>
        </p:txBody>
      </p:sp>
      <p:sp>
        <p:nvSpPr>
          <p:cNvPr id="5" name="TextBox 4"/>
          <p:cNvSpPr txBox="1"/>
          <p:nvPr/>
        </p:nvSpPr>
        <p:spPr>
          <a:xfrm>
            <a:off x="548640" y="1295908"/>
            <a:ext cx="5387187" cy="259384"/>
          </a:xfrm>
          <a:prstGeom prst="rect">
            <a:avLst/>
          </a:prstGeom>
          <a:noFill/>
        </p:spPr>
        <p:txBody>
          <a:bodyPr wrap="square" lIns="0" tIns="0" rIns="0" bIns="0">
            <a:spAutoFit/>
          </a:bodyPr>
          <a:lstStyle/>
          <a:p>
            <a:pPr>
              <a:lnSpc>
                <a:spcPct val="118000"/>
              </a:lnSpc>
              <a:spcAft>
                <a:spcPts val="300"/>
              </a:spcAft>
            </a:pPr>
            <a:r>
              <a:rPr sz="1080" b="0">
                <a:solidFill>
                  <a:srgbClr val="555045"/>
                </a:solidFill>
                <a:latin typeface="Arial"/>
              </a:rPr>
              <a:t>Reentrenada con las trece semanas completas. Una fila por tienda y producto.</a:t>
            </a:r>
          </a:p>
        </p:txBody>
      </p:sp>
      <p:sp>
        <p:nvSpPr>
          <p:cNvPr id="6" name="TextBox 5"/>
          <p:cNvSpPr txBox="1"/>
          <p:nvPr/>
        </p:nvSpPr>
        <p:spPr>
          <a:xfrm>
            <a:off x="548640" y="1591868"/>
            <a:ext cx="5387187" cy="707847"/>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A PEDIR</a:t>
            </a:r>
          </a:p>
          <a:p>
            <a:pPr>
              <a:lnSpc>
                <a:spcPct val="118000"/>
              </a:lnSpc>
              <a:spcAft>
                <a:spcPts val="300"/>
              </a:spcAft>
            </a:pPr>
            <a:r>
              <a:rPr sz="1450" b="1">
                <a:solidFill>
                  <a:srgbClr val="17150F"/>
                </a:solidFill>
                <a:latin typeface="Arial"/>
              </a:rPr>
              <a:t>12.290</a:t>
            </a:r>
          </a:p>
          <a:p>
            <a:pPr>
              <a:lnSpc>
                <a:spcPct val="118000"/>
              </a:lnSpc>
              <a:spcAft>
                <a:spcPts val="300"/>
              </a:spcAft>
            </a:pPr>
            <a:r>
              <a:rPr sz="960" b="0">
                <a:solidFill>
                  <a:srgbClr val="555045"/>
                </a:solidFill>
                <a:latin typeface="Arial"/>
              </a:rPr>
              <a:t>unidades en toda la red</a:t>
            </a:r>
          </a:p>
        </p:txBody>
      </p:sp>
      <p:sp>
        <p:nvSpPr>
          <p:cNvPr id="7" name="TextBox 6"/>
          <p:cNvSpPr txBox="1"/>
          <p:nvPr/>
        </p:nvSpPr>
        <p:spPr>
          <a:xfrm>
            <a:off x="548640" y="2336291"/>
            <a:ext cx="5387187" cy="707847"/>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OBJETIVO</a:t>
            </a:r>
          </a:p>
          <a:p>
            <a:pPr>
              <a:lnSpc>
                <a:spcPct val="118000"/>
              </a:lnSpc>
              <a:spcAft>
                <a:spcPts val="300"/>
              </a:spcAft>
            </a:pPr>
            <a:r>
              <a:rPr sz="1450" b="1">
                <a:solidFill>
                  <a:srgbClr val="17150F"/>
                </a:solidFill>
                <a:latin typeface="Arial"/>
              </a:rPr>
              <a:t>15.591</a:t>
            </a:r>
          </a:p>
          <a:p>
            <a:pPr>
              <a:lnSpc>
                <a:spcPct val="118000"/>
              </a:lnSpc>
              <a:spcAft>
                <a:spcPts val="300"/>
              </a:spcAft>
            </a:pPr>
            <a:r>
              <a:rPr sz="960" b="0">
                <a:solidFill>
                  <a:srgbClr val="555045"/>
                </a:solidFill>
                <a:latin typeface="Arial"/>
              </a:rPr>
              <a:t>unidades en estantería</a:t>
            </a:r>
          </a:p>
        </p:txBody>
      </p:sp>
      <p:sp>
        <p:nvSpPr>
          <p:cNvPr id="8" name="TextBox 7"/>
          <p:cNvSpPr txBox="1"/>
          <p:nvPr/>
        </p:nvSpPr>
        <p:spPr>
          <a:xfrm>
            <a:off x="548640" y="3080714"/>
            <a:ext cx="5387187" cy="707847"/>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YA DISPONIBLE</a:t>
            </a:r>
          </a:p>
          <a:p>
            <a:pPr>
              <a:lnSpc>
                <a:spcPct val="118000"/>
              </a:lnSpc>
              <a:spcAft>
                <a:spcPts val="300"/>
              </a:spcAft>
            </a:pPr>
            <a:r>
              <a:rPr sz="1450" b="1">
                <a:solidFill>
                  <a:srgbClr val="17150F"/>
                </a:solidFill>
                <a:latin typeface="Arial"/>
              </a:rPr>
              <a:t>3.367</a:t>
            </a:r>
          </a:p>
          <a:p>
            <a:pPr>
              <a:lnSpc>
                <a:spcPct val="118000"/>
              </a:lnSpc>
              <a:spcAft>
                <a:spcPts val="300"/>
              </a:spcAft>
            </a:pPr>
            <a:r>
              <a:rPr sz="960" b="0">
                <a:solidFill>
                  <a:srgbClr val="555045"/>
                </a:solidFill>
                <a:latin typeface="Arial"/>
              </a:rPr>
              <a:t>inventario actual</a:t>
            </a:r>
          </a:p>
        </p:txBody>
      </p:sp>
      <p:sp>
        <p:nvSpPr>
          <p:cNvPr id="9" name="TextBox 8"/>
          <p:cNvSpPr txBox="1"/>
          <p:nvPr/>
        </p:nvSpPr>
        <p:spPr>
          <a:xfrm>
            <a:off x="548640" y="3825137"/>
            <a:ext cx="5387187" cy="707847"/>
          </a:xfrm>
          <a:prstGeom prst="rect">
            <a:avLst/>
          </a:prstGeom>
          <a:noFill/>
        </p:spPr>
        <p:txBody>
          <a:bodyPr wrap="square" lIns="0" tIns="0" rIns="0" bIns="0">
            <a:spAutoFit/>
          </a:bodyPr>
          <a:lstStyle/>
          <a:p>
            <a:pPr>
              <a:lnSpc>
                <a:spcPct val="118000"/>
              </a:lnSpc>
              <a:spcAft>
                <a:spcPts val="300"/>
              </a:spcAft>
            </a:pPr>
            <a:r>
              <a:rPr sz="960" b="1">
                <a:solidFill>
                  <a:srgbClr val="17150F"/>
                </a:solidFill>
                <a:latin typeface="Arial"/>
              </a:rPr>
              <a:t>SIN PEDIDO</a:t>
            </a:r>
          </a:p>
          <a:p>
            <a:pPr>
              <a:lnSpc>
                <a:spcPct val="118000"/>
              </a:lnSpc>
              <a:spcAft>
                <a:spcPts val="300"/>
              </a:spcAft>
            </a:pPr>
            <a:r>
              <a:rPr sz="1450" b="1">
                <a:solidFill>
                  <a:srgbClr val="17150F"/>
                </a:solidFill>
                <a:latin typeface="Arial"/>
              </a:rPr>
              <a:t>5</a:t>
            </a:r>
          </a:p>
          <a:p>
            <a:pPr>
              <a:lnSpc>
                <a:spcPct val="118000"/>
              </a:lnSpc>
              <a:spcAft>
                <a:spcPts val="300"/>
              </a:spcAft>
            </a:pPr>
            <a:r>
              <a:rPr sz="960" b="0">
                <a:solidFill>
                  <a:srgbClr val="555045"/>
                </a:solidFill>
                <a:latin typeface="Arial"/>
              </a:rPr>
              <a:t>series que el stock ya cubre</a:t>
            </a:r>
          </a:p>
        </p:txBody>
      </p:sp>
      <p:graphicFrame>
        <p:nvGraphicFramePr>
          <p:cNvPr id="10" name="Table 9"/>
          <p:cNvGraphicFramePr>
            <a:graphicFrameLocks noGrp="1"/>
          </p:cNvGraphicFramePr>
          <p:nvPr/>
        </p:nvGraphicFramePr>
        <p:xfrm>
          <a:off x="548640" y="4569560"/>
          <a:ext cx="5387187" cy="1737360"/>
        </p:xfrm>
        <a:graphic>
          <a:graphicData uri="http://schemas.openxmlformats.org/drawingml/2006/table">
            <a:tbl>
              <a:tblPr bandRow="1">
                <a:tableStyleId>{5C22544A-7EE6-4342-B048-85BDC9FD1C3A}</a:tableStyleId>
              </a:tblPr>
              <a:tblGrid>
                <a:gridCol w="1243197">
                  <a:extLst>
                    <a:ext uri="{9D8B030D-6E8A-4147-A177-3AD203B41FA5}">
                      <a16:colId xmlns:a16="http://schemas.microsoft.com/office/drawing/2014/main" val="20000"/>
                    </a:ext>
                  </a:extLst>
                </a:gridCol>
                <a:gridCol w="690665">
                  <a:extLst>
                    <a:ext uri="{9D8B030D-6E8A-4147-A177-3AD203B41FA5}">
                      <a16:colId xmlns:a16="http://schemas.microsoft.com/office/drawing/2014/main" val="20001"/>
                    </a:ext>
                  </a:extLst>
                </a:gridCol>
                <a:gridCol w="690665">
                  <a:extLst>
                    <a:ext uri="{9D8B030D-6E8A-4147-A177-3AD203B41FA5}">
                      <a16:colId xmlns:a16="http://schemas.microsoft.com/office/drawing/2014/main" val="20002"/>
                    </a:ext>
                  </a:extLst>
                </a:gridCol>
                <a:gridCol w="690665">
                  <a:extLst>
                    <a:ext uri="{9D8B030D-6E8A-4147-A177-3AD203B41FA5}">
                      <a16:colId xmlns:a16="http://schemas.microsoft.com/office/drawing/2014/main" val="20003"/>
                    </a:ext>
                  </a:extLst>
                </a:gridCol>
                <a:gridCol w="690665">
                  <a:extLst>
                    <a:ext uri="{9D8B030D-6E8A-4147-A177-3AD203B41FA5}">
                      <a16:colId xmlns:a16="http://schemas.microsoft.com/office/drawing/2014/main" val="20004"/>
                    </a:ext>
                  </a:extLst>
                </a:gridCol>
                <a:gridCol w="690665">
                  <a:extLst>
                    <a:ext uri="{9D8B030D-6E8A-4147-A177-3AD203B41FA5}">
                      <a16:colId xmlns:a16="http://schemas.microsoft.com/office/drawing/2014/main" val="20005"/>
                    </a:ext>
                  </a:extLst>
                </a:gridCol>
                <a:gridCol w="690665">
                  <a:extLst>
                    <a:ext uri="{9D8B030D-6E8A-4147-A177-3AD203B41FA5}">
                      <a16:colId xmlns:a16="http://schemas.microsoft.com/office/drawing/2014/main" val="20006"/>
                    </a:ext>
                  </a:extLst>
                </a:gridCol>
              </a:tblGrid>
              <a:tr h="347472">
                <a:tc>
                  <a:txBody>
                    <a:bodyPr/>
                    <a:lstStyle/>
                    <a:p>
                      <a:pPr algn="l"/>
                      <a:r>
                        <a:rPr sz="810" b="1">
                          <a:solidFill>
                            <a:srgbClr val="8B8478"/>
                          </a:solidFill>
                          <a:latin typeface="Arial"/>
                        </a:rPr>
                        <a:t>Tienda</a:t>
                      </a:r>
                    </a:p>
                  </a:txBody>
                  <a:tcPr marL="82296" marR="82296" anchor="ctr">
                    <a:solidFill>
                      <a:srgbClr val="F4F2ED"/>
                    </a:solidFill>
                  </a:tcPr>
                </a:tc>
                <a:tc>
                  <a:txBody>
                    <a:bodyPr/>
                    <a:lstStyle/>
                    <a:p>
                      <a:pPr algn="r"/>
                      <a:r>
                        <a:rPr sz="810" b="1">
                          <a:solidFill>
                            <a:srgbClr val="8B8478"/>
                          </a:solidFill>
                          <a:latin typeface="Arial"/>
                        </a:rPr>
                        <a:t>Producto</a:t>
                      </a:r>
                    </a:p>
                  </a:txBody>
                  <a:tcPr marL="82296" marR="82296" anchor="ctr">
                    <a:solidFill>
                      <a:srgbClr val="F4F2ED"/>
                    </a:solidFill>
                  </a:tcPr>
                </a:tc>
                <a:tc>
                  <a:txBody>
                    <a:bodyPr/>
                    <a:lstStyle/>
                    <a:p>
                      <a:pPr algn="r"/>
                      <a:r>
                        <a:rPr sz="810" b="1">
                          <a:solidFill>
                            <a:srgbClr val="8B8478"/>
                          </a:solidFill>
                          <a:latin typeface="Arial"/>
                        </a:rPr>
                        <a:t>Pronóstico</a:t>
                      </a:r>
                    </a:p>
                  </a:txBody>
                  <a:tcPr marL="82296" marR="82296" anchor="ctr">
                    <a:solidFill>
                      <a:srgbClr val="F4F2ED"/>
                    </a:solidFill>
                  </a:tcPr>
                </a:tc>
                <a:tc>
                  <a:txBody>
                    <a:bodyPr/>
                    <a:lstStyle/>
                    <a:p>
                      <a:pPr algn="r"/>
                      <a:r>
                        <a:rPr sz="810" b="1">
                          <a:solidFill>
                            <a:srgbClr val="8B8478"/>
                          </a:solidFill>
                          <a:latin typeface="Arial"/>
                        </a:rPr>
                        <a:t>Nivel</a:t>
                      </a:r>
                    </a:p>
                  </a:txBody>
                  <a:tcPr marL="82296" marR="82296" anchor="ctr">
                    <a:solidFill>
                      <a:srgbClr val="F4F2ED"/>
                    </a:solidFill>
                  </a:tcPr>
                </a:tc>
                <a:tc>
                  <a:txBody>
                    <a:bodyPr/>
                    <a:lstStyle/>
                    <a:p>
                      <a:pPr algn="r"/>
                      <a:r>
                        <a:rPr sz="810" b="1">
                          <a:solidFill>
                            <a:srgbClr val="8B8478"/>
                          </a:solidFill>
                          <a:latin typeface="Arial"/>
                        </a:rPr>
                        <a:t>Objetivo</a:t>
                      </a:r>
                    </a:p>
                  </a:txBody>
                  <a:tcPr marL="82296" marR="82296" anchor="ctr">
                    <a:solidFill>
                      <a:srgbClr val="F4F2ED"/>
                    </a:solidFill>
                  </a:tcPr>
                </a:tc>
                <a:tc>
                  <a:txBody>
                    <a:bodyPr/>
                    <a:lstStyle/>
                    <a:p>
                      <a:pPr algn="r"/>
                      <a:r>
                        <a:rPr sz="810" b="1">
                          <a:solidFill>
                            <a:srgbClr val="8B8478"/>
                          </a:solidFill>
                          <a:latin typeface="Arial"/>
                        </a:rPr>
                        <a:t>Stock</a:t>
                      </a:r>
                    </a:p>
                  </a:txBody>
                  <a:tcPr marL="82296" marR="82296" anchor="ctr">
                    <a:solidFill>
                      <a:srgbClr val="F4F2ED"/>
                    </a:solidFill>
                  </a:tcPr>
                </a:tc>
                <a:tc>
                  <a:txBody>
                    <a:bodyPr/>
                    <a:lstStyle/>
                    <a:p>
                      <a:pPr algn="r"/>
                      <a:r>
                        <a:rPr sz="810" b="1">
                          <a:solidFill>
                            <a:srgbClr val="8B8478"/>
                          </a:solidFill>
                          <a:latin typeface="Arial"/>
                        </a:rPr>
                        <a:t>Pedido</a:t>
                      </a:r>
                    </a:p>
                  </a:txBody>
                  <a:tcPr marL="82296" marR="82296" anchor="ctr">
                    <a:solidFill>
                      <a:srgbClr val="F4F2ED"/>
                    </a:solidFill>
                  </a:tcPr>
                </a:tc>
                <a:extLst>
                  <a:ext uri="{0D108BD9-81ED-4DB2-BD59-A6C34878D82A}">
                    <a16:rowId xmlns:a16="http://schemas.microsoft.com/office/drawing/2014/main" val="10000"/>
                  </a:ext>
                </a:extLst>
              </a:tr>
              <a:tr h="228600">
                <a:tc>
                  <a:txBody>
                    <a:bodyPr/>
                    <a:lstStyle/>
                    <a:p>
                      <a:pPr algn="l"/>
                      <a:r>
                        <a:rPr sz="960" b="0">
                          <a:solidFill>
                            <a:srgbClr val="17150F"/>
                          </a:solidFill>
                          <a:latin typeface="Arial"/>
                        </a:rPr>
                        <a:t>STORE_01</a:t>
                      </a:r>
                    </a:p>
                  </a:txBody>
                  <a:tcPr marL="82296" marR="82296" anchor="ctr">
                    <a:solidFill>
                      <a:srgbClr val="FFFFFF"/>
                    </a:solidFill>
                  </a:tcPr>
                </a:tc>
                <a:tc>
                  <a:txBody>
                    <a:bodyPr/>
                    <a:lstStyle/>
                    <a:p>
                      <a:pPr algn="r"/>
                      <a:r>
                        <a:rPr sz="960" b="0">
                          <a:solidFill>
                            <a:srgbClr val="555045"/>
                          </a:solidFill>
                          <a:latin typeface="Arial"/>
                        </a:rPr>
                        <a:t>Tinto</a:t>
                      </a:r>
                    </a:p>
                  </a:txBody>
                  <a:tcPr marL="82296" marR="82296" anchor="ctr">
                    <a:solidFill>
                      <a:srgbClr val="FFFFFF"/>
                    </a:solidFill>
                  </a:tcPr>
                </a:tc>
                <a:tc>
                  <a:txBody>
                    <a:bodyPr/>
                    <a:lstStyle/>
                    <a:p>
                      <a:pPr algn="r"/>
                      <a:r>
                        <a:rPr sz="960" b="0">
                          <a:solidFill>
                            <a:srgbClr val="555045"/>
                          </a:solidFill>
                          <a:latin typeface="Arial"/>
                        </a:rPr>
                        <a:t>44,4</a:t>
                      </a:r>
                    </a:p>
                  </a:txBody>
                  <a:tcPr marL="82296" marR="82296" anchor="ctr">
                    <a:solidFill>
                      <a:srgbClr val="FFFFFF"/>
                    </a:solidFill>
                  </a:tcPr>
                </a:tc>
                <a:tc>
                  <a:txBody>
                    <a:bodyPr/>
                    <a:lstStyle/>
                    <a:p>
                      <a:pPr algn="r"/>
                      <a:r>
                        <a:rPr sz="960" b="0">
                          <a:solidFill>
                            <a:srgbClr val="555045"/>
                          </a:solidFill>
                          <a:latin typeface="Arial"/>
                        </a:rPr>
                        <a:t>0,68</a:t>
                      </a:r>
                    </a:p>
                  </a:txBody>
                  <a:tcPr marL="82296" marR="82296" anchor="ctr">
                    <a:solidFill>
                      <a:srgbClr val="FFFFFF"/>
                    </a:solidFill>
                  </a:tcPr>
                </a:tc>
                <a:tc>
                  <a:txBody>
                    <a:bodyPr/>
                    <a:lstStyle/>
                    <a:p>
                      <a:pPr algn="r"/>
                      <a:r>
                        <a:rPr sz="960" b="0">
                          <a:solidFill>
                            <a:srgbClr val="555045"/>
                          </a:solidFill>
                          <a:latin typeface="Arial"/>
                        </a:rPr>
                        <a:t>47</a:t>
                      </a:r>
                    </a:p>
                  </a:txBody>
                  <a:tcPr marL="82296" marR="82296" anchor="ctr">
                    <a:solidFill>
                      <a:srgbClr val="FFFFFF"/>
                    </a:solidFill>
                  </a:tcPr>
                </a:tc>
                <a:tc>
                  <a:txBody>
                    <a:bodyPr/>
                    <a:lstStyle/>
                    <a:p>
                      <a:pPr algn="r"/>
                      <a:r>
                        <a:rPr sz="960" b="0">
                          <a:solidFill>
                            <a:srgbClr val="555045"/>
                          </a:solidFill>
                          <a:latin typeface="Arial"/>
                        </a:rPr>
                        <a:t>1</a:t>
                      </a:r>
                    </a:p>
                  </a:txBody>
                  <a:tcPr marL="82296" marR="82296" anchor="ctr">
                    <a:solidFill>
                      <a:srgbClr val="FFFFFF"/>
                    </a:solidFill>
                  </a:tcPr>
                </a:tc>
                <a:tc>
                  <a:txBody>
                    <a:bodyPr/>
                    <a:lstStyle/>
                    <a:p>
                      <a:pPr algn="r"/>
                      <a:r>
                        <a:rPr sz="960" b="0">
                          <a:solidFill>
                            <a:srgbClr val="555045"/>
                          </a:solidFill>
                          <a:latin typeface="Arial"/>
                        </a:rPr>
                        <a:t>46</a:t>
                      </a:r>
                    </a:p>
                  </a:txBody>
                  <a:tcPr marL="82296" marR="82296" anchor="ctr">
                    <a:solidFill>
                      <a:srgbClr val="FFFFFF"/>
                    </a:solidFill>
                  </a:tcPr>
                </a:tc>
                <a:extLst>
                  <a:ext uri="{0D108BD9-81ED-4DB2-BD59-A6C34878D82A}">
                    <a16:rowId xmlns:a16="http://schemas.microsoft.com/office/drawing/2014/main" val="10001"/>
                  </a:ext>
                </a:extLst>
              </a:tr>
              <a:tr h="228600">
                <a:tc>
                  <a:txBody>
                    <a:bodyPr/>
                    <a:lstStyle/>
                    <a:p>
                      <a:pPr algn="l"/>
                      <a:r>
                        <a:rPr sz="960" b="0">
                          <a:solidFill>
                            <a:srgbClr val="17150F"/>
                          </a:solidFill>
                          <a:latin typeface="Arial"/>
                        </a:rPr>
                        <a:t>STORE_01</a:t>
                      </a:r>
                    </a:p>
                  </a:txBody>
                  <a:tcPr marL="82296" marR="82296" anchor="ctr">
                    <a:solidFill>
                      <a:srgbClr val="FFFFFF"/>
                    </a:solidFill>
                  </a:tcPr>
                </a:tc>
                <a:tc>
                  <a:txBody>
                    <a:bodyPr/>
                    <a:lstStyle/>
                    <a:p>
                      <a:pPr algn="r"/>
                      <a:r>
                        <a:rPr sz="960" b="0">
                          <a:solidFill>
                            <a:srgbClr val="555045"/>
                          </a:solidFill>
                          <a:latin typeface="Arial"/>
                        </a:rPr>
                        <a:t>Café con Leche</a:t>
                      </a:r>
                    </a:p>
                  </a:txBody>
                  <a:tcPr marL="82296" marR="82296" anchor="ctr">
                    <a:solidFill>
                      <a:srgbClr val="FFFFFF"/>
                    </a:solidFill>
                  </a:tcPr>
                </a:tc>
                <a:tc>
                  <a:txBody>
                    <a:bodyPr/>
                    <a:lstStyle/>
                    <a:p>
                      <a:pPr algn="r"/>
                      <a:r>
                        <a:rPr sz="960" b="0">
                          <a:solidFill>
                            <a:srgbClr val="555045"/>
                          </a:solidFill>
                          <a:latin typeface="Arial"/>
                        </a:rPr>
                        <a:t>63,8</a:t>
                      </a:r>
                    </a:p>
                  </a:txBody>
                  <a:tcPr marL="82296" marR="82296" anchor="ctr">
                    <a:solidFill>
                      <a:srgbClr val="FFFFFF"/>
                    </a:solidFill>
                  </a:tcPr>
                </a:tc>
                <a:tc>
                  <a:txBody>
                    <a:bodyPr/>
                    <a:lstStyle/>
                    <a:p>
                      <a:pPr algn="r"/>
                      <a:r>
                        <a:rPr sz="960" b="0">
                          <a:solidFill>
                            <a:srgbClr val="555045"/>
                          </a:solidFill>
                          <a:latin typeface="Arial"/>
                        </a:rPr>
                        <a:t>0,65</a:t>
                      </a:r>
                    </a:p>
                  </a:txBody>
                  <a:tcPr marL="82296" marR="82296" anchor="ctr">
                    <a:solidFill>
                      <a:srgbClr val="FFFFFF"/>
                    </a:solidFill>
                  </a:tcPr>
                </a:tc>
                <a:tc>
                  <a:txBody>
                    <a:bodyPr/>
                    <a:lstStyle/>
                    <a:p>
                      <a:pPr algn="r"/>
                      <a:r>
                        <a:rPr sz="960" b="0">
                          <a:solidFill>
                            <a:srgbClr val="555045"/>
                          </a:solidFill>
                          <a:latin typeface="Arial"/>
                        </a:rPr>
                        <a:t>68</a:t>
                      </a:r>
                    </a:p>
                  </a:txBody>
                  <a:tcPr marL="82296" marR="82296" anchor="ctr">
                    <a:solidFill>
                      <a:srgbClr val="FFFFFF"/>
                    </a:solidFill>
                  </a:tcPr>
                </a:tc>
                <a:tc>
                  <a:txBody>
                    <a:bodyPr/>
                    <a:lstStyle/>
                    <a:p>
                      <a:pPr algn="r"/>
                      <a:r>
                        <a:rPr sz="960" b="0">
                          <a:solidFill>
                            <a:srgbClr val="555045"/>
                          </a:solidFill>
                          <a:latin typeface="Arial"/>
                        </a:rPr>
                        <a:t>10</a:t>
                      </a:r>
                    </a:p>
                  </a:txBody>
                  <a:tcPr marL="82296" marR="82296" anchor="ctr">
                    <a:solidFill>
                      <a:srgbClr val="FFFFFF"/>
                    </a:solidFill>
                  </a:tcPr>
                </a:tc>
                <a:tc>
                  <a:txBody>
                    <a:bodyPr/>
                    <a:lstStyle/>
                    <a:p>
                      <a:pPr algn="r"/>
                      <a:r>
                        <a:rPr sz="960" b="0">
                          <a:solidFill>
                            <a:srgbClr val="555045"/>
                          </a:solidFill>
                          <a:latin typeface="Arial"/>
                        </a:rPr>
                        <a:t>58</a:t>
                      </a:r>
                    </a:p>
                  </a:txBody>
                  <a:tcPr marL="82296" marR="82296" anchor="ctr">
                    <a:solidFill>
                      <a:srgbClr val="FFFFFF"/>
                    </a:solidFill>
                  </a:tcPr>
                </a:tc>
                <a:extLst>
                  <a:ext uri="{0D108BD9-81ED-4DB2-BD59-A6C34878D82A}">
                    <a16:rowId xmlns:a16="http://schemas.microsoft.com/office/drawing/2014/main" val="10002"/>
                  </a:ext>
                </a:extLst>
              </a:tr>
              <a:tr h="228600">
                <a:tc>
                  <a:txBody>
                    <a:bodyPr/>
                    <a:lstStyle/>
                    <a:p>
                      <a:pPr algn="l"/>
                      <a:r>
                        <a:rPr sz="960" b="0">
                          <a:solidFill>
                            <a:srgbClr val="17150F"/>
                          </a:solidFill>
                          <a:latin typeface="Arial"/>
                        </a:rPr>
                        <a:t>STORE_08</a:t>
                      </a:r>
                    </a:p>
                  </a:txBody>
                  <a:tcPr marL="82296" marR="82296" anchor="ctr">
                    <a:solidFill>
                      <a:srgbClr val="FFFFFF"/>
                    </a:solidFill>
                  </a:tcPr>
                </a:tc>
                <a:tc>
                  <a:txBody>
                    <a:bodyPr/>
                    <a:lstStyle/>
                    <a:p>
                      <a:pPr algn="r"/>
                      <a:r>
                        <a:rPr sz="960" b="0">
                          <a:solidFill>
                            <a:srgbClr val="555045"/>
                          </a:solidFill>
                          <a:latin typeface="Arial"/>
                        </a:rPr>
                        <a:t>Cappuccino</a:t>
                      </a:r>
                    </a:p>
                  </a:txBody>
                  <a:tcPr marL="82296" marR="82296" anchor="ctr">
                    <a:solidFill>
                      <a:srgbClr val="FFFFFF"/>
                    </a:solidFill>
                  </a:tcPr>
                </a:tc>
                <a:tc>
                  <a:txBody>
                    <a:bodyPr/>
                    <a:lstStyle/>
                    <a:p>
                      <a:pPr algn="r"/>
                      <a:r>
                        <a:rPr sz="960" b="0">
                          <a:solidFill>
                            <a:srgbClr val="555045"/>
                          </a:solidFill>
                          <a:latin typeface="Arial"/>
                        </a:rPr>
                        <a:t>125,1</a:t>
                      </a:r>
                    </a:p>
                  </a:txBody>
                  <a:tcPr marL="82296" marR="82296" anchor="ctr">
                    <a:solidFill>
                      <a:srgbClr val="FFFFFF"/>
                    </a:solidFill>
                  </a:tcPr>
                </a:tc>
                <a:tc>
                  <a:txBody>
                    <a:bodyPr/>
                    <a:lstStyle/>
                    <a:p>
                      <a:pPr algn="r"/>
                      <a:r>
                        <a:rPr sz="960" b="0">
                          <a:solidFill>
                            <a:srgbClr val="555045"/>
                          </a:solidFill>
                          <a:latin typeface="Arial"/>
                        </a:rPr>
                        <a:t>0,66</a:t>
                      </a:r>
                    </a:p>
                  </a:txBody>
                  <a:tcPr marL="82296" marR="82296" anchor="ctr">
                    <a:solidFill>
                      <a:srgbClr val="FFFFFF"/>
                    </a:solidFill>
                  </a:tcPr>
                </a:tc>
                <a:tc>
                  <a:txBody>
                    <a:bodyPr/>
                    <a:lstStyle/>
                    <a:p>
                      <a:pPr algn="r"/>
                      <a:r>
                        <a:rPr sz="960" b="0">
                          <a:solidFill>
                            <a:srgbClr val="555045"/>
                          </a:solidFill>
                          <a:latin typeface="Arial"/>
                        </a:rPr>
                        <a:t>132</a:t>
                      </a:r>
                    </a:p>
                  </a:txBody>
                  <a:tcPr marL="82296" marR="82296" anchor="ctr">
                    <a:solidFill>
                      <a:srgbClr val="FFFFFF"/>
                    </a:solidFill>
                  </a:tcPr>
                </a:tc>
                <a:tc>
                  <a:txBody>
                    <a:bodyPr/>
                    <a:lstStyle/>
                    <a:p>
                      <a:pPr algn="r"/>
                      <a:r>
                        <a:rPr sz="960" b="0">
                          <a:solidFill>
                            <a:srgbClr val="555045"/>
                          </a:solidFill>
                          <a:latin typeface="Arial"/>
                        </a:rPr>
                        <a:t>0</a:t>
                      </a:r>
                    </a:p>
                  </a:txBody>
                  <a:tcPr marL="82296" marR="82296" anchor="ctr">
                    <a:solidFill>
                      <a:srgbClr val="FFFFFF"/>
                    </a:solidFill>
                  </a:tcPr>
                </a:tc>
                <a:tc>
                  <a:txBody>
                    <a:bodyPr/>
                    <a:lstStyle/>
                    <a:p>
                      <a:pPr algn="r"/>
                      <a:r>
                        <a:rPr sz="960" b="0">
                          <a:solidFill>
                            <a:srgbClr val="555045"/>
                          </a:solidFill>
                          <a:latin typeface="Arial"/>
                        </a:rPr>
                        <a:t>132</a:t>
                      </a:r>
                    </a:p>
                  </a:txBody>
                  <a:tcPr marL="82296" marR="82296" anchor="ctr">
                    <a:solidFill>
                      <a:srgbClr val="FFFFFF"/>
                    </a:solidFill>
                  </a:tcPr>
                </a:tc>
                <a:extLst>
                  <a:ext uri="{0D108BD9-81ED-4DB2-BD59-A6C34878D82A}">
                    <a16:rowId xmlns:a16="http://schemas.microsoft.com/office/drawing/2014/main" val="10003"/>
                  </a:ext>
                </a:extLst>
              </a:tr>
              <a:tr h="228600">
                <a:tc>
                  <a:txBody>
                    <a:bodyPr/>
                    <a:lstStyle/>
                    <a:p>
                      <a:pPr algn="l"/>
                      <a:r>
                        <a:rPr sz="960" b="0">
                          <a:solidFill>
                            <a:srgbClr val="17150F"/>
                          </a:solidFill>
                          <a:latin typeface="Arial"/>
                        </a:rPr>
                        <a:t>STORE_08</a:t>
                      </a:r>
                    </a:p>
                  </a:txBody>
                  <a:tcPr marL="82296" marR="82296" anchor="ctr">
                    <a:solidFill>
                      <a:srgbClr val="FFFFFF"/>
                    </a:solidFill>
                  </a:tcPr>
                </a:tc>
                <a:tc>
                  <a:txBody>
                    <a:bodyPr/>
                    <a:lstStyle/>
                    <a:p>
                      <a:pPr algn="r"/>
                      <a:r>
                        <a:rPr sz="960" b="0">
                          <a:solidFill>
                            <a:srgbClr val="555045"/>
                          </a:solidFill>
                          <a:latin typeface="Arial"/>
                        </a:rPr>
                        <a:t>Pan de Bono</a:t>
                      </a:r>
                    </a:p>
                  </a:txBody>
                  <a:tcPr marL="82296" marR="82296" anchor="ctr">
                    <a:solidFill>
                      <a:srgbClr val="FFFFFF"/>
                    </a:solidFill>
                  </a:tcPr>
                </a:tc>
                <a:tc>
                  <a:txBody>
                    <a:bodyPr/>
                    <a:lstStyle/>
                    <a:p>
                      <a:pPr algn="r"/>
                      <a:r>
                        <a:rPr sz="960" b="0">
                          <a:solidFill>
                            <a:srgbClr val="555045"/>
                          </a:solidFill>
                          <a:latin typeface="Arial"/>
                        </a:rPr>
                        <a:t>63,7</a:t>
                      </a:r>
                    </a:p>
                  </a:txBody>
                  <a:tcPr marL="82296" marR="82296" anchor="ctr">
                    <a:solidFill>
                      <a:srgbClr val="FFFFFF"/>
                    </a:solidFill>
                  </a:tcPr>
                </a:tc>
                <a:tc>
                  <a:txBody>
                    <a:bodyPr/>
                    <a:lstStyle/>
                    <a:p>
                      <a:pPr algn="r"/>
                      <a:r>
                        <a:rPr sz="960" b="0">
                          <a:solidFill>
                            <a:srgbClr val="555045"/>
                          </a:solidFill>
                          <a:latin typeface="Arial"/>
                        </a:rPr>
                        <a:t>0,64</a:t>
                      </a:r>
                    </a:p>
                  </a:txBody>
                  <a:tcPr marL="82296" marR="82296" anchor="ctr">
                    <a:solidFill>
                      <a:srgbClr val="FFFFFF"/>
                    </a:solidFill>
                  </a:tcPr>
                </a:tc>
                <a:tc>
                  <a:txBody>
                    <a:bodyPr/>
                    <a:lstStyle/>
                    <a:p>
                      <a:pPr algn="r"/>
                      <a:r>
                        <a:rPr sz="960" b="0">
                          <a:solidFill>
                            <a:srgbClr val="555045"/>
                          </a:solidFill>
                          <a:latin typeface="Arial"/>
                        </a:rPr>
                        <a:t>67</a:t>
                      </a:r>
                    </a:p>
                  </a:txBody>
                  <a:tcPr marL="82296" marR="82296" anchor="ctr">
                    <a:solidFill>
                      <a:srgbClr val="FFFFFF"/>
                    </a:solidFill>
                  </a:tcPr>
                </a:tc>
                <a:tc>
                  <a:txBody>
                    <a:bodyPr/>
                    <a:lstStyle/>
                    <a:p>
                      <a:pPr algn="r"/>
                      <a:r>
                        <a:rPr sz="960" b="0">
                          <a:solidFill>
                            <a:srgbClr val="555045"/>
                          </a:solidFill>
                          <a:latin typeface="Arial"/>
                        </a:rPr>
                        <a:t>62</a:t>
                      </a:r>
                    </a:p>
                  </a:txBody>
                  <a:tcPr marL="82296" marR="82296" anchor="ctr">
                    <a:solidFill>
                      <a:srgbClr val="FFFFFF"/>
                    </a:solidFill>
                  </a:tcPr>
                </a:tc>
                <a:tc>
                  <a:txBody>
                    <a:bodyPr/>
                    <a:lstStyle/>
                    <a:p>
                      <a:pPr algn="r"/>
                      <a:r>
                        <a:rPr sz="960" b="0">
                          <a:solidFill>
                            <a:srgbClr val="555045"/>
                          </a:solidFill>
                          <a:latin typeface="Arial"/>
                        </a:rPr>
                        <a:t>5</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11" name="TextBox 10"/>
          <p:cNvSpPr txBox="1"/>
          <p:nvPr/>
        </p:nvSpPr>
        <p:spPr>
          <a:xfrm>
            <a:off x="6255867" y="502920"/>
            <a:ext cx="5387187" cy="182880"/>
          </a:xfrm>
          <a:prstGeom prst="rect">
            <a:avLst/>
          </a:prstGeom>
          <a:noFill/>
        </p:spPr>
        <p:txBody>
          <a:bodyPr wrap="square" lIns="0" tIns="0" rIns="0" bIns="0">
            <a:spAutoFit/>
          </a:bodyPr>
          <a:lstStyle/>
          <a:p>
            <a:pPr algn="l">
              <a:lnSpc>
                <a:spcPct val="122000"/>
              </a:lnSpc>
              <a:spcBef>
                <a:spcPts val="0"/>
              </a:spcBef>
              <a:spcAft>
                <a:spcPts val="0"/>
              </a:spcAft>
            </a:pPr>
            <a:r>
              <a:rPr sz="850" b="1">
                <a:solidFill>
                  <a:srgbClr val="8C2F39"/>
                </a:solidFill>
                <a:latin typeface="Arial"/>
              </a:rPr>
              <a:t>PASO 16 · LA ENTREGA</a:t>
            </a:r>
          </a:p>
        </p:txBody>
      </p:sp>
      <p:sp>
        <p:nvSpPr>
          <p:cNvPr id="12" name="TextBox 11"/>
          <p:cNvSpPr txBox="1"/>
          <p:nvPr/>
        </p:nvSpPr>
        <p:spPr>
          <a:xfrm>
            <a:off x="6255867" y="704088"/>
            <a:ext cx="5387187" cy="300024"/>
          </a:xfrm>
          <a:prstGeom prst="rect">
            <a:avLst/>
          </a:prstGeom>
          <a:noFill/>
        </p:spPr>
        <p:txBody>
          <a:bodyPr wrap="square" lIns="0" tIns="0" rIns="0" bIns="0">
            <a:spAutoFit/>
          </a:bodyPr>
          <a:lstStyle/>
          <a:p>
            <a:pPr>
              <a:lnSpc>
                <a:spcPct val="118000"/>
              </a:lnSpc>
              <a:spcAft>
                <a:spcPts val="300"/>
              </a:spcAft>
            </a:pPr>
            <a:r>
              <a:rPr sz="1330" b="1">
                <a:solidFill>
                  <a:srgbClr val="17150F"/>
                </a:solidFill>
                <a:latin typeface="Arial"/>
              </a:rPr>
              <a:t>Cómo se reparte el pedido por tienda</a:t>
            </a:r>
          </a:p>
        </p:txBody>
      </p:sp>
      <p:pic>
        <p:nvPicPr>
          <p:cNvPr id="13" name="Picture 12" descr="image.png"/>
          <p:cNvPicPr>
            <a:picLocks noChangeAspect="1"/>
          </p:cNvPicPr>
          <p:nvPr/>
        </p:nvPicPr>
        <p:blipFill>
          <a:blip r:embed="rId2"/>
          <a:stretch>
            <a:fillRect/>
          </a:stretch>
        </p:blipFill>
        <p:spPr>
          <a:xfrm>
            <a:off x="6255867" y="1040688"/>
            <a:ext cx="4122115" cy="2748077"/>
          </a:xfrm>
          <a:prstGeom prst="rect">
            <a:avLst/>
          </a:prstGeom>
        </p:spPr>
      </p:pic>
      <p:graphicFrame>
        <p:nvGraphicFramePr>
          <p:cNvPr id="14" name="Table 13"/>
          <p:cNvGraphicFramePr>
            <a:graphicFrameLocks noGrp="1"/>
          </p:cNvGraphicFramePr>
          <p:nvPr/>
        </p:nvGraphicFramePr>
        <p:xfrm>
          <a:off x="6255867" y="3880204"/>
          <a:ext cx="5387185" cy="1024128"/>
        </p:xfrm>
        <a:graphic>
          <a:graphicData uri="http://schemas.openxmlformats.org/drawingml/2006/table">
            <a:tbl>
              <a:tblPr bandRow="1">
                <a:tableStyleId>{5C22544A-7EE6-4342-B048-85BDC9FD1C3A}</a:tableStyleId>
              </a:tblPr>
              <a:tblGrid>
                <a:gridCol w="2551825">
                  <a:extLst>
                    <a:ext uri="{9D8B030D-6E8A-4147-A177-3AD203B41FA5}">
                      <a16:colId xmlns:a16="http://schemas.microsoft.com/office/drawing/2014/main" val="20000"/>
                    </a:ext>
                  </a:extLst>
                </a:gridCol>
                <a:gridCol w="1417680">
                  <a:extLst>
                    <a:ext uri="{9D8B030D-6E8A-4147-A177-3AD203B41FA5}">
                      <a16:colId xmlns:a16="http://schemas.microsoft.com/office/drawing/2014/main" val="20001"/>
                    </a:ext>
                  </a:extLst>
                </a:gridCol>
                <a:gridCol w="1417680">
                  <a:extLst>
                    <a:ext uri="{9D8B030D-6E8A-4147-A177-3AD203B41FA5}">
                      <a16:colId xmlns:a16="http://schemas.microsoft.com/office/drawing/2014/main" val="20002"/>
                    </a:ext>
                  </a:extLst>
                </a:gridCol>
              </a:tblGrid>
              <a:tr h="347472">
                <a:tc>
                  <a:txBody>
                    <a:bodyPr/>
                    <a:lstStyle/>
                    <a:p>
                      <a:pPr algn="l"/>
                      <a:r>
                        <a:rPr sz="730" b="1">
                          <a:solidFill>
                            <a:srgbClr val="8B8478"/>
                          </a:solidFill>
                          <a:latin typeface="Arial"/>
                        </a:rPr>
                        <a:t>Escenario</a:t>
                      </a:r>
                    </a:p>
                  </a:txBody>
                  <a:tcPr marL="82296" marR="82296" anchor="ctr">
                    <a:solidFill>
                      <a:srgbClr val="F4F2ED"/>
                    </a:solidFill>
                  </a:tcPr>
                </a:tc>
                <a:tc>
                  <a:txBody>
                    <a:bodyPr/>
                    <a:lstStyle/>
                    <a:p>
                      <a:pPr algn="r"/>
                      <a:r>
                        <a:rPr sz="730" b="1">
                          <a:solidFill>
                            <a:srgbClr val="8B8478"/>
                          </a:solidFill>
                          <a:latin typeface="Arial"/>
                        </a:rPr>
                        <a:t>Nivel medio</a:t>
                      </a:r>
                    </a:p>
                  </a:txBody>
                  <a:tcPr marL="82296" marR="82296" anchor="ctr">
                    <a:solidFill>
                      <a:srgbClr val="F4F2ED"/>
                    </a:solidFill>
                  </a:tcPr>
                </a:tc>
                <a:tc>
                  <a:txBody>
                    <a:bodyPr/>
                    <a:lstStyle/>
                    <a:p>
                      <a:pPr algn="r"/>
                      <a:r>
                        <a:rPr sz="730" b="1">
                          <a:solidFill>
                            <a:srgbClr val="8B8478"/>
                          </a:solidFill>
                          <a:latin typeface="Arial"/>
                        </a:rPr>
                        <a:t>A pedir</a:t>
                      </a:r>
                    </a:p>
                  </a:txBody>
                  <a:tcPr marL="82296" marR="82296" anchor="ctr">
                    <a:solidFill>
                      <a:srgbClr val="F4F2ED"/>
                    </a:solidFill>
                  </a:tcPr>
                </a:tc>
                <a:extLst>
                  <a:ext uri="{0D108BD9-81ED-4DB2-BD59-A6C34878D82A}">
                    <a16:rowId xmlns:a16="http://schemas.microsoft.com/office/drawing/2014/main" val="10000"/>
                  </a:ext>
                </a:extLst>
              </a:tr>
              <a:tr h="210312">
                <a:tc>
                  <a:txBody>
                    <a:bodyPr/>
                    <a:lstStyle/>
                    <a:p>
                      <a:pPr algn="l"/>
                      <a:r>
                        <a:rPr sz="880" b="0">
                          <a:solidFill>
                            <a:srgbClr val="17150F"/>
                          </a:solidFill>
                          <a:latin typeface="Arial"/>
                        </a:rPr>
                        <a:t>Sin merma</a:t>
                      </a:r>
                    </a:p>
                  </a:txBody>
                  <a:tcPr marL="82296" marR="82296" anchor="ctr">
                    <a:solidFill>
                      <a:srgbClr val="FFFFFF"/>
                    </a:solidFill>
                  </a:tcPr>
                </a:tc>
                <a:tc>
                  <a:txBody>
                    <a:bodyPr/>
                    <a:lstStyle/>
                    <a:p>
                      <a:pPr algn="r"/>
                      <a:r>
                        <a:rPr sz="880" b="0">
                          <a:solidFill>
                            <a:srgbClr val="555045"/>
                          </a:solidFill>
                          <a:latin typeface="Arial"/>
                        </a:rPr>
                        <a:t>0,99</a:t>
                      </a:r>
                    </a:p>
                  </a:txBody>
                  <a:tcPr marL="82296" marR="82296" anchor="ctr">
                    <a:solidFill>
                      <a:srgbClr val="FFFFFF"/>
                    </a:solidFill>
                  </a:tcPr>
                </a:tc>
                <a:tc>
                  <a:txBody>
                    <a:bodyPr/>
                    <a:lstStyle/>
                    <a:p>
                      <a:pPr algn="r"/>
                      <a:r>
                        <a:rPr sz="880" b="0">
                          <a:solidFill>
                            <a:srgbClr val="555045"/>
                          </a:solidFill>
                          <a:latin typeface="Arial"/>
                        </a:rPr>
                        <a:t>16.671</a:t>
                      </a:r>
                    </a:p>
                  </a:txBody>
                  <a:tcPr marL="82296" marR="82296" anchor="ctr">
                    <a:solidFill>
                      <a:srgbClr val="FFFFFF"/>
                    </a:solidFill>
                  </a:tcPr>
                </a:tc>
                <a:extLst>
                  <a:ext uri="{0D108BD9-81ED-4DB2-BD59-A6C34878D82A}">
                    <a16:rowId xmlns:a16="http://schemas.microsoft.com/office/drawing/2014/main" val="10001"/>
                  </a:ext>
                </a:extLst>
              </a:tr>
              <a:tr h="210312">
                <a:tc>
                  <a:txBody>
                    <a:bodyPr/>
                    <a:lstStyle/>
                    <a:p>
                      <a:pPr algn="l"/>
                      <a:r>
                        <a:rPr sz="880" b="0">
                          <a:solidFill>
                            <a:srgbClr val="17150F"/>
                          </a:solidFill>
                          <a:latin typeface="Arial"/>
                        </a:rPr>
                        <a:t>Merma parcial</a:t>
                      </a:r>
                    </a:p>
                  </a:txBody>
                  <a:tcPr marL="82296" marR="82296" anchor="ctr">
                    <a:solidFill>
                      <a:srgbClr val="FFFFFF"/>
                    </a:solidFill>
                  </a:tcPr>
                </a:tc>
                <a:tc>
                  <a:txBody>
                    <a:bodyPr/>
                    <a:lstStyle/>
                    <a:p>
                      <a:pPr algn="r"/>
                      <a:r>
                        <a:rPr sz="880" b="0">
                          <a:solidFill>
                            <a:srgbClr val="555045"/>
                          </a:solidFill>
                          <a:latin typeface="Arial"/>
                        </a:rPr>
                        <a:t>0,78</a:t>
                      </a:r>
                    </a:p>
                  </a:txBody>
                  <a:tcPr marL="82296" marR="82296" anchor="ctr">
                    <a:solidFill>
                      <a:srgbClr val="FFFFFF"/>
                    </a:solidFill>
                  </a:tcPr>
                </a:tc>
                <a:tc>
                  <a:txBody>
                    <a:bodyPr/>
                    <a:lstStyle/>
                    <a:p>
                      <a:pPr algn="r"/>
                      <a:r>
                        <a:rPr sz="880" b="0">
                          <a:solidFill>
                            <a:srgbClr val="555045"/>
                          </a:solidFill>
                          <a:latin typeface="Arial"/>
                        </a:rPr>
                        <a:t>13.248</a:t>
                      </a:r>
                    </a:p>
                  </a:txBody>
                  <a:tcPr marL="82296" marR="82296" anchor="ctr">
                    <a:solidFill>
                      <a:srgbClr val="FFFFFF"/>
                    </a:solidFill>
                  </a:tcPr>
                </a:tc>
                <a:extLst>
                  <a:ext uri="{0D108BD9-81ED-4DB2-BD59-A6C34878D82A}">
                    <a16:rowId xmlns:a16="http://schemas.microsoft.com/office/drawing/2014/main" val="10002"/>
                  </a:ext>
                </a:extLst>
              </a:tr>
              <a:tr h="210312">
                <a:tc>
                  <a:txBody>
                    <a:bodyPr/>
                    <a:lstStyle/>
                    <a:p>
                      <a:pPr algn="l"/>
                      <a:r>
                        <a:rPr sz="880" b="1">
                          <a:solidFill>
                            <a:srgbClr val="17150F"/>
                          </a:solidFill>
                          <a:latin typeface="Arial"/>
                        </a:rPr>
                        <a:t>Con merma</a:t>
                      </a:r>
                    </a:p>
                  </a:txBody>
                  <a:tcPr marL="82296" marR="82296" anchor="ctr">
                    <a:solidFill>
                      <a:srgbClr val="F7EEEF"/>
                    </a:solidFill>
                  </a:tcPr>
                </a:tc>
                <a:tc>
                  <a:txBody>
                    <a:bodyPr/>
                    <a:lstStyle/>
                    <a:p>
                      <a:pPr algn="r"/>
                      <a:r>
                        <a:rPr sz="880" b="1">
                          <a:solidFill>
                            <a:srgbClr val="17150F"/>
                          </a:solidFill>
                          <a:latin typeface="Arial"/>
                        </a:rPr>
                        <a:t>0,64</a:t>
                      </a:r>
                    </a:p>
                  </a:txBody>
                  <a:tcPr marL="82296" marR="82296" anchor="ctr">
                    <a:solidFill>
                      <a:srgbClr val="F7EEEF"/>
                    </a:solidFill>
                  </a:tcPr>
                </a:tc>
                <a:tc>
                  <a:txBody>
                    <a:bodyPr/>
                    <a:lstStyle/>
                    <a:p>
                      <a:pPr algn="r"/>
                      <a:r>
                        <a:rPr sz="880" b="1">
                          <a:solidFill>
                            <a:srgbClr val="17150F"/>
                          </a:solidFill>
                          <a:latin typeface="Arial"/>
                        </a:rPr>
                        <a:t>12.290</a:t>
                      </a:r>
                    </a:p>
                  </a:txBody>
                  <a:tcPr marL="82296" marR="82296" anchor="ctr">
                    <a:solidFill>
                      <a:srgbClr val="F7EEEF"/>
                    </a:solidFill>
                  </a:tcPr>
                </a:tc>
                <a:extLst>
                  <a:ext uri="{0D108BD9-81ED-4DB2-BD59-A6C34878D82A}">
                    <a16:rowId xmlns:a16="http://schemas.microsoft.com/office/drawing/2014/main" val="10003"/>
                  </a:ext>
                </a:extLst>
              </a:tr>
            </a:tbl>
          </a:graphicData>
        </a:graphic>
      </p:graphicFrame>
      <p:sp>
        <p:nvSpPr>
          <p:cNvPr id="15" name="TextBox 14"/>
          <p:cNvSpPr txBox="1"/>
          <p:nvPr/>
        </p:nvSpPr>
        <p:spPr>
          <a:xfrm>
            <a:off x="6255867" y="4950052"/>
            <a:ext cx="5387187" cy="1267764"/>
          </a:xfrm>
          <a:prstGeom prst="rect">
            <a:avLst/>
          </a:prstGeom>
          <a:noFill/>
        </p:spPr>
        <p:txBody>
          <a:bodyPr wrap="square" lIns="0" tIns="0" rIns="0" bIns="0">
            <a:spAutoFit/>
          </a:bodyPr>
          <a:lstStyle/>
          <a:p>
            <a:pPr>
              <a:lnSpc>
                <a:spcPct val="118000"/>
              </a:lnSpc>
              <a:spcAft>
                <a:spcPts val="300"/>
              </a:spcAft>
            </a:pPr>
            <a:r>
              <a:rPr sz="940" b="1">
                <a:solidFill>
                  <a:srgbClr val="17150F"/>
                </a:solidFill>
                <a:latin typeface="Arial"/>
              </a:rPr>
              <a:t>Son 4.381 unidades semanales de diferencia por una decisión que no es técnica.</a:t>
            </a:r>
          </a:p>
          <a:p>
            <a:pPr>
              <a:lnSpc>
                <a:spcPct val="118000"/>
              </a:lnSpc>
              <a:spcAft>
                <a:spcPts val="300"/>
              </a:spcAft>
            </a:pPr>
            <a:r>
              <a:rPr sz="940" b="1">
                <a:solidFill>
                  <a:srgbClr val="8C2F39"/>
                </a:solidFill>
                <a:latin typeface="Arial"/>
              </a:rPr>
              <a:t>Una validación externa que salió bien</a:t>
            </a:r>
          </a:p>
          <a:p>
            <a:pPr>
              <a:lnSpc>
                <a:spcPct val="118000"/>
              </a:lnSpc>
              <a:spcAft>
                <a:spcPts val="300"/>
              </a:spcAft>
            </a:pPr>
            <a:r>
              <a:rPr sz="940" b="0">
                <a:solidFill>
                  <a:srgbClr val="555045"/>
                </a:solidFill>
                <a:latin typeface="Arial"/>
              </a:rPr>
              <a:t>El fichero de tendencias dice si cada serie sube o baja, y ese dato nunca entra al modelo. Agrupando por él la variación que predice el modelo, el orden es el correcto: las que suben son las únicas con variación positiva y las que bajan las más negativas.</a:t>
            </a:r>
          </a:p>
          <a:p>
            <a:pPr>
              <a:lnSpc>
                <a:spcPct val="118000"/>
              </a:lnSpc>
              <a:spcAft>
                <a:spcPts val="300"/>
              </a:spcAft>
            </a:pPr>
            <a:r>
              <a:rPr sz="940" b="0">
                <a:solidFill>
                  <a:srgbClr val="555045"/>
                </a:solidFill>
                <a:latin typeface="Arial"/>
              </a:rPr>
              <a:t>Confirma que no hay error de signo. Las magnitudes son diminutas, que es lo esperable con autocorrelación cercana a cero.</a:t>
            </a:r>
          </a:p>
        </p:txBody>
      </p:sp>
      <p:sp>
        <p:nvSpPr>
          <p:cNvPr id="16" name="Rectangle 15"/>
          <p:cNvSpPr/>
          <p:nvPr/>
        </p:nvSpPr>
        <p:spPr>
          <a:xfrm>
            <a:off x="6095847" y="548640"/>
            <a:ext cx="9525" cy="5577840"/>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Paso 16 · La entrega</a:t>
            </a:r>
          </a:p>
        </p:txBody>
      </p:sp>
      <p:sp>
        <p:nvSpPr>
          <p:cNvPr id="19" name="TextBox 18"/>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PRÓXIMOS PASOS · FRENTE 1</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Convertir el ahorro simulado en ahorro comprobado</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La simulación supone que pedir distinto no cambia lo que se vende. En tienda sí lo cambia.</a:t>
            </a:r>
          </a:p>
        </p:txBody>
      </p:sp>
      <p:graphicFrame>
        <p:nvGraphicFramePr>
          <p:cNvPr id="7" name="Table 6"/>
          <p:cNvGraphicFramePr>
            <a:graphicFrameLocks noGrp="1"/>
          </p:cNvGraphicFramePr>
          <p:nvPr/>
        </p:nvGraphicFramePr>
        <p:xfrm>
          <a:off x="777240" y="1990979"/>
          <a:ext cx="10637214" cy="1883664"/>
        </p:xfrm>
        <a:graphic>
          <a:graphicData uri="http://schemas.openxmlformats.org/drawingml/2006/table">
            <a:tbl>
              <a:tblPr bandRow="1">
                <a:tableStyleId>{5C22544A-7EE6-4342-B048-85BDC9FD1C3A}</a:tableStyleId>
              </a:tblPr>
              <a:tblGrid>
                <a:gridCol w="2340187">
                  <a:extLst>
                    <a:ext uri="{9D8B030D-6E8A-4147-A177-3AD203B41FA5}">
                      <a16:colId xmlns:a16="http://schemas.microsoft.com/office/drawing/2014/main" val="20000"/>
                    </a:ext>
                  </a:extLst>
                </a:gridCol>
                <a:gridCol w="8297027">
                  <a:extLst>
                    <a:ext uri="{9D8B030D-6E8A-4147-A177-3AD203B41FA5}">
                      <a16:colId xmlns:a16="http://schemas.microsoft.com/office/drawing/2014/main" val="20001"/>
                    </a:ext>
                  </a:extLst>
                </a:gridCol>
              </a:tblGrid>
              <a:tr h="347472">
                <a:tc>
                  <a:txBody>
                    <a:bodyPr/>
                    <a:lstStyle/>
                    <a:p>
                      <a:pPr algn="l"/>
                      <a:r>
                        <a:rPr sz="1100" b="1">
                          <a:solidFill>
                            <a:srgbClr val="8B8478"/>
                          </a:solidFill>
                          <a:latin typeface="Arial"/>
                        </a:rPr>
                        <a:t>Elemento</a:t>
                      </a:r>
                    </a:p>
                  </a:txBody>
                  <a:tcPr marL="82296" marR="82296" anchor="ctr">
                    <a:solidFill>
                      <a:srgbClr val="F4F2ED"/>
                    </a:solidFill>
                  </a:tcPr>
                </a:tc>
                <a:tc>
                  <a:txBody>
                    <a:bodyPr/>
                    <a:lstStyle/>
                    <a:p>
                      <a:pPr algn="r"/>
                      <a:r>
                        <a:rPr sz="1100" b="1">
                          <a:solidFill>
                            <a:srgbClr val="8B8478"/>
                          </a:solidFill>
                          <a:latin typeface="Arial"/>
                        </a:rPr>
                        <a:t>Propuesta</a:t>
                      </a:r>
                    </a:p>
                  </a:txBody>
                  <a:tcPr marL="82296" marR="82296" anchor="ctr">
                    <a:solidFill>
                      <a:srgbClr val="F4F2ED"/>
                    </a:solidFill>
                  </a:tcPr>
                </a:tc>
                <a:extLst>
                  <a:ext uri="{0D108BD9-81ED-4DB2-BD59-A6C34878D82A}">
                    <a16:rowId xmlns:a16="http://schemas.microsoft.com/office/drawing/2014/main" val="10000"/>
                  </a:ext>
                </a:extLst>
              </a:tr>
              <a:tr h="384048">
                <a:tc>
                  <a:txBody>
                    <a:bodyPr/>
                    <a:lstStyle/>
                    <a:p>
                      <a:pPr algn="l"/>
                      <a:r>
                        <a:rPr sz="1250" b="0">
                          <a:solidFill>
                            <a:srgbClr val="17150F"/>
                          </a:solidFill>
                          <a:latin typeface="Arial"/>
                        </a:rPr>
                        <a:t>Alcance</a:t>
                      </a:r>
                    </a:p>
                  </a:txBody>
                  <a:tcPr marL="82296" marR="82296" anchor="ctr">
                    <a:solidFill>
                      <a:srgbClr val="FFFFFF"/>
                    </a:solidFill>
                  </a:tcPr>
                </a:tc>
                <a:tc>
                  <a:txBody>
                    <a:bodyPr/>
                    <a:lstStyle/>
                    <a:p>
                      <a:pPr algn="r"/>
                      <a:r>
                        <a:rPr sz="1250" b="0">
                          <a:solidFill>
                            <a:srgbClr val="555045"/>
                          </a:solidFill>
                          <a:latin typeface="Arial"/>
                        </a:rPr>
                        <a:t>Seis u ocho tiendas emparejadas por volumen, durante seis u ocho semanas</a:t>
                      </a:r>
                    </a:p>
                  </a:txBody>
                  <a:tcPr marL="82296" marR="82296" anchor="ctr">
                    <a:solidFill>
                      <a:srgbClr val="FFFFFF"/>
                    </a:solidFill>
                  </a:tcPr>
                </a:tc>
                <a:extLst>
                  <a:ext uri="{0D108BD9-81ED-4DB2-BD59-A6C34878D82A}">
                    <a16:rowId xmlns:a16="http://schemas.microsoft.com/office/drawing/2014/main" val="10001"/>
                  </a:ext>
                </a:extLst>
              </a:tr>
              <a:tr h="384048">
                <a:tc>
                  <a:txBody>
                    <a:bodyPr/>
                    <a:lstStyle/>
                    <a:p>
                      <a:pPr algn="l"/>
                      <a:r>
                        <a:rPr sz="1250" b="0">
                          <a:solidFill>
                            <a:srgbClr val="17150F"/>
                          </a:solidFill>
                          <a:latin typeface="Arial"/>
                        </a:rPr>
                        <a:t>Diseño</a:t>
                      </a:r>
                    </a:p>
                  </a:txBody>
                  <a:tcPr marL="82296" marR="82296" anchor="ctr">
                    <a:solidFill>
                      <a:srgbClr val="FFFFFF"/>
                    </a:solidFill>
                  </a:tcPr>
                </a:tc>
                <a:tc>
                  <a:txBody>
                    <a:bodyPr/>
                    <a:lstStyle/>
                    <a:p>
                      <a:pPr algn="r"/>
                      <a:r>
                        <a:rPr sz="1250" b="0">
                          <a:solidFill>
                            <a:srgbClr val="555045"/>
                          </a:solidFill>
                          <a:latin typeface="Arial"/>
                        </a:rPr>
                        <a:t>La mitad aplica el pedido recomendado, la otra mitad sigue con el método actual</a:t>
                      </a:r>
                    </a:p>
                  </a:txBody>
                  <a:tcPr marL="82296" marR="82296" anchor="ctr">
                    <a:solidFill>
                      <a:srgbClr val="FFFFFF"/>
                    </a:solidFill>
                  </a:tcPr>
                </a:tc>
                <a:extLst>
                  <a:ext uri="{0D108BD9-81ED-4DB2-BD59-A6C34878D82A}">
                    <a16:rowId xmlns:a16="http://schemas.microsoft.com/office/drawing/2014/main" val="10002"/>
                  </a:ext>
                </a:extLst>
              </a:tr>
              <a:tr h="384048">
                <a:tc>
                  <a:txBody>
                    <a:bodyPr/>
                    <a:lstStyle/>
                    <a:p>
                      <a:pPr algn="l"/>
                      <a:r>
                        <a:rPr sz="1250" b="0">
                          <a:solidFill>
                            <a:srgbClr val="17150F"/>
                          </a:solidFill>
                          <a:latin typeface="Arial"/>
                        </a:rPr>
                        <a:t>Qué se mide</a:t>
                      </a:r>
                    </a:p>
                  </a:txBody>
                  <a:tcPr marL="82296" marR="82296" anchor="ctr">
                    <a:solidFill>
                      <a:srgbClr val="FFFFFF"/>
                    </a:solidFill>
                  </a:tcPr>
                </a:tc>
                <a:tc>
                  <a:txBody>
                    <a:bodyPr/>
                    <a:lstStyle/>
                    <a:p>
                      <a:pPr algn="r"/>
                      <a:r>
                        <a:rPr sz="1250" b="0">
                          <a:solidFill>
                            <a:srgbClr val="555045"/>
                          </a:solidFill>
                          <a:latin typeface="Arial"/>
                        </a:rPr>
                        <a:t>Unidades vendidas, sobrantes al cierre y roturas de stock, por tienda y producto</a:t>
                      </a:r>
                    </a:p>
                  </a:txBody>
                  <a:tcPr marL="82296" marR="82296" anchor="ctr">
                    <a:solidFill>
                      <a:srgbClr val="FFFFFF"/>
                    </a:solidFill>
                  </a:tcPr>
                </a:tc>
                <a:extLst>
                  <a:ext uri="{0D108BD9-81ED-4DB2-BD59-A6C34878D82A}">
                    <a16:rowId xmlns:a16="http://schemas.microsoft.com/office/drawing/2014/main" val="10003"/>
                  </a:ext>
                </a:extLst>
              </a:tr>
              <a:tr h="384048">
                <a:tc>
                  <a:txBody>
                    <a:bodyPr/>
                    <a:lstStyle/>
                    <a:p>
                      <a:pPr algn="l"/>
                      <a:r>
                        <a:rPr sz="1250" b="0">
                          <a:solidFill>
                            <a:srgbClr val="17150F"/>
                          </a:solidFill>
                          <a:latin typeface="Arial"/>
                        </a:rPr>
                        <a:t>Control adicional</a:t>
                      </a:r>
                    </a:p>
                  </a:txBody>
                  <a:tcPr marL="82296" marR="82296" anchor="ctr">
                    <a:solidFill>
                      <a:srgbClr val="FFFFFF"/>
                    </a:solidFill>
                  </a:tcPr>
                </a:tc>
                <a:tc>
                  <a:txBody>
                    <a:bodyPr/>
                    <a:lstStyle/>
                    <a:p>
                      <a:pPr algn="r"/>
                      <a:r>
                        <a:rPr sz="1250" b="0">
                          <a:solidFill>
                            <a:srgbClr val="555045"/>
                          </a:solidFill>
                          <a:latin typeface="Arial"/>
                        </a:rPr>
                        <a:t>Cobertura observada frente al nivel prometido, para validar la calibración</a:t>
                      </a:r>
                    </a:p>
                  </a:txBody>
                  <a:tcPr marL="82296" marR="82296" anchor="ctr">
                    <a:solidFill>
                      <a:srgbClr val="FFFFFF"/>
                    </a:solidFill>
                  </a:tcPr>
                </a:tc>
                <a:extLst>
                  <a:ext uri="{0D108BD9-81ED-4DB2-BD59-A6C34878D82A}">
                    <a16:rowId xmlns:a16="http://schemas.microsoft.com/office/drawing/2014/main" val="10004"/>
                  </a:ext>
                </a:extLst>
              </a:tr>
            </a:tbl>
          </a:graphicData>
        </a:graphic>
      </p:graphicFrame>
      <p:sp>
        <p:nvSpPr>
          <p:cNvPr id="8" name="Rectangle 7"/>
          <p:cNvSpPr/>
          <p:nvPr/>
        </p:nvSpPr>
        <p:spPr>
          <a:xfrm>
            <a:off x="777240" y="4304411"/>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78408" y="4203827"/>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Separar por tienda y no por semana.</a:t>
            </a:r>
            <a:r>
              <a:rPr sz="1300" b="0">
                <a:solidFill>
                  <a:srgbClr val="555045"/>
                </a:solidFill>
                <a:latin typeface="Arial"/>
              </a:rPr>
              <a:t> Alternar semanas dentro de la misma tienda contamina el resultado, porque el inventario que sobra de una semana entra en la siguiente.</a:t>
            </a:r>
          </a:p>
        </p:txBody>
      </p:sp>
      <p:sp>
        <p:nvSpPr>
          <p:cNvPr id="10" name="Rectangle 9"/>
          <p:cNvSpPr/>
          <p:nvPr/>
        </p:nvSpPr>
        <p:spPr>
          <a:xfrm>
            <a:off x="777240" y="4911471"/>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78408" y="4810887"/>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Tres cosas hay que cerrar antes de arrancar</a:t>
            </a:r>
            <a:r>
              <a:rPr sz="1300" b="0">
                <a:solidFill>
                  <a:srgbClr val="555045"/>
                </a:solidFill>
                <a:latin typeface="Arial"/>
              </a:rPr>
              <a:t>, todas de negocio: el porcentaje real de merma, el inventario con fecha y las restricciones de lote y redondeo.</a:t>
            </a:r>
          </a:p>
        </p:txBody>
      </p:sp>
      <p:sp>
        <p:nvSpPr>
          <p:cNvPr id="12" name="Rectangle 11"/>
          <p:cNvSpPr/>
          <p:nvPr/>
        </p:nvSpPr>
        <p:spPr>
          <a:xfrm>
            <a:off x="777240" y="5518531"/>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78408" y="5417947"/>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El criterio de salida se fija antes de empezar.</a:t>
            </a:r>
            <a:r>
              <a:rPr sz="1300" b="0">
                <a:solidFill>
                  <a:srgbClr val="555045"/>
                </a:solidFill>
                <a:latin typeface="Arial"/>
              </a:rPr>
              <a:t> Decidirlo después de ver los números es la forma más común de convencerse de un resultado que no está.</a:t>
            </a:r>
          </a:p>
        </p:txBody>
      </p:sp>
      <p:sp>
        <p:nvSpPr>
          <p:cNvPr id="14" name="Rectangle 13"/>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Próximos pasos · Piloto</a:t>
            </a:r>
          </a:p>
        </p:txBody>
      </p:sp>
      <p:sp>
        <p:nvSpPr>
          <p:cNvPr id="16" name="TextBox 15"/>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475488"/>
            <a:ext cx="10637215" cy="237744"/>
          </a:xfrm>
          <a:prstGeom prst="rect">
            <a:avLst/>
          </a:prstGeom>
          <a:noFill/>
        </p:spPr>
        <p:txBody>
          <a:bodyPr wrap="square" lIns="0" tIns="0" rIns="0" bIns="0">
            <a:spAutoFit/>
          </a:bodyPr>
          <a:lstStyle/>
          <a:p>
            <a:pPr algn="l">
              <a:lnSpc>
                <a:spcPct val="122000"/>
              </a:lnSpc>
              <a:spcBef>
                <a:spcPts val="0"/>
              </a:spcBef>
              <a:spcAft>
                <a:spcPts val="0"/>
              </a:spcAft>
            </a:pPr>
            <a:r>
              <a:rPr sz="1050" b="1">
                <a:solidFill>
                  <a:srgbClr val="8C2F39"/>
                </a:solidFill>
                <a:latin typeface="Arial"/>
              </a:rPr>
              <a:t>PRÓXIMOS PASOS · FRENTE 2</a:t>
            </a:r>
          </a:p>
        </p:txBody>
      </p:sp>
      <p:sp>
        <p:nvSpPr>
          <p:cNvPr id="4" name="Rectangle 3"/>
          <p:cNvSpPr/>
          <p:nvPr/>
        </p:nvSpPr>
        <p:spPr>
          <a:xfrm>
            <a:off x="777240" y="768096"/>
            <a:ext cx="502920" cy="3048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77240" y="914400"/>
            <a:ext cx="10637215" cy="445770"/>
          </a:xfrm>
          <a:prstGeom prst="rect">
            <a:avLst/>
          </a:prstGeom>
          <a:noFill/>
        </p:spPr>
        <p:txBody>
          <a:bodyPr wrap="square" lIns="0" tIns="0" rIns="0" bIns="0">
            <a:spAutoFit/>
          </a:bodyPr>
          <a:lstStyle/>
          <a:p>
            <a:pPr algn="l">
              <a:lnSpc>
                <a:spcPct val="106000"/>
              </a:lnSpc>
              <a:spcBef>
                <a:spcPts val="0"/>
              </a:spcBef>
              <a:spcAft>
                <a:spcPts val="0"/>
              </a:spcAft>
            </a:pPr>
            <a:r>
              <a:rPr sz="2700" b="1">
                <a:solidFill>
                  <a:srgbClr val="17150F"/>
                </a:solidFill>
                <a:latin typeface="Arial"/>
              </a:rPr>
              <a:t>En GCP solo cambia de dónde se leen los datos</a:t>
            </a:r>
          </a:p>
        </p:txBody>
      </p:sp>
      <p:sp>
        <p:nvSpPr>
          <p:cNvPr id="6" name="TextBox 5"/>
          <p:cNvSpPr txBox="1"/>
          <p:nvPr/>
        </p:nvSpPr>
        <p:spPr>
          <a:xfrm>
            <a:off x="777240" y="1506474"/>
            <a:ext cx="9966960" cy="283337"/>
          </a:xfrm>
          <a:prstGeom prst="rect">
            <a:avLst/>
          </a:prstGeom>
          <a:noFill/>
        </p:spPr>
        <p:txBody>
          <a:bodyPr wrap="square" lIns="0" tIns="0" rIns="0" bIns="0">
            <a:spAutoFit/>
          </a:bodyPr>
          <a:lstStyle/>
          <a:p>
            <a:pPr algn="l">
              <a:lnSpc>
                <a:spcPct val="130000"/>
              </a:lnSpc>
              <a:spcBef>
                <a:spcPts val="0"/>
              </a:spcBef>
              <a:spcAft>
                <a:spcPts val="0"/>
              </a:spcAft>
            </a:pPr>
            <a:r>
              <a:rPr sz="1450" b="0">
                <a:solidFill>
                  <a:srgbClr val="555045"/>
                </a:solidFill>
                <a:latin typeface="Arial"/>
              </a:rPr>
              <a:t>La solución está por capas: modelado y decisión no saben de dónde vienen los datos, así que no se tocan.</a:t>
            </a:r>
          </a:p>
        </p:txBody>
      </p:sp>
      <p:sp>
        <p:nvSpPr>
          <p:cNvPr id="7" name="Rectangle 6"/>
          <p:cNvSpPr/>
          <p:nvPr/>
        </p:nvSpPr>
        <p:spPr>
          <a:xfrm>
            <a:off x="777240"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50392"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Punto de venta</a:t>
            </a:r>
          </a:p>
        </p:txBody>
      </p:sp>
      <p:sp>
        <p:nvSpPr>
          <p:cNvPr id="9" name="TextBox 8"/>
          <p:cNvSpPr txBox="1"/>
          <p:nvPr/>
        </p:nvSpPr>
        <p:spPr>
          <a:xfrm>
            <a:off x="2151844" y="2146427"/>
            <a:ext cx="169164" cy="274320"/>
          </a:xfrm>
          <a:prstGeom prst="rect">
            <a:avLst/>
          </a:prstGeom>
          <a:noFill/>
        </p:spPr>
        <p:txBody>
          <a:bodyPr wrap="square" lIns="0" tIns="0" rIns="0" bIns="0">
            <a:spAutoFit/>
          </a:bodyPr>
          <a:lstStyle/>
          <a:p>
            <a:pPr algn="ctr">
              <a:lnSpc>
                <a:spcPct val="122000"/>
              </a:lnSpc>
              <a:spcBef>
                <a:spcPts val="0"/>
              </a:spcBef>
              <a:spcAft>
                <a:spcPts val="0"/>
              </a:spcAft>
            </a:pPr>
            <a:r>
              <a:rPr sz="1500" b="1">
                <a:solidFill>
                  <a:srgbClr val="8C2F39"/>
                </a:solidFill>
                <a:latin typeface="Arial"/>
              </a:rPr>
              <a:t>›</a:t>
            </a:r>
          </a:p>
        </p:txBody>
      </p:sp>
      <p:sp>
        <p:nvSpPr>
          <p:cNvPr id="10" name="Rectangle 9"/>
          <p:cNvSpPr/>
          <p:nvPr/>
        </p:nvSpPr>
        <p:spPr>
          <a:xfrm>
            <a:off x="2321008"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394160"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Cloud Storage</a:t>
            </a:r>
          </a:p>
        </p:txBody>
      </p:sp>
      <p:sp>
        <p:nvSpPr>
          <p:cNvPr id="12" name="TextBox 11"/>
          <p:cNvSpPr txBox="1"/>
          <p:nvPr/>
        </p:nvSpPr>
        <p:spPr>
          <a:xfrm>
            <a:off x="3695612" y="2146427"/>
            <a:ext cx="169164" cy="274320"/>
          </a:xfrm>
          <a:prstGeom prst="rect">
            <a:avLst/>
          </a:prstGeom>
          <a:noFill/>
        </p:spPr>
        <p:txBody>
          <a:bodyPr wrap="square" lIns="0" tIns="0" rIns="0" bIns="0">
            <a:spAutoFit/>
          </a:bodyPr>
          <a:lstStyle/>
          <a:p>
            <a:pPr algn="ctr">
              <a:lnSpc>
                <a:spcPct val="122000"/>
              </a:lnSpc>
              <a:spcBef>
                <a:spcPts val="0"/>
              </a:spcBef>
              <a:spcAft>
                <a:spcPts val="0"/>
              </a:spcAft>
            </a:pPr>
            <a:r>
              <a:rPr sz="1500" b="1">
                <a:solidFill>
                  <a:srgbClr val="8C2F39"/>
                </a:solidFill>
                <a:latin typeface="Arial"/>
              </a:rPr>
              <a:t>›</a:t>
            </a:r>
          </a:p>
        </p:txBody>
      </p:sp>
      <p:sp>
        <p:nvSpPr>
          <p:cNvPr id="13" name="Rectangle 12"/>
          <p:cNvSpPr/>
          <p:nvPr/>
        </p:nvSpPr>
        <p:spPr>
          <a:xfrm>
            <a:off x="3864776"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937928"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BigQuery</a:t>
            </a:r>
          </a:p>
        </p:txBody>
      </p:sp>
      <p:sp>
        <p:nvSpPr>
          <p:cNvPr id="15" name="TextBox 14"/>
          <p:cNvSpPr txBox="1"/>
          <p:nvPr/>
        </p:nvSpPr>
        <p:spPr>
          <a:xfrm>
            <a:off x="5239380" y="2146427"/>
            <a:ext cx="169164" cy="274320"/>
          </a:xfrm>
          <a:prstGeom prst="rect">
            <a:avLst/>
          </a:prstGeom>
          <a:noFill/>
        </p:spPr>
        <p:txBody>
          <a:bodyPr wrap="square" lIns="0" tIns="0" rIns="0" bIns="0">
            <a:spAutoFit/>
          </a:bodyPr>
          <a:lstStyle/>
          <a:p>
            <a:pPr algn="ctr">
              <a:lnSpc>
                <a:spcPct val="122000"/>
              </a:lnSpc>
              <a:spcBef>
                <a:spcPts val="0"/>
              </a:spcBef>
              <a:spcAft>
                <a:spcPts val="0"/>
              </a:spcAft>
            </a:pPr>
            <a:r>
              <a:rPr sz="1500" b="1">
                <a:solidFill>
                  <a:srgbClr val="8C2F39"/>
                </a:solidFill>
                <a:latin typeface="Arial"/>
              </a:rPr>
              <a:t>›</a:t>
            </a:r>
          </a:p>
        </p:txBody>
      </p:sp>
      <p:sp>
        <p:nvSpPr>
          <p:cNvPr id="16" name="Rectangle 15"/>
          <p:cNvSpPr/>
          <p:nvPr/>
        </p:nvSpPr>
        <p:spPr>
          <a:xfrm>
            <a:off x="5408544"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1696"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Cloud Scheduler</a:t>
            </a:r>
          </a:p>
        </p:txBody>
      </p:sp>
      <p:sp>
        <p:nvSpPr>
          <p:cNvPr id="18" name="TextBox 17"/>
          <p:cNvSpPr txBox="1"/>
          <p:nvPr/>
        </p:nvSpPr>
        <p:spPr>
          <a:xfrm>
            <a:off x="6783148" y="2146427"/>
            <a:ext cx="169164" cy="274320"/>
          </a:xfrm>
          <a:prstGeom prst="rect">
            <a:avLst/>
          </a:prstGeom>
          <a:noFill/>
        </p:spPr>
        <p:txBody>
          <a:bodyPr wrap="square" lIns="0" tIns="0" rIns="0" bIns="0">
            <a:spAutoFit/>
          </a:bodyPr>
          <a:lstStyle/>
          <a:p>
            <a:pPr algn="ctr">
              <a:lnSpc>
                <a:spcPct val="122000"/>
              </a:lnSpc>
              <a:spcBef>
                <a:spcPts val="0"/>
              </a:spcBef>
              <a:spcAft>
                <a:spcPts val="0"/>
              </a:spcAft>
            </a:pPr>
            <a:r>
              <a:rPr sz="1500" b="1">
                <a:solidFill>
                  <a:srgbClr val="8C2F39"/>
                </a:solidFill>
                <a:latin typeface="Arial"/>
              </a:rPr>
              <a:t>›</a:t>
            </a:r>
          </a:p>
        </p:txBody>
      </p:sp>
      <p:sp>
        <p:nvSpPr>
          <p:cNvPr id="19" name="Rectangle 18"/>
          <p:cNvSpPr/>
          <p:nvPr/>
        </p:nvSpPr>
        <p:spPr>
          <a:xfrm>
            <a:off x="6952312"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25464"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Cloud Run Job</a:t>
            </a:r>
          </a:p>
        </p:txBody>
      </p:sp>
      <p:sp>
        <p:nvSpPr>
          <p:cNvPr id="21" name="TextBox 20"/>
          <p:cNvSpPr txBox="1"/>
          <p:nvPr/>
        </p:nvSpPr>
        <p:spPr>
          <a:xfrm>
            <a:off x="8326916" y="2146427"/>
            <a:ext cx="169164" cy="274320"/>
          </a:xfrm>
          <a:prstGeom prst="rect">
            <a:avLst/>
          </a:prstGeom>
          <a:noFill/>
        </p:spPr>
        <p:txBody>
          <a:bodyPr wrap="square" lIns="0" tIns="0" rIns="0" bIns="0">
            <a:spAutoFit/>
          </a:bodyPr>
          <a:lstStyle/>
          <a:p>
            <a:pPr algn="ctr">
              <a:lnSpc>
                <a:spcPct val="122000"/>
              </a:lnSpc>
              <a:spcBef>
                <a:spcPts val="0"/>
              </a:spcBef>
              <a:spcAft>
                <a:spcPts val="0"/>
              </a:spcAft>
            </a:pPr>
            <a:r>
              <a:rPr sz="1500" b="1">
                <a:solidFill>
                  <a:srgbClr val="8C2F39"/>
                </a:solidFill>
                <a:latin typeface="Arial"/>
              </a:rPr>
              <a:t>›</a:t>
            </a:r>
          </a:p>
        </p:txBody>
      </p:sp>
      <p:sp>
        <p:nvSpPr>
          <p:cNvPr id="22" name="Rectangle 21"/>
          <p:cNvSpPr/>
          <p:nvPr/>
        </p:nvSpPr>
        <p:spPr>
          <a:xfrm>
            <a:off x="8496080"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569232"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Tabla de pedidos</a:t>
            </a:r>
          </a:p>
        </p:txBody>
      </p:sp>
      <p:sp>
        <p:nvSpPr>
          <p:cNvPr id="24" name="TextBox 23"/>
          <p:cNvSpPr txBox="1"/>
          <p:nvPr/>
        </p:nvSpPr>
        <p:spPr>
          <a:xfrm>
            <a:off x="9870684" y="2146427"/>
            <a:ext cx="169164" cy="274320"/>
          </a:xfrm>
          <a:prstGeom prst="rect">
            <a:avLst/>
          </a:prstGeom>
          <a:noFill/>
        </p:spPr>
        <p:txBody>
          <a:bodyPr wrap="square" lIns="0" tIns="0" rIns="0" bIns="0">
            <a:spAutoFit/>
          </a:bodyPr>
          <a:lstStyle/>
          <a:p>
            <a:pPr algn="ctr">
              <a:lnSpc>
                <a:spcPct val="122000"/>
              </a:lnSpc>
              <a:spcBef>
                <a:spcPts val="0"/>
              </a:spcBef>
              <a:spcAft>
                <a:spcPts val="0"/>
              </a:spcAft>
            </a:pPr>
            <a:r>
              <a:rPr sz="1500" b="1">
                <a:solidFill>
                  <a:srgbClr val="8C2F39"/>
                </a:solidFill>
                <a:latin typeface="Arial"/>
              </a:rPr>
              <a:t>›</a:t>
            </a:r>
          </a:p>
        </p:txBody>
      </p:sp>
      <p:sp>
        <p:nvSpPr>
          <p:cNvPr id="25" name="Rectangle 24"/>
          <p:cNvSpPr/>
          <p:nvPr/>
        </p:nvSpPr>
        <p:spPr>
          <a:xfrm>
            <a:off x="10039848" y="1990979"/>
            <a:ext cx="1374604" cy="566928"/>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113000" y="2109851"/>
            <a:ext cx="1228300" cy="365760"/>
          </a:xfrm>
          <a:prstGeom prst="rect">
            <a:avLst/>
          </a:prstGeom>
          <a:noFill/>
        </p:spPr>
        <p:txBody>
          <a:bodyPr wrap="square" lIns="0" tIns="0" rIns="0" bIns="0">
            <a:spAutoFit/>
          </a:bodyPr>
          <a:lstStyle/>
          <a:p>
            <a:pPr algn="ctr">
              <a:lnSpc>
                <a:spcPct val="115000"/>
              </a:lnSpc>
              <a:spcBef>
                <a:spcPts val="0"/>
              </a:spcBef>
              <a:spcAft>
                <a:spcPts val="0"/>
              </a:spcAft>
            </a:pPr>
            <a:r>
              <a:rPr sz="1100" b="1">
                <a:solidFill>
                  <a:srgbClr val="17150F"/>
                </a:solidFill>
                <a:latin typeface="Arial"/>
              </a:rPr>
              <a:t>Looker Studio</a:t>
            </a:r>
          </a:p>
        </p:txBody>
      </p:sp>
      <p:sp>
        <p:nvSpPr>
          <p:cNvPr id="27" name="Rectangle 26"/>
          <p:cNvSpPr/>
          <p:nvPr/>
        </p:nvSpPr>
        <p:spPr>
          <a:xfrm>
            <a:off x="777240" y="305168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78408" y="2951099"/>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Ingesta.</a:t>
            </a:r>
            <a:r>
              <a:rPr sz="1300" b="0">
                <a:solidFill>
                  <a:srgbClr val="555045"/>
                </a:solidFill>
                <a:latin typeface="Arial"/>
              </a:rPr>
              <a:t> El export del punto de venta cae en un bucket por fecha. Un load job lo lleva a BigQuery validando el mismo esquema que ya declara el código. Una capa curada construye encima el panel semanal.</a:t>
            </a:r>
          </a:p>
        </p:txBody>
      </p:sp>
      <p:sp>
        <p:nvSpPr>
          <p:cNvPr id="29" name="Rectangle 28"/>
          <p:cNvSpPr/>
          <p:nvPr/>
        </p:nvSpPr>
        <p:spPr>
          <a:xfrm>
            <a:off x="777240" y="365874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8408" y="3558159"/>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Ejecución.</a:t>
            </a:r>
            <a:r>
              <a:rPr sz="1300" b="0">
                <a:solidFill>
                  <a:srgbClr val="555045"/>
                </a:solidFill>
                <a:latin typeface="Arial"/>
              </a:rPr>
              <a:t> Cloud Scheduler dispara una vez por semana tras el cierre. Para un lote de minutos, el sitio correcto es un Cloud Run Job y no una Cloud Function. La imagen queda versionada en Artifact Registry.</a:t>
            </a:r>
          </a:p>
        </p:txBody>
      </p:sp>
      <p:sp>
        <p:nvSpPr>
          <p:cNvPr id="31" name="Rectangle 30"/>
          <p:cNvSpPr/>
          <p:nvPr/>
        </p:nvSpPr>
        <p:spPr>
          <a:xfrm>
            <a:off x="777240" y="426580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78408" y="4165219"/>
            <a:ext cx="10436047" cy="479044"/>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Salidas.</a:t>
            </a:r>
            <a:r>
              <a:rPr sz="1300" b="0">
                <a:solidFill>
                  <a:srgbClr val="555045"/>
                </a:solidFill>
                <a:latin typeface="Arial"/>
              </a:rPr>
              <a:t> Los pedidos van a una tabla de BigQuery con identificador de ejecución y versión del modelo, para poder comparar lo que se pidió con lo que después se vendió.</a:t>
            </a:r>
          </a:p>
        </p:txBody>
      </p:sp>
      <p:sp>
        <p:nvSpPr>
          <p:cNvPr id="33" name="Rectangle 32"/>
          <p:cNvSpPr/>
          <p:nvPr/>
        </p:nvSpPr>
        <p:spPr>
          <a:xfrm>
            <a:off x="777240" y="4872863"/>
            <a:ext cx="63500" cy="635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78408" y="4772279"/>
            <a:ext cx="10436047" cy="700278"/>
          </a:xfrm>
          <a:prstGeom prst="rect">
            <a:avLst/>
          </a:prstGeom>
          <a:noFill/>
        </p:spPr>
        <p:txBody>
          <a:bodyPr wrap="square" lIns="0" tIns="0" rIns="0" bIns="0">
            <a:spAutoFit/>
          </a:bodyPr>
          <a:lstStyle/>
          <a:p>
            <a:pPr>
              <a:lnSpc>
                <a:spcPct val="124000"/>
              </a:lnSpc>
              <a:spcAft>
                <a:spcPts val="0"/>
              </a:spcAft>
            </a:pPr>
            <a:r>
              <a:rPr sz="1300" b="1">
                <a:solidFill>
                  <a:srgbClr val="17150F"/>
                </a:solidFill>
                <a:latin typeface="Arial"/>
              </a:rPr>
              <a:t>El informe en Looker Studio, tres vistas</a:t>
            </a:r>
            <a:r>
              <a:rPr sz="1300" b="0">
                <a:solidFill>
                  <a:srgbClr val="555045"/>
                </a:solidFill>
                <a:latin typeface="Arial"/>
              </a:rPr>
              <a:t>: el pedido de la semana filtrable por tienda, el servicio real frente al prometido, y el coste acumulado. El proceso ya devuelve código de error cuando una verificación falla, así que la alerta se conecta sin escribir nada nuevo.</a:t>
            </a:r>
          </a:p>
        </p:txBody>
      </p:sp>
      <p:sp>
        <p:nvSpPr>
          <p:cNvPr id="35" name="Rectangle 34"/>
          <p:cNvSpPr/>
          <p:nvPr/>
        </p:nvSpPr>
        <p:spPr>
          <a:xfrm>
            <a:off x="777240" y="6327648"/>
            <a:ext cx="10637215" cy="9525"/>
          </a:xfrm>
          <a:prstGeom prst="rect">
            <a:avLst/>
          </a:prstGeom>
          <a:solidFill>
            <a:srgbClr val="DCD8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7240" y="6428232"/>
            <a:ext cx="8686800" cy="274320"/>
          </a:xfrm>
          <a:prstGeom prst="rect">
            <a:avLst/>
          </a:prstGeom>
          <a:noFill/>
        </p:spPr>
        <p:txBody>
          <a:bodyPr wrap="square" lIns="0" tIns="0" rIns="0" bIns="0">
            <a:spAutoFit/>
          </a:bodyPr>
          <a:lstStyle/>
          <a:p>
            <a:pPr algn="l">
              <a:lnSpc>
                <a:spcPct val="122000"/>
              </a:lnSpc>
              <a:spcBef>
                <a:spcPts val="0"/>
              </a:spcBef>
              <a:spcAft>
                <a:spcPts val="0"/>
              </a:spcAft>
            </a:pPr>
            <a:r>
              <a:rPr sz="950" b="0">
                <a:solidFill>
                  <a:srgbClr val="8B8478"/>
                </a:solidFill>
                <a:latin typeface="Arial"/>
              </a:rPr>
              <a:t>Próximos pasos · Automatización</a:t>
            </a:r>
          </a:p>
        </p:txBody>
      </p:sp>
      <p:sp>
        <p:nvSpPr>
          <p:cNvPr id="37" name="TextBox 36"/>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2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14300" cy="6858000"/>
          </a:xfrm>
          <a:prstGeom prst="rect">
            <a:avLst/>
          </a:prstGeom>
          <a:solidFill>
            <a:srgbClr val="8C2F3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77240" y="822960"/>
            <a:ext cx="10058400" cy="274320"/>
          </a:xfrm>
          <a:prstGeom prst="rect">
            <a:avLst/>
          </a:prstGeom>
          <a:noFill/>
        </p:spPr>
        <p:txBody>
          <a:bodyPr wrap="square" lIns="0" tIns="0" rIns="0" bIns="0">
            <a:spAutoFit/>
          </a:bodyPr>
          <a:lstStyle/>
          <a:p>
            <a:pPr algn="l">
              <a:lnSpc>
                <a:spcPct val="122000"/>
              </a:lnSpc>
              <a:spcBef>
                <a:spcPts val="0"/>
              </a:spcBef>
              <a:spcAft>
                <a:spcPts val="0"/>
              </a:spcAft>
            </a:pPr>
            <a:r>
              <a:rPr sz="1200" b="1">
                <a:solidFill>
                  <a:srgbClr val="8C2F39"/>
                </a:solidFill>
                <a:latin typeface="Arial"/>
              </a:rPr>
              <a:t>PARA LLEVARSE</a:t>
            </a:r>
          </a:p>
        </p:txBody>
      </p:sp>
      <p:sp>
        <p:nvSpPr>
          <p:cNvPr id="5" name="TextBox 4"/>
          <p:cNvSpPr txBox="1"/>
          <p:nvPr/>
        </p:nvSpPr>
        <p:spPr>
          <a:xfrm>
            <a:off x="777240" y="1280160"/>
            <a:ext cx="10058400" cy="731520"/>
          </a:xfrm>
          <a:prstGeom prst="rect">
            <a:avLst/>
          </a:prstGeom>
          <a:noFill/>
        </p:spPr>
        <p:txBody>
          <a:bodyPr wrap="square" lIns="0" tIns="0" rIns="0" bIns="0">
            <a:spAutoFit/>
          </a:bodyPr>
          <a:lstStyle/>
          <a:p>
            <a:pPr algn="l">
              <a:lnSpc>
                <a:spcPct val="105000"/>
              </a:lnSpc>
              <a:spcBef>
                <a:spcPts val="0"/>
              </a:spcBef>
              <a:spcAft>
                <a:spcPts val="0"/>
              </a:spcAft>
            </a:pPr>
            <a:r>
              <a:rPr sz="3400" b="1">
                <a:solidFill>
                  <a:srgbClr val="17150F"/>
                </a:solidFill>
                <a:latin typeface="Arial"/>
              </a:rPr>
              <a:t>Cuatro mensajes</a:t>
            </a:r>
          </a:p>
        </p:txBody>
      </p:sp>
      <p:sp>
        <p:nvSpPr>
          <p:cNvPr id="6" name="Rectangle 5"/>
          <p:cNvSpPr/>
          <p:nvPr/>
        </p:nvSpPr>
        <p:spPr>
          <a:xfrm>
            <a:off x="777240" y="2286000"/>
            <a:ext cx="10637215" cy="9144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4" y="2468880"/>
            <a:ext cx="365760" cy="548640"/>
          </a:xfrm>
          <a:prstGeom prst="rect">
            <a:avLst/>
          </a:prstGeom>
          <a:noFill/>
        </p:spPr>
        <p:txBody>
          <a:bodyPr wrap="square" lIns="0" tIns="0" rIns="0" bIns="0">
            <a:spAutoFit/>
          </a:bodyPr>
          <a:lstStyle/>
          <a:p>
            <a:pPr algn="l">
              <a:lnSpc>
                <a:spcPct val="100000"/>
              </a:lnSpc>
              <a:spcBef>
                <a:spcPts val="0"/>
              </a:spcBef>
              <a:spcAft>
                <a:spcPts val="0"/>
              </a:spcAft>
            </a:pPr>
            <a:r>
              <a:rPr sz="2200" b="1">
                <a:solidFill>
                  <a:srgbClr val="8C2F39"/>
                </a:solidFill>
                <a:latin typeface="Arial"/>
              </a:rPr>
              <a:t>1</a:t>
            </a:r>
          </a:p>
        </p:txBody>
      </p:sp>
      <p:sp>
        <p:nvSpPr>
          <p:cNvPr id="8" name="TextBox 7"/>
          <p:cNvSpPr txBox="1"/>
          <p:nvPr/>
        </p:nvSpPr>
        <p:spPr>
          <a:xfrm>
            <a:off x="1490472" y="2441448"/>
            <a:ext cx="9631375" cy="640080"/>
          </a:xfrm>
          <a:prstGeom prst="rect">
            <a:avLst/>
          </a:prstGeom>
          <a:noFill/>
        </p:spPr>
        <p:txBody>
          <a:bodyPr wrap="square" lIns="0" tIns="0" rIns="0" bIns="0">
            <a:spAutoFit/>
          </a:bodyPr>
          <a:lstStyle/>
          <a:p>
            <a:pPr algn="l">
              <a:lnSpc>
                <a:spcPct val="115000"/>
              </a:lnSpc>
              <a:spcBef>
                <a:spcPts val="0"/>
              </a:spcBef>
              <a:spcAft>
                <a:spcPts val="400"/>
              </a:spcAft>
            </a:pPr>
            <a:r>
              <a:rPr sz="1500" b="1">
                <a:solidFill>
                  <a:srgbClr val="17150F"/>
                </a:solidFill>
                <a:latin typeface="Arial"/>
              </a:rPr>
              <a:t>La decisión no es el pronóstico, es el cuantil</a:t>
            </a:r>
          </a:p>
          <a:p>
            <a:pPr algn="l">
              <a:lnSpc>
                <a:spcPct val="125000"/>
              </a:lnSpc>
              <a:spcBef>
                <a:spcPts val="0"/>
              </a:spcBef>
              <a:spcAft>
                <a:spcPts val="0"/>
              </a:spcAft>
            </a:pPr>
            <a:r>
              <a:rPr sz="1250" b="0">
                <a:solidFill>
                  <a:srgbClr val="555045"/>
                </a:solidFill>
                <a:latin typeface="Arial"/>
              </a:rPr>
              <a:t>Cada producto pide el nivel que marcan sus dos costes. El colchón va del 2,7 % al 6,3 % según el margen, sin que nadie lo decida a mano.</a:t>
            </a:r>
          </a:p>
        </p:txBody>
      </p:sp>
      <p:sp>
        <p:nvSpPr>
          <p:cNvPr id="9" name="Rectangle 8"/>
          <p:cNvSpPr/>
          <p:nvPr/>
        </p:nvSpPr>
        <p:spPr>
          <a:xfrm>
            <a:off x="777240" y="3291840"/>
            <a:ext cx="10637215" cy="9144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14984" y="3474720"/>
            <a:ext cx="365760" cy="548640"/>
          </a:xfrm>
          <a:prstGeom prst="rect">
            <a:avLst/>
          </a:prstGeom>
          <a:noFill/>
        </p:spPr>
        <p:txBody>
          <a:bodyPr wrap="square" lIns="0" tIns="0" rIns="0" bIns="0">
            <a:spAutoFit/>
          </a:bodyPr>
          <a:lstStyle/>
          <a:p>
            <a:pPr algn="l">
              <a:lnSpc>
                <a:spcPct val="100000"/>
              </a:lnSpc>
              <a:spcBef>
                <a:spcPts val="0"/>
              </a:spcBef>
              <a:spcAft>
                <a:spcPts val="0"/>
              </a:spcAft>
            </a:pPr>
            <a:r>
              <a:rPr sz="2200" b="1">
                <a:solidFill>
                  <a:srgbClr val="8C2F39"/>
                </a:solidFill>
                <a:latin typeface="Arial"/>
              </a:rPr>
              <a:t>2</a:t>
            </a:r>
          </a:p>
        </p:txBody>
      </p:sp>
      <p:sp>
        <p:nvSpPr>
          <p:cNvPr id="11" name="TextBox 10"/>
          <p:cNvSpPr txBox="1"/>
          <p:nvPr/>
        </p:nvSpPr>
        <p:spPr>
          <a:xfrm>
            <a:off x="1490472" y="3447288"/>
            <a:ext cx="9631375" cy="640080"/>
          </a:xfrm>
          <a:prstGeom prst="rect">
            <a:avLst/>
          </a:prstGeom>
          <a:noFill/>
        </p:spPr>
        <p:txBody>
          <a:bodyPr wrap="square" lIns="0" tIns="0" rIns="0" bIns="0">
            <a:spAutoFit/>
          </a:bodyPr>
          <a:lstStyle/>
          <a:p>
            <a:pPr algn="l">
              <a:lnSpc>
                <a:spcPct val="115000"/>
              </a:lnSpc>
              <a:spcBef>
                <a:spcPts val="0"/>
              </a:spcBef>
              <a:spcAft>
                <a:spcPts val="400"/>
              </a:spcAft>
            </a:pPr>
            <a:r>
              <a:rPr sz="1500" b="1">
                <a:solidFill>
                  <a:srgbClr val="17150F"/>
                </a:solidFill>
                <a:latin typeface="Arial"/>
              </a:rPr>
              <a:t>La regla aporta más que el modelo</a:t>
            </a:r>
          </a:p>
          <a:p>
            <a:pPr algn="l">
              <a:lnSpc>
                <a:spcPct val="125000"/>
              </a:lnSpc>
              <a:spcBef>
                <a:spcPts val="0"/>
              </a:spcBef>
              <a:spcAft>
                <a:spcPts val="0"/>
              </a:spcAft>
            </a:pPr>
            <a:r>
              <a:rPr sz="1250" b="0">
                <a:solidFill>
                  <a:srgbClr val="555045"/>
                </a:solidFill>
                <a:latin typeface="Arial"/>
              </a:rPr>
              <a:t>Seis de cada diez pesos del ahorro vienen de cambiar la regla de pedido. El modelo aporta uno de cada diez. Es incómodo y dice dónde poner el esfuerzo.</a:t>
            </a:r>
          </a:p>
        </p:txBody>
      </p:sp>
      <p:sp>
        <p:nvSpPr>
          <p:cNvPr id="12" name="Rectangle 11"/>
          <p:cNvSpPr/>
          <p:nvPr/>
        </p:nvSpPr>
        <p:spPr>
          <a:xfrm>
            <a:off x="777240" y="4297680"/>
            <a:ext cx="10637215" cy="9144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14984" y="4480560"/>
            <a:ext cx="365760" cy="548640"/>
          </a:xfrm>
          <a:prstGeom prst="rect">
            <a:avLst/>
          </a:prstGeom>
          <a:noFill/>
        </p:spPr>
        <p:txBody>
          <a:bodyPr wrap="square" lIns="0" tIns="0" rIns="0" bIns="0">
            <a:spAutoFit/>
          </a:bodyPr>
          <a:lstStyle/>
          <a:p>
            <a:pPr algn="l">
              <a:lnSpc>
                <a:spcPct val="100000"/>
              </a:lnSpc>
              <a:spcBef>
                <a:spcPts val="0"/>
              </a:spcBef>
              <a:spcAft>
                <a:spcPts val="0"/>
              </a:spcAft>
            </a:pPr>
            <a:r>
              <a:rPr sz="2200" b="1">
                <a:solidFill>
                  <a:srgbClr val="8C2F39"/>
                </a:solidFill>
                <a:latin typeface="Arial"/>
              </a:rPr>
              <a:t>3</a:t>
            </a:r>
          </a:p>
        </p:txBody>
      </p:sp>
      <p:sp>
        <p:nvSpPr>
          <p:cNvPr id="14" name="TextBox 13"/>
          <p:cNvSpPr txBox="1"/>
          <p:nvPr/>
        </p:nvSpPr>
        <p:spPr>
          <a:xfrm>
            <a:off x="1490472" y="4453128"/>
            <a:ext cx="9631375" cy="640080"/>
          </a:xfrm>
          <a:prstGeom prst="rect">
            <a:avLst/>
          </a:prstGeom>
          <a:noFill/>
        </p:spPr>
        <p:txBody>
          <a:bodyPr wrap="square" lIns="0" tIns="0" rIns="0" bIns="0">
            <a:spAutoFit/>
          </a:bodyPr>
          <a:lstStyle/>
          <a:p>
            <a:pPr algn="l">
              <a:lnSpc>
                <a:spcPct val="115000"/>
              </a:lnSpc>
              <a:spcBef>
                <a:spcPts val="0"/>
              </a:spcBef>
              <a:spcAft>
                <a:spcPts val="400"/>
              </a:spcAft>
            </a:pPr>
            <a:r>
              <a:rPr sz="1500" b="1">
                <a:solidFill>
                  <a:srgbClr val="17150F"/>
                </a:solidFill>
                <a:latin typeface="Arial"/>
              </a:rPr>
              <a:t>El resultado depende de un supuesto de negocio</a:t>
            </a:r>
          </a:p>
          <a:p>
            <a:pPr algn="l">
              <a:lnSpc>
                <a:spcPct val="125000"/>
              </a:lnSpc>
              <a:spcBef>
                <a:spcPts val="0"/>
              </a:spcBef>
              <a:spcAft>
                <a:spcPts val="0"/>
              </a:spcAft>
            </a:pPr>
            <a:r>
              <a:rPr sz="1250" b="0">
                <a:solidFill>
                  <a:srgbClr val="555045"/>
                </a:solidFill>
                <a:latin typeface="Arial"/>
              </a:rPr>
              <a:t>Si el sobrante se guarda, el ahorro es del 92,6 %. Si se tira, del 5,2 %. Recomendamos planificar con el segundo y medir la merma real en el piloto.</a:t>
            </a:r>
          </a:p>
        </p:txBody>
      </p:sp>
      <p:sp>
        <p:nvSpPr>
          <p:cNvPr id="15" name="Rectangle 14"/>
          <p:cNvSpPr/>
          <p:nvPr/>
        </p:nvSpPr>
        <p:spPr>
          <a:xfrm>
            <a:off x="777240" y="5303520"/>
            <a:ext cx="10637215" cy="914400"/>
          </a:xfrm>
          <a:prstGeom prst="rect">
            <a:avLst/>
          </a:prstGeom>
          <a:solidFill>
            <a:srgbClr val="FFFFFF"/>
          </a:solidFill>
          <a:ln w="9525">
            <a:solidFill>
              <a:srgbClr val="DCD8C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14984" y="5486400"/>
            <a:ext cx="365760" cy="548640"/>
          </a:xfrm>
          <a:prstGeom prst="rect">
            <a:avLst/>
          </a:prstGeom>
          <a:noFill/>
        </p:spPr>
        <p:txBody>
          <a:bodyPr wrap="square" lIns="0" tIns="0" rIns="0" bIns="0">
            <a:spAutoFit/>
          </a:bodyPr>
          <a:lstStyle/>
          <a:p>
            <a:pPr algn="l">
              <a:lnSpc>
                <a:spcPct val="100000"/>
              </a:lnSpc>
              <a:spcBef>
                <a:spcPts val="0"/>
              </a:spcBef>
              <a:spcAft>
                <a:spcPts val="0"/>
              </a:spcAft>
            </a:pPr>
            <a:r>
              <a:rPr sz="2200" b="1">
                <a:solidFill>
                  <a:srgbClr val="8C2F39"/>
                </a:solidFill>
                <a:latin typeface="Arial"/>
              </a:rPr>
              <a:t>4</a:t>
            </a:r>
          </a:p>
        </p:txBody>
      </p:sp>
      <p:sp>
        <p:nvSpPr>
          <p:cNvPr id="17" name="TextBox 16"/>
          <p:cNvSpPr txBox="1"/>
          <p:nvPr/>
        </p:nvSpPr>
        <p:spPr>
          <a:xfrm>
            <a:off x="1490472" y="5458968"/>
            <a:ext cx="9631375" cy="640080"/>
          </a:xfrm>
          <a:prstGeom prst="rect">
            <a:avLst/>
          </a:prstGeom>
          <a:noFill/>
        </p:spPr>
        <p:txBody>
          <a:bodyPr wrap="square" lIns="0" tIns="0" rIns="0" bIns="0">
            <a:spAutoFit/>
          </a:bodyPr>
          <a:lstStyle/>
          <a:p>
            <a:pPr algn="l">
              <a:lnSpc>
                <a:spcPct val="115000"/>
              </a:lnSpc>
              <a:spcBef>
                <a:spcPts val="0"/>
              </a:spcBef>
              <a:spcAft>
                <a:spcPts val="400"/>
              </a:spcAft>
            </a:pPr>
            <a:r>
              <a:rPr sz="1500" b="1">
                <a:solidFill>
                  <a:srgbClr val="17150F"/>
                </a:solidFill>
                <a:latin typeface="Arial"/>
              </a:rPr>
              <a:t>Lo que se entrega ya se puede ejecutar</a:t>
            </a:r>
          </a:p>
          <a:p>
            <a:pPr algn="l">
              <a:lnSpc>
                <a:spcPct val="125000"/>
              </a:lnSpc>
              <a:spcBef>
                <a:spcPts val="0"/>
              </a:spcBef>
              <a:spcAft>
                <a:spcPts val="0"/>
              </a:spcAft>
            </a:pPr>
            <a:r>
              <a:rPr sz="1250" b="0">
                <a:solidFill>
                  <a:srgbClr val="555045"/>
                </a:solidFill>
                <a:latin typeface="Arial"/>
              </a:rPr>
              <a:t>12.290 unidades para la semana 14, tienda por tienda y producto por producto, con doce verificaciones en verde.</a:t>
            </a:r>
          </a:p>
        </p:txBody>
      </p:sp>
      <p:sp>
        <p:nvSpPr>
          <p:cNvPr id="18" name="TextBox 17"/>
          <p:cNvSpPr txBox="1"/>
          <p:nvPr/>
        </p:nvSpPr>
        <p:spPr>
          <a:xfrm>
            <a:off x="10500055" y="6428232"/>
            <a:ext cx="914400" cy="274320"/>
          </a:xfrm>
          <a:prstGeom prst="rect">
            <a:avLst/>
          </a:prstGeom>
          <a:noFill/>
        </p:spPr>
        <p:txBody>
          <a:bodyPr wrap="square" lIns="0" tIns="0" rIns="0" bIns="0">
            <a:spAutoFit/>
          </a:bodyPr>
          <a:lstStyle/>
          <a:p>
            <a:pPr algn="r">
              <a:lnSpc>
                <a:spcPct val="122000"/>
              </a:lnSpc>
              <a:spcBef>
                <a:spcPts val="0"/>
              </a:spcBef>
              <a:spcAft>
                <a:spcPts val="0"/>
              </a:spcAft>
            </a:pPr>
            <a:r>
              <a:rPr sz="950" b="0">
                <a:solidFill>
                  <a:srgbClr val="8B8478"/>
                </a:solidFill>
                <a:latin typeface="Arial"/>
              </a:rP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237</TotalTime>
  <Words>5247</Words>
  <Application>Microsoft Macintosh PowerPoint</Application>
  <PresentationFormat>Widescreen</PresentationFormat>
  <Paragraphs>733</Paragraphs>
  <Slides>28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Danilo Melo</cp:lastModifiedBy>
  <cp:revision>8</cp:revision>
  <dcterms:created xsi:type="dcterms:W3CDTF">2013-01-27T09:14:16Z</dcterms:created>
  <dcterms:modified xsi:type="dcterms:W3CDTF">2026-09-12T18:08:05Z</dcterms:modified>
  <cp:category/>
</cp:coreProperties>
</file>