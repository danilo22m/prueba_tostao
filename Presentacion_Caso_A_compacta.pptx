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315" r:id="rId3"/>
    <p:sldId id="316" r:id="rId4"/>
    <p:sldId id="263" r:id="rId5"/>
    <p:sldId id="317" r:id="rId6"/>
    <p:sldId id="318" r:id="rId7"/>
    <p:sldId id="319" r:id="rId8"/>
    <p:sldId id="320" r:id="rId9"/>
    <p:sldId id="321" r:id="rId10"/>
    <p:sldId id="276" r:id="rId11"/>
    <p:sldId id="322" r:id="rId12"/>
    <p:sldId id="279" r:id="rId13"/>
    <p:sldId id="310" r:id="rId14"/>
    <p:sldId id="323" r:id="rId15"/>
    <p:sldId id="324" r:id="rId16"/>
    <p:sldId id="325" r:id="rId17"/>
    <p:sldId id="288" r:id="rId18"/>
    <p:sldId id="326" r:id="rId19"/>
    <p:sldId id="292" r:id="rId20"/>
    <p:sldId id="327" r:id="rId21"/>
    <p:sldId id="328" r:id="rId22"/>
    <p:sldId id="329" r:id="rId23"/>
    <p:sldId id="301" r:id="rId24"/>
    <p:sldId id="330" r:id="rId25"/>
    <p:sldId id="306" r:id="rId26"/>
    <p:sldId id="307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676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86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8C2F39"/>
                </a:solidFill>
                <a:latin typeface="Arial"/>
              </a:rPr>
              <a:t>CASO A  ·  OPTIMIZACIÓN DE ABASTECIMIENTO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96926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dirty="0" err="1">
                <a:solidFill>
                  <a:srgbClr val="17150F"/>
                </a:solidFill>
                <a:latin typeface="Arial"/>
              </a:rPr>
              <a:t>Cuánto</a:t>
            </a:r>
            <a:r>
              <a:rPr sz="40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4000" b="1" dirty="0" err="1">
                <a:solidFill>
                  <a:srgbClr val="17150F"/>
                </a:solidFill>
                <a:latin typeface="Arial"/>
              </a:rPr>
              <a:t>pedir</a:t>
            </a:r>
            <a:r>
              <a:rPr sz="40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4000" b="1" dirty="0" err="1">
                <a:solidFill>
                  <a:srgbClr val="17150F"/>
                </a:solidFill>
                <a:latin typeface="Arial"/>
              </a:rPr>
              <a:t>cada</a:t>
            </a:r>
            <a:r>
              <a:rPr sz="40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4000" b="1" dirty="0" err="1">
                <a:solidFill>
                  <a:srgbClr val="17150F"/>
                </a:solidFill>
                <a:latin typeface="Arial"/>
              </a:rPr>
              <a:t>semana</a:t>
            </a:r>
            <a:r>
              <a:rPr sz="4000" b="1" dirty="0">
                <a:solidFill>
                  <a:srgbClr val="17150F"/>
                </a:solidFill>
                <a:latin typeface="Arial"/>
              </a:rPr>
              <a:t>,
</a:t>
            </a:r>
            <a:r>
              <a:rPr sz="4000" b="1" dirty="0" err="1">
                <a:solidFill>
                  <a:srgbClr val="17150F"/>
                </a:solidFill>
                <a:latin typeface="Arial"/>
              </a:rPr>
              <a:t>producto</a:t>
            </a:r>
            <a:r>
              <a:rPr sz="40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4000" b="1" dirty="0" err="1">
                <a:solidFill>
                  <a:srgbClr val="17150F"/>
                </a:solidFill>
                <a:latin typeface="Arial"/>
              </a:rPr>
              <a:t>por</a:t>
            </a:r>
            <a:r>
              <a:rPr sz="40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4000" b="1" dirty="0" err="1">
                <a:solidFill>
                  <a:srgbClr val="17150F"/>
                </a:solidFill>
                <a:latin typeface="Arial"/>
              </a:rPr>
              <a:t>producto</a:t>
            </a:r>
            <a:r>
              <a:rPr sz="4000" b="1" dirty="0">
                <a:solidFill>
                  <a:srgbClr val="17150F"/>
                </a:solidFill>
                <a:latin typeface="Arial"/>
              </a:rPr>
              <a:t>
y tienda </a:t>
            </a:r>
            <a:r>
              <a:rPr sz="4000" b="1" dirty="0" err="1">
                <a:solidFill>
                  <a:srgbClr val="17150F"/>
                </a:solidFill>
                <a:latin typeface="Arial"/>
              </a:rPr>
              <a:t>por</a:t>
            </a:r>
            <a:r>
              <a:rPr sz="4000" b="1" dirty="0">
                <a:solidFill>
                  <a:srgbClr val="17150F"/>
                </a:solidFill>
                <a:latin typeface="Arial"/>
              </a:rPr>
              <a:t> tienda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343400"/>
            <a:ext cx="8595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dirty="0">
                <a:solidFill>
                  <a:srgbClr val="555045"/>
                </a:solidFill>
                <a:latin typeface="Arial"/>
              </a:rPr>
              <a:t>El </a:t>
            </a:r>
            <a:r>
              <a:rPr sz="1550" b="0" dirty="0" err="1">
                <a:solidFill>
                  <a:srgbClr val="555045"/>
                </a:solidFill>
                <a:latin typeface="Arial"/>
              </a:rPr>
              <a:t>entregable</a:t>
            </a:r>
            <a:r>
              <a:rPr sz="1550" b="0" dirty="0">
                <a:solidFill>
                  <a:srgbClr val="555045"/>
                </a:solidFill>
                <a:latin typeface="Arial"/>
              </a:rPr>
              <a:t> no es un </a:t>
            </a:r>
            <a:r>
              <a:rPr sz="1550" b="0" dirty="0" err="1">
                <a:solidFill>
                  <a:srgbClr val="555045"/>
                </a:solidFill>
                <a:latin typeface="Arial"/>
              </a:rPr>
              <a:t>pronóstico</a:t>
            </a:r>
            <a:r>
              <a:rPr sz="1550" b="0" dirty="0">
                <a:solidFill>
                  <a:srgbClr val="555045"/>
                </a:solidFill>
                <a:latin typeface="Arial"/>
              </a:rPr>
              <a:t>. Es la </a:t>
            </a:r>
            <a:r>
              <a:rPr sz="1550" b="0" dirty="0" err="1">
                <a:solidFill>
                  <a:srgbClr val="555045"/>
                </a:solidFill>
                <a:latin typeface="Arial"/>
              </a:rPr>
              <a:t>cantidad</a:t>
            </a:r>
            <a:r>
              <a:rPr sz="155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55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55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550" b="0" dirty="0" err="1">
                <a:solidFill>
                  <a:srgbClr val="555045"/>
                </a:solidFill>
                <a:latin typeface="Arial"/>
              </a:rPr>
              <a:t>cada</a:t>
            </a:r>
            <a:r>
              <a:rPr sz="1550" b="0" dirty="0">
                <a:solidFill>
                  <a:srgbClr val="555045"/>
                </a:solidFill>
                <a:latin typeface="Arial"/>
              </a:rPr>
              <a:t> tienda </a:t>
            </a:r>
            <a:r>
              <a:rPr sz="1550" b="0" dirty="0" err="1">
                <a:solidFill>
                  <a:srgbClr val="555045"/>
                </a:solidFill>
                <a:latin typeface="Arial"/>
              </a:rPr>
              <a:t>ejecuta</a:t>
            </a:r>
            <a:r>
              <a:rPr sz="155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550" b="0" dirty="0" err="1">
                <a:solidFill>
                  <a:srgbClr val="555045"/>
                </a:solidFill>
                <a:latin typeface="Arial"/>
              </a:rPr>
              <a:t>calculada</a:t>
            </a:r>
            <a:r>
              <a:rPr sz="1550" b="0" dirty="0">
                <a:solidFill>
                  <a:srgbClr val="555045"/>
                </a:solidFill>
                <a:latin typeface="Arial"/>
              </a:rPr>
              <a:t> a </a:t>
            </a:r>
            <a:r>
              <a:rPr sz="1550" b="0" dirty="0" err="1">
                <a:solidFill>
                  <a:srgbClr val="555045"/>
                </a:solidFill>
                <a:latin typeface="Arial"/>
              </a:rPr>
              <a:t>partir</a:t>
            </a:r>
            <a:r>
              <a:rPr sz="1550" b="0" dirty="0">
                <a:solidFill>
                  <a:srgbClr val="555045"/>
                </a:solidFill>
                <a:latin typeface="Arial"/>
              </a:rPr>
              <a:t> de lo </a:t>
            </a:r>
            <a:r>
              <a:rPr sz="155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550" b="0" dirty="0">
                <a:solidFill>
                  <a:srgbClr val="555045"/>
                </a:solidFill>
                <a:latin typeface="Arial"/>
              </a:rPr>
              <a:t> cuesta </a:t>
            </a:r>
            <a:r>
              <a:rPr sz="1550" b="0" dirty="0" err="1">
                <a:solidFill>
                  <a:srgbClr val="555045"/>
                </a:solidFill>
                <a:latin typeface="Arial"/>
              </a:rPr>
              <a:t>quedarse</a:t>
            </a:r>
            <a:r>
              <a:rPr sz="1550" b="0" dirty="0">
                <a:solidFill>
                  <a:srgbClr val="555045"/>
                </a:solidFill>
                <a:latin typeface="Arial"/>
              </a:rPr>
              <a:t> corto y lo </a:t>
            </a:r>
            <a:r>
              <a:rPr sz="155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550" b="0" dirty="0">
                <a:solidFill>
                  <a:srgbClr val="555045"/>
                </a:solidFill>
                <a:latin typeface="Arial"/>
              </a:rPr>
              <a:t> cuesta </a:t>
            </a:r>
            <a:r>
              <a:rPr sz="155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55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550" b="0" dirty="0" err="1">
                <a:solidFill>
                  <a:srgbClr val="555045"/>
                </a:solidFill>
                <a:latin typeface="Arial"/>
              </a:rPr>
              <a:t>sobre</a:t>
            </a:r>
            <a:r>
              <a:rPr sz="155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440680"/>
            <a:ext cx="502920" cy="3048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5669280"/>
            <a:ext cx="9144000" cy="21249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dirty="0">
                <a:solidFill>
                  <a:srgbClr val="8B8478"/>
                </a:solidFill>
                <a:latin typeface="Arial"/>
              </a:rPr>
              <a:t>20 tiendas · 8 </a:t>
            </a:r>
            <a:r>
              <a:rPr sz="1250" b="0" dirty="0" err="1">
                <a:solidFill>
                  <a:srgbClr val="8B8478"/>
                </a:solidFill>
                <a:latin typeface="Arial"/>
              </a:rPr>
              <a:t>productos</a:t>
            </a:r>
            <a:r>
              <a:rPr sz="1250" b="0" dirty="0">
                <a:solidFill>
                  <a:srgbClr val="8B8478"/>
                </a:solidFill>
                <a:latin typeface="Arial"/>
              </a:rPr>
              <a:t> · 13 </a:t>
            </a:r>
            <a:r>
              <a:rPr sz="1250" b="0" dirty="0" err="1">
                <a:solidFill>
                  <a:srgbClr val="8B8478"/>
                </a:solidFill>
                <a:latin typeface="Arial"/>
              </a:rPr>
              <a:t>semanas</a:t>
            </a:r>
            <a:r>
              <a:rPr sz="1250" b="0" dirty="0">
                <a:solidFill>
                  <a:srgbClr val="8B8478"/>
                </a:solidFill>
                <a:latin typeface="Arial"/>
              </a:rPr>
              <a:t> · 2.080 </a:t>
            </a:r>
            <a:r>
              <a:rPr sz="1250" b="0" dirty="0" err="1">
                <a:solidFill>
                  <a:srgbClr val="8B8478"/>
                </a:solidFill>
                <a:latin typeface="Arial"/>
              </a:rPr>
              <a:t>observaciones</a:t>
            </a:r>
            <a:endParaRPr sz="1250" b="0" dirty="0">
              <a:solidFill>
                <a:srgbClr val="8B8478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292083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EL ENCARGO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04088"/>
            <a:ext cx="5387187" cy="3195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>
                <a:solidFill>
                  <a:srgbClr val="17150F"/>
                </a:solidFill>
                <a:latin typeface="Arial"/>
              </a:rPr>
              <a:t>Tres cosas pedidas, tres cosas entregadas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7931612"/>
              </p:ext>
            </p:extLst>
          </p:nvPr>
        </p:nvGraphicFramePr>
        <p:xfrm>
          <a:off x="3135444" y="1177406"/>
          <a:ext cx="5387186" cy="149961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4631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9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Lo que se pide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Lo que se entrega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Pronóstico semanal de demanda por SKU y tienda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Regresión cuantílica relativa, 17 niveles entrenados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 dirty="0">
                          <a:solidFill>
                            <a:srgbClr val="17150F"/>
                          </a:solidFill>
                          <a:latin typeface="Arial"/>
                        </a:rPr>
                        <a:t>Una </a:t>
                      </a:r>
                      <a:r>
                        <a:rPr sz="960" b="0" dirty="0" err="1">
                          <a:solidFill>
                            <a:srgbClr val="17150F"/>
                          </a:solidFill>
                          <a:latin typeface="Arial"/>
                        </a:rPr>
                        <a:t>política</a:t>
                      </a:r>
                      <a:r>
                        <a:rPr sz="960" b="0" dirty="0">
                          <a:solidFill>
                            <a:srgbClr val="17150F"/>
                          </a:solidFill>
                          <a:latin typeface="Arial"/>
                        </a:rPr>
                        <a:t> de </a:t>
                      </a:r>
                      <a:r>
                        <a:rPr sz="960" b="0" dirty="0" err="1">
                          <a:solidFill>
                            <a:srgbClr val="17150F"/>
                          </a:solidFill>
                          <a:latin typeface="Arial"/>
                        </a:rPr>
                        <a:t>pedido</a:t>
                      </a:r>
                      <a:r>
                        <a:rPr sz="960" b="0" dirty="0">
                          <a:solidFill>
                            <a:srgbClr val="17150F"/>
                          </a:solidFill>
                          <a:latin typeface="Arial"/>
                        </a:rPr>
                        <a:t> </a:t>
                      </a:r>
                      <a:r>
                        <a:rPr sz="960" b="0" dirty="0" err="1">
                          <a:solidFill>
                            <a:srgbClr val="17150F"/>
                          </a:solidFill>
                          <a:latin typeface="Arial"/>
                        </a:rPr>
                        <a:t>que</a:t>
                      </a:r>
                      <a:r>
                        <a:rPr sz="960" b="0" dirty="0">
                          <a:solidFill>
                            <a:srgbClr val="17150F"/>
                          </a:solidFill>
                          <a:latin typeface="Arial"/>
                        </a:rPr>
                        <a:t> use la </a:t>
                      </a:r>
                      <a:r>
                        <a:rPr sz="960" b="0" dirty="0" err="1">
                          <a:solidFill>
                            <a:srgbClr val="17150F"/>
                          </a:solidFill>
                          <a:latin typeface="Arial"/>
                        </a:rPr>
                        <a:t>incertidumbre</a:t>
                      </a:r>
                      <a:r>
                        <a:rPr sz="960" b="0" dirty="0">
                          <a:solidFill>
                            <a:srgbClr val="17150F"/>
                          </a:solidFill>
                          <a:latin typeface="Arial"/>
                        </a:rPr>
                        <a:t> y </a:t>
                      </a:r>
                      <a:r>
                        <a:rPr sz="960" b="0" dirty="0" err="1">
                          <a:solidFill>
                            <a:srgbClr val="17150F"/>
                          </a:solidFill>
                          <a:latin typeface="Arial"/>
                        </a:rPr>
                        <a:t>los</a:t>
                      </a:r>
                      <a:r>
                        <a:rPr sz="960" b="0" dirty="0">
                          <a:solidFill>
                            <a:srgbClr val="17150F"/>
                          </a:solidFill>
                          <a:latin typeface="Arial"/>
                        </a:rPr>
                        <a:t> </a:t>
                      </a:r>
                      <a:r>
                        <a:rPr sz="960" b="0" dirty="0" err="1">
                          <a:solidFill>
                            <a:srgbClr val="17150F"/>
                          </a:solidFill>
                          <a:latin typeface="Arial"/>
                        </a:rPr>
                        <a:t>márgenes</a:t>
                      </a:r>
                      <a:endParaRPr sz="960" b="0" dirty="0">
                        <a:solidFill>
                          <a:srgbClr val="17150F"/>
                        </a:solidFill>
                        <a:latin typeface="Arial"/>
                      </a:endParaRP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Nivel de servicio por producto derivado de sus costes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 dirty="0" err="1">
                          <a:solidFill>
                            <a:srgbClr val="17150F"/>
                          </a:solidFill>
                          <a:latin typeface="Arial"/>
                        </a:rPr>
                        <a:t>Decidir</a:t>
                      </a:r>
                      <a:r>
                        <a:rPr sz="960" b="0" dirty="0">
                          <a:solidFill>
                            <a:srgbClr val="17150F"/>
                          </a:solidFill>
                          <a:latin typeface="Arial"/>
                        </a:rPr>
                        <a:t> </a:t>
                      </a:r>
                      <a:r>
                        <a:rPr sz="960" b="0" dirty="0" err="1">
                          <a:solidFill>
                            <a:srgbClr val="17150F"/>
                          </a:solidFill>
                          <a:latin typeface="Arial"/>
                        </a:rPr>
                        <a:t>si</a:t>
                      </a:r>
                      <a:r>
                        <a:rPr sz="960" b="0" dirty="0">
                          <a:solidFill>
                            <a:srgbClr val="17150F"/>
                          </a:solidFill>
                          <a:latin typeface="Arial"/>
                        </a:rPr>
                        <a:t> el </a:t>
                      </a:r>
                      <a:r>
                        <a:rPr sz="960" b="0" dirty="0" err="1">
                          <a:solidFill>
                            <a:srgbClr val="17150F"/>
                          </a:solidFill>
                          <a:latin typeface="Arial"/>
                        </a:rPr>
                        <a:t>pedido</a:t>
                      </a:r>
                      <a:r>
                        <a:rPr sz="960" b="0" dirty="0">
                          <a:solidFill>
                            <a:srgbClr val="17150F"/>
                          </a:solidFill>
                          <a:latin typeface="Arial"/>
                        </a:rPr>
                        <a:t> es </a:t>
                      </a:r>
                      <a:r>
                        <a:rPr sz="960" b="0" dirty="0" err="1">
                          <a:solidFill>
                            <a:srgbClr val="17150F"/>
                          </a:solidFill>
                          <a:latin typeface="Arial"/>
                        </a:rPr>
                        <a:t>agresivo</a:t>
                      </a:r>
                      <a:r>
                        <a:rPr sz="960" b="0" dirty="0">
                          <a:solidFill>
                            <a:srgbClr val="17150F"/>
                          </a:solidFill>
                          <a:latin typeface="Arial"/>
                        </a:rPr>
                        <a:t> o </a:t>
                      </a:r>
                      <a:r>
                        <a:rPr sz="960" b="0" dirty="0" err="1">
                          <a:solidFill>
                            <a:srgbClr val="17150F"/>
                          </a:solidFill>
                          <a:latin typeface="Arial"/>
                        </a:rPr>
                        <a:t>conservador</a:t>
                      </a:r>
                      <a:endParaRPr sz="960" b="0" dirty="0">
                        <a:solidFill>
                          <a:srgbClr val="17150F"/>
                        </a:solidFill>
                        <a:latin typeface="Arial"/>
                      </a:endParaRP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 dirty="0" err="1">
                          <a:solidFill>
                            <a:srgbClr val="555045"/>
                          </a:solidFill>
                          <a:latin typeface="Arial"/>
                        </a:rPr>
                        <a:t>Colchón</a:t>
                      </a:r>
                      <a:r>
                        <a:rPr sz="960" b="0" dirty="0">
                          <a:solidFill>
                            <a:srgbClr val="555045"/>
                          </a:solidFill>
                          <a:latin typeface="Arial"/>
                        </a:rPr>
                        <a:t> del 2,7 % al 6,3 % </a:t>
                      </a:r>
                      <a:r>
                        <a:rPr sz="960" b="0" dirty="0" err="1">
                          <a:solidFill>
                            <a:srgbClr val="555045"/>
                          </a:solidFill>
                          <a:latin typeface="Arial"/>
                        </a:rPr>
                        <a:t>según</a:t>
                      </a:r>
                      <a:r>
                        <a:rPr sz="960" b="0" dirty="0">
                          <a:solidFill>
                            <a:srgbClr val="555045"/>
                          </a:solidFill>
                          <a:latin typeface="Arial"/>
                        </a:rPr>
                        <a:t> el </a:t>
                      </a:r>
                      <a:r>
                        <a:rPr sz="960" b="0" dirty="0" err="1">
                          <a:solidFill>
                            <a:srgbClr val="555045"/>
                          </a:solidFill>
                          <a:latin typeface="Arial"/>
                        </a:rPr>
                        <a:t>margen</a:t>
                      </a:r>
                      <a:r>
                        <a:rPr sz="960" b="0" dirty="0">
                          <a:solidFill>
                            <a:srgbClr val="555045"/>
                          </a:solidFill>
                          <a:latin typeface="Arial"/>
                        </a:rPr>
                        <a:t> del </a:t>
                      </a:r>
                      <a:r>
                        <a:rPr sz="960" b="0" dirty="0" err="1">
                          <a:solidFill>
                            <a:srgbClr val="555045"/>
                          </a:solidFill>
                          <a:latin typeface="Arial"/>
                        </a:rPr>
                        <a:t>producto</a:t>
                      </a:r>
                      <a:endParaRPr sz="960" b="0" dirty="0">
                        <a:solidFill>
                          <a:srgbClr val="555045"/>
                        </a:solidFill>
                        <a:latin typeface="Arial"/>
                      </a:endParaRP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2883396"/>
            <a:ext cx="10560794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EL PROBLEMA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92144"/>
            <a:ext cx="6067955" cy="2398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 err="1">
                <a:solidFill>
                  <a:srgbClr val="17150F"/>
                </a:solidFill>
                <a:latin typeface="Arial"/>
              </a:rPr>
              <a:t>Equivocarse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por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arriba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y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por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abajo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no cuesta lo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mismo</a:t>
            </a:r>
            <a:endParaRPr sz="1450" b="1" dirty="0">
              <a:solidFill>
                <a:srgbClr val="17150F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3440672"/>
            <a:ext cx="10560794" cy="1786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Por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eso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cantidad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correcta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nunca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es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demanda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esperada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Ejemplo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con un Tinto (se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vende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2.500,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ganancia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1.700,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producrilo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800 y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guardarlo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10).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17584"/>
            <a:ext cx="4622450" cy="683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960" b="1" dirty="0">
                <a:solidFill>
                  <a:srgbClr val="17150F"/>
                </a:solidFill>
                <a:latin typeface="Arial"/>
              </a:rPr>
              <a:t>SI FALTA UNA UNIDAD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1.700 pesos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19" b="0" dirty="0">
                <a:solidFill>
                  <a:srgbClr val="555045"/>
                </a:solidFill>
                <a:latin typeface="Arial"/>
              </a:rPr>
              <a:t>Es el </a:t>
            </a:r>
            <a:r>
              <a:rPr sz="1019" b="0" dirty="0" err="1">
                <a:solidFill>
                  <a:srgbClr val="555045"/>
                </a:solidFill>
                <a:latin typeface="Arial"/>
              </a:rPr>
              <a:t>margen</a:t>
            </a:r>
            <a:r>
              <a:rPr sz="1019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19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19" b="0" dirty="0">
                <a:solidFill>
                  <a:srgbClr val="555045"/>
                </a:solidFill>
                <a:latin typeface="Arial"/>
              </a:rPr>
              <a:t> se </a:t>
            </a:r>
            <a:r>
              <a:rPr sz="1019" b="0" dirty="0" err="1">
                <a:solidFill>
                  <a:srgbClr val="555045"/>
                </a:solidFill>
                <a:latin typeface="Arial"/>
              </a:rPr>
              <a:t>deja</a:t>
            </a:r>
            <a:r>
              <a:rPr sz="1019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019" b="0" dirty="0" err="1">
                <a:solidFill>
                  <a:srgbClr val="555045"/>
                </a:solidFill>
                <a:latin typeface="Arial"/>
              </a:rPr>
              <a:t>ganar</a:t>
            </a:r>
            <a:r>
              <a:rPr sz="1019" b="0" dirty="0">
                <a:solidFill>
                  <a:srgbClr val="555045"/>
                </a:solidFill>
                <a:latin typeface="Arial"/>
              </a:rPr>
              <a:t>. El </a:t>
            </a:r>
            <a:r>
              <a:rPr sz="1019" b="0" dirty="0" err="1">
                <a:solidFill>
                  <a:srgbClr val="555045"/>
                </a:solidFill>
                <a:latin typeface="Arial"/>
              </a:rPr>
              <a:t>cliente</a:t>
            </a:r>
            <a:r>
              <a:rPr sz="1019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19" b="0" dirty="0" err="1">
                <a:solidFill>
                  <a:srgbClr val="555045"/>
                </a:solidFill>
                <a:latin typeface="Arial"/>
              </a:rPr>
              <a:t>quería</a:t>
            </a:r>
            <a:r>
              <a:rPr sz="1019" b="0" dirty="0">
                <a:solidFill>
                  <a:srgbClr val="555045"/>
                </a:solidFill>
                <a:latin typeface="Arial"/>
              </a:rPr>
              <a:t> el </a:t>
            </a:r>
            <a:r>
              <a:rPr sz="1019" b="0" dirty="0" err="1">
                <a:solidFill>
                  <a:srgbClr val="555045"/>
                </a:solidFill>
                <a:latin typeface="Arial"/>
              </a:rPr>
              <a:t>producto</a:t>
            </a:r>
            <a:r>
              <a:rPr sz="1019" b="0" dirty="0">
                <a:solidFill>
                  <a:srgbClr val="555045"/>
                </a:solidFill>
                <a:latin typeface="Arial"/>
              </a:rPr>
              <a:t> y no </a:t>
            </a:r>
            <a:r>
              <a:rPr sz="1019" b="0" dirty="0" err="1">
                <a:solidFill>
                  <a:srgbClr val="555045"/>
                </a:solidFill>
                <a:latin typeface="Arial"/>
              </a:rPr>
              <a:t>estaba</a:t>
            </a:r>
            <a:r>
              <a:rPr sz="1019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8061" y="3898897"/>
            <a:ext cx="5641953" cy="6830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960" b="1" dirty="0">
                <a:solidFill>
                  <a:srgbClr val="17150F"/>
                </a:solidFill>
                <a:latin typeface="Arial"/>
              </a:rPr>
              <a:t>SI SOBRA UNA UNIDAD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810 pesos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19" b="0" dirty="0">
                <a:solidFill>
                  <a:srgbClr val="555045"/>
                </a:solidFill>
                <a:latin typeface="Arial"/>
              </a:rPr>
              <a:t>Es el </a:t>
            </a:r>
            <a:r>
              <a:rPr sz="1019" b="0" dirty="0" err="1">
                <a:solidFill>
                  <a:srgbClr val="555045"/>
                </a:solidFill>
                <a:latin typeface="Arial"/>
              </a:rPr>
              <a:t>producto</a:t>
            </a:r>
            <a:r>
              <a:rPr sz="1019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19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19" b="0" dirty="0">
                <a:solidFill>
                  <a:srgbClr val="555045"/>
                </a:solidFill>
                <a:latin typeface="Arial"/>
              </a:rPr>
              <a:t> se </a:t>
            </a:r>
            <a:r>
              <a:rPr sz="1019" b="0" dirty="0" err="1">
                <a:solidFill>
                  <a:srgbClr val="555045"/>
                </a:solidFill>
                <a:latin typeface="Arial"/>
              </a:rPr>
              <a:t>descarta</a:t>
            </a:r>
            <a:r>
              <a:rPr sz="1019" b="0" dirty="0">
                <a:solidFill>
                  <a:srgbClr val="555045"/>
                </a:solidFill>
                <a:latin typeface="Arial"/>
              </a:rPr>
              <a:t> al </a:t>
            </a:r>
            <a:r>
              <a:rPr sz="1019" b="0" dirty="0" err="1">
                <a:solidFill>
                  <a:srgbClr val="555045"/>
                </a:solidFill>
                <a:latin typeface="Arial"/>
              </a:rPr>
              <a:t>cierre</a:t>
            </a:r>
            <a:r>
              <a:rPr sz="1019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19" b="0" dirty="0" err="1">
                <a:solidFill>
                  <a:srgbClr val="555045"/>
                </a:solidFill>
                <a:latin typeface="Arial"/>
              </a:rPr>
              <a:t>más</a:t>
            </a:r>
            <a:r>
              <a:rPr sz="1019" b="0" dirty="0">
                <a:solidFill>
                  <a:srgbClr val="555045"/>
                </a:solidFill>
                <a:latin typeface="Arial"/>
              </a:rPr>
              <a:t> el </a:t>
            </a:r>
            <a:r>
              <a:rPr sz="1019" b="0" dirty="0" err="1">
                <a:solidFill>
                  <a:srgbClr val="555045"/>
                </a:solidFill>
                <a:latin typeface="Arial"/>
              </a:rPr>
              <a:t>almacenaje</a:t>
            </a:r>
            <a:r>
              <a:rPr sz="1019" b="0" dirty="0">
                <a:solidFill>
                  <a:srgbClr val="555045"/>
                </a:solidFill>
                <a:latin typeface="Arial"/>
              </a:rPr>
              <a:t>. Un </a:t>
            </a:r>
            <a:r>
              <a:rPr sz="1019" b="0" dirty="0" err="1">
                <a:solidFill>
                  <a:srgbClr val="555045"/>
                </a:solidFill>
                <a:latin typeface="Arial"/>
              </a:rPr>
              <a:t>tinto</a:t>
            </a:r>
            <a:r>
              <a:rPr sz="1019" b="0" dirty="0">
                <a:solidFill>
                  <a:srgbClr val="555045"/>
                </a:solidFill>
                <a:latin typeface="Arial"/>
              </a:rPr>
              <a:t> no se </a:t>
            </a:r>
            <a:r>
              <a:rPr sz="1019" b="0" dirty="0" err="1">
                <a:solidFill>
                  <a:srgbClr val="555045"/>
                </a:solidFill>
                <a:latin typeface="Arial"/>
              </a:rPr>
              <a:t>guarda</a:t>
            </a:r>
            <a:r>
              <a:rPr sz="1019" b="0" dirty="0">
                <a:solidFill>
                  <a:srgbClr val="555045"/>
                </a:solidFill>
                <a:latin typeface="Arial"/>
              </a:rPr>
              <a:t> para </a:t>
            </a:r>
            <a:r>
              <a:rPr sz="1019" b="0" dirty="0" err="1">
                <a:solidFill>
                  <a:srgbClr val="555045"/>
                </a:solidFill>
                <a:latin typeface="Arial"/>
              </a:rPr>
              <a:t>mañana</a:t>
            </a:r>
            <a:r>
              <a:rPr sz="1019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98994"/>
            <a:ext cx="10560794" cy="1787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▪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Quedarse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corto cuesta algo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más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del 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doble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pasarse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así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conviene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pedir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por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encima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lo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esperado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336035"/>
            <a:ext cx="10560794" cy="1787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▪ Pero solo hasta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cierto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punto, y 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ese punto es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distinto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cada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producto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porque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sus dos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costes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lo son.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El encargo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06834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LOS DATOS DE PARTIDA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04088"/>
            <a:ext cx="5387187" cy="3195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>
                <a:solidFill>
                  <a:srgbClr val="17150F"/>
                </a:solidFill>
                <a:latin typeface="Arial"/>
              </a:rPr>
              <a:t>Cinco tablas, trece semanas, ciento sesenta series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7138231"/>
              </p:ext>
            </p:extLst>
          </p:nvPr>
        </p:nvGraphicFramePr>
        <p:xfrm>
          <a:off x="433252" y="1070102"/>
          <a:ext cx="5387185" cy="226771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5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Tabla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 dirty="0" err="1">
                          <a:solidFill>
                            <a:srgbClr val="8B8478"/>
                          </a:solidFill>
                          <a:latin typeface="Arial"/>
                        </a:rPr>
                        <a:t>Contenido</a:t>
                      </a:r>
                      <a:endParaRPr sz="810" b="1" dirty="0">
                        <a:solidFill>
                          <a:srgbClr val="8B8478"/>
                        </a:solidFill>
                        <a:latin typeface="Arial"/>
                      </a:endParaRP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Uso en el proyecto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ventas_historicas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Ventas diarias por tienda y producto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Objetivo a predecir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catalogo_productos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Precio, coste unitario y almacenaje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Calcula el nivel de servicio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inventario_actual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Stock disponible por serie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Se resta del objetivo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maestro_tiendas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Ciudad y superficie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Superficie entra al modelo, ciudad no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ground_truth_trends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Patrón real de cada serie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 dirty="0">
                          <a:solidFill>
                            <a:srgbClr val="555045"/>
                          </a:solidFill>
                          <a:latin typeface="Arial"/>
                        </a:rPr>
                        <a:t>Solo </a:t>
                      </a:r>
                      <a:r>
                        <a:rPr sz="960" b="0" dirty="0" err="1">
                          <a:solidFill>
                            <a:srgbClr val="555045"/>
                          </a:solidFill>
                          <a:latin typeface="Arial"/>
                        </a:rPr>
                        <a:t>contraste</a:t>
                      </a:r>
                      <a:r>
                        <a:rPr sz="960" b="0" dirty="0">
                          <a:solidFill>
                            <a:srgbClr val="555045"/>
                          </a:solidFill>
                          <a:latin typeface="Arial"/>
                        </a:rPr>
                        <a:t>, </a:t>
                      </a:r>
                      <a:r>
                        <a:rPr sz="960" b="0" dirty="0" err="1">
                          <a:solidFill>
                            <a:srgbClr val="555045"/>
                          </a:solidFill>
                          <a:latin typeface="Arial"/>
                        </a:rPr>
                        <a:t>nunca</a:t>
                      </a:r>
                      <a:r>
                        <a:rPr sz="960" b="0" dirty="0">
                          <a:solidFill>
                            <a:srgbClr val="555045"/>
                          </a:solidFill>
                          <a:latin typeface="Arial"/>
                        </a:rPr>
                        <a:t> predictor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39" y="3738157"/>
            <a:ext cx="2578206" cy="6733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960" b="1" dirty="0">
                <a:solidFill>
                  <a:srgbClr val="17150F"/>
                </a:solidFill>
                <a:latin typeface="Arial"/>
              </a:rPr>
              <a:t>OBSERVACIONES DIARIAS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14.560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960" b="0" dirty="0">
                <a:solidFill>
                  <a:srgbClr val="555045"/>
                </a:solidFill>
                <a:latin typeface="Arial"/>
              </a:rPr>
              <a:t>del 1 de </a:t>
            </a:r>
            <a:r>
              <a:rPr sz="960" b="0" dirty="0" err="1">
                <a:solidFill>
                  <a:srgbClr val="555045"/>
                </a:solidFill>
                <a:latin typeface="Arial"/>
              </a:rPr>
              <a:t>enero</a:t>
            </a:r>
            <a:r>
              <a:rPr sz="960" b="0" dirty="0">
                <a:solidFill>
                  <a:srgbClr val="555045"/>
                </a:solidFill>
                <a:latin typeface="Arial"/>
              </a:rPr>
              <a:t> al 31 de </a:t>
            </a:r>
            <a:r>
              <a:rPr sz="960" b="0" dirty="0" err="1">
                <a:solidFill>
                  <a:srgbClr val="555045"/>
                </a:solidFill>
                <a:latin typeface="Arial"/>
              </a:rPr>
              <a:t>marzo</a:t>
            </a:r>
            <a:endParaRPr sz="960" b="0" dirty="0">
              <a:solidFill>
                <a:srgbClr val="555045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39" y="4778169"/>
            <a:ext cx="2026397" cy="6733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960" b="1" dirty="0">
                <a:solidFill>
                  <a:srgbClr val="17150F"/>
                </a:solidFill>
                <a:latin typeface="Arial"/>
              </a:rPr>
              <a:t>PANEL SEMANAL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2.080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960" b="0" dirty="0">
                <a:solidFill>
                  <a:srgbClr val="555045"/>
                </a:solidFill>
                <a:latin typeface="Arial"/>
              </a:rPr>
              <a:t>160 series × 13 </a:t>
            </a:r>
            <a:r>
              <a:rPr sz="960" b="0" dirty="0" err="1">
                <a:solidFill>
                  <a:srgbClr val="555045"/>
                </a:solidFill>
                <a:latin typeface="Arial"/>
              </a:rPr>
              <a:t>semanas</a:t>
            </a:r>
            <a:endParaRPr sz="960" b="0" dirty="0">
              <a:solidFill>
                <a:srgbClr val="555045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341519" y="3735834"/>
            <a:ext cx="2511538" cy="6733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960" b="1" dirty="0">
                <a:solidFill>
                  <a:srgbClr val="17150F"/>
                </a:solidFill>
                <a:latin typeface="Arial"/>
              </a:rPr>
              <a:t>SERIES ACTIVAS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160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960" b="0" dirty="0">
                <a:solidFill>
                  <a:srgbClr val="555045"/>
                </a:solidFill>
                <a:latin typeface="Arial"/>
              </a:rPr>
              <a:t>20 tiendas × 8 </a:t>
            </a:r>
            <a:r>
              <a:rPr sz="960" b="0" dirty="0" err="1">
                <a:solidFill>
                  <a:srgbClr val="555045"/>
                </a:solidFill>
                <a:latin typeface="Arial"/>
              </a:rPr>
              <a:t>productos</a:t>
            </a:r>
            <a:endParaRPr sz="960" b="0" dirty="0">
              <a:solidFill>
                <a:srgbClr val="555045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306754" y="4746531"/>
            <a:ext cx="2609184" cy="6733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960" b="1" dirty="0">
                <a:solidFill>
                  <a:srgbClr val="17150F"/>
                </a:solidFill>
                <a:latin typeface="Arial"/>
              </a:rPr>
              <a:t>SEMANAS COMPLETAS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13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960" b="0" dirty="0">
                <a:solidFill>
                  <a:srgbClr val="555045"/>
                </a:solidFill>
                <a:latin typeface="Arial"/>
              </a:rPr>
              <a:t>sin </a:t>
            </a:r>
            <a:r>
              <a:rPr sz="960" b="0" dirty="0" err="1">
                <a:solidFill>
                  <a:srgbClr val="555045"/>
                </a:solidFill>
                <a:latin typeface="Arial"/>
              </a:rPr>
              <a:t>periodos</a:t>
            </a:r>
            <a:r>
              <a:rPr sz="96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960" b="0" dirty="0" err="1">
                <a:solidFill>
                  <a:srgbClr val="555045"/>
                </a:solidFill>
                <a:latin typeface="Arial"/>
              </a:rPr>
              <a:t>parciales</a:t>
            </a:r>
            <a:endParaRPr sz="960" b="0" dirty="0">
              <a:solidFill>
                <a:srgbClr val="555045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255867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PASOS 1 Y 2 · AUDITORÍA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55867" y="889918"/>
            <a:ext cx="5387187" cy="3195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Antes de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modelar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,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comprobar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los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datos</a:t>
            </a:r>
            <a:endParaRPr sz="1450" b="1" dirty="0">
              <a:solidFill>
                <a:srgbClr val="17150F"/>
              </a:solidFill>
              <a:latin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255867" y="1246026"/>
            <a:ext cx="5387187" cy="4349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>
                <a:solidFill>
                  <a:srgbClr val="17150F"/>
                </a:solidFill>
                <a:latin typeface="Arial"/>
              </a:rPr>
              <a:t>▪ Integridad referencial.</a:t>
            </a:r>
            <a:r>
              <a:rPr sz="1080" b="0">
                <a:solidFill>
                  <a:srgbClr val="555045"/>
                </a:solidFill>
                <a:latin typeface="Arial"/>
              </a:rPr>
              <a:t> Todas las series de ventas existen en catálogo, tiendas e inventario, y al revés.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5867" y="1717551"/>
            <a:ext cx="5387187" cy="4349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>
                <a:solidFill>
                  <a:srgbClr val="17150F"/>
                </a:solidFill>
                <a:latin typeface="Arial"/>
              </a:rPr>
              <a:t>▪ Esquema declarado.</a:t>
            </a:r>
            <a:r>
              <a:rPr sz="1080" b="0">
                <a:solidFill>
                  <a:srgbClr val="555045"/>
                </a:solidFill>
                <a:latin typeface="Arial"/>
              </a:rPr>
              <a:t> Tipos, rangos y claves se validan contra un esquema, no contra la confianza.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5867" y="2189076"/>
            <a:ext cx="5387187" cy="4349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>
                <a:solidFill>
                  <a:srgbClr val="17150F"/>
                </a:solidFill>
                <a:latin typeface="Arial"/>
              </a:rPr>
              <a:t>▪ Calendario continuo.</a:t>
            </a:r>
            <a:r>
              <a:rPr sz="1080" b="0">
                <a:solidFill>
                  <a:srgbClr val="555045"/>
                </a:solidFill>
                <a:latin typeface="Arial"/>
              </a:rPr>
              <a:t> Trece semanas completas de lunes a domingo, sin huecos ni semanas parciales.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5867" y="2660601"/>
            <a:ext cx="5387187" cy="2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▪ Sin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duplicados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Una sola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observación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por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tienda,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producto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y día.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5847" y="548640"/>
            <a:ext cx="9525" cy="5577840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Los datos de partida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dirty="0">
                <a:solidFill>
                  <a:srgbClr val="8C2F39"/>
                </a:solidFill>
                <a:latin typeface="Arial"/>
              </a:rPr>
              <a:t>PASOS 3 Y 4 · UNIVARIADO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768096"/>
            <a:ext cx="502920" cy="3048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637215" cy="4457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7150F"/>
                </a:solidFill>
                <a:latin typeface="Arial"/>
              </a:rPr>
              <a:t>La demanda semanal se modela tal cual, sin transformar</a:t>
            </a:r>
          </a:p>
        </p:txBody>
      </p:sp>
      <p:pic>
        <p:nvPicPr>
          <p:cNvPr id="6" name="Picture 5" descr="01_distribucion_sema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13754"/>
            <a:ext cx="5852160" cy="32512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949440" y="1597914"/>
          <a:ext cx="4465014" cy="20116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8753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48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48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8B8478"/>
                          </a:solidFill>
                          <a:latin typeface="Arial"/>
                        </a:rPr>
                        <a:t>Diario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8B8478"/>
                          </a:solidFill>
                          <a:latin typeface="Arial"/>
                        </a:rPr>
                        <a:t>Semanal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7150F"/>
                          </a:solidFill>
                          <a:latin typeface="Arial"/>
                        </a:rPr>
                        <a:t>Media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555045"/>
                          </a:solidFill>
                          <a:latin typeface="Arial"/>
                        </a:rPr>
                        <a:t>13,2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555045"/>
                          </a:solidFill>
                          <a:latin typeface="Arial"/>
                        </a:rPr>
                        <a:t>92,2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7150F"/>
                          </a:solidFill>
                          <a:latin typeface="Arial"/>
                        </a:rPr>
                        <a:t>Coef. variación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555045"/>
                          </a:solidFill>
                          <a:latin typeface="Arial"/>
                        </a:rPr>
                        <a:t>0,591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555045"/>
                          </a:solidFill>
                          <a:latin typeface="Arial"/>
                        </a:rPr>
                        <a:t>0,449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7150F"/>
                          </a:solidFill>
                          <a:latin typeface="Arial"/>
                        </a:rPr>
                        <a:t>Asimetría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555045"/>
                          </a:solidFill>
                          <a:latin typeface="Arial"/>
                        </a:rPr>
                        <a:t>1,020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555045"/>
                          </a:solidFill>
                          <a:latin typeface="Arial"/>
                        </a:rPr>
                        <a:t>0,673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7150F"/>
                          </a:solidFill>
                          <a:latin typeface="Arial"/>
                        </a:rPr>
                        <a:t>Ceros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555045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555045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7150F"/>
                          </a:solidFill>
                          <a:latin typeface="Arial"/>
                        </a:rPr>
                        <a:t>Atípicos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555045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555045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949440" y="4112514"/>
            <a:ext cx="4465015" cy="9855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0" dirty="0">
                <a:solidFill>
                  <a:srgbClr val="555045"/>
                </a:solidFill>
                <a:latin typeface="Arial"/>
              </a:rPr>
              <a:t>Al pasar de día a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semana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la variable cambia de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carácter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: campana con cola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derecha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corta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y sin masa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pegada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al cero.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dirty="0">
                <a:solidFill>
                  <a:srgbClr val="17150F"/>
                </a:solidFill>
                <a:latin typeface="Arial"/>
              </a:rPr>
              <a:t>No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hace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falta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transformación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logarítmica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,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ni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modelos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de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conteo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,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ni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tratamiento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de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atípicos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Pasos 3-4 · Univariado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524" y="329507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2328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PASOS 3 Y 4 · UNIVARIADO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04088"/>
            <a:ext cx="5387187" cy="5552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>
                <a:solidFill>
                  <a:srgbClr val="17150F"/>
                </a:solidFill>
                <a:latin typeface="Arial"/>
              </a:rPr>
              <a:t>Agregar a semana elimina la señal dominante del dato diario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95908"/>
            <a:ext cx="4480560" cy="248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3876547"/>
            <a:ext cx="5387187" cy="12134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El fin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semana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vende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1,25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veces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 media y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jueves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0,82. Una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amplitud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1,54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veces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entre el día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más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alto y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más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bajo.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Cada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semana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periodo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contiene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exactamente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un día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cada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tipo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así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al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sumar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ciclo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anula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por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construcción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La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agregación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semanal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no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pierde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señal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útil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y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retira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una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fuente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de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variación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grande.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5867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PASOS 3 Y 4 · UNIVARIADO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5867" y="704088"/>
            <a:ext cx="5387187" cy="3195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>
                <a:solidFill>
                  <a:srgbClr val="17150F"/>
                </a:solidFill>
                <a:latin typeface="Arial"/>
              </a:rPr>
              <a:t>No hay memoria semanal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55867" y="1060196"/>
          <a:ext cx="5387185" cy="8229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5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Nivel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Rezago 1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Significativos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Diario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0,153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7, 14, 21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Semanal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0,101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ninguno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179" y="1964875"/>
            <a:ext cx="4480560" cy="171075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55867" y="3868235"/>
            <a:ext cx="5387187" cy="7982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70" b="1" dirty="0" err="1">
                <a:solidFill>
                  <a:srgbClr val="17150F"/>
                </a:solidFill>
                <a:latin typeface="Arial"/>
              </a:rPr>
              <a:t>Consecuencia</a:t>
            </a:r>
            <a:r>
              <a:rPr sz="1070" b="1" dirty="0">
                <a:solidFill>
                  <a:srgbClr val="17150F"/>
                </a:solidFill>
                <a:latin typeface="Arial"/>
              </a:rPr>
              <a:t> 1. </a:t>
            </a:r>
            <a:r>
              <a:rPr sz="1070" b="1" dirty="0" err="1">
                <a:solidFill>
                  <a:srgbClr val="17150F"/>
                </a:solidFill>
                <a:latin typeface="Arial"/>
              </a:rPr>
              <a:t>Pedir</a:t>
            </a:r>
            <a:r>
              <a:rPr sz="1070" b="1" dirty="0">
                <a:solidFill>
                  <a:srgbClr val="17150F"/>
                </a:solidFill>
                <a:latin typeface="Arial"/>
              </a:rPr>
              <a:t> lo </a:t>
            </a:r>
            <a:r>
              <a:rPr sz="1070" b="1" dirty="0" err="1">
                <a:solidFill>
                  <a:srgbClr val="17150F"/>
                </a:solidFill>
                <a:latin typeface="Arial"/>
              </a:rPr>
              <a:t>mismo</a:t>
            </a:r>
            <a:r>
              <a:rPr sz="107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70" b="1" dirty="0" err="1">
                <a:solidFill>
                  <a:srgbClr val="17150F"/>
                </a:solidFill>
                <a:latin typeface="Arial"/>
              </a:rPr>
              <a:t>que</a:t>
            </a:r>
            <a:r>
              <a:rPr sz="1070" b="1" dirty="0">
                <a:solidFill>
                  <a:srgbClr val="17150F"/>
                </a:solidFill>
                <a:latin typeface="Arial"/>
              </a:rPr>
              <a:t> la </a:t>
            </a:r>
            <a:r>
              <a:rPr sz="1070" b="1" dirty="0" err="1">
                <a:solidFill>
                  <a:srgbClr val="17150F"/>
                </a:solidFill>
                <a:latin typeface="Arial"/>
              </a:rPr>
              <a:t>semana</a:t>
            </a:r>
            <a:r>
              <a:rPr sz="107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70" b="1" dirty="0" err="1">
                <a:solidFill>
                  <a:srgbClr val="17150F"/>
                </a:solidFill>
                <a:latin typeface="Arial"/>
              </a:rPr>
              <a:t>pasada</a:t>
            </a:r>
            <a:r>
              <a:rPr sz="1070" b="1" dirty="0">
                <a:solidFill>
                  <a:srgbClr val="17150F"/>
                </a:solidFill>
                <a:latin typeface="Arial"/>
              </a:rPr>
              <a:t> es un rival </a:t>
            </a:r>
            <a:r>
              <a:rPr sz="1070" b="1" dirty="0" err="1">
                <a:solidFill>
                  <a:srgbClr val="17150F"/>
                </a:solidFill>
                <a:latin typeface="Arial"/>
              </a:rPr>
              <a:t>débil</a:t>
            </a:r>
            <a:r>
              <a:rPr sz="1070" b="1" dirty="0">
                <a:solidFill>
                  <a:srgbClr val="17150F"/>
                </a:solidFill>
                <a:latin typeface="Arial"/>
              </a:rPr>
              <a:t>, no </a:t>
            </a:r>
            <a:r>
              <a:rPr sz="1070" b="1" dirty="0" err="1">
                <a:solidFill>
                  <a:srgbClr val="17150F"/>
                </a:solidFill>
                <a:latin typeface="Arial"/>
              </a:rPr>
              <a:t>una</a:t>
            </a:r>
            <a:r>
              <a:rPr sz="107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70" b="1" dirty="0" err="1">
                <a:solidFill>
                  <a:srgbClr val="17150F"/>
                </a:solidFill>
                <a:latin typeface="Arial"/>
              </a:rPr>
              <a:t>buena</a:t>
            </a:r>
            <a:r>
              <a:rPr sz="107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70" b="1" dirty="0" err="1">
                <a:solidFill>
                  <a:srgbClr val="17150F"/>
                </a:solidFill>
                <a:latin typeface="Arial"/>
              </a:rPr>
              <a:t>referencia</a:t>
            </a:r>
            <a:r>
              <a:rPr sz="1070" b="1" dirty="0">
                <a:solidFill>
                  <a:srgbClr val="17150F"/>
                </a:solidFill>
                <a:latin typeface="Arial"/>
              </a:rPr>
              <a:t>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70" b="1" dirty="0" err="1">
                <a:solidFill>
                  <a:srgbClr val="17150F"/>
                </a:solidFill>
                <a:latin typeface="Arial"/>
              </a:rPr>
              <a:t>Consecuencia</a:t>
            </a:r>
            <a:r>
              <a:rPr sz="1070" b="1" dirty="0">
                <a:solidFill>
                  <a:srgbClr val="17150F"/>
                </a:solidFill>
                <a:latin typeface="Arial"/>
              </a:rPr>
              <a:t> 2. Las variables </a:t>
            </a:r>
            <a:r>
              <a:rPr sz="1070" b="1" dirty="0" err="1">
                <a:solidFill>
                  <a:srgbClr val="17150F"/>
                </a:solidFill>
                <a:latin typeface="Arial"/>
              </a:rPr>
              <a:t>útiles</a:t>
            </a:r>
            <a:r>
              <a:rPr sz="107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70" b="1" dirty="0" err="1">
                <a:solidFill>
                  <a:srgbClr val="17150F"/>
                </a:solidFill>
                <a:latin typeface="Arial"/>
              </a:rPr>
              <a:t>serán</a:t>
            </a:r>
            <a:r>
              <a:rPr sz="1070" b="1" dirty="0">
                <a:solidFill>
                  <a:srgbClr val="17150F"/>
                </a:solidFill>
                <a:latin typeface="Arial"/>
              </a:rPr>
              <a:t> medias </a:t>
            </a:r>
            <a:r>
              <a:rPr sz="1070" b="1" dirty="0" err="1">
                <a:solidFill>
                  <a:srgbClr val="17150F"/>
                </a:solidFill>
                <a:latin typeface="Arial"/>
              </a:rPr>
              <a:t>móviles</a:t>
            </a:r>
            <a:r>
              <a:rPr sz="1070" b="1" dirty="0">
                <a:solidFill>
                  <a:srgbClr val="17150F"/>
                </a:solidFill>
                <a:latin typeface="Arial"/>
              </a:rPr>
              <a:t>, </a:t>
            </a:r>
            <a:r>
              <a:rPr sz="1070" b="1" dirty="0" err="1">
                <a:solidFill>
                  <a:srgbClr val="17150F"/>
                </a:solidFill>
                <a:latin typeface="Arial"/>
              </a:rPr>
              <a:t>que</a:t>
            </a:r>
            <a:r>
              <a:rPr sz="107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70" b="1" dirty="0" err="1">
                <a:solidFill>
                  <a:srgbClr val="17150F"/>
                </a:solidFill>
                <a:latin typeface="Arial"/>
              </a:rPr>
              <a:t>promedian</a:t>
            </a:r>
            <a:r>
              <a:rPr sz="1070" b="1" dirty="0">
                <a:solidFill>
                  <a:srgbClr val="17150F"/>
                </a:solidFill>
                <a:latin typeface="Arial"/>
              </a:rPr>
              <a:t> el </a:t>
            </a:r>
            <a:r>
              <a:rPr sz="1070" b="1" dirty="0" err="1">
                <a:solidFill>
                  <a:srgbClr val="17150F"/>
                </a:solidFill>
                <a:latin typeface="Arial"/>
              </a:rPr>
              <a:t>ruido</a:t>
            </a:r>
            <a:r>
              <a:rPr sz="1070" b="1" dirty="0">
                <a:solidFill>
                  <a:srgbClr val="17150F"/>
                </a:solidFill>
                <a:latin typeface="Arial"/>
              </a:rPr>
              <a:t>, y no el </a:t>
            </a:r>
            <a:r>
              <a:rPr sz="1070" b="1" dirty="0" err="1">
                <a:solidFill>
                  <a:srgbClr val="17150F"/>
                </a:solidFill>
                <a:latin typeface="Arial"/>
              </a:rPr>
              <a:t>rezago</a:t>
            </a:r>
            <a:r>
              <a:rPr sz="1070" b="1" dirty="0">
                <a:solidFill>
                  <a:srgbClr val="17150F"/>
                </a:solidFill>
                <a:latin typeface="Arial"/>
              </a:rPr>
              <a:t> de </a:t>
            </a:r>
            <a:r>
              <a:rPr sz="1070" b="1" dirty="0" err="1">
                <a:solidFill>
                  <a:srgbClr val="17150F"/>
                </a:solidFill>
                <a:latin typeface="Arial"/>
              </a:rPr>
              <a:t>una</a:t>
            </a:r>
            <a:r>
              <a:rPr sz="107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70" b="1" dirty="0" err="1">
                <a:solidFill>
                  <a:srgbClr val="17150F"/>
                </a:solidFill>
                <a:latin typeface="Arial"/>
              </a:rPr>
              <a:t>semana</a:t>
            </a:r>
            <a:r>
              <a:rPr sz="1070" b="1" dirty="0">
                <a:solidFill>
                  <a:srgbClr val="17150F"/>
                </a:solidFill>
                <a:latin typeface="Arial"/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5847" y="548640"/>
            <a:ext cx="9525" cy="5577840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Pasos 3-4 · Univariado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4289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63648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PASOS 3 Y 4 · UNIVARIADO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04088"/>
            <a:ext cx="5387187" cy="3195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El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techo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de lo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predecible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, y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por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qué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el R² no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sirve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aquí</a:t>
            </a:r>
            <a:endParaRPr sz="1450" b="1" dirty="0">
              <a:solidFill>
                <a:srgbClr val="17150F"/>
              </a:solidFill>
              <a:latin typeface="Arial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060196"/>
          <a:ext cx="5387186" cy="106070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4631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9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Fuente de varianza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Peso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Diferencias entre series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90,0 %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1">
                          <a:solidFill>
                            <a:srgbClr val="17150F"/>
                          </a:solidFill>
                          <a:latin typeface="Arial"/>
                        </a:rPr>
                        <a:t>Tendencia de cada serie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1">
                          <a:solidFill>
                            <a:srgbClr val="17150F"/>
                          </a:solidFill>
                          <a:latin typeface="Arial"/>
                        </a:rPr>
                        <a:t>3,6 %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Ruido irrecuperable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6,5 %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953" y="2198623"/>
            <a:ext cx="4480560" cy="17532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029609"/>
            <a:ext cx="5387187" cy="12363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 err="1">
                <a:solidFill>
                  <a:srgbClr val="555045"/>
                </a:solidFill>
                <a:latin typeface="Arial"/>
              </a:rPr>
              <a:t>Predecir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 media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cada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serie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ya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da un R² de 0,900. Un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modelo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reporte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0,88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estaría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por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debajo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una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tabla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medias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hecha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una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hoja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cálculo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El R²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queda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descartado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como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métrica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principal. Se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mide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con error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porcentual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ponderado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y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pérdida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pinball.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El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trabajo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del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modelo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es ese 3,6 % de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tendencia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 Todo lo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demás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lo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resuelve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la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identidad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de la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serie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5867" y="450751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PASOS 3 Y 4 · UNIVARIADO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5867" y="704088"/>
            <a:ext cx="5387187" cy="3195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>
                <a:solidFill>
                  <a:srgbClr val="17150F"/>
                </a:solidFill>
                <a:latin typeface="Arial"/>
              </a:rPr>
              <a:t>Ese 3,6 % es exactamente donde está el caso de negocio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179" y="1060196"/>
            <a:ext cx="4480560" cy="2489200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55867" y="3640835"/>
          <a:ext cx="5387185" cy="106070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5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Grupo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Series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Recorrido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Crecen más de 20 %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hasta +61 %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Planas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±5 %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Caen más de 20 %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hasta −55 %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255867" y="4765546"/>
            <a:ext cx="5387187" cy="80560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69 de las 160 series se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mueven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más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un 20 %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trece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semanas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y las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subidas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compensan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a las bajadas: no hay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deriva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global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aprovechar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En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esas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69 series,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quien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pide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mirando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el histórico se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queda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corto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las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que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suben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y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acumula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merma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las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que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bajan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5847" y="548640"/>
            <a:ext cx="9525" cy="5577840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Pasos 3-4 · Univariado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36296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PASOS 3 Y 4 · UNIVARIADO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04088"/>
            <a:ext cx="5387187" cy="3195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>
                <a:solidFill>
                  <a:srgbClr val="17150F"/>
                </a:solidFill>
                <a:latin typeface="Arial"/>
              </a:rPr>
              <a:t>Qué variables de contexto entran y cuáles se descartan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60196"/>
            <a:ext cx="4480560" cy="26136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3765296"/>
            <a:ext cx="5387187" cy="3747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▪ La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superficie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entra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Correlación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0,976 con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demanda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la tienda.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Permite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además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estimar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una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tienda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nueva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sin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historial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217314"/>
            <a:ext cx="5387187" cy="3747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▪ La ciudad se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descarta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Sobre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residuo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tamaño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no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aporta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nada, y con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una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sola tienda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Cali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cualquier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conclusión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sería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indefendible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69332"/>
            <a:ext cx="5387187" cy="3747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>
                <a:solidFill>
                  <a:srgbClr val="17150F"/>
                </a:solidFill>
                <a:latin typeface="Arial"/>
              </a:rPr>
              <a:t>▪ Precio y coste se quedan fuera del modelo.</a:t>
            </a:r>
            <a:r>
              <a:rPr sz="1080" b="0">
                <a:solidFill>
                  <a:srgbClr val="555045"/>
                </a:solidFill>
                <a:latin typeface="Arial"/>
              </a:rPr>
              <a:t> Su sitio es la capa de costes, no la matriz de entrada.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121350"/>
            <a:ext cx="5387187" cy="3747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>
                <a:solidFill>
                  <a:srgbClr val="17150F"/>
                </a:solidFill>
                <a:latin typeface="Arial"/>
              </a:rPr>
              <a:t>▪ Producto y tienda con indicadoras.</a:t>
            </a:r>
            <a:r>
              <a:rPr sz="1080" b="0">
                <a:solidFill>
                  <a:srgbClr val="555045"/>
                </a:solidFill>
                <a:latin typeface="Arial"/>
              </a:rPr>
              <a:t> El diseño está balanceado, así que codificar por frecuencia devolvería una constante.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5867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C2F39"/>
                </a:solidFill>
                <a:latin typeface="Arial"/>
              </a:rPr>
              <a:t>PASOS 3 Y 4 · UNIVARIADO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55867" y="704088"/>
            <a:ext cx="5387187" cy="5552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>
                <a:solidFill>
                  <a:srgbClr val="17150F"/>
                </a:solidFill>
                <a:latin typeface="Arial"/>
              </a:rPr>
              <a:t>Las etiquetas de tendencia no describen lo que hacen las series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179" y="1314196"/>
            <a:ext cx="4480560" cy="1194816"/>
          </a:xfrm>
          <a:prstGeom prst="rect">
            <a:avLst/>
          </a:prstGeom>
        </p:spPr>
      </p:pic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255867" y="2582164"/>
          <a:ext cx="5387185" cy="129844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5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Patrón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Series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Cambio mediano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down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−1,0 %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seasonal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−2,5 %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random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+2,8 %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up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+3,5 %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255867" y="3935476"/>
            <a:ext cx="5387187" cy="80560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contraste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Kruskal-Wallis da p = 0,453: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etiqueta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explica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1,6 % de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variación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observada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 El panel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etiquetado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«up»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tiene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 recta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ajustada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descendente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El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fichero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sigue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excluido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del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modelo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, y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además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su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valor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como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herramienta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de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diagnóstico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es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mucho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menor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de lo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esperado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5847" y="548640"/>
            <a:ext cx="9525" cy="5577840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Pasos 3-4 · Univariado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429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PASOS 5 A 8 · DISEÑO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04088"/>
            <a:ext cx="5387187" cy="3195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Las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particiones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se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congelan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antes de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modelar</a:t>
            </a:r>
            <a:endParaRPr sz="1450" b="1" dirty="0">
              <a:solidFill>
                <a:srgbClr val="17150F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060196"/>
            <a:ext cx="5387187" cy="2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>
                <a:solidFill>
                  <a:srgbClr val="555045"/>
                </a:solidFill>
                <a:latin typeface="Arial"/>
              </a:rPr>
              <a:t>Ajustarlas después de ver resultados invalidaría toda la evaluación.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56156"/>
          <a:ext cx="5387185" cy="188366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0201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23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23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23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Periodo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Semanas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Filas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Uso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Historia de los rezagos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1 a 4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No genera filas utilizables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Entrenamiento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5 a 10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960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El modelo aprende aquí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1">
                          <a:solidFill>
                            <a:srgbClr val="17150F"/>
                          </a:solidFill>
                          <a:latin typeface="Arial"/>
                        </a:rPr>
                        <a:t>Prueba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1">
                          <a:solidFill>
                            <a:srgbClr val="17150F"/>
                          </a:solidFill>
                          <a:latin typeface="Arial"/>
                        </a:rPr>
                        <a:t>11 a 13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1">
                          <a:solidFill>
                            <a:srgbClr val="17150F"/>
                          </a:solidFill>
                          <a:latin typeface="Arial"/>
                        </a:rPr>
                        <a:t>480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1">
                          <a:solidFill>
                            <a:srgbClr val="17150F"/>
                          </a:solidFill>
                          <a:latin typeface="Arial"/>
                        </a:rPr>
                        <a:t>Intacta hasta el final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Predicción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Se entrega, sin observación real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58165" y="3452778"/>
            <a:ext cx="5387187" cy="4349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▪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Dentro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entrenamiento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tres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pliegues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de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ventana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expansiva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: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ajusta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con 5-7 y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valida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8, luego 5-8 y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valida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9, luego 5-9 y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valida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10.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8165" y="3924303"/>
            <a:ext cx="5387187" cy="4349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▪ Los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hiperparámetros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y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longitud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la media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móvil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se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eligen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validación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nunca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prueba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8165" y="4395828"/>
            <a:ext cx="5387187" cy="4349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▪ Las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semanas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se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deducen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del panel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: no hay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ninguna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constante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con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número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semanas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así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diseño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recalcula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solo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si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llegan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más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datos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8165" y="4867353"/>
            <a:ext cx="5387187" cy="4349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>
                <a:solidFill>
                  <a:srgbClr val="17150F"/>
                </a:solidFill>
                <a:latin typeface="Arial"/>
              </a:rPr>
              <a:t>▪ Limitación declarada.</a:t>
            </a:r>
            <a:r>
              <a:rPr sz="1080" b="0">
                <a:solidFill>
                  <a:srgbClr val="555045"/>
                </a:solidFill>
                <a:latin typeface="Arial"/>
              </a:rPr>
              <a:t> El univariado se hizo sobre las trece semanas. Queda escrita en vez de disimularse.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55867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C2F39"/>
                </a:solidFill>
                <a:latin typeface="Arial"/>
              </a:rPr>
              <a:t>PASOS 5 A 8 · VARIABLES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5867" y="704088"/>
            <a:ext cx="5387187" cy="5552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Trece variables,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todas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calculadas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de la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semana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anterior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hacia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atrás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255867" y="1295908"/>
          <a:ext cx="5387185" cy="226771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5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Familia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Variables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Qué capturan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Rezagos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rezago_1 a rezago_4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El dato crudo de cada semana previa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Medias móviles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media_2, media_3, media_4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El nivel reciente, promediando el ruido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Desviaciones móviles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desv_2, desv_3, desv_4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La volatilidad propia de la serie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Dirección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pendiente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Hacia dónde va la serie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Derivadas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razon_ultima, cv_reciente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Posición y dispersión relativas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255867" y="3712162"/>
            <a:ext cx="5387187" cy="4349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▪ La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prueba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antifuga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es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automática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Reconstruye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todas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las variables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ocultando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lo posterior al corte y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exige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filas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anteriores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salgan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idénticas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5867" y="4183687"/>
            <a:ext cx="5387187" cy="6105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▪ Las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correlaciones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marginales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engañan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Todas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pasan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0,90 con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objetivo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pero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al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restar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 media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cada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serie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caen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a cero: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reflejan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nivel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no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predicen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5867" y="4830777"/>
            <a:ext cx="5387187" cy="4349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>
                <a:solidFill>
                  <a:srgbClr val="17150F"/>
                </a:solidFill>
                <a:latin typeface="Arial"/>
              </a:rPr>
              <a:t>▪ Rezagos y medias móviles son linealmente dependientes.</a:t>
            </a:r>
            <a:r>
              <a:rPr sz="1080" b="0">
                <a:solidFill>
                  <a:srgbClr val="555045"/>
                </a:solidFill>
                <a:latin typeface="Arial"/>
              </a:rPr>
              <a:t> Un modelo lineal no puede recibir ambos: media_2 es la semisuma de rezago_1 y rezago_2.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5847" y="548640"/>
            <a:ext cx="9525" cy="5577840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Pasos 5-8 · Diseño experimental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4289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PASOS 5 A 8 · LÍNEAS 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04088"/>
            <a:ext cx="5387187" cy="5552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 err="1">
                <a:solidFill>
                  <a:srgbClr val="17150F"/>
                </a:solidFill>
                <a:latin typeface="Arial"/>
              </a:rPr>
              <a:t>Cuántas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semanas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mirar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: el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barrido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se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hace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en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validación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, no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en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prueba</a:t>
            </a:r>
            <a:endParaRPr sz="1450" b="1" dirty="0">
              <a:solidFill>
                <a:srgbClr val="17150F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295908"/>
            <a:ext cx="5387187" cy="17401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métrica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línea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base es el WAPE: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suma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los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errores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unidades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y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los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divide entre las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ventas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reales,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así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cada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serie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pesa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según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vende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 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diferencia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del MAPE, no se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dispara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las series de bajo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volumen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ni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rompe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con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ventas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cercanas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a cero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La curva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tiene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forma de U. Con 4 y 5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semanas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error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empata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11,28 %. Por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debajo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entra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ruido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por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encima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entra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historia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desfasada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Se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toma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4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porque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igual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error,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ventana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más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corta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gasta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una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semana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menos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historia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 Con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trece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semanas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cada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semana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extra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ventana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cuesta 160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filas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entrenamiento</a:t>
            </a:r>
            <a:endParaRPr sz="1080" b="0" dirty="0">
              <a:solidFill>
                <a:srgbClr val="555045"/>
              </a:solidFill>
              <a:latin typeface="Arial"/>
            </a:endParaRP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72587"/>
            <a:ext cx="4480560" cy="248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55867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PASOS 5 A 8 · LÍNEAS BASE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5867" y="704088"/>
            <a:ext cx="5387187" cy="3195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>
                <a:solidFill>
                  <a:srgbClr val="17150F"/>
                </a:solidFill>
                <a:latin typeface="Arial"/>
              </a:rPr>
              <a:t>El listón: media móvil de cuatro semanas, 11,91 % de error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487" y="1043327"/>
            <a:ext cx="4480560" cy="2358189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55867" y="3509825"/>
          <a:ext cx="5387185" cy="129844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5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Línea base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WAPE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R²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1">
                          <a:solidFill>
                            <a:srgbClr val="17150F"/>
                          </a:solidFill>
                          <a:latin typeface="Arial"/>
                        </a:rPr>
                        <a:t>Media móvil 4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1">
                          <a:solidFill>
                            <a:srgbClr val="17150F"/>
                          </a:solidFill>
                          <a:latin typeface="Arial"/>
                        </a:rPr>
                        <a:t>11,91 %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1">
                          <a:solidFill>
                            <a:srgbClr val="17150F"/>
                          </a:solidFill>
                          <a:latin typeface="Arial"/>
                        </a:rPr>
                        <a:t>0,899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Persistencia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13,40 %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0,876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Media histórica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13,99 %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0,856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Deriva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15,51 %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0,833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55867" y="4863137"/>
            <a:ext cx="5387187" cy="10017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deriva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es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peor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y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eso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es un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hallazgo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Estimar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pendiente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con cuatro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semanas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y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proyectarla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una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hacia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adelante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casi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todo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ruido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Cualquier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modelo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se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mide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contra el 11,91 %. Una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mejora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del 5 al 10 %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sería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buena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;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una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mejora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muy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superior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debe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hacer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sospechar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de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fuga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antes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que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celebrarse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5847" y="548640"/>
            <a:ext cx="9525" cy="5577840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Pasos 5-8 · Líneas 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8C2F39"/>
                </a:solidFill>
                <a:latin typeface="Arial"/>
              </a:rPr>
              <a:t>PASO 9 · COSTES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768096"/>
            <a:ext cx="502920" cy="3048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637215" cy="4457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7150F"/>
                </a:solidFill>
                <a:latin typeface="Arial"/>
              </a:rPr>
              <a:t>El nivel de servicio no se elige: sale de dos precios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06474"/>
            <a:ext cx="9966960" cy="2833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55045"/>
                </a:solidFill>
                <a:latin typeface="Arial"/>
              </a:rPr>
              <a:t>Este paso se ejecuta antes de entrenar, porque decide cuántos modelos hacen falta y cuáles.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990979"/>
            <a:ext cx="10637215" cy="132588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2228723"/>
            <a:ext cx="999713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7150F"/>
                </a:solidFill>
                <a:latin typeface="Arial"/>
              </a:rPr>
              <a:t>nivel de servicio  =  margen perdido  ÷  ( margen perdido  +  coste del sobrante )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8C2F39"/>
                </a:solidFill>
                <a:latin typeface="Arial"/>
              </a:rPr>
              <a:t>Para el Tinto:   1.700 ÷ ( 1.700 + 810 )  =  0,68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737483"/>
            <a:ext cx="63500" cy="635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8408" y="3636899"/>
            <a:ext cx="10436047" cy="2833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450" b="1">
                <a:solidFill>
                  <a:srgbClr val="17150F"/>
                </a:solidFill>
                <a:latin typeface="Arial"/>
              </a:rPr>
              <a:t>En esa expresión no aparece la demanda.</a:t>
            </a:r>
            <a:r>
              <a:rPr sz="1450" b="0">
                <a:solidFill>
                  <a:srgbClr val="555045"/>
                </a:solidFill>
                <a:latin typeface="Arial"/>
              </a:rPr>
              <a:t> Depende solo de dos precios, y cada producto tiene los suyos.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148836"/>
            <a:ext cx="63500" cy="635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78408" y="4048252"/>
            <a:ext cx="10436047" cy="5300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450" b="1">
                <a:solidFill>
                  <a:srgbClr val="17150F"/>
                </a:solidFill>
                <a:latin typeface="Arial"/>
              </a:rPr>
              <a:t>Si mañana cambia el precio del Tinto, no hay que reentrenar nada</a:t>
            </a:r>
            <a:r>
              <a:rPr sz="1450" b="0">
                <a:solidFill>
                  <a:srgbClr val="555045"/>
                </a:solidFill>
                <a:latin typeface="Arial"/>
              </a:rPr>
              <a:t>: se recalcula el nivel y el pedido se ajusta solo.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544822"/>
            <a:ext cx="63500" cy="635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78408" y="4444238"/>
            <a:ext cx="10436047" cy="2833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El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mismo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modelo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sirve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para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los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ocho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productos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con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políticas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distintas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576" y="4995100"/>
            <a:ext cx="63500" cy="635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76744" y="4894516"/>
            <a:ext cx="10436047" cy="2833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La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conversación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con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negocio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queda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separada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de la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técnica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.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Discutir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costes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no es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discutir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algoritmos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Paso 9 · Costes y niveles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PASO 9 · COSTES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04088"/>
            <a:ext cx="5387187" cy="2315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00" b="1" dirty="0">
                <a:solidFill>
                  <a:srgbClr val="17150F"/>
                </a:solidFill>
                <a:latin typeface="Arial"/>
              </a:rPr>
              <a:t>Con el </a:t>
            </a:r>
            <a:r>
              <a:rPr sz="1400" b="1" dirty="0" err="1">
                <a:solidFill>
                  <a:srgbClr val="17150F"/>
                </a:solidFill>
                <a:latin typeface="Arial"/>
              </a:rPr>
              <a:t>coste</a:t>
            </a:r>
            <a:r>
              <a:rPr sz="1400" b="1" dirty="0">
                <a:solidFill>
                  <a:srgbClr val="17150F"/>
                </a:solidFill>
                <a:latin typeface="Arial"/>
              </a:rPr>
              <a:t> del </a:t>
            </a:r>
            <a:r>
              <a:rPr sz="1400" b="1" dirty="0" err="1">
                <a:solidFill>
                  <a:srgbClr val="17150F"/>
                </a:solidFill>
                <a:latin typeface="Arial"/>
              </a:rPr>
              <a:t>enunciado</a:t>
            </a:r>
            <a:r>
              <a:rPr sz="14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17150F"/>
                </a:solidFill>
                <a:latin typeface="Arial"/>
              </a:rPr>
              <a:t>los</a:t>
            </a:r>
            <a:r>
              <a:rPr sz="14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17150F"/>
                </a:solidFill>
                <a:latin typeface="Arial"/>
              </a:rPr>
              <a:t>ocho</a:t>
            </a:r>
            <a:r>
              <a:rPr sz="14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17150F"/>
                </a:solidFill>
                <a:latin typeface="Arial"/>
              </a:rPr>
              <a:t>productos</a:t>
            </a:r>
            <a:r>
              <a:rPr sz="14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17150F"/>
                </a:solidFill>
                <a:latin typeface="Arial"/>
              </a:rPr>
              <a:t>salen</a:t>
            </a:r>
            <a:r>
              <a:rPr sz="14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17150F"/>
                </a:solidFill>
                <a:latin typeface="Arial"/>
              </a:rPr>
              <a:t>iguales</a:t>
            </a:r>
            <a:endParaRPr sz="1400" b="1" dirty="0">
              <a:solidFill>
                <a:srgbClr val="17150F"/>
              </a:solidFill>
              <a:latin typeface="Arial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040688"/>
          <a:ext cx="5387185" cy="215188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5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730" b="1">
                          <a:solidFill>
                            <a:srgbClr val="8B8478"/>
                          </a:solidFill>
                          <a:latin typeface="Arial"/>
                        </a:rPr>
                        <a:t>Producto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30" b="1">
                          <a:solidFill>
                            <a:srgbClr val="8B8478"/>
                          </a:solidFill>
                          <a:latin typeface="Arial"/>
                        </a:rPr>
                        <a:t>Sin merma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30" b="1">
                          <a:solidFill>
                            <a:srgbClr val="8B8478"/>
                          </a:solidFill>
                          <a:latin typeface="Arial"/>
                        </a:rPr>
                        <a:t>Con merma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7150F"/>
                          </a:solidFill>
                          <a:latin typeface="Arial"/>
                        </a:rPr>
                        <a:t>Cappuccino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0">
                          <a:solidFill>
                            <a:srgbClr val="555045"/>
                          </a:solidFill>
                          <a:latin typeface="Arial"/>
                        </a:rPr>
                        <a:t>0,995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0">
                          <a:solidFill>
                            <a:srgbClr val="555045"/>
                          </a:solidFill>
                          <a:latin typeface="Arial"/>
                        </a:rPr>
                        <a:t>0,66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7150F"/>
                          </a:solidFill>
                          <a:latin typeface="Arial"/>
                        </a:rPr>
                        <a:t>Tinto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0">
                          <a:solidFill>
                            <a:srgbClr val="555045"/>
                          </a:solidFill>
                          <a:latin typeface="Arial"/>
                        </a:rPr>
                        <a:t>0,994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0">
                          <a:solidFill>
                            <a:srgbClr val="555045"/>
                          </a:solidFill>
                          <a:latin typeface="Arial"/>
                        </a:rPr>
                        <a:t>0,68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7150F"/>
                          </a:solidFill>
                          <a:latin typeface="Arial"/>
                        </a:rPr>
                        <a:t>Café con Leche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0">
                          <a:solidFill>
                            <a:srgbClr val="555045"/>
                          </a:solidFill>
                          <a:latin typeface="Arial"/>
                        </a:rPr>
                        <a:t>0,994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0">
                          <a:solidFill>
                            <a:srgbClr val="555045"/>
                          </a:solidFill>
                          <a:latin typeface="Arial"/>
                        </a:rPr>
                        <a:t>0,65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7150F"/>
                          </a:solidFill>
                          <a:latin typeface="Arial"/>
                        </a:rPr>
                        <a:t>Croissant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0">
                          <a:solidFill>
                            <a:srgbClr val="555045"/>
                          </a:solidFill>
                          <a:latin typeface="Arial"/>
                        </a:rPr>
                        <a:t>0,989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0">
                          <a:solidFill>
                            <a:srgbClr val="555045"/>
                          </a:solidFill>
                          <a:latin typeface="Arial"/>
                        </a:rPr>
                        <a:t>0,65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7150F"/>
                          </a:solidFill>
                          <a:latin typeface="Arial"/>
                        </a:rPr>
                        <a:t>Pan de Bono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0">
                          <a:solidFill>
                            <a:srgbClr val="555045"/>
                          </a:solidFill>
                          <a:latin typeface="Arial"/>
                        </a:rPr>
                        <a:t>0,989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0">
                          <a:solidFill>
                            <a:srgbClr val="555045"/>
                          </a:solidFill>
                          <a:latin typeface="Arial"/>
                        </a:rPr>
                        <a:t>0,64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7150F"/>
                          </a:solidFill>
                          <a:latin typeface="Arial"/>
                        </a:rPr>
                        <a:t>Buñuelo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0">
                          <a:solidFill>
                            <a:srgbClr val="555045"/>
                          </a:solidFill>
                          <a:latin typeface="Arial"/>
                        </a:rPr>
                        <a:t>0,988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0">
                          <a:solidFill>
                            <a:srgbClr val="555045"/>
                          </a:solidFill>
                          <a:latin typeface="Arial"/>
                        </a:rPr>
                        <a:t>0,67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7150F"/>
                          </a:solidFill>
                          <a:latin typeface="Arial"/>
                        </a:rPr>
                        <a:t>Pastel de Pollo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0">
                          <a:solidFill>
                            <a:srgbClr val="555045"/>
                          </a:solidFill>
                          <a:latin typeface="Arial"/>
                        </a:rPr>
                        <a:t>0,985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0">
                          <a:solidFill>
                            <a:srgbClr val="555045"/>
                          </a:solidFill>
                          <a:latin typeface="Arial"/>
                        </a:rPr>
                        <a:t>0,57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7150F"/>
                          </a:solidFill>
                          <a:latin typeface="Arial"/>
                        </a:rPr>
                        <a:t>Jugo de Naranja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0">
                          <a:solidFill>
                            <a:srgbClr val="555045"/>
                          </a:solidFill>
                          <a:latin typeface="Arial"/>
                        </a:rPr>
                        <a:t>0,984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0">
                          <a:solidFill>
                            <a:srgbClr val="555045"/>
                          </a:solidFill>
                          <a:latin typeface="Arial"/>
                        </a:rPr>
                        <a:t>0,59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62476"/>
            <a:ext cx="4122115" cy="22573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510884"/>
            <a:ext cx="5387187" cy="6094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Sin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merma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los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ocho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caben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una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amplitud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0,011: son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indistinguibles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y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pregunta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encargo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sin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respuesta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Con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merma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se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abren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de 0,57 a 0,68 y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quedan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ordenados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exactamente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por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margen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5867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C2F39"/>
                </a:solidFill>
                <a:latin typeface="Arial"/>
              </a:rPr>
              <a:t>PASO 9 · COSTES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5867" y="704088"/>
            <a:ext cx="5387187" cy="3195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La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pregunta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a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negocio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no es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binaria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, es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cuantitativa</a:t>
            </a:r>
            <a:endParaRPr sz="1450" b="1" dirty="0">
              <a:solidFill>
                <a:srgbClr val="17150F"/>
              </a:solidFill>
              <a:latin typeface="Arial"/>
            </a:endParaRP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180" y="1070657"/>
            <a:ext cx="4480560" cy="2604977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5385198"/>
              </p:ext>
            </p:extLst>
          </p:nvPr>
        </p:nvGraphicFramePr>
        <p:xfrm>
          <a:off x="6371480" y="3756804"/>
          <a:ext cx="5387186" cy="153619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4631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9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810" b="1" dirty="0">
                          <a:solidFill>
                            <a:srgbClr val="8B8478"/>
                          </a:solidFill>
                          <a:latin typeface="Arial"/>
                        </a:rPr>
                        <a:t>Se </a:t>
                      </a:r>
                      <a:r>
                        <a:rPr sz="810" b="1" dirty="0" err="1">
                          <a:solidFill>
                            <a:srgbClr val="8B8478"/>
                          </a:solidFill>
                          <a:latin typeface="Arial"/>
                        </a:rPr>
                        <a:t>descarta</a:t>
                      </a:r>
                      <a:endParaRPr sz="810" b="1" dirty="0">
                        <a:solidFill>
                          <a:srgbClr val="8B8478"/>
                        </a:solidFill>
                        <a:latin typeface="Arial"/>
                      </a:endParaRP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Nivel del Tinto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0 %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0,994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20 %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0,909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40 %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0,837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50 %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0,806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100 %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 dirty="0">
                          <a:solidFill>
                            <a:srgbClr val="555045"/>
                          </a:solidFill>
                          <a:latin typeface="Arial"/>
                        </a:rPr>
                        <a:t>0,677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255867" y="5338525"/>
            <a:ext cx="5387187" cy="3747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caída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más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fuerte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está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al principio. Basta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suponer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pierde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un 20 % del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sobrante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para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nivel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baje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0,99 a 0,91.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5847" y="548640"/>
            <a:ext cx="9525" cy="5577840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Paso 9 · Costes y niveles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506474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8C2F39"/>
                </a:solidFill>
                <a:latin typeface="Arial"/>
              </a:rPr>
              <a:t>PASO 9 · LA REJILLA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768096"/>
            <a:ext cx="502920" cy="3048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637215" cy="2121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dirty="0" err="1">
                <a:solidFill>
                  <a:srgbClr val="17150F"/>
                </a:solidFill>
                <a:latin typeface="Arial"/>
              </a:rPr>
              <a:t>Diecisiete</a:t>
            </a:r>
            <a:r>
              <a:rPr sz="14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17150F"/>
                </a:solidFill>
                <a:latin typeface="Arial"/>
              </a:rPr>
              <a:t>niveles</a:t>
            </a:r>
            <a:r>
              <a:rPr sz="1400" b="1" dirty="0">
                <a:solidFill>
                  <a:srgbClr val="17150F"/>
                </a:solidFill>
                <a:latin typeface="Arial"/>
              </a:rPr>
              <a:t>: </a:t>
            </a:r>
            <a:r>
              <a:rPr sz="1400" b="1" dirty="0" err="1">
                <a:solidFill>
                  <a:srgbClr val="17150F"/>
                </a:solidFill>
                <a:latin typeface="Arial"/>
              </a:rPr>
              <a:t>eso</a:t>
            </a:r>
            <a:r>
              <a:rPr sz="1400" b="1" dirty="0">
                <a:solidFill>
                  <a:srgbClr val="17150F"/>
                </a:solidFill>
                <a:latin typeface="Arial"/>
              </a:rPr>
              <a:t> es lo </a:t>
            </a:r>
            <a:r>
              <a:rPr sz="1400" b="1" dirty="0" err="1">
                <a:solidFill>
                  <a:srgbClr val="17150F"/>
                </a:solidFill>
                <a:latin typeface="Arial"/>
              </a:rPr>
              <a:t>que</a:t>
            </a:r>
            <a:r>
              <a:rPr sz="1400" b="1" dirty="0">
                <a:solidFill>
                  <a:srgbClr val="17150F"/>
                </a:solidFill>
                <a:latin typeface="Arial"/>
              </a:rPr>
              <a:t> hay </a:t>
            </a:r>
            <a:r>
              <a:rPr sz="1400" b="1" dirty="0" err="1">
                <a:solidFill>
                  <a:srgbClr val="17150F"/>
                </a:solidFill>
                <a:latin typeface="Arial"/>
              </a:rPr>
              <a:t>que</a:t>
            </a:r>
            <a:r>
              <a:rPr sz="14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17150F"/>
                </a:solidFill>
                <a:latin typeface="Arial"/>
              </a:rPr>
              <a:t>entrenar</a:t>
            </a:r>
            <a:endParaRPr sz="1400" b="1" dirty="0">
              <a:solidFill>
                <a:srgbClr val="17150F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77240" y="1256460"/>
            <a:ext cx="9966960" cy="1971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rgbClr val="555045"/>
                </a:solidFill>
                <a:latin typeface="Arial"/>
              </a:rPr>
              <a:t>Hasta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tener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esta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lista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no se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sabía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cuántos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modelos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cuantil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hacen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falta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68427" y="1656956"/>
            <a:ext cx="6695613" cy="596515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09789" y="1862976"/>
            <a:ext cx="9997135" cy="1844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dirty="0">
                <a:solidFill>
                  <a:srgbClr val="17150F"/>
                </a:solidFill>
                <a:latin typeface="Arial"/>
              </a:rPr>
              <a:t>0,50   0,57   0,59   0,64   0,65   0,66   0,67   0,68   0,72   0,74   0,78   0,79   0,80   0,81   0,90   0,98   0,99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636570"/>
            <a:ext cx="63500" cy="635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8408" y="2535986"/>
            <a:ext cx="10436047" cy="189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100" b="0" dirty="0" err="1">
                <a:solidFill>
                  <a:srgbClr val="555045"/>
                </a:solidFill>
                <a:latin typeface="Arial"/>
              </a:rPr>
              <a:t>Reúne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los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niveles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piden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los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tres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escenarios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de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coste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más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el 0,50 para el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pronóstico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central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quiere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negocio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y el 0,90 para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auditar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la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incertidumbre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958642"/>
            <a:ext cx="63500" cy="635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78408" y="2858058"/>
            <a:ext cx="10436047" cy="189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100" b="1" dirty="0">
                <a:solidFill>
                  <a:srgbClr val="17150F"/>
                </a:solidFill>
                <a:latin typeface="Arial"/>
              </a:rPr>
              <a:t>Un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estimador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de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cuantiles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solo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devuelve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el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cuantil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para el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que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fue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entrenado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.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Por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eso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son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diecisiete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modelos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y no uno.</a:t>
            </a:r>
            <a:r>
              <a:rPr lang="es-419" sz="1100" b="0" dirty="0">
                <a:solidFill>
                  <a:srgbClr val="555045"/>
                </a:solidFill>
                <a:latin typeface="Arial"/>
              </a:rPr>
              <a:t>z</a:t>
            </a:r>
            <a:endParaRPr sz="1100" b="0" dirty="0">
              <a:solidFill>
                <a:srgbClr val="555045"/>
              </a:solidFill>
              <a:latin typeface="Arial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Paso 9 · La rejilla de niveles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D508CDE-25C9-2DA1-6102-88A2353DF819}"/>
              </a:ext>
            </a:extLst>
          </p:cNvPr>
          <p:cNvSpPr txBox="1"/>
          <p:nvPr/>
        </p:nvSpPr>
        <p:spPr>
          <a:xfrm>
            <a:off x="776937" y="3742342"/>
            <a:ext cx="10637215" cy="2121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17150F"/>
                </a:solidFill>
                <a:latin typeface="Arial"/>
              </a:rPr>
              <a:t>Cuatro </a:t>
            </a:r>
            <a:r>
              <a:rPr sz="1400" b="1" dirty="0" err="1">
                <a:solidFill>
                  <a:srgbClr val="17150F"/>
                </a:solidFill>
                <a:latin typeface="Arial"/>
              </a:rPr>
              <a:t>decisiones</a:t>
            </a:r>
            <a:r>
              <a:rPr sz="14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17150F"/>
                </a:solidFill>
                <a:latin typeface="Arial"/>
              </a:rPr>
              <a:t>tomadas</a:t>
            </a:r>
            <a:r>
              <a:rPr sz="1400" b="1" dirty="0">
                <a:solidFill>
                  <a:srgbClr val="17150F"/>
                </a:solidFill>
                <a:latin typeface="Arial"/>
              </a:rPr>
              <a:t> antes de </a:t>
            </a:r>
            <a:r>
              <a:rPr sz="1400" b="1" dirty="0" err="1">
                <a:solidFill>
                  <a:srgbClr val="17150F"/>
                </a:solidFill>
                <a:latin typeface="Arial"/>
              </a:rPr>
              <a:t>mirar</a:t>
            </a:r>
            <a:r>
              <a:rPr sz="14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17150F"/>
                </a:solidFill>
                <a:latin typeface="Arial"/>
              </a:rPr>
              <a:t>ningún</a:t>
            </a:r>
            <a:r>
              <a:rPr sz="14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17150F"/>
                </a:solidFill>
                <a:latin typeface="Arial"/>
              </a:rPr>
              <a:t>resultado</a:t>
            </a:r>
            <a:endParaRPr sz="1400" b="1" dirty="0">
              <a:solidFill>
                <a:srgbClr val="17150F"/>
              </a:solidFill>
              <a:latin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9C532F-42EF-6CED-12CE-115A4FBFA75A}"/>
              </a:ext>
            </a:extLst>
          </p:cNvPr>
          <p:cNvSpPr txBox="1"/>
          <p:nvPr/>
        </p:nvSpPr>
        <p:spPr>
          <a:xfrm>
            <a:off x="978104" y="4097215"/>
            <a:ext cx="9966960" cy="1971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rgbClr val="555045"/>
                </a:solidFill>
                <a:latin typeface="Arial"/>
              </a:rPr>
              <a:t>Siete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familias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todas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ajustadas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con la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misma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búsqueda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y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evaluadas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las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mismas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semanas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prueba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BF590F1-EF59-6485-FCF5-310C6DC58BA7}"/>
              </a:ext>
            </a:extLst>
          </p:cNvPr>
          <p:cNvSpPr/>
          <p:nvPr/>
        </p:nvSpPr>
        <p:spPr>
          <a:xfrm>
            <a:off x="776935" y="4124368"/>
            <a:ext cx="63500" cy="635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FDB15FC-432A-6C26-3A8F-92BA92B7D71F}"/>
              </a:ext>
            </a:extLst>
          </p:cNvPr>
          <p:cNvSpPr txBox="1"/>
          <p:nvPr/>
        </p:nvSpPr>
        <p:spPr>
          <a:xfrm>
            <a:off x="978105" y="4478395"/>
            <a:ext cx="10436047" cy="39953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100" b="1" dirty="0">
                <a:solidFill>
                  <a:srgbClr val="17150F"/>
                </a:solidFill>
                <a:latin typeface="Arial"/>
              </a:rPr>
              <a:t>Los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modelos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puntuales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compiten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en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la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misma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métrica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.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A Ridge, al boosting y a la media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móvil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se les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suma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el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cuantil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empírico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de sus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propios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residuales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. Sin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eso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cualquier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modelo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probabilístico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habría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ganado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por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defecto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y no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por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mérito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F3B634-9A8B-6166-D98D-B464E04C1C02}"/>
              </a:ext>
            </a:extLst>
          </p:cNvPr>
          <p:cNvSpPr/>
          <p:nvPr/>
        </p:nvSpPr>
        <p:spPr>
          <a:xfrm>
            <a:off x="776936" y="4505034"/>
            <a:ext cx="63500" cy="635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E18E86-722D-0B82-A38A-2B57481B0064}"/>
              </a:ext>
            </a:extLst>
          </p:cNvPr>
          <p:cNvSpPr txBox="1"/>
          <p:nvPr/>
        </p:nvSpPr>
        <p:spPr>
          <a:xfrm>
            <a:off x="978104" y="5014302"/>
            <a:ext cx="10436047" cy="189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100" b="1" dirty="0" err="1">
                <a:solidFill>
                  <a:srgbClr val="17150F"/>
                </a:solidFill>
                <a:latin typeface="Arial"/>
              </a:rPr>
              <a:t>Todas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se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ajustan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con la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misma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búsqueda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: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optimización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bayesiana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, 30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ensayos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minimizando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la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pérdida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pinball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sobre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los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pliegues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100" b="0" dirty="0" err="1">
                <a:solidFill>
                  <a:srgbClr val="555045"/>
                </a:solidFill>
                <a:latin typeface="Arial"/>
              </a:rPr>
              <a:t>validación</a:t>
            </a:r>
            <a:r>
              <a:rPr sz="110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579AF26-B80A-59BE-0C37-4439BAF6AF9D}"/>
              </a:ext>
            </a:extLst>
          </p:cNvPr>
          <p:cNvSpPr txBox="1"/>
          <p:nvPr/>
        </p:nvSpPr>
        <p:spPr>
          <a:xfrm>
            <a:off x="776936" y="5446299"/>
            <a:ext cx="10637215" cy="4053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6000"/>
              </a:lnSpc>
              <a:spcAft>
                <a:spcPts val="0"/>
              </a:spcAft>
            </a:pPr>
            <a:r>
              <a:rPr sz="1100" b="1" dirty="0">
                <a:solidFill>
                  <a:srgbClr val="17150F"/>
                </a:solidFill>
                <a:latin typeface="Arial"/>
              </a:rPr>
              <a:t>La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métrica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principal es la </a:t>
            </a:r>
            <a:r>
              <a:rPr sz="1100" b="1" dirty="0" err="1">
                <a:solidFill>
                  <a:srgbClr val="17150F"/>
                </a:solidFill>
                <a:latin typeface="Arial"/>
              </a:rPr>
              <a:t>pérdida</a:t>
            </a:r>
            <a:r>
              <a:rPr sz="1100" b="1" dirty="0">
                <a:solidFill>
                  <a:srgbClr val="17150F"/>
                </a:solidFill>
                <a:latin typeface="Arial"/>
              </a:rPr>
              <a:t> pinball</a:t>
            </a:r>
            <a:r>
              <a:rPr sz="1100" b="0" dirty="0">
                <a:solidFill>
                  <a:srgbClr val="8B8478"/>
                </a:solidFill>
                <a:latin typeface="Arial"/>
              </a:rPr>
              <a:t>, </a:t>
            </a:r>
            <a:r>
              <a:rPr sz="1100" b="0" dirty="0" err="1">
                <a:solidFill>
                  <a:srgbClr val="8B8478"/>
                </a:solidFill>
                <a:latin typeface="Arial"/>
              </a:rPr>
              <a:t>que</a:t>
            </a:r>
            <a:r>
              <a:rPr sz="1100" b="0" dirty="0">
                <a:solidFill>
                  <a:srgbClr val="8B8478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8B8478"/>
                </a:solidFill>
                <a:latin typeface="Arial"/>
              </a:rPr>
              <a:t>penaliza</a:t>
            </a:r>
            <a:r>
              <a:rPr sz="1100" b="0" dirty="0">
                <a:solidFill>
                  <a:srgbClr val="8B8478"/>
                </a:solidFill>
                <a:latin typeface="Arial"/>
              </a:rPr>
              <a:t> de forma </a:t>
            </a:r>
            <a:r>
              <a:rPr sz="1100" b="0" dirty="0" err="1">
                <a:solidFill>
                  <a:srgbClr val="8B8478"/>
                </a:solidFill>
                <a:latin typeface="Arial"/>
              </a:rPr>
              <a:t>asimétrica</a:t>
            </a:r>
            <a:r>
              <a:rPr sz="1100" b="0" dirty="0">
                <a:solidFill>
                  <a:srgbClr val="8B8478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8B8478"/>
                </a:solidFill>
                <a:latin typeface="Arial"/>
              </a:rPr>
              <a:t>igual</a:t>
            </a:r>
            <a:r>
              <a:rPr sz="1100" b="0" dirty="0">
                <a:solidFill>
                  <a:srgbClr val="8B8478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8B8478"/>
                </a:solidFill>
                <a:latin typeface="Arial"/>
              </a:rPr>
              <a:t>que</a:t>
            </a:r>
            <a:r>
              <a:rPr sz="1100" b="0" dirty="0">
                <a:solidFill>
                  <a:srgbClr val="8B8478"/>
                </a:solidFill>
                <a:latin typeface="Arial"/>
              </a:rPr>
              <a:t> lo </a:t>
            </a:r>
            <a:r>
              <a:rPr sz="1100" b="0" dirty="0" err="1">
                <a:solidFill>
                  <a:srgbClr val="8B8478"/>
                </a:solidFill>
                <a:latin typeface="Arial"/>
              </a:rPr>
              <a:t>hace</a:t>
            </a:r>
            <a:r>
              <a:rPr sz="1100" b="0" dirty="0">
                <a:solidFill>
                  <a:srgbClr val="8B8478"/>
                </a:solidFill>
                <a:latin typeface="Arial"/>
              </a:rPr>
              <a:t> el </a:t>
            </a:r>
            <a:r>
              <a:rPr sz="1100" b="0" dirty="0" err="1">
                <a:solidFill>
                  <a:srgbClr val="8B8478"/>
                </a:solidFill>
                <a:latin typeface="Arial"/>
              </a:rPr>
              <a:t>negocio</a:t>
            </a:r>
            <a:r>
              <a:rPr sz="1100" b="0" dirty="0">
                <a:solidFill>
                  <a:srgbClr val="8B8478"/>
                </a:solidFill>
                <a:latin typeface="Arial"/>
              </a:rPr>
              <a:t>. El WAPE se </a:t>
            </a:r>
            <a:r>
              <a:rPr sz="1100" b="0" dirty="0" err="1">
                <a:solidFill>
                  <a:srgbClr val="8B8478"/>
                </a:solidFill>
                <a:latin typeface="Arial"/>
              </a:rPr>
              <a:t>reporta</a:t>
            </a:r>
            <a:r>
              <a:rPr sz="1100" b="0" dirty="0">
                <a:solidFill>
                  <a:srgbClr val="8B8478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8B8478"/>
                </a:solidFill>
                <a:latin typeface="Arial"/>
              </a:rPr>
              <a:t>sobre</a:t>
            </a:r>
            <a:r>
              <a:rPr sz="1100" b="0" dirty="0">
                <a:solidFill>
                  <a:srgbClr val="8B8478"/>
                </a:solidFill>
                <a:latin typeface="Arial"/>
              </a:rPr>
              <a:t> el </a:t>
            </a:r>
            <a:r>
              <a:rPr sz="1100" b="0" dirty="0" err="1">
                <a:solidFill>
                  <a:srgbClr val="8B8478"/>
                </a:solidFill>
                <a:latin typeface="Arial"/>
              </a:rPr>
              <a:t>pronóstico</a:t>
            </a:r>
            <a:r>
              <a:rPr sz="1100" b="0" dirty="0">
                <a:solidFill>
                  <a:srgbClr val="8B8478"/>
                </a:solidFill>
                <a:latin typeface="Arial"/>
              </a:rPr>
              <a:t> central, </a:t>
            </a:r>
            <a:r>
              <a:rPr sz="1100" b="0" dirty="0" err="1">
                <a:solidFill>
                  <a:srgbClr val="8B8478"/>
                </a:solidFill>
                <a:latin typeface="Arial"/>
              </a:rPr>
              <a:t>como</a:t>
            </a:r>
            <a:r>
              <a:rPr sz="1100" b="0" dirty="0">
                <a:solidFill>
                  <a:srgbClr val="8B8478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8B8478"/>
                </a:solidFill>
                <a:latin typeface="Arial"/>
              </a:rPr>
              <a:t>en</a:t>
            </a:r>
            <a:r>
              <a:rPr sz="1100" b="0" dirty="0">
                <a:solidFill>
                  <a:srgbClr val="8B8478"/>
                </a:solidFill>
                <a:latin typeface="Arial"/>
              </a:rPr>
              <a:t> la </a:t>
            </a:r>
            <a:r>
              <a:rPr sz="1100" b="0" dirty="0" err="1">
                <a:solidFill>
                  <a:srgbClr val="8B8478"/>
                </a:solidFill>
                <a:latin typeface="Arial"/>
              </a:rPr>
              <a:t>línea</a:t>
            </a:r>
            <a:r>
              <a:rPr sz="1100" b="0" dirty="0">
                <a:solidFill>
                  <a:srgbClr val="8B8478"/>
                </a:solidFill>
                <a:latin typeface="Arial"/>
              </a:rPr>
              <a:t> base.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6E9C5C9-5C3E-0159-3589-BA44D49724AB}"/>
              </a:ext>
            </a:extLst>
          </p:cNvPr>
          <p:cNvSpPr txBox="1"/>
          <p:nvPr/>
        </p:nvSpPr>
        <p:spPr>
          <a:xfrm>
            <a:off x="776935" y="3436411"/>
            <a:ext cx="10637215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dirty="0">
                <a:solidFill>
                  <a:srgbClr val="8C2F39"/>
                </a:solidFill>
                <a:latin typeface="Arial"/>
              </a:rPr>
              <a:t>PASO 10 · SELECCIÓN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8C2F39"/>
                </a:solidFill>
                <a:latin typeface="Arial"/>
              </a:rPr>
              <a:t>PASO 10 · RESULTADO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768096"/>
            <a:ext cx="502920" cy="3048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637215" cy="4457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7150F"/>
                </a:solidFill>
                <a:latin typeface="Arial"/>
              </a:rPr>
              <a:t>Seis modelos empatan y todos superan a la media móvil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06474"/>
            <a:ext cx="9966960" cy="5300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dirty="0" err="1">
                <a:solidFill>
                  <a:srgbClr val="555045"/>
                </a:solidFill>
                <a:latin typeface="Arial"/>
              </a:rPr>
              <a:t>Sobre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las 480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decisiones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de las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semanas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prueba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. Pinball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tres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niveles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; WAPE, MAE y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sesgo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sobre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el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pronóstico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central.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237740"/>
          <a:ext cx="10637210" cy="252374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765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00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00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7009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764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3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573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6372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8B8478"/>
                          </a:solidFill>
                          <a:latin typeface="Arial"/>
                        </a:rPr>
                        <a:t>Familia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8B8478"/>
                          </a:solidFill>
                          <a:latin typeface="Arial"/>
                        </a:rPr>
                        <a:t>Pinball 0,50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8B8478"/>
                          </a:solidFill>
                          <a:latin typeface="Arial"/>
                        </a:rPr>
                        <a:t>Pinball 0,65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8B8478"/>
                          </a:solidFill>
                          <a:latin typeface="Arial"/>
                        </a:rPr>
                        <a:t>Pinball 0,90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8B8478"/>
                          </a:solidFill>
                          <a:latin typeface="Arial"/>
                        </a:rPr>
                        <a:t>Pinball media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8B8478"/>
                          </a:solidFill>
                          <a:latin typeface="Arial"/>
                        </a:rPr>
                        <a:t>WAPE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8B8478"/>
                          </a:solidFill>
                          <a:latin typeface="Arial"/>
                        </a:rPr>
                        <a:t>MAE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8B8478"/>
                          </a:solidFill>
                          <a:latin typeface="Arial"/>
                        </a:rPr>
                        <a:t>Sesgo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7150F"/>
                          </a:solidFill>
                          <a:latin typeface="Arial"/>
                        </a:rPr>
                        <a:t>Bosque cuantílico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7150F"/>
                          </a:solidFill>
                          <a:latin typeface="Arial"/>
                        </a:rPr>
                        <a:t>5,490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7150F"/>
                          </a:solidFill>
                          <a:latin typeface="Arial"/>
                        </a:rPr>
                        <a:t>5,103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7150F"/>
                          </a:solidFill>
                          <a:latin typeface="Arial"/>
                        </a:rPr>
                        <a:t>2,341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7150F"/>
                          </a:solidFill>
                          <a:latin typeface="Arial"/>
                        </a:rPr>
                        <a:t>4,311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7150F"/>
                          </a:solidFill>
                          <a:latin typeface="Arial"/>
                        </a:rPr>
                        <a:t>11,77 %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7150F"/>
                          </a:solidFill>
                          <a:latin typeface="Arial"/>
                        </a:rPr>
                        <a:t>10,98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7150F"/>
                          </a:solidFill>
                          <a:latin typeface="Arial"/>
                        </a:rPr>
                        <a:t>−0,09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7150F"/>
                          </a:solidFill>
                          <a:latin typeface="Arial"/>
                        </a:rPr>
                        <a:t>GBR + residuales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5,514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5,117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2,328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4,320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11,82 %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11,03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−0,13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7150F"/>
                          </a:solidFill>
                          <a:latin typeface="Arial"/>
                        </a:rPr>
                        <a:t>Boosting cuantílico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5,467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5,136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2,391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4,331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11,72 %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10,93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0,00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7150F"/>
                          </a:solidFill>
                          <a:latin typeface="Arial"/>
                        </a:rPr>
                        <a:t>Ridge + residuales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5,508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5,172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2,335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4,338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11,81 %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11,02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+0,24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7150F"/>
                          </a:solidFill>
                          <a:latin typeface="Arial"/>
                        </a:rPr>
                        <a:t>Regresión cuantílica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5,484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5,166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2,378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4,343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11,76 %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10,97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+0,11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7150F"/>
                          </a:solidFill>
                          <a:latin typeface="Arial"/>
                        </a:rPr>
                        <a:t>Ensemble + residuales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5,574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5,177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2,407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4,386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11,95 %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11,15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+0,08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7150F"/>
                          </a:solidFill>
                          <a:latin typeface="Arial"/>
                        </a:rPr>
                        <a:t>Media móvil + residuales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5,563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5,319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2,741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4,541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11,93 %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11,13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−0,02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172964"/>
            <a:ext cx="63500" cy="635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8" y="5072380"/>
            <a:ext cx="10436047" cy="4790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300" b="1">
                <a:solidFill>
                  <a:srgbClr val="17150F"/>
                </a:solidFill>
                <a:latin typeface="Arial"/>
              </a:rPr>
              <a:t>Por pérdida pinball gana el bosque cuantílico.</a:t>
            </a:r>
            <a:r>
              <a:rPr sz="1300" b="0">
                <a:solidFill>
                  <a:srgbClr val="555045"/>
                </a:solidFill>
                <a:latin typeface="Arial"/>
              </a:rPr>
              <a:t> Por WAPE del pronóstico central gana el boosting, con 11,72 % frente al 11,91 % de la línea base.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780024"/>
            <a:ext cx="63500" cy="635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8" y="5679440"/>
            <a:ext cx="10436047" cy="4790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300" b="1">
                <a:solidFill>
                  <a:srgbClr val="17150F"/>
                </a:solidFill>
                <a:latin typeface="Arial"/>
              </a:rPr>
              <a:t>Las diferencias entre los seis modelos son de centésimas.</a:t>
            </a:r>
            <a:r>
              <a:rPr sz="1300" b="0">
                <a:solidFill>
                  <a:srgbClr val="555045"/>
                </a:solidFill>
                <a:latin typeface="Arial"/>
              </a:rPr>
              <a:t> La mejora sobre la media móvil es real pero modesta: el techo lo pone la información disponible, no el algoritmo.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Paso 10 · Selección de familia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429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PASO 10 · RESULTADO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04088"/>
            <a:ext cx="5387187" cy="3195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Las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diferencias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entre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los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seis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modelos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son de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centésimas</a:t>
            </a:r>
            <a:endParaRPr sz="1450" b="1" dirty="0">
              <a:solidFill>
                <a:srgbClr val="17150F"/>
              </a:solidFill>
              <a:latin typeface="Arial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953" y="1074400"/>
            <a:ext cx="4480560" cy="2292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3444015"/>
            <a:ext cx="5387187" cy="3747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▪ En el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nivel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de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operación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, 0,65, el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mejor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y el sexto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están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a 0,07 de pinball.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 media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móvil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a 0,22 del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mejor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96033"/>
            <a:ext cx="5387187" cy="3747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▪ Una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mejora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muy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superior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habría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sido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sospechosa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univariado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ya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decía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solo un 3,6 % de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varianza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tendencia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predecible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5867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PASO 10 · SELECCIÓN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5867" y="704088"/>
            <a:ext cx="5387187" cy="3195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 err="1">
                <a:solidFill>
                  <a:srgbClr val="17150F"/>
                </a:solidFill>
                <a:latin typeface="Arial"/>
              </a:rPr>
              <a:t>Qué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diferencias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son reales y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cuáles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son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ruido</a:t>
            </a:r>
            <a:endParaRPr sz="1450" b="1" dirty="0">
              <a:solidFill>
                <a:srgbClr val="17150F"/>
              </a:solidFill>
              <a:latin typeface="Arial"/>
            </a:endParaRP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3895" y="1140998"/>
            <a:ext cx="4480560" cy="218563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55867" y="3444015"/>
            <a:ext cx="5387187" cy="17440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 err="1">
                <a:solidFill>
                  <a:srgbClr val="555045"/>
                </a:solidFill>
                <a:latin typeface="Arial"/>
              </a:rPr>
              <a:t>Contraste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Diebold-Mariano contra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mejor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nivel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operación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8C2F39"/>
                </a:solidFill>
                <a:latin typeface="Arial"/>
              </a:rPr>
              <a:t>Los seis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modelos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: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empate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técnico</a:t>
            </a:r>
            <a:endParaRPr sz="1080" b="1" dirty="0">
              <a:solidFill>
                <a:srgbClr val="8C2F39"/>
              </a:solidFill>
              <a:latin typeface="Arial"/>
            </a:endParaRP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p entre 0,12 y 0,58. No se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puede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afirmar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ninguno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sea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mejor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otro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8C2F39"/>
                </a:solidFill>
                <a:latin typeface="Arial"/>
              </a:rPr>
              <a:t>La media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móvil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: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pierde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 con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evidencia</a:t>
            </a:r>
            <a:endParaRPr sz="1080" b="1" dirty="0">
              <a:solidFill>
                <a:srgbClr val="8C2F39"/>
              </a:solidFill>
              <a:latin typeface="Arial"/>
            </a:endParaRP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p = 0,008.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los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modelos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superan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a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línea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base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sí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está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demostrado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Las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bandas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al 95 % se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solapan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entre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todas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las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familias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: no hay un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ganador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estadístico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dentro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de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los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seis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modelos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 La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elección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tendrá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que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decidirse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por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otros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criterios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5847" y="548640"/>
            <a:ext cx="9525" cy="5577840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Paso 10 · Selección de familia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0480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PASO 10 · SELECCIÓN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04088"/>
            <a:ext cx="5387187" cy="3195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El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colchón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decide entre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los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que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empatan</a:t>
            </a:r>
            <a:endParaRPr sz="1450" b="1" dirty="0">
              <a:solidFill>
                <a:srgbClr val="17150F"/>
              </a:solidFill>
              <a:latin typeface="Arial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953" y="1060196"/>
            <a:ext cx="4480560" cy="234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3608324"/>
            <a:ext cx="5387187" cy="3747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▪ El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colchón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es la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distancia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entre el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nivel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0,90 y el 0,50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cada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serie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 Cada punto es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una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las 480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decisiones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prueba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060342"/>
            <a:ext cx="5387187" cy="3747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>
                <a:solidFill>
                  <a:srgbClr val="17150F"/>
                </a:solidFill>
                <a:latin typeface="Arial"/>
              </a:rPr>
              <a:t>▪ La media móvil aplica el mismo colchón a las 160 series</a:t>
            </a:r>
            <a:r>
              <a:rPr sz="1080" b="0">
                <a:solidFill>
                  <a:srgbClr val="555045"/>
                </a:solidFill>
                <a:latin typeface="Arial"/>
              </a:rPr>
              <a:t>, a la más estable y a la más volátil: su nube es una línea. Por eso no sirve para operar.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512360"/>
            <a:ext cx="5387187" cy="5709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>
                <a:solidFill>
                  <a:srgbClr val="17150F"/>
                </a:solidFill>
                <a:latin typeface="Arial"/>
              </a:rPr>
              <a:t>▪ Los seis modelos lo gradúan serie a serie.</a:t>
            </a:r>
            <a:r>
              <a:rPr sz="1080" b="0">
                <a:solidFill>
                  <a:srgbClr val="555045"/>
                </a:solidFill>
                <a:latin typeface="Arial"/>
              </a:rPr>
              <a:t> Entre ellos, la regresión cuantílica tiene el colchón más estable: desviación de 6,6 unidades y mínimo de 5,4, frente a mínimos de 2,8 en otras familias que en series pequeñas dejan un margen demasiado ajustado.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5867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C2F39"/>
                </a:solidFill>
                <a:latin typeface="Arial"/>
              </a:rPr>
              <a:t>PASO 10 · SELECCIÓN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5867" y="704088"/>
            <a:ext cx="5387187" cy="3195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Ante un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empate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de seis, se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elige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por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interpretabilidad</a:t>
            </a:r>
            <a:endParaRPr sz="1450" b="1" dirty="0">
              <a:solidFill>
                <a:srgbClr val="17150F"/>
              </a:solidFill>
              <a:latin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255867" y="1060196"/>
            <a:ext cx="5387187" cy="4349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Cuando las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diferencias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no se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distinguen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ruido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elegir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por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puede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explicar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es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decisión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correcta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y hay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decirlo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así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5867" y="1531721"/>
            <a:ext cx="5387187" cy="7860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▪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Interpretabilidad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Es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única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con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coeficientes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pueden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enseñar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y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como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trabaja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proporción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leen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porcentaje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: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una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desviación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típica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última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semana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mueve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predicción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un 1,85 %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sobre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 media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reciente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 Eso se le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explica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a un jefe de tienda. Un bosque de 300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árboles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no.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5867" y="2354376"/>
            <a:ext cx="5387187" cy="4349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▪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Estabilidad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del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colchón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menor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desviación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las seis y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mínimo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más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alto. En series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pequeñas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eso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evita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márgenes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demasiado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ajustados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5867" y="2825901"/>
            <a:ext cx="5387187" cy="2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▪ Coste de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cómputo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despreciable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y sin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dependencias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adicionales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5867" y="3121861"/>
            <a:ext cx="5387187" cy="4349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 err="1">
                <a:solidFill>
                  <a:srgbClr val="8C2F39"/>
                </a:solidFill>
                <a:latin typeface="Arial"/>
              </a:rPr>
              <a:t>Configuración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operativa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: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regresión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cuantílica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, 17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niveles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,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mismos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hiperparámetros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en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todos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5847" y="548640"/>
            <a:ext cx="9525" cy="5577840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Paso 10 · Selección de familia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67676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PASO 11 · LA REJILLA ENTRENADA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04088"/>
            <a:ext cx="5387187" cy="291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280" b="1">
                <a:solidFill>
                  <a:srgbClr val="17150F"/>
                </a:solidFill>
                <a:latin typeface="Arial"/>
              </a:rPr>
              <a:t>El nivel de servicio que se promete es real, no una etiqueta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786" y="1041686"/>
            <a:ext cx="3942892" cy="2664116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4744967"/>
              </p:ext>
            </p:extLst>
          </p:nvPr>
        </p:nvGraphicFramePr>
        <p:xfrm>
          <a:off x="1457004" y="3776038"/>
          <a:ext cx="3181840" cy="18136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411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40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66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116">
                <a:tc>
                  <a:txBody>
                    <a:bodyPr/>
                    <a:lstStyle/>
                    <a:p>
                      <a:pPr algn="l"/>
                      <a:r>
                        <a:rPr sz="800" b="1" dirty="0">
                          <a:solidFill>
                            <a:srgbClr val="8B8478"/>
                          </a:solidFill>
                          <a:latin typeface="Arial"/>
                        </a:rPr>
                        <a:t>Nivel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dirty="0" err="1">
                          <a:solidFill>
                            <a:srgbClr val="8B8478"/>
                          </a:solidFill>
                          <a:latin typeface="Arial"/>
                        </a:rPr>
                        <a:t>Cobertura</a:t>
                      </a:r>
                      <a:endParaRPr sz="800" b="1" dirty="0">
                        <a:solidFill>
                          <a:srgbClr val="8B8478"/>
                        </a:solidFill>
                        <a:latin typeface="Arial"/>
                      </a:endParaRP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dirty="0" err="1">
                          <a:solidFill>
                            <a:srgbClr val="8B8478"/>
                          </a:solidFill>
                          <a:latin typeface="Arial"/>
                        </a:rPr>
                        <a:t>Desvío</a:t>
                      </a:r>
                      <a:endParaRPr sz="800" b="1" dirty="0">
                        <a:solidFill>
                          <a:srgbClr val="8B8478"/>
                        </a:solidFill>
                        <a:latin typeface="Arial"/>
                      </a:endParaRP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3583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7150F"/>
                          </a:solidFill>
                          <a:latin typeface="Arial"/>
                        </a:rPr>
                        <a:t>0,50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55045"/>
                          </a:solidFill>
                          <a:latin typeface="Arial"/>
                        </a:rPr>
                        <a:t>0,510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55045"/>
                          </a:solidFill>
                          <a:latin typeface="Arial"/>
                        </a:rPr>
                        <a:t>+0,010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3583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7150F"/>
                          </a:solidFill>
                          <a:latin typeface="Arial"/>
                        </a:rPr>
                        <a:t>0,59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55045"/>
                          </a:solidFill>
                          <a:latin typeface="Arial"/>
                        </a:rPr>
                        <a:t>0,633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dirty="0">
                          <a:solidFill>
                            <a:srgbClr val="555045"/>
                          </a:solidFill>
                          <a:latin typeface="Arial"/>
                        </a:rPr>
                        <a:t>+0,043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3583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7150F"/>
                          </a:solidFill>
                          <a:latin typeface="Arial"/>
                        </a:rPr>
                        <a:t>0,65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55045"/>
                          </a:solidFill>
                          <a:latin typeface="Arial"/>
                        </a:rPr>
                        <a:t>0,675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55045"/>
                          </a:solidFill>
                          <a:latin typeface="Arial"/>
                        </a:rPr>
                        <a:t>+0,025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3583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7150F"/>
                          </a:solidFill>
                          <a:latin typeface="Arial"/>
                        </a:rPr>
                        <a:t>0,68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7150F"/>
                          </a:solidFill>
                          <a:latin typeface="Arial"/>
                        </a:rPr>
                        <a:t>0,692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7150F"/>
                          </a:solidFill>
                          <a:latin typeface="Arial"/>
                        </a:rPr>
                        <a:t>+0,012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3583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7150F"/>
                          </a:solidFill>
                          <a:latin typeface="Arial"/>
                        </a:rPr>
                        <a:t>0,81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55045"/>
                          </a:solidFill>
                          <a:latin typeface="Arial"/>
                        </a:rPr>
                        <a:t>0,785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55045"/>
                          </a:solidFill>
                          <a:latin typeface="Arial"/>
                        </a:rPr>
                        <a:t>−0,025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3583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7150F"/>
                          </a:solidFill>
                          <a:latin typeface="Arial"/>
                        </a:rPr>
                        <a:t>0,90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55045"/>
                          </a:solidFill>
                          <a:latin typeface="Arial"/>
                        </a:rPr>
                        <a:t>0,888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55045"/>
                          </a:solidFill>
                          <a:latin typeface="Arial"/>
                        </a:rPr>
                        <a:t>−0,013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3583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7150F"/>
                          </a:solidFill>
                          <a:latin typeface="Arial"/>
                        </a:rPr>
                        <a:t>0,99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55045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dirty="0">
                          <a:solidFill>
                            <a:srgbClr val="555045"/>
                          </a:solidFill>
                          <a:latin typeface="Arial"/>
                        </a:rPr>
                        <a:t>+0,006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38" y="5680733"/>
            <a:ext cx="5387187" cy="5670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00" b="0" dirty="0">
                <a:solidFill>
                  <a:srgbClr val="555045"/>
                </a:solidFill>
                <a:latin typeface="Arial"/>
              </a:rPr>
              <a:t>Cuando la </a:t>
            </a:r>
            <a:r>
              <a:rPr sz="1000" b="0" dirty="0" err="1">
                <a:solidFill>
                  <a:srgbClr val="555045"/>
                </a:solidFill>
                <a:latin typeface="Arial"/>
              </a:rPr>
              <a:t>política</a:t>
            </a:r>
            <a:r>
              <a:rPr sz="10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555045"/>
                </a:solidFill>
                <a:latin typeface="Arial"/>
              </a:rPr>
              <a:t>promete</a:t>
            </a:r>
            <a:r>
              <a:rPr sz="10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555045"/>
                </a:solidFill>
                <a:latin typeface="Arial"/>
              </a:rPr>
              <a:t>cubrir</a:t>
            </a:r>
            <a:r>
              <a:rPr sz="1000" b="0" dirty="0">
                <a:solidFill>
                  <a:srgbClr val="555045"/>
                </a:solidFill>
                <a:latin typeface="Arial"/>
              </a:rPr>
              <a:t> el 68 % de las </a:t>
            </a:r>
            <a:r>
              <a:rPr sz="1000" b="0" dirty="0" err="1">
                <a:solidFill>
                  <a:srgbClr val="555045"/>
                </a:solidFill>
                <a:latin typeface="Arial"/>
              </a:rPr>
              <a:t>semanas</a:t>
            </a:r>
            <a:r>
              <a:rPr sz="100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000" b="0" dirty="0" err="1">
                <a:solidFill>
                  <a:srgbClr val="555045"/>
                </a:solidFill>
                <a:latin typeface="Arial"/>
              </a:rPr>
              <a:t>cubre</a:t>
            </a:r>
            <a:r>
              <a:rPr sz="1000" b="0" dirty="0">
                <a:solidFill>
                  <a:srgbClr val="555045"/>
                </a:solidFill>
                <a:latin typeface="Arial"/>
              </a:rPr>
              <a:t> el 69 %. El </a:t>
            </a:r>
            <a:r>
              <a:rPr sz="1000" b="0" dirty="0" err="1">
                <a:solidFill>
                  <a:srgbClr val="555045"/>
                </a:solidFill>
                <a:latin typeface="Arial"/>
              </a:rPr>
              <a:t>desvío</a:t>
            </a:r>
            <a:r>
              <a:rPr sz="1000" b="0" dirty="0">
                <a:solidFill>
                  <a:srgbClr val="555045"/>
                </a:solidFill>
                <a:latin typeface="Arial"/>
              </a:rPr>
              <a:t> medio es de +0,006 y el </a:t>
            </a:r>
            <a:r>
              <a:rPr sz="1000" b="0" dirty="0" err="1">
                <a:solidFill>
                  <a:srgbClr val="555045"/>
                </a:solidFill>
                <a:latin typeface="Arial"/>
              </a:rPr>
              <a:t>peor</a:t>
            </a:r>
            <a:r>
              <a:rPr sz="10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555045"/>
                </a:solidFill>
                <a:latin typeface="Arial"/>
              </a:rPr>
              <a:t>caso</a:t>
            </a:r>
            <a:r>
              <a:rPr sz="1000" b="0" dirty="0">
                <a:solidFill>
                  <a:srgbClr val="555045"/>
                </a:solidFill>
                <a:latin typeface="Arial"/>
              </a:rPr>
              <a:t> de 0,043.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00" b="0" dirty="0">
                <a:solidFill>
                  <a:srgbClr val="555045"/>
                </a:solidFill>
                <a:latin typeface="Arial"/>
              </a:rPr>
              <a:t>Los </a:t>
            </a:r>
            <a:r>
              <a:rPr sz="1000" b="0" dirty="0" err="1">
                <a:solidFill>
                  <a:srgbClr val="555045"/>
                </a:solidFill>
                <a:latin typeface="Arial"/>
              </a:rPr>
              <a:t>niveles</a:t>
            </a:r>
            <a:r>
              <a:rPr sz="1000" b="0" dirty="0">
                <a:solidFill>
                  <a:srgbClr val="555045"/>
                </a:solidFill>
                <a:latin typeface="Arial"/>
              </a:rPr>
              <a:t> se </a:t>
            </a:r>
            <a:r>
              <a:rPr sz="1000" b="0" dirty="0" err="1">
                <a:solidFill>
                  <a:srgbClr val="555045"/>
                </a:solidFill>
                <a:latin typeface="Arial"/>
              </a:rPr>
              <a:t>ajustan</a:t>
            </a:r>
            <a:r>
              <a:rPr sz="10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555045"/>
                </a:solidFill>
                <a:latin typeface="Arial"/>
              </a:rPr>
              <a:t>por</a:t>
            </a:r>
            <a:r>
              <a:rPr sz="10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555045"/>
                </a:solidFill>
                <a:latin typeface="Arial"/>
              </a:rPr>
              <a:t>separado</a:t>
            </a:r>
            <a:r>
              <a:rPr sz="100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5867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C2F39"/>
                </a:solidFill>
                <a:latin typeface="Arial"/>
              </a:rPr>
              <a:t>PASO 13 · CALIBRACIÓN CONFORMAL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5867" y="704088"/>
            <a:ext cx="5387187" cy="2821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220" b="1">
                <a:solidFill>
                  <a:srgbClr val="17150F"/>
                </a:solidFill>
                <a:latin typeface="Arial"/>
              </a:rPr>
              <a:t>Calibración del Modelo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7625" y="995984"/>
            <a:ext cx="3763670" cy="2476099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5333" y="3569164"/>
            <a:ext cx="3343124" cy="206665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095847" y="548640"/>
            <a:ext cx="9525" cy="5577840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Paso 11 · Rejilla de niveles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4289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8C2F39"/>
                </a:solidFill>
                <a:latin typeface="Arial"/>
              </a:rPr>
              <a:t>PASO 11 · LA REJILLA ENTRENADA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768096"/>
            <a:ext cx="502920" cy="3048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637215" cy="303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7150F"/>
                </a:solidFill>
                <a:latin typeface="Arial"/>
              </a:rPr>
              <a:t>El </a:t>
            </a:r>
            <a:r>
              <a:rPr sz="2000" b="1" dirty="0" err="1">
                <a:solidFill>
                  <a:srgbClr val="17150F"/>
                </a:solidFill>
                <a:latin typeface="Arial"/>
              </a:rPr>
              <a:t>abanico</a:t>
            </a:r>
            <a:r>
              <a:rPr sz="2000" b="1" dirty="0">
                <a:solidFill>
                  <a:srgbClr val="17150F"/>
                </a:solidFill>
                <a:latin typeface="Arial"/>
              </a:rPr>
              <a:t> se </a:t>
            </a:r>
            <a:r>
              <a:rPr sz="2000" b="1" dirty="0" err="1">
                <a:solidFill>
                  <a:srgbClr val="17150F"/>
                </a:solidFill>
                <a:latin typeface="Arial"/>
              </a:rPr>
              <a:t>adapta</a:t>
            </a:r>
            <a:r>
              <a:rPr sz="2000" b="1" dirty="0">
                <a:solidFill>
                  <a:srgbClr val="17150F"/>
                </a:solidFill>
                <a:latin typeface="Arial"/>
              </a:rPr>
              <a:t> a </a:t>
            </a:r>
            <a:r>
              <a:rPr sz="2000" b="1" dirty="0" err="1">
                <a:solidFill>
                  <a:srgbClr val="17150F"/>
                </a:solidFill>
                <a:latin typeface="Arial"/>
              </a:rPr>
              <a:t>cada</a:t>
            </a:r>
            <a:r>
              <a:rPr sz="20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2000" b="1" dirty="0" err="1">
                <a:solidFill>
                  <a:srgbClr val="17150F"/>
                </a:solidFill>
                <a:latin typeface="Arial"/>
              </a:rPr>
              <a:t>serie</a:t>
            </a:r>
            <a:r>
              <a:rPr sz="2000" b="1" dirty="0">
                <a:solidFill>
                  <a:srgbClr val="17150F"/>
                </a:solidFill>
                <a:latin typeface="Arial"/>
              </a:rPr>
              <a:t>, </a:t>
            </a:r>
            <a:r>
              <a:rPr sz="2000" b="1" dirty="0" err="1">
                <a:solidFill>
                  <a:srgbClr val="17150F"/>
                </a:solidFill>
                <a:latin typeface="Arial"/>
              </a:rPr>
              <a:t>que</a:t>
            </a:r>
            <a:r>
              <a:rPr sz="2000" b="1" dirty="0">
                <a:solidFill>
                  <a:srgbClr val="17150F"/>
                </a:solidFill>
                <a:latin typeface="Arial"/>
              </a:rPr>
              <a:t> es para lo </a:t>
            </a:r>
            <a:r>
              <a:rPr sz="2000" b="1" dirty="0" err="1">
                <a:solidFill>
                  <a:srgbClr val="17150F"/>
                </a:solidFill>
                <a:latin typeface="Arial"/>
              </a:rPr>
              <a:t>que</a:t>
            </a:r>
            <a:r>
              <a:rPr sz="2000" b="1" dirty="0">
                <a:solidFill>
                  <a:srgbClr val="17150F"/>
                </a:solidFill>
                <a:latin typeface="Arial"/>
              </a:rPr>
              <a:t> se </a:t>
            </a:r>
            <a:r>
              <a:rPr sz="2000" b="1" dirty="0" err="1">
                <a:solidFill>
                  <a:srgbClr val="17150F"/>
                </a:solidFill>
                <a:latin typeface="Arial"/>
              </a:rPr>
              <a:t>eligió</a:t>
            </a:r>
            <a:endParaRPr sz="2000" b="1" dirty="0">
              <a:solidFill>
                <a:srgbClr val="17150F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28700" y="4006054"/>
            <a:ext cx="9858642" cy="1114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400"/>
              </a:spcAft>
            </a:pPr>
            <a:r>
              <a:rPr lang="en-US" sz="1200" b="0" dirty="0">
                <a:solidFill>
                  <a:srgbClr val="555045"/>
                </a:solidFill>
                <a:latin typeface="Arial"/>
              </a:rPr>
              <a:t>Cuatro series de las </a:t>
            </a:r>
            <a:r>
              <a:rPr lang="en-US" sz="1200" b="0" dirty="0" err="1">
                <a:solidFill>
                  <a:srgbClr val="555045"/>
                </a:solidFill>
                <a:latin typeface="Arial"/>
              </a:rPr>
              <a:t>semanas</a:t>
            </a:r>
            <a:r>
              <a:rPr lang="en-US" sz="120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lang="en-US" sz="1200" b="0" dirty="0" err="1">
                <a:solidFill>
                  <a:srgbClr val="555045"/>
                </a:solidFill>
                <a:latin typeface="Arial"/>
              </a:rPr>
              <a:t>prueba</a:t>
            </a:r>
            <a:r>
              <a:rPr lang="en-US" sz="1200" b="0" dirty="0">
                <a:solidFill>
                  <a:srgbClr val="555045"/>
                </a:solidFill>
                <a:latin typeface="Arial"/>
              </a:rPr>
              <a:t>, </a:t>
            </a:r>
            <a:r>
              <a:rPr lang="en-US" sz="1200" b="0" dirty="0" err="1">
                <a:solidFill>
                  <a:srgbClr val="555045"/>
                </a:solidFill>
                <a:latin typeface="Arial"/>
              </a:rPr>
              <a:t>elegidas</a:t>
            </a:r>
            <a:r>
              <a:rPr lang="en-US" sz="120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200" b="0" dirty="0" err="1">
                <a:solidFill>
                  <a:srgbClr val="555045"/>
                </a:solidFill>
                <a:latin typeface="Arial"/>
              </a:rPr>
              <a:t>por</a:t>
            </a:r>
            <a:r>
              <a:rPr lang="en-US" sz="120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200" b="0" dirty="0" err="1">
                <a:solidFill>
                  <a:srgbClr val="555045"/>
                </a:solidFill>
                <a:latin typeface="Arial"/>
              </a:rPr>
              <a:t>dato</a:t>
            </a:r>
            <a:r>
              <a:rPr lang="en-US" sz="1200" b="0" dirty="0">
                <a:solidFill>
                  <a:srgbClr val="555045"/>
                </a:solidFill>
                <a:latin typeface="Arial"/>
              </a:rPr>
              <a:t>: </a:t>
            </a:r>
            <a:r>
              <a:rPr lang="en-US" sz="1200" b="0" dirty="0" err="1">
                <a:solidFill>
                  <a:srgbClr val="555045"/>
                </a:solidFill>
                <a:latin typeface="Arial"/>
              </a:rPr>
              <a:t>tres</a:t>
            </a:r>
            <a:r>
              <a:rPr lang="en-US" sz="1200" b="0" dirty="0">
                <a:solidFill>
                  <a:srgbClr val="555045"/>
                </a:solidFill>
                <a:latin typeface="Arial"/>
              </a:rPr>
              <a:t> de las </a:t>
            </a:r>
            <a:r>
              <a:rPr lang="en-US" sz="1200" b="0" dirty="0" err="1">
                <a:solidFill>
                  <a:srgbClr val="555045"/>
                </a:solidFill>
                <a:latin typeface="Arial"/>
              </a:rPr>
              <a:t>mejor</a:t>
            </a:r>
            <a:r>
              <a:rPr lang="en-US" sz="120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200" b="0" dirty="0" err="1">
                <a:solidFill>
                  <a:srgbClr val="555045"/>
                </a:solidFill>
                <a:latin typeface="Arial"/>
              </a:rPr>
              <a:t>cubiertas</a:t>
            </a:r>
            <a:r>
              <a:rPr lang="en-US" sz="1200" b="0" dirty="0">
                <a:solidFill>
                  <a:srgbClr val="555045"/>
                </a:solidFill>
                <a:latin typeface="Arial"/>
              </a:rPr>
              <a:t> y la </a:t>
            </a:r>
            <a:r>
              <a:rPr lang="en-US" sz="1200" b="0" dirty="0" err="1">
                <a:solidFill>
                  <a:srgbClr val="555045"/>
                </a:solidFill>
                <a:latin typeface="Arial"/>
              </a:rPr>
              <a:t>peor</a:t>
            </a:r>
            <a:r>
              <a:rPr lang="en-US" sz="1200" b="0" dirty="0">
                <a:solidFill>
                  <a:srgbClr val="555045"/>
                </a:solidFill>
                <a:latin typeface="Arial"/>
              </a:rPr>
              <a:t> de las 160. La </a:t>
            </a:r>
            <a:r>
              <a:rPr lang="en-US" sz="1200" b="0" dirty="0" err="1">
                <a:solidFill>
                  <a:srgbClr val="555045"/>
                </a:solidFill>
                <a:latin typeface="Arial"/>
              </a:rPr>
              <a:t>línea</a:t>
            </a:r>
            <a:r>
              <a:rPr lang="en-US" sz="120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200" b="0" dirty="0" err="1">
                <a:solidFill>
                  <a:srgbClr val="555045"/>
                </a:solidFill>
                <a:latin typeface="Arial"/>
              </a:rPr>
              <a:t>discontinua</a:t>
            </a:r>
            <a:r>
              <a:rPr lang="en-US" sz="1200" b="0" dirty="0">
                <a:solidFill>
                  <a:srgbClr val="555045"/>
                </a:solidFill>
                <a:latin typeface="Arial"/>
              </a:rPr>
              <a:t> es lo </a:t>
            </a:r>
            <a:r>
              <a:rPr lang="en-US" sz="120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lang="en-US" sz="1200" b="0" dirty="0">
                <a:solidFill>
                  <a:srgbClr val="555045"/>
                </a:solidFill>
                <a:latin typeface="Arial"/>
              </a:rPr>
              <a:t> se </a:t>
            </a:r>
            <a:r>
              <a:rPr lang="en-US" sz="1200" b="0" dirty="0" err="1">
                <a:solidFill>
                  <a:srgbClr val="555045"/>
                </a:solidFill>
                <a:latin typeface="Arial"/>
              </a:rPr>
              <a:t>pediría</a:t>
            </a:r>
            <a:r>
              <a:rPr lang="en-US" sz="1200" b="0" dirty="0">
                <a:solidFill>
                  <a:srgbClr val="555045"/>
                </a:solidFill>
                <a:latin typeface="Arial"/>
              </a:rPr>
              <a:t>; la </a:t>
            </a:r>
            <a:r>
              <a:rPr lang="en-US" sz="1200" b="0" dirty="0" err="1">
                <a:solidFill>
                  <a:srgbClr val="555045"/>
                </a:solidFill>
                <a:latin typeface="Arial"/>
              </a:rPr>
              <a:t>franja</a:t>
            </a:r>
            <a:r>
              <a:rPr lang="en-US" sz="1200" b="0" dirty="0">
                <a:solidFill>
                  <a:srgbClr val="555045"/>
                </a:solidFill>
                <a:latin typeface="Arial"/>
              </a:rPr>
              <a:t>, el </a:t>
            </a:r>
            <a:r>
              <a:rPr lang="en-US" sz="1200" b="0" dirty="0" err="1">
                <a:solidFill>
                  <a:srgbClr val="555045"/>
                </a:solidFill>
                <a:latin typeface="Arial"/>
              </a:rPr>
              <a:t>colchón</a:t>
            </a:r>
            <a:r>
              <a:rPr lang="en-US" sz="120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200" b="0" dirty="0" err="1">
                <a:solidFill>
                  <a:srgbClr val="555045"/>
                </a:solidFill>
                <a:latin typeface="Arial"/>
              </a:rPr>
              <a:t>sobre</a:t>
            </a:r>
            <a:r>
              <a:rPr lang="en-US" sz="1200" b="0" dirty="0">
                <a:solidFill>
                  <a:srgbClr val="555045"/>
                </a:solidFill>
                <a:latin typeface="Arial"/>
              </a:rPr>
              <a:t> el </a:t>
            </a:r>
            <a:r>
              <a:rPr lang="en-US" sz="1200" b="0" dirty="0" err="1">
                <a:solidFill>
                  <a:srgbClr val="555045"/>
                </a:solidFill>
                <a:latin typeface="Arial"/>
              </a:rPr>
              <a:t>pronóstico</a:t>
            </a:r>
            <a:r>
              <a:rPr lang="en-US" sz="1200" b="0" dirty="0">
                <a:solidFill>
                  <a:srgbClr val="555045"/>
                </a:solidFill>
                <a:latin typeface="Arial"/>
              </a:rPr>
              <a:t> central.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400"/>
              </a:spcAft>
            </a:pPr>
            <a:r>
              <a:rPr lang="en-US" sz="1200" dirty="0">
                <a:solidFill>
                  <a:srgbClr val="555045"/>
                </a:solidFill>
                <a:latin typeface="Arial"/>
              </a:rPr>
              <a:t>En las </a:t>
            </a:r>
            <a:r>
              <a:rPr lang="en-US" sz="1200" dirty="0" err="1">
                <a:solidFill>
                  <a:srgbClr val="555045"/>
                </a:solidFill>
                <a:latin typeface="Arial"/>
              </a:rPr>
              <a:t>buenas</a:t>
            </a:r>
            <a:r>
              <a:rPr lang="en-US" sz="1200" dirty="0">
                <a:solidFill>
                  <a:srgbClr val="555045"/>
                </a:solidFill>
                <a:latin typeface="Arial"/>
              </a:rPr>
              <a:t>, el </a:t>
            </a:r>
            <a:r>
              <a:rPr lang="en-US" sz="1200" dirty="0" err="1">
                <a:solidFill>
                  <a:srgbClr val="555045"/>
                </a:solidFill>
                <a:latin typeface="Arial"/>
              </a:rPr>
              <a:t>pedido</a:t>
            </a:r>
            <a:r>
              <a:rPr lang="en-US" sz="120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200" dirty="0" err="1">
                <a:solidFill>
                  <a:srgbClr val="555045"/>
                </a:solidFill>
                <a:latin typeface="Arial"/>
              </a:rPr>
              <a:t>cubre</a:t>
            </a:r>
            <a:r>
              <a:rPr lang="en-US" sz="1200" dirty="0">
                <a:solidFill>
                  <a:srgbClr val="555045"/>
                </a:solidFill>
                <a:latin typeface="Arial"/>
              </a:rPr>
              <a:t> la </a:t>
            </a:r>
            <a:r>
              <a:rPr lang="en-US" sz="1200" dirty="0" err="1">
                <a:solidFill>
                  <a:srgbClr val="555045"/>
                </a:solidFill>
                <a:latin typeface="Arial"/>
              </a:rPr>
              <a:t>venta</a:t>
            </a:r>
            <a:r>
              <a:rPr lang="en-US" sz="1200" dirty="0">
                <a:solidFill>
                  <a:srgbClr val="555045"/>
                </a:solidFill>
                <a:latin typeface="Arial"/>
              </a:rPr>
              <a:t> con </a:t>
            </a:r>
            <a:r>
              <a:rPr lang="en-US" sz="1200" dirty="0" err="1">
                <a:solidFill>
                  <a:srgbClr val="555045"/>
                </a:solidFill>
                <a:latin typeface="Arial"/>
              </a:rPr>
              <a:t>sobrante</a:t>
            </a:r>
            <a:r>
              <a:rPr lang="en-US" sz="120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200" dirty="0" err="1">
                <a:solidFill>
                  <a:srgbClr val="555045"/>
                </a:solidFill>
                <a:latin typeface="Arial"/>
              </a:rPr>
              <a:t>pequeño</a:t>
            </a:r>
            <a:r>
              <a:rPr lang="en-US" sz="1200" dirty="0">
                <a:solidFill>
                  <a:srgbClr val="555045"/>
                </a:solidFill>
                <a:latin typeface="Arial"/>
              </a:rPr>
              <a:t> y el </a:t>
            </a:r>
            <a:r>
              <a:rPr lang="en-US" sz="1200" dirty="0" err="1">
                <a:solidFill>
                  <a:srgbClr val="555045"/>
                </a:solidFill>
                <a:latin typeface="Arial"/>
              </a:rPr>
              <a:t>colchón</a:t>
            </a:r>
            <a:r>
              <a:rPr lang="en-US" sz="1200" dirty="0">
                <a:solidFill>
                  <a:srgbClr val="555045"/>
                </a:solidFill>
                <a:latin typeface="Arial"/>
              </a:rPr>
              <a:t> cambia con </a:t>
            </a:r>
            <a:r>
              <a:rPr lang="en-US" sz="1200" dirty="0" err="1">
                <a:solidFill>
                  <a:srgbClr val="555045"/>
                </a:solidFill>
                <a:latin typeface="Arial"/>
              </a:rPr>
              <a:t>cada</a:t>
            </a:r>
            <a:r>
              <a:rPr lang="en-US" sz="120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200" dirty="0" err="1">
                <a:solidFill>
                  <a:srgbClr val="555045"/>
                </a:solidFill>
                <a:latin typeface="Arial"/>
              </a:rPr>
              <a:t>serie</a:t>
            </a:r>
            <a:r>
              <a:rPr lang="en-US" sz="1200" dirty="0">
                <a:solidFill>
                  <a:srgbClr val="555045"/>
                </a:solidFill>
                <a:latin typeface="Arial"/>
              </a:rPr>
              <a:t>. La </a:t>
            </a:r>
            <a:r>
              <a:rPr lang="en-US" sz="1200" dirty="0" err="1">
                <a:solidFill>
                  <a:srgbClr val="555045"/>
                </a:solidFill>
                <a:latin typeface="Arial"/>
              </a:rPr>
              <a:t>peor</a:t>
            </a:r>
            <a:r>
              <a:rPr lang="en-US" sz="1200" dirty="0">
                <a:solidFill>
                  <a:srgbClr val="555045"/>
                </a:solidFill>
                <a:latin typeface="Arial"/>
              </a:rPr>
              <a:t>, STORE_09 con Café con Leche, es la </a:t>
            </a:r>
            <a:r>
              <a:rPr lang="en-US" sz="1200" dirty="0" err="1">
                <a:solidFill>
                  <a:srgbClr val="555045"/>
                </a:solidFill>
                <a:latin typeface="Arial"/>
              </a:rPr>
              <a:t>misma</a:t>
            </a:r>
            <a:r>
              <a:rPr lang="en-US" sz="120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20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lang="en-US" sz="1200" dirty="0">
                <a:solidFill>
                  <a:srgbClr val="555045"/>
                </a:solidFill>
                <a:latin typeface="Arial"/>
              </a:rPr>
              <a:t> el </a:t>
            </a:r>
            <a:r>
              <a:rPr lang="en-US" sz="1200" dirty="0" err="1">
                <a:solidFill>
                  <a:srgbClr val="555045"/>
                </a:solidFill>
                <a:latin typeface="Arial"/>
              </a:rPr>
              <a:t>diagnóstico</a:t>
            </a:r>
            <a:r>
              <a:rPr lang="en-US" sz="120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200" dirty="0" err="1">
                <a:solidFill>
                  <a:srgbClr val="555045"/>
                </a:solidFill>
                <a:latin typeface="Arial"/>
              </a:rPr>
              <a:t>señala</a:t>
            </a:r>
            <a:r>
              <a:rPr lang="en-US" sz="1200" dirty="0">
                <a:solidFill>
                  <a:srgbClr val="555045"/>
                </a:solidFill>
                <a:latin typeface="Arial"/>
              </a:rPr>
              <a:t> primero: el </a:t>
            </a:r>
            <a:r>
              <a:rPr lang="en-US" sz="1200" dirty="0" err="1">
                <a:solidFill>
                  <a:srgbClr val="555045"/>
                </a:solidFill>
                <a:latin typeface="Arial"/>
              </a:rPr>
              <a:t>proceso</a:t>
            </a:r>
            <a:r>
              <a:rPr lang="en-US" sz="120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200" dirty="0" err="1">
                <a:solidFill>
                  <a:srgbClr val="555045"/>
                </a:solidFill>
                <a:latin typeface="Arial"/>
              </a:rPr>
              <a:t>detecta</a:t>
            </a:r>
            <a:r>
              <a:rPr lang="en-US" sz="120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200" dirty="0" err="1">
                <a:solidFill>
                  <a:srgbClr val="555045"/>
                </a:solidFill>
                <a:latin typeface="Arial"/>
              </a:rPr>
              <a:t>dónde</a:t>
            </a:r>
            <a:r>
              <a:rPr lang="en-US" sz="1200" dirty="0">
                <a:solidFill>
                  <a:srgbClr val="555045"/>
                </a:solidFill>
                <a:latin typeface="Arial"/>
              </a:rPr>
              <a:t> no </a:t>
            </a:r>
            <a:r>
              <a:rPr lang="en-US" sz="1200" dirty="0" err="1">
                <a:solidFill>
                  <a:srgbClr val="555045"/>
                </a:solidFill>
                <a:latin typeface="Arial"/>
              </a:rPr>
              <a:t>acierta</a:t>
            </a:r>
            <a:r>
              <a:rPr lang="en-US" sz="120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Paso 11 · Rejilla de niveles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18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D19F758-A52B-5402-7951-2B928DEF51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821" y="1502743"/>
            <a:ext cx="7772400" cy="231918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45548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PASO 12 · DIAGNÓSTICO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04088"/>
            <a:ext cx="5387187" cy="3195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El error se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concentra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en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las tiendas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pequeñas</a:t>
            </a:r>
            <a:endParaRPr sz="1450" b="1" dirty="0">
              <a:solidFill>
                <a:srgbClr val="17150F"/>
              </a:solidFill>
              <a:latin typeface="Arial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952" y="1060576"/>
            <a:ext cx="4480560" cy="1873689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025324"/>
          <a:ext cx="5387185" cy="129844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0201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23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23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23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Tramo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Demanda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Error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Sesgo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1 · el más bajo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44,6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17,8 %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−3,44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73,1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12,4 %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+0,15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102,4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10,8 %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−3,20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4 · el más alto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153,8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10,3 %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+6,85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520768"/>
            <a:ext cx="5387187" cy="12363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En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una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serie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vende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45, un error de 8 es un 18 %. En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una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vende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154, un error de 16 es un 10 %.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demanda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baja es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proporcionalmente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más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ruidosa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Queda un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sesgo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residual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por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tamaño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reducido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un 32 %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pero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no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eliminado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: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modelo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sobrepredice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las series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pequeñas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y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subpredice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grandes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Se traduce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merma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las tiendas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pequeñas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y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ventas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perdidas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las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grandes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 Queda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como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línea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de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mejora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antes del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piloto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5867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C2F39"/>
                </a:solidFill>
                <a:latin typeface="Arial"/>
              </a:rPr>
              <a:t>PASO 12 · DIAGNÓSTICO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5867" y="704088"/>
            <a:ext cx="5387187" cy="3195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Lo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que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está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bien,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comprobado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y no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supuesto</a:t>
            </a:r>
            <a:endParaRPr sz="1450" b="1" dirty="0">
              <a:solidFill>
                <a:srgbClr val="17150F"/>
              </a:solidFill>
              <a:latin typeface="Arial"/>
            </a:endParaRP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3935" y="1114679"/>
            <a:ext cx="4480560" cy="145618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54940" y="2817236"/>
            <a:ext cx="5387187" cy="3747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▪ No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queda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estructura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temporal sin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capturar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contraste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Ljung-Box no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detecta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autocorrelación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ninguna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las 160 series.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4940" y="3249747"/>
            <a:ext cx="5387187" cy="3747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▪ Los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residuales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están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casi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centrados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Media de 0,11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unidades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sobre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una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demanda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media de 93, y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asimetría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0,29.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4940" y="3682258"/>
            <a:ext cx="5387187" cy="3747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>
                <a:solidFill>
                  <a:srgbClr val="17150F"/>
                </a:solidFill>
                <a:latin typeface="Arial"/>
              </a:rPr>
              <a:t>▪ No hay error sistemático por tipo de patrón.</a:t>
            </a:r>
            <a:r>
              <a:rPr sz="1080" b="0">
                <a:solidFill>
                  <a:srgbClr val="555045"/>
                </a:solidFill>
                <a:latin typeface="Arial"/>
              </a:rPr>
              <a:t> Los cuatro tipos quedan entre 11,2 y 12,2 % de error.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4940" y="4114769"/>
            <a:ext cx="5387187" cy="3747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▪ Hay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heterocedasticidad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y es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esperable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error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crece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con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nivel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serie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con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correlación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+0,36. Por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eso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un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colchón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plano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sería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incorrecto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5847" y="548640"/>
            <a:ext cx="9525" cy="5577840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Paso 12 · Diagnóstico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4289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8C2F39"/>
                </a:solidFill>
                <a:latin typeface="Arial"/>
              </a:rPr>
              <a:t>PASO 12 · DIAGNÓSTICO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768096"/>
            <a:ext cx="502920" cy="3048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637215" cy="303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s-419" sz="2000" b="1" dirty="0">
                <a:solidFill>
                  <a:srgbClr val="17150F"/>
                </a:solidFill>
                <a:latin typeface="Arial"/>
              </a:rPr>
              <a:t>10</a:t>
            </a:r>
            <a:r>
              <a:rPr sz="2000" b="1" dirty="0">
                <a:solidFill>
                  <a:srgbClr val="17150F"/>
                </a:solidFill>
                <a:latin typeface="Arial"/>
              </a:rPr>
              <a:t> series </a:t>
            </a:r>
            <a:r>
              <a:rPr sz="2000" b="1" dirty="0" err="1">
                <a:solidFill>
                  <a:srgbClr val="17150F"/>
                </a:solidFill>
                <a:latin typeface="Arial"/>
              </a:rPr>
              <a:t>necesitan</a:t>
            </a:r>
            <a:r>
              <a:rPr sz="20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2000" b="1" dirty="0" err="1">
                <a:solidFill>
                  <a:srgbClr val="17150F"/>
                </a:solidFill>
                <a:latin typeface="Arial"/>
              </a:rPr>
              <a:t>revisión</a:t>
            </a:r>
            <a:endParaRPr sz="2000" b="1" dirty="0">
              <a:solidFill>
                <a:srgbClr val="17150F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77240" y="1506474"/>
            <a:ext cx="9966960" cy="2150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555045"/>
                </a:solidFill>
                <a:latin typeface="Arial"/>
              </a:rPr>
              <a:t>De las 160, </a:t>
            </a:r>
            <a:r>
              <a:rPr lang="es-419" sz="1200" dirty="0">
                <a:solidFill>
                  <a:srgbClr val="555045"/>
                </a:solidFill>
                <a:latin typeface="Arial"/>
              </a:rPr>
              <a:t>10</a:t>
            </a:r>
            <a:r>
              <a:rPr sz="12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555045"/>
                </a:solidFill>
                <a:latin typeface="Arial"/>
              </a:rPr>
              <a:t>superan</a:t>
            </a:r>
            <a:r>
              <a:rPr sz="1200" b="0" dirty="0">
                <a:solidFill>
                  <a:srgbClr val="555045"/>
                </a:solidFill>
                <a:latin typeface="Arial"/>
              </a:rPr>
              <a:t> el doble del error </a:t>
            </a:r>
            <a:r>
              <a:rPr sz="1200" b="0" dirty="0" err="1">
                <a:solidFill>
                  <a:srgbClr val="555045"/>
                </a:solidFill>
                <a:latin typeface="Arial"/>
              </a:rPr>
              <a:t>mediano</a:t>
            </a:r>
            <a:r>
              <a:rPr sz="1200" b="0" dirty="0">
                <a:solidFill>
                  <a:srgbClr val="555045"/>
                </a:solidFill>
                <a:latin typeface="Arial"/>
              </a:rPr>
              <a:t>. Tres de las </a:t>
            </a:r>
            <a:r>
              <a:rPr sz="1200" b="0" dirty="0" err="1">
                <a:solidFill>
                  <a:srgbClr val="555045"/>
                </a:solidFill>
                <a:latin typeface="Arial"/>
              </a:rPr>
              <a:t>cinco</a:t>
            </a:r>
            <a:r>
              <a:rPr sz="12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555045"/>
                </a:solidFill>
                <a:latin typeface="Arial"/>
              </a:rPr>
              <a:t>peores</a:t>
            </a:r>
            <a:r>
              <a:rPr sz="12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555045"/>
                </a:solidFill>
                <a:latin typeface="Arial"/>
              </a:rPr>
              <a:t>están</a:t>
            </a:r>
            <a:r>
              <a:rPr sz="12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200" b="0" dirty="0">
                <a:solidFill>
                  <a:srgbClr val="555045"/>
                </a:solidFill>
                <a:latin typeface="Arial"/>
              </a:rPr>
              <a:t> la </a:t>
            </a:r>
            <a:r>
              <a:rPr sz="1200" b="0" dirty="0" err="1">
                <a:solidFill>
                  <a:srgbClr val="555045"/>
                </a:solidFill>
                <a:latin typeface="Arial"/>
              </a:rPr>
              <a:t>misma</a:t>
            </a:r>
            <a:r>
              <a:rPr sz="1200" b="0" dirty="0">
                <a:solidFill>
                  <a:srgbClr val="555045"/>
                </a:solidFill>
                <a:latin typeface="Arial"/>
              </a:rPr>
              <a:t> tienda.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4721"/>
            <a:ext cx="63500" cy="635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8" y="4164137"/>
            <a:ext cx="10436047" cy="2068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200" b="1" dirty="0" err="1">
                <a:solidFill>
                  <a:srgbClr val="17150F"/>
                </a:solidFill>
                <a:latin typeface="Arial"/>
              </a:rPr>
              <a:t>Todas</a:t>
            </a:r>
            <a:r>
              <a:rPr sz="12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200" b="1" dirty="0" err="1">
                <a:solidFill>
                  <a:srgbClr val="17150F"/>
                </a:solidFill>
                <a:latin typeface="Arial"/>
              </a:rPr>
              <a:t>tienen</a:t>
            </a:r>
            <a:r>
              <a:rPr sz="12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200" b="1" dirty="0" err="1">
                <a:solidFill>
                  <a:srgbClr val="17150F"/>
                </a:solidFill>
                <a:latin typeface="Arial"/>
              </a:rPr>
              <a:t>sesgo</a:t>
            </a:r>
            <a:r>
              <a:rPr sz="12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200" b="1" dirty="0" err="1">
                <a:solidFill>
                  <a:srgbClr val="17150F"/>
                </a:solidFill>
                <a:latin typeface="Arial"/>
              </a:rPr>
              <a:t>negativo</a:t>
            </a:r>
            <a:r>
              <a:rPr sz="1200" b="0" dirty="0">
                <a:solidFill>
                  <a:srgbClr val="555045"/>
                </a:solidFill>
                <a:latin typeface="Arial"/>
              </a:rPr>
              <a:t>: el </a:t>
            </a:r>
            <a:r>
              <a:rPr sz="1200" b="0" dirty="0" err="1">
                <a:solidFill>
                  <a:srgbClr val="555045"/>
                </a:solidFill>
                <a:latin typeface="Arial"/>
              </a:rPr>
              <a:t>modelo</a:t>
            </a:r>
            <a:r>
              <a:rPr sz="12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555045"/>
                </a:solidFill>
                <a:latin typeface="Arial"/>
              </a:rPr>
              <a:t>pide</a:t>
            </a:r>
            <a:r>
              <a:rPr sz="120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200" b="0" dirty="0" err="1">
                <a:solidFill>
                  <a:srgbClr val="555045"/>
                </a:solidFill>
                <a:latin typeface="Arial"/>
              </a:rPr>
              <a:t>más</a:t>
            </a:r>
            <a:r>
              <a:rPr sz="120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200" b="0" dirty="0">
                <a:solidFill>
                  <a:srgbClr val="555045"/>
                </a:solidFill>
                <a:latin typeface="Arial"/>
              </a:rPr>
              <a:t> las </a:t>
            </a:r>
            <a:r>
              <a:rPr lang="es-419" sz="1200" dirty="0">
                <a:solidFill>
                  <a:srgbClr val="555045"/>
                </a:solidFill>
                <a:latin typeface="Arial"/>
              </a:rPr>
              <a:t>10</a:t>
            </a:r>
            <a:r>
              <a:rPr sz="120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676074"/>
            <a:ext cx="63500" cy="635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8" y="4575490"/>
            <a:ext cx="10436047" cy="2068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200" b="1">
                <a:solidFill>
                  <a:srgbClr val="17150F"/>
                </a:solidFill>
                <a:latin typeface="Arial"/>
              </a:rPr>
              <a:t>Que STORE_09 aparezca tres veces sugiere algo propio de esa tienda</a:t>
            </a:r>
            <a:r>
              <a:rPr sz="1200" b="0">
                <a:solidFill>
                  <a:srgbClr val="555045"/>
                </a:solidFill>
                <a:latin typeface="Arial"/>
              </a:rPr>
              <a:t>, no del modelo. Conviene mirarla aparte.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087427"/>
            <a:ext cx="63500" cy="635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78408" y="4986843"/>
            <a:ext cx="10436047" cy="2068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200" b="1">
                <a:solidFill>
                  <a:srgbClr val="17150F"/>
                </a:solidFill>
                <a:latin typeface="Arial"/>
              </a:rPr>
              <a:t>Acción concreta.</a:t>
            </a:r>
            <a:r>
              <a:rPr sz="1200" b="0">
                <a:solidFill>
                  <a:srgbClr val="555045"/>
                </a:solidFill>
                <a:latin typeface="Arial"/>
              </a:rPr>
              <a:t> Revisarlas antes de implantar, y excluirlas del piloto o vigilarlas por separado.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Paso 12 · Diagnóstico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20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8334DE1-DEE6-5C5E-BB1F-B464B94588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9973" y="1912914"/>
            <a:ext cx="8461494" cy="225122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429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C2F39"/>
                </a:solidFill>
                <a:latin typeface="Arial"/>
              </a:rPr>
              <a:t>PASO 14 · EL OPTIMIZADOR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04088"/>
            <a:ext cx="5387187" cy="3195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Toda la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decisión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cabe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en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tres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líneas</a:t>
            </a:r>
            <a:endParaRPr sz="1450" b="1" dirty="0">
              <a:solidFill>
                <a:srgbClr val="17150F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175823"/>
            <a:ext cx="5387187" cy="6867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 err="1">
                <a:solidFill>
                  <a:srgbClr val="17150F"/>
                </a:solidFill>
                <a:latin typeface="Arial"/>
              </a:rPr>
              <a:t>nivel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de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servicio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 =  el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que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marcan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los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costes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del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producto</a:t>
            </a:r>
            <a:endParaRPr sz="1080" b="1" dirty="0">
              <a:solidFill>
                <a:srgbClr val="17150F"/>
              </a:solidFill>
              <a:latin typeface="Arial"/>
            </a:endParaRP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 err="1">
                <a:solidFill>
                  <a:srgbClr val="17150F"/>
                </a:solidFill>
                <a:latin typeface="Arial"/>
              </a:rPr>
              <a:t>objetivo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 =  la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predicción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del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modelo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a ese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nivel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,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redondeada</a:t>
            </a:r>
            <a:endParaRPr sz="1080" b="1" dirty="0">
              <a:solidFill>
                <a:srgbClr val="17150F"/>
              </a:solidFill>
              <a:latin typeface="Arial"/>
            </a:endParaRP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 err="1">
                <a:solidFill>
                  <a:srgbClr val="8C2F39"/>
                </a:solidFill>
                <a:latin typeface="Arial"/>
              </a:rPr>
              <a:t>pedido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  = 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máximo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 ( 0 , 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objetivo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 − stock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en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estantería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 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38661"/>
            <a:ext cx="5387187" cy="7860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▪ Seis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propiedades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se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verifican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cada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ejecución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: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ningún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pedido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negativo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todas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cantidades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enteras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pedido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más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stock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alcanza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objetivo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cero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pedido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donde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stock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ya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cubre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cada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producto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con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su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nivel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y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ningún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objetivo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por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debajo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pronóstico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central.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5867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PASO 14 · EL COLCHÓN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5867" y="704088"/>
            <a:ext cx="5387187" cy="2315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00" b="1" dirty="0">
                <a:solidFill>
                  <a:srgbClr val="17150F"/>
                </a:solidFill>
                <a:latin typeface="Arial"/>
              </a:rPr>
              <a:t>La </a:t>
            </a:r>
            <a:r>
              <a:rPr sz="1400" b="1" dirty="0" err="1">
                <a:solidFill>
                  <a:srgbClr val="17150F"/>
                </a:solidFill>
                <a:latin typeface="Arial"/>
              </a:rPr>
              <a:t>respuesta</a:t>
            </a:r>
            <a:r>
              <a:rPr sz="1400" b="1" dirty="0">
                <a:solidFill>
                  <a:srgbClr val="17150F"/>
                </a:solidFill>
                <a:latin typeface="Arial"/>
              </a:rPr>
              <a:t> visible a la </a:t>
            </a:r>
            <a:r>
              <a:rPr sz="1400" b="1" dirty="0" err="1">
                <a:solidFill>
                  <a:srgbClr val="17150F"/>
                </a:solidFill>
                <a:latin typeface="Arial"/>
              </a:rPr>
              <a:t>pregunta</a:t>
            </a:r>
            <a:r>
              <a:rPr sz="1400" b="1" dirty="0">
                <a:solidFill>
                  <a:srgbClr val="17150F"/>
                </a:solidFill>
                <a:latin typeface="Arial"/>
              </a:rPr>
              <a:t> del </a:t>
            </a:r>
            <a:r>
              <a:rPr sz="1400" b="1" dirty="0" err="1">
                <a:solidFill>
                  <a:srgbClr val="17150F"/>
                </a:solidFill>
                <a:latin typeface="Arial"/>
              </a:rPr>
              <a:t>encargo</a:t>
            </a:r>
            <a:endParaRPr sz="1400" b="1" dirty="0">
              <a:solidFill>
                <a:srgbClr val="17150F"/>
              </a:solidFill>
              <a:latin typeface="Arial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8014" y="1032559"/>
            <a:ext cx="3942892" cy="1901866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8014" y="2992242"/>
            <a:ext cx="3942892" cy="225308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55867" y="5370386"/>
            <a:ext cx="5387187" cy="80560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colchón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es lo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pide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por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encima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lo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esperado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producto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con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más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margen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se protege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más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del doble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menos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margen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y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nadie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decidió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a mano.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Al Pastel de Pollo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pasarse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le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duele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casi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tanto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como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quedarse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corto: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margen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bajo y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almacenaje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caro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 Al Tinto le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compensa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arriesgar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5847" y="548640"/>
            <a:ext cx="9525" cy="5577840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Paso 14 · Optimizador del pedido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429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PASO 15 · SIMULACIÓN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04088"/>
            <a:ext cx="5387187" cy="3195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Cinco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políticas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, no dos, para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poder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atribuir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el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ahorro</a:t>
            </a:r>
            <a:endParaRPr sz="1450" b="1" dirty="0">
              <a:solidFill>
                <a:srgbClr val="17150F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060196"/>
            <a:ext cx="5387187" cy="4349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>
                <a:solidFill>
                  <a:srgbClr val="555045"/>
                </a:solidFill>
                <a:latin typeface="Arial"/>
              </a:rPr>
              <a:t>Demanda real, decisión hipotética, sobre las 480 decisiones de las semanas de prueba.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31721"/>
            <a:ext cx="5387187" cy="10401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Más P0,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repetir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lo de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semana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anterior,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aproxima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práctica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actual.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8C2F39"/>
                </a:solidFill>
                <a:latin typeface="Arial"/>
              </a:rPr>
              <a:t>Por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qué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 no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bastan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 dos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 err="1">
                <a:solidFill>
                  <a:srgbClr val="555045"/>
                </a:solidFill>
                <a:latin typeface="Arial"/>
              </a:rPr>
              <a:t>Comparar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solo P0 contra P4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daría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un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ahorro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grande sin saber 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qué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atribuirlo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 Con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una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asimetría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costes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como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este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catálogo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casi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cualquier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regla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pida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más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gana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esa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comparación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0133189"/>
              </p:ext>
            </p:extLst>
          </p:nvPr>
        </p:nvGraphicFramePr>
        <p:xfrm>
          <a:off x="548640" y="2767839"/>
          <a:ext cx="5387185" cy="84124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5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Pedir el centro (0.50) 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Pedir el nivel de servicio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 dirty="0" err="1">
                          <a:solidFill>
                            <a:srgbClr val="17150F"/>
                          </a:solidFill>
                          <a:latin typeface="Arial"/>
                        </a:rPr>
                        <a:t>Pronóstico</a:t>
                      </a:r>
                      <a:r>
                        <a:rPr sz="960" b="0" dirty="0">
                          <a:solidFill>
                            <a:srgbClr val="17150F"/>
                          </a:solidFill>
                          <a:latin typeface="Arial"/>
                        </a:rPr>
                        <a:t> </a:t>
                      </a:r>
                      <a:r>
                        <a:rPr sz="960" b="0" dirty="0" err="1">
                          <a:solidFill>
                            <a:srgbClr val="17150F"/>
                          </a:solidFill>
                          <a:latin typeface="Arial"/>
                        </a:rPr>
                        <a:t>ingenuo</a:t>
                      </a:r>
                      <a:r>
                        <a:rPr sz="960" b="0" dirty="0">
                          <a:solidFill>
                            <a:srgbClr val="17150F"/>
                          </a:solidFill>
                          <a:latin typeface="Arial"/>
                        </a:rPr>
                        <a:t> (media </a:t>
                      </a:r>
                      <a:r>
                        <a:rPr sz="960" b="0" dirty="0" err="1">
                          <a:solidFill>
                            <a:srgbClr val="17150F"/>
                          </a:solidFill>
                          <a:latin typeface="Arial"/>
                        </a:rPr>
                        <a:t>móvil</a:t>
                      </a:r>
                      <a:r>
                        <a:rPr sz="960" b="0" dirty="0">
                          <a:solidFill>
                            <a:srgbClr val="17150F"/>
                          </a:solidFill>
                          <a:latin typeface="Arial"/>
                        </a:rPr>
                        <a:t>)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P1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Pronóstico del modelo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 dirty="0">
                          <a:solidFill>
                            <a:srgbClr val="555045"/>
                          </a:solidFill>
                          <a:latin typeface="Arial"/>
                        </a:rPr>
                        <a:t>P4 · la </a:t>
                      </a:r>
                      <a:r>
                        <a:rPr sz="960" b="0" dirty="0" err="1">
                          <a:solidFill>
                            <a:srgbClr val="555045"/>
                          </a:solidFill>
                          <a:latin typeface="Arial"/>
                        </a:rPr>
                        <a:t>propuesta</a:t>
                      </a:r>
                      <a:endParaRPr sz="960" b="0" dirty="0">
                        <a:solidFill>
                          <a:srgbClr val="555045"/>
                        </a:solidFill>
                        <a:latin typeface="Arial"/>
                      </a:endParaRP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55867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C2F39"/>
                </a:solidFill>
                <a:latin typeface="Arial"/>
              </a:rPr>
              <a:t>PASO 15 · RESULTADO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5867" y="704088"/>
            <a:ext cx="5387187" cy="53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390" b="1" dirty="0">
                <a:solidFill>
                  <a:srgbClr val="17150F"/>
                </a:solidFill>
                <a:latin typeface="Arial"/>
              </a:rPr>
              <a:t>La </a:t>
            </a:r>
            <a:r>
              <a:rPr sz="1390" b="1" dirty="0" err="1">
                <a:solidFill>
                  <a:srgbClr val="17150F"/>
                </a:solidFill>
                <a:latin typeface="Arial"/>
              </a:rPr>
              <a:t>propuesta</a:t>
            </a:r>
            <a:r>
              <a:rPr sz="1390" b="1" dirty="0">
                <a:solidFill>
                  <a:srgbClr val="17150F"/>
                </a:solidFill>
                <a:latin typeface="Arial"/>
              </a:rPr>
              <a:t> cambia </a:t>
            </a:r>
            <a:r>
              <a:rPr sz="1390" b="1" dirty="0" err="1">
                <a:solidFill>
                  <a:srgbClr val="17150F"/>
                </a:solidFill>
                <a:latin typeface="Arial"/>
              </a:rPr>
              <a:t>merma</a:t>
            </a:r>
            <a:r>
              <a:rPr sz="139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390" b="1" dirty="0" err="1">
                <a:solidFill>
                  <a:srgbClr val="17150F"/>
                </a:solidFill>
                <a:latin typeface="Arial"/>
              </a:rPr>
              <a:t>por</a:t>
            </a:r>
            <a:r>
              <a:rPr sz="139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390" b="1" dirty="0" err="1">
                <a:solidFill>
                  <a:srgbClr val="17150F"/>
                </a:solidFill>
                <a:latin typeface="Arial"/>
              </a:rPr>
              <a:t>ventas</a:t>
            </a:r>
            <a:r>
              <a:rPr sz="139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390" b="1" dirty="0" err="1">
                <a:solidFill>
                  <a:srgbClr val="17150F"/>
                </a:solidFill>
                <a:latin typeface="Arial"/>
              </a:rPr>
              <a:t>perdidas</a:t>
            </a:r>
            <a:r>
              <a:rPr sz="1390" b="1" dirty="0">
                <a:solidFill>
                  <a:srgbClr val="17150F"/>
                </a:solidFill>
                <a:latin typeface="Arial"/>
              </a:rPr>
              <a:t>, y el </a:t>
            </a:r>
            <a:r>
              <a:rPr sz="1390" b="1" dirty="0" err="1">
                <a:solidFill>
                  <a:srgbClr val="17150F"/>
                </a:solidFill>
                <a:latin typeface="Arial"/>
              </a:rPr>
              <a:t>saldo</a:t>
            </a:r>
            <a:r>
              <a:rPr sz="1390" b="1" dirty="0">
                <a:solidFill>
                  <a:srgbClr val="17150F"/>
                </a:solidFill>
                <a:latin typeface="Arial"/>
              </a:rPr>
              <a:t> es favorable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55867" y="1276400"/>
          <a:ext cx="5387185" cy="1505077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5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769" b="1">
                          <a:solidFill>
                            <a:srgbClr val="8B8478"/>
                          </a:solidFill>
                          <a:latin typeface="Arial"/>
                        </a:rPr>
                        <a:t>Política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9" b="1">
                          <a:solidFill>
                            <a:srgbClr val="8B8478"/>
                          </a:solidFill>
                          <a:latin typeface="Arial"/>
                        </a:rPr>
                        <a:t>Coste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9" b="1">
                          <a:solidFill>
                            <a:srgbClr val="8B8478"/>
                          </a:solidFill>
                          <a:latin typeface="Arial"/>
                        </a:rPr>
                        <a:t>Servicio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19" b="1" dirty="0">
                          <a:solidFill>
                            <a:srgbClr val="17150F"/>
                          </a:solidFill>
                          <a:latin typeface="Arial"/>
                        </a:rPr>
                        <a:t>P4 </a:t>
                      </a:r>
                      <a:r>
                        <a:rPr sz="919" b="1" dirty="0" err="1">
                          <a:solidFill>
                            <a:srgbClr val="17150F"/>
                          </a:solidFill>
                          <a:latin typeface="Arial"/>
                        </a:rPr>
                        <a:t>modelo</a:t>
                      </a:r>
                      <a:r>
                        <a:rPr sz="919" b="1" dirty="0">
                          <a:solidFill>
                            <a:srgbClr val="17150F"/>
                          </a:solidFill>
                          <a:latin typeface="Arial"/>
                        </a:rPr>
                        <a:t> + </a:t>
                      </a:r>
                      <a:r>
                        <a:rPr sz="919" b="1" dirty="0" err="1">
                          <a:solidFill>
                            <a:srgbClr val="17150F"/>
                          </a:solidFill>
                          <a:latin typeface="Arial"/>
                        </a:rPr>
                        <a:t>nivel</a:t>
                      </a:r>
                      <a:endParaRPr sz="919" b="1" dirty="0">
                        <a:solidFill>
                          <a:srgbClr val="17150F"/>
                        </a:solidFill>
                        <a:latin typeface="Arial"/>
                      </a:endParaRP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1">
                          <a:solidFill>
                            <a:srgbClr val="17150F"/>
                          </a:solidFill>
                          <a:latin typeface="Arial"/>
                        </a:rPr>
                        <a:t>9.062.061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1">
                          <a:solidFill>
                            <a:srgbClr val="17150F"/>
                          </a:solidFill>
                          <a:latin typeface="Arial"/>
                        </a:rPr>
                        <a:t>96,1 %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17150F"/>
                          </a:solidFill>
                          <a:latin typeface="Arial"/>
                        </a:rPr>
                        <a:t>P3 media móvil + nivel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555045"/>
                          </a:solidFill>
                          <a:latin typeface="Arial"/>
                        </a:rPr>
                        <a:t>9.255.833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555045"/>
                          </a:solidFill>
                          <a:latin typeface="Arial"/>
                        </a:rPr>
                        <a:t>96,0 %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17150F"/>
                          </a:solidFill>
                          <a:latin typeface="Arial"/>
                        </a:rPr>
                        <a:t>P2 modelo + centro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555045"/>
                          </a:solidFill>
                          <a:latin typeface="Arial"/>
                        </a:rPr>
                        <a:t>9.512.699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555045"/>
                          </a:solidFill>
                          <a:latin typeface="Arial"/>
                        </a:rPr>
                        <a:t>93,9 %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17150F"/>
                          </a:solidFill>
                          <a:latin typeface="Arial"/>
                        </a:rPr>
                        <a:t>P1 media móvil + centro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555045"/>
                          </a:solidFill>
                          <a:latin typeface="Arial"/>
                        </a:rPr>
                        <a:t>9.561.518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555045"/>
                          </a:solidFill>
                          <a:latin typeface="Arial"/>
                        </a:rPr>
                        <a:t>94,0 %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17150F"/>
                          </a:solidFill>
                          <a:latin typeface="Arial"/>
                        </a:rPr>
                        <a:t>P0 repetir la semana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555045"/>
                          </a:solidFill>
                          <a:latin typeface="Arial"/>
                        </a:rPr>
                        <a:t>11.022.905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 dirty="0">
                          <a:solidFill>
                            <a:srgbClr val="555045"/>
                          </a:solidFill>
                          <a:latin typeface="Arial"/>
                        </a:rPr>
                        <a:t>93,1 %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8318" y="2812973"/>
            <a:ext cx="4301337" cy="21506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55867" y="5054700"/>
            <a:ext cx="5622793" cy="10401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Un 17,8 %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menos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que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la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práctica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actual y un 5,2 %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menos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que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pedir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el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pronóstico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central.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 err="1">
                <a:solidFill>
                  <a:srgbClr val="555045"/>
                </a:solidFill>
                <a:latin typeface="Arial"/>
              </a:rPr>
              <a:t>Fíjate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composición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no solo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total. P4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tiene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1,8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millones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más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merma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P1,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pero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2,2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millones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menos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ventas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perdidas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servicio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real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sube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del 94,0 % al 96,1 %.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 err="1">
                <a:solidFill>
                  <a:srgbClr val="555045"/>
                </a:solidFill>
                <a:latin typeface="Arial"/>
              </a:rPr>
              <a:t>Extrapolado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a 52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semanas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serían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8,7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millones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 Es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orden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magnitud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no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compromiso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5847" y="548640"/>
            <a:ext cx="9525" cy="5577840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Paso 15 · Simulación de políticas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PASO 15 · ATRIBUCIÓN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04088"/>
            <a:ext cx="5387187" cy="5552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Seis de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cada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diez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pesos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vienen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de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cambiar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la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regla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, no de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predecir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mejor</a:t>
            </a:r>
            <a:endParaRPr sz="1450" b="1" dirty="0">
              <a:solidFill>
                <a:srgbClr val="17150F"/>
              </a:solidFill>
              <a:latin typeface="Arial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952" y="1296289"/>
            <a:ext cx="4480560" cy="1655859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043207"/>
          <a:ext cx="5387185" cy="129844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5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Componente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Ahorro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Peso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1">
                          <a:solidFill>
                            <a:srgbClr val="17150F"/>
                          </a:solidFill>
                          <a:latin typeface="Arial"/>
                        </a:rPr>
                        <a:t>Efecto de la regla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1">
                          <a:solidFill>
                            <a:srgbClr val="17150F"/>
                          </a:solidFill>
                          <a:latin typeface="Arial"/>
                        </a:rPr>
                        <a:t>305.685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1">
                          <a:solidFill>
                            <a:srgbClr val="17150F"/>
                          </a:solidFill>
                          <a:latin typeface="Arial"/>
                        </a:rPr>
                        <a:t>61 %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Interacción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144.953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29 %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Efecto del modelo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48.819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10 %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499.457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 dirty="0">
                          <a:solidFill>
                            <a:srgbClr val="555045"/>
                          </a:solidFill>
                          <a:latin typeface="Arial"/>
                        </a:rPr>
                        <a:t>100 %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542823"/>
            <a:ext cx="5387187" cy="143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lang="en-US" sz="1080" b="0" dirty="0">
                <a:solidFill>
                  <a:srgbClr val="555045"/>
                </a:solidFill>
                <a:latin typeface="Arial"/>
              </a:rPr>
              <a:t>Es lo </a:t>
            </a:r>
            <a:r>
              <a:rPr lang="en-US"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lang="en-US" sz="1080" b="0" dirty="0">
                <a:solidFill>
                  <a:srgbClr val="555045"/>
                </a:solidFill>
                <a:latin typeface="Arial"/>
              </a:rPr>
              <a:t> la </a:t>
            </a:r>
            <a:r>
              <a:rPr lang="en-US" sz="1080" b="0" dirty="0" err="1">
                <a:solidFill>
                  <a:srgbClr val="555045"/>
                </a:solidFill>
                <a:latin typeface="Arial"/>
              </a:rPr>
              <a:t>tesis</a:t>
            </a:r>
            <a:r>
              <a:rPr lang="en-US" sz="1080" b="0" dirty="0">
                <a:solidFill>
                  <a:srgbClr val="555045"/>
                </a:solidFill>
                <a:latin typeface="Arial"/>
              </a:rPr>
              <a:t> del </a:t>
            </a:r>
            <a:r>
              <a:rPr lang="en-US" sz="1080" b="0" dirty="0" err="1">
                <a:solidFill>
                  <a:srgbClr val="555045"/>
                </a:solidFill>
                <a:latin typeface="Arial"/>
              </a:rPr>
              <a:t>proyecto</a:t>
            </a:r>
            <a:r>
              <a:rPr lang="en-US"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080" b="0" dirty="0" err="1">
                <a:solidFill>
                  <a:srgbClr val="555045"/>
                </a:solidFill>
                <a:latin typeface="Arial"/>
              </a:rPr>
              <a:t>anticipaba</a:t>
            </a:r>
            <a:r>
              <a:rPr lang="en-US"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080" b="0" dirty="0" err="1">
                <a:solidFill>
                  <a:srgbClr val="555045"/>
                </a:solidFill>
                <a:latin typeface="Arial"/>
              </a:rPr>
              <a:t>desde</a:t>
            </a:r>
            <a:r>
              <a:rPr lang="en-US" sz="1080" b="0" dirty="0">
                <a:solidFill>
                  <a:srgbClr val="555045"/>
                </a:solidFill>
                <a:latin typeface="Arial"/>
              </a:rPr>
              <a:t> el </a:t>
            </a:r>
            <a:r>
              <a:rPr lang="en-US" sz="1080" b="0" dirty="0" err="1">
                <a:solidFill>
                  <a:srgbClr val="555045"/>
                </a:solidFill>
                <a:latin typeface="Arial"/>
              </a:rPr>
              <a:t>análisis</a:t>
            </a:r>
            <a:r>
              <a:rPr lang="en-US"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080" b="0" dirty="0" err="1">
                <a:solidFill>
                  <a:srgbClr val="555045"/>
                </a:solidFill>
                <a:latin typeface="Arial"/>
              </a:rPr>
              <a:t>exploratorio</a:t>
            </a:r>
            <a:r>
              <a:rPr lang="en-US" sz="1080" b="0" dirty="0">
                <a:solidFill>
                  <a:srgbClr val="555045"/>
                </a:solidFill>
                <a:latin typeface="Arial"/>
              </a:rPr>
              <a:t>, y </a:t>
            </a:r>
            <a:r>
              <a:rPr lang="en-US" sz="1080" b="0" dirty="0" err="1">
                <a:solidFill>
                  <a:srgbClr val="555045"/>
                </a:solidFill>
                <a:latin typeface="Arial"/>
              </a:rPr>
              <a:t>ahora</a:t>
            </a:r>
            <a:r>
              <a:rPr lang="en-US"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080" b="0" dirty="0" err="1">
                <a:solidFill>
                  <a:srgbClr val="555045"/>
                </a:solidFill>
                <a:latin typeface="Arial"/>
              </a:rPr>
              <a:t>está</a:t>
            </a:r>
            <a:r>
              <a:rPr lang="en-US"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080" b="0" dirty="0" err="1">
                <a:solidFill>
                  <a:srgbClr val="555045"/>
                </a:solidFill>
                <a:latin typeface="Arial"/>
              </a:rPr>
              <a:t>medido</a:t>
            </a:r>
            <a:r>
              <a:rPr lang="en-US" sz="1080" b="0" dirty="0">
                <a:solidFill>
                  <a:srgbClr val="555045"/>
                </a:solidFill>
                <a:latin typeface="Arial"/>
              </a:rPr>
              <a:t> con un </a:t>
            </a:r>
            <a:r>
              <a:rPr lang="en-US" sz="1080" b="0" dirty="0" err="1">
                <a:solidFill>
                  <a:srgbClr val="555045"/>
                </a:solidFill>
                <a:latin typeface="Arial"/>
              </a:rPr>
              <a:t>diseño</a:t>
            </a:r>
            <a:r>
              <a:rPr lang="en-US"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lang="en-US" sz="1080" b="0" dirty="0">
                <a:solidFill>
                  <a:srgbClr val="555045"/>
                </a:solidFill>
                <a:latin typeface="Arial"/>
              </a:rPr>
              <a:t> lo </a:t>
            </a:r>
            <a:r>
              <a:rPr lang="en-US" sz="1080" b="0" dirty="0" err="1">
                <a:solidFill>
                  <a:srgbClr val="555045"/>
                </a:solidFill>
                <a:latin typeface="Arial"/>
              </a:rPr>
              <a:t>aísla</a:t>
            </a:r>
            <a:r>
              <a:rPr lang="en-US" sz="1080" b="0" dirty="0">
                <a:solidFill>
                  <a:srgbClr val="555045"/>
                </a:solidFill>
                <a:latin typeface="Arial"/>
              </a:rPr>
              <a:t>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 err="1">
                <a:solidFill>
                  <a:srgbClr val="17150F"/>
                </a:solidFill>
                <a:latin typeface="Arial"/>
              </a:rPr>
              <a:t>Presentar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los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499.000 pesos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como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logro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del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modelo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sería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atribuirle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un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mérito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que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no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tiene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interacción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merece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atención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Esos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145.000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salen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modelo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además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acertar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centro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gradúa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ancho del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abanico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por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serie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 Es lo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justifica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haber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elegido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un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modelo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cuantílico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y no uno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puntual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5867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C2F39"/>
                </a:solidFill>
                <a:latin typeface="Arial"/>
              </a:rPr>
              <a:t>PASO 15 · QUÉ ESTÁ DEMOSTRADO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5867" y="704088"/>
            <a:ext cx="5387187" cy="3195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Solo dos de las cuatro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comparaciones</a:t>
            </a:r>
            <a:r>
              <a:rPr sz="1450" b="1" dirty="0">
                <a:solidFill>
                  <a:srgbClr val="17150F"/>
                </a:solidFill>
                <a:latin typeface="Arial"/>
              </a:rPr>
              <a:t> son </a:t>
            </a:r>
            <a:r>
              <a:rPr sz="1450" b="1" dirty="0" err="1">
                <a:solidFill>
                  <a:srgbClr val="17150F"/>
                </a:solidFill>
                <a:latin typeface="Arial"/>
              </a:rPr>
              <a:t>significativas</a:t>
            </a:r>
            <a:endParaRPr sz="1450" b="1" dirty="0">
              <a:solidFill>
                <a:srgbClr val="17150F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255867" y="1060196"/>
            <a:ext cx="5387187" cy="4349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Bandas de confianza al 95 %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por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remuestreo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series, no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filas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porque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semanas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una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misma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serie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están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correlacionadas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55867" y="1531721"/>
          <a:ext cx="5387185" cy="17373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0201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23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23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23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Comparación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Ahorro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Banda 95 %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¿Significativo?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1">
                          <a:solidFill>
                            <a:srgbClr val="17150F"/>
                          </a:solidFill>
                          <a:latin typeface="Arial"/>
                        </a:rPr>
                        <a:t>P4 frente a P0 · la práctica actual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1">
                          <a:solidFill>
                            <a:srgbClr val="17150F"/>
                          </a:solidFill>
                          <a:latin typeface="Arial"/>
                        </a:rPr>
                        <a:t>1.960.844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1">
                          <a:solidFill>
                            <a:srgbClr val="17150F"/>
                          </a:solidFill>
                          <a:latin typeface="Arial"/>
                        </a:rPr>
                        <a:t>1.325.913 a 2.598.960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1">
                          <a:solidFill>
                            <a:srgbClr val="17150F"/>
                          </a:solidFill>
                          <a:latin typeface="Arial"/>
                        </a:rPr>
                        <a:t>Sí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1">
                          <a:solidFill>
                            <a:srgbClr val="17150F"/>
                          </a:solidFill>
                          <a:latin typeface="Arial"/>
                        </a:rPr>
                        <a:t>P4 frente a P1 · pedir el centro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1">
                          <a:solidFill>
                            <a:srgbClr val="17150F"/>
                          </a:solidFill>
                          <a:latin typeface="Arial"/>
                        </a:rPr>
                        <a:t>499.457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1">
                          <a:solidFill>
                            <a:srgbClr val="17150F"/>
                          </a:solidFill>
                          <a:latin typeface="Arial"/>
                        </a:rPr>
                        <a:t>87.470 a 963.945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1">
                          <a:solidFill>
                            <a:srgbClr val="17150F"/>
                          </a:solidFill>
                          <a:latin typeface="Arial"/>
                        </a:rPr>
                        <a:t>Sí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P4 frente a P3 · aporte del modelo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193.772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−17.437 a 422.048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P3 frente a P1 · aporte de la regla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305.685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−37.446 a 681.407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285393" y="3429000"/>
            <a:ext cx="5387187" cy="4349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▪ Lo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que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se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puede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afirmar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propuesta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completa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mejora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práctica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actual y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mejora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pedir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centro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 Las dos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bandas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excluyen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cero.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5393" y="3900525"/>
            <a:ext cx="5387187" cy="4349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▪ Lo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que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no se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puede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afirmar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modelo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aporte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por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encima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regla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ingenua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ni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regla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aporte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por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sí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sola. Sus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bandas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cruzan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cero.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5393" y="4372050"/>
            <a:ext cx="5387187" cy="6105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▪ Con 160 series y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tres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semanas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no hay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potencia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para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separar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efectos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ese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tamaño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descomposición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indica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dónde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parece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venir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ahorro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;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significación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solo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alcanza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para el total.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5847" y="548640"/>
            <a:ext cx="9525" cy="5577840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Paso 15 · Simulación de políticas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295762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dirty="0">
                <a:solidFill>
                  <a:srgbClr val="8C2F39"/>
                </a:solidFill>
                <a:latin typeface="Arial"/>
              </a:rPr>
              <a:t>LA DECISIÓN QUE NO NOS CORRESPONDE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768096"/>
            <a:ext cx="502920" cy="3048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637215" cy="4457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dirty="0">
                <a:solidFill>
                  <a:srgbClr val="17150F"/>
                </a:solidFill>
                <a:latin typeface="Arial"/>
              </a:rPr>
              <a:t>Una sola </a:t>
            </a:r>
            <a:r>
              <a:rPr sz="2700" b="1" dirty="0" err="1">
                <a:solidFill>
                  <a:srgbClr val="17150F"/>
                </a:solidFill>
                <a:latin typeface="Arial"/>
              </a:rPr>
              <a:t>suposición</a:t>
            </a:r>
            <a:r>
              <a:rPr sz="270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7150F"/>
                </a:solidFill>
                <a:latin typeface="Arial"/>
              </a:rPr>
              <a:t>mueve</a:t>
            </a:r>
            <a:r>
              <a:rPr sz="2700" b="1" dirty="0">
                <a:solidFill>
                  <a:srgbClr val="17150F"/>
                </a:solidFill>
                <a:latin typeface="Arial"/>
              </a:rPr>
              <a:t> el </a:t>
            </a:r>
            <a:r>
              <a:rPr sz="2700" b="1" dirty="0" err="1">
                <a:solidFill>
                  <a:srgbClr val="17150F"/>
                </a:solidFill>
                <a:latin typeface="Arial"/>
              </a:rPr>
              <a:t>ahorro</a:t>
            </a:r>
            <a:r>
              <a:rPr sz="2700" b="1" dirty="0">
                <a:solidFill>
                  <a:srgbClr val="17150F"/>
                </a:solidFill>
                <a:latin typeface="Arial"/>
              </a:rPr>
              <a:t> del 5 % al 93 %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06474"/>
            <a:ext cx="9966960" cy="5300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dirty="0" err="1">
                <a:solidFill>
                  <a:srgbClr val="555045"/>
                </a:solidFill>
                <a:latin typeface="Arial"/>
              </a:rPr>
              <a:t>Mismos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datos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mismo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modelo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mismas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predicciones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. Lo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único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cambia es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qué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se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supone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pasa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con el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sobrante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 al </a:t>
            </a:r>
            <a:r>
              <a:rPr sz="1450" b="0" dirty="0" err="1">
                <a:solidFill>
                  <a:srgbClr val="555045"/>
                </a:solidFill>
                <a:latin typeface="Arial"/>
              </a:rPr>
              <a:t>cierre</a:t>
            </a:r>
            <a:r>
              <a:rPr sz="1450" b="0" dirty="0">
                <a:solidFill>
                  <a:srgbClr val="555045"/>
                </a:solidFill>
                <a:latin typeface="Arial"/>
              </a:rPr>
              <a:t>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Escenario del sobrante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24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F41FD98-7E2B-A4CC-DC14-4F7690F550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4666" y="2036572"/>
            <a:ext cx="9005389" cy="202824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5CB0B64C-6B09-1876-8E6A-943E54679106}"/>
              </a:ext>
            </a:extLst>
          </p:cNvPr>
          <p:cNvSpPr txBox="1"/>
          <p:nvPr/>
        </p:nvSpPr>
        <p:spPr>
          <a:xfrm>
            <a:off x="777240" y="4340254"/>
            <a:ext cx="9966960" cy="11301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50" b="0" dirty="0">
                <a:solidFill>
                  <a:srgbClr val="555045"/>
                </a:solidFill>
                <a:latin typeface="Arial"/>
              </a:rPr>
              <a:t>La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misma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propuesta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ahorra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entre un 18 % y un 94 %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según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qué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se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suponga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pasa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con el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producto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sobra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al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cierre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. Si se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guarda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y se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vende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después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,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sobrar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casi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no cuesta, la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política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pide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con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holgura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y el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coste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se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desploma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. Si se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descarta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,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sobrar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cuesta lo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costó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producirlo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, la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política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pide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con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cuidado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y el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ahorro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frente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a la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práctica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actual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queda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un 17,8 %, y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un 5,2 %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frente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a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quien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ya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pide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bien con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una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 media </a:t>
            </a:r>
            <a:r>
              <a:rPr lang="en-US" sz="1450" b="0" dirty="0" err="1">
                <a:solidFill>
                  <a:srgbClr val="555045"/>
                </a:solidFill>
                <a:latin typeface="Arial"/>
              </a:rPr>
              <a:t>móvil</a:t>
            </a:r>
            <a:r>
              <a:rPr lang="en-US" sz="1450" b="0" dirty="0">
                <a:solidFill>
                  <a:srgbClr val="555045"/>
                </a:solidFill>
                <a:latin typeface="Arial"/>
              </a:rPr>
              <a:t>.</a:t>
            </a:r>
            <a:endParaRPr sz="1450" b="0" dirty="0">
              <a:solidFill>
                <a:srgbClr val="555045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59765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8C2F39"/>
                </a:solidFill>
                <a:latin typeface="Arial"/>
              </a:rPr>
              <a:t>PASO 16 · LA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04088"/>
            <a:ext cx="5387187" cy="5552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>
                <a:solidFill>
                  <a:srgbClr val="17150F"/>
                </a:solidFill>
                <a:latin typeface="Arial"/>
              </a:rPr>
              <a:t>Una tabla de 160 filas que la tienda ejecuta sin interpretar nada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95908"/>
            <a:ext cx="5387187" cy="2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>
                <a:solidFill>
                  <a:srgbClr val="555045"/>
                </a:solidFill>
                <a:latin typeface="Arial"/>
              </a:rPr>
              <a:t>Reentrenada con las trece semanas completas. Una fila por tienda y producto.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9773" y="1807138"/>
            <a:ext cx="1732784" cy="6733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960" b="1" dirty="0">
                <a:solidFill>
                  <a:srgbClr val="17150F"/>
                </a:solidFill>
                <a:latin typeface="Arial"/>
              </a:rPr>
              <a:t>A PEDIR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12.290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960" b="0" dirty="0" err="1">
                <a:solidFill>
                  <a:srgbClr val="555045"/>
                </a:solidFill>
                <a:latin typeface="Arial"/>
              </a:rPr>
              <a:t>unidades</a:t>
            </a:r>
            <a:r>
              <a:rPr sz="96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96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96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960" b="0" dirty="0" err="1">
                <a:solidFill>
                  <a:srgbClr val="555045"/>
                </a:solidFill>
                <a:latin typeface="Arial"/>
              </a:rPr>
              <a:t>toda</a:t>
            </a:r>
            <a:r>
              <a:rPr sz="960" b="0" dirty="0">
                <a:solidFill>
                  <a:srgbClr val="555045"/>
                </a:solidFill>
                <a:latin typeface="Arial"/>
              </a:rPr>
              <a:t> la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97275" y="1756460"/>
            <a:ext cx="1582721" cy="6733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960" b="1" dirty="0">
                <a:solidFill>
                  <a:srgbClr val="17150F"/>
                </a:solidFill>
                <a:latin typeface="Arial"/>
              </a:rPr>
              <a:t>OBJETIVO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15.591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960" b="0" dirty="0" err="1">
                <a:solidFill>
                  <a:srgbClr val="555045"/>
                </a:solidFill>
                <a:latin typeface="Arial"/>
              </a:rPr>
              <a:t>unidades</a:t>
            </a:r>
            <a:r>
              <a:rPr sz="96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960" b="0" dirty="0" err="1">
                <a:solidFill>
                  <a:srgbClr val="555045"/>
                </a:solidFill>
                <a:latin typeface="Arial"/>
              </a:rPr>
              <a:t>en</a:t>
            </a:r>
            <a:r>
              <a:rPr sz="96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960" b="0" dirty="0" err="1">
                <a:solidFill>
                  <a:srgbClr val="555045"/>
                </a:solidFill>
                <a:latin typeface="Arial"/>
              </a:rPr>
              <a:t>estantería</a:t>
            </a:r>
            <a:endParaRPr sz="960" b="0" dirty="0">
              <a:solidFill>
                <a:srgbClr val="555045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89773" y="2827161"/>
            <a:ext cx="1375092" cy="6733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960" b="1" dirty="0">
                <a:solidFill>
                  <a:srgbClr val="17150F"/>
                </a:solidFill>
                <a:latin typeface="Arial"/>
              </a:rPr>
              <a:t>YA DISPONIBLE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3.367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960" b="0" dirty="0" err="1">
                <a:solidFill>
                  <a:srgbClr val="555045"/>
                </a:solidFill>
                <a:latin typeface="Arial"/>
              </a:rPr>
              <a:t>inventario</a:t>
            </a:r>
            <a:r>
              <a:rPr sz="960" b="0" dirty="0">
                <a:solidFill>
                  <a:srgbClr val="555045"/>
                </a:solidFill>
                <a:latin typeface="Arial"/>
              </a:rPr>
              <a:t> actual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97275" y="2783501"/>
            <a:ext cx="1732784" cy="6733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960" b="1" dirty="0">
                <a:solidFill>
                  <a:srgbClr val="17150F"/>
                </a:solidFill>
                <a:latin typeface="Arial"/>
              </a:rPr>
              <a:t>SIN PEDIDO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450" b="1" dirty="0">
                <a:solidFill>
                  <a:srgbClr val="17150F"/>
                </a:solidFill>
                <a:latin typeface="Arial"/>
              </a:rPr>
              <a:t>5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960" b="0" dirty="0">
                <a:solidFill>
                  <a:srgbClr val="555045"/>
                </a:solidFill>
                <a:latin typeface="Arial"/>
              </a:rPr>
              <a:t>series </a:t>
            </a:r>
            <a:r>
              <a:rPr sz="96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960" b="0" dirty="0">
                <a:solidFill>
                  <a:srgbClr val="555045"/>
                </a:solidFill>
                <a:latin typeface="Arial"/>
              </a:rPr>
              <a:t> el stock </a:t>
            </a:r>
            <a:r>
              <a:rPr sz="960" b="0" dirty="0" err="1">
                <a:solidFill>
                  <a:srgbClr val="555045"/>
                </a:solidFill>
                <a:latin typeface="Arial"/>
              </a:rPr>
              <a:t>ya</a:t>
            </a:r>
            <a:r>
              <a:rPr sz="96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960" b="0" dirty="0" err="1">
                <a:solidFill>
                  <a:srgbClr val="555045"/>
                </a:solidFill>
                <a:latin typeface="Arial"/>
              </a:rPr>
              <a:t>cubre</a:t>
            </a:r>
            <a:endParaRPr sz="960" b="0" dirty="0">
              <a:solidFill>
                <a:srgbClr val="555045"/>
              </a:solidFill>
              <a:latin typeface="Arial"/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0796971"/>
              </p:ext>
            </p:extLst>
          </p:nvPr>
        </p:nvGraphicFramePr>
        <p:xfrm>
          <a:off x="434340" y="4099989"/>
          <a:ext cx="5387187" cy="17373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2431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0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06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06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906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066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9066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Tienda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Producto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Pronóstico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Nivel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Objetivo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Stock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0" b="1">
                          <a:solidFill>
                            <a:srgbClr val="8B8478"/>
                          </a:solidFill>
                          <a:latin typeface="Arial"/>
                        </a:rPr>
                        <a:t>Pedido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STORE_01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Tinto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44,4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0,68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STORE_01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Café con Leche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63,8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0,65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STORE_08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Cappuccino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125,1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0,66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60" b="0">
                          <a:solidFill>
                            <a:srgbClr val="17150F"/>
                          </a:solidFill>
                          <a:latin typeface="Arial"/>
                        </a:rPr>
                        <a:t>STORE_08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Pan de Bono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63,7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0,64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>
                          <a:solidFill>
                            <a:srgbClr val="555045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60" b="0" dirty="0">
                          <a:solidFill>
                            <a:srgbClr val="555045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55867" y="502920"/>
            <a:ext cx="5387187" cy="1699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C2F39"/>
                </a:solidFill>
                <a:latin typeface="Arial"/>
              </a:rPr>
              <a:t>PASO 16 · LA ENTREGA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5867" y="704088"/>
            <a:ext cx="5387187" cy="300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330" b="1">
                <a:solidFill>
                  <a:srgbClr val="17150F"/>
                </a:solidFill>
                <a:latin typeface="Arial"/>
              </a:rPr>
              <a:t>Cómo se reparte el pedido por tienda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059" y="948537"/>
            <a:ext cx="4122115" cy="2748077"/>
          </a:xfrm>
          <a:prstGeom prst="rect">
            <a:avLst/>
          </a:prstGeom>
        </p:spPr>
      </p:pic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2258889"/>
              </p:ext>
            </p:extLst>
          </p:nvPr>
        </p:nvGraphicFramePr>
        <p:xfrm>
          <a:off x="6255867" y="3680421"/>
          <a:ext cx="5387185" cy="102412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5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730" b="1" dirty="0" err="1">
                          <a:solidFill>
                            <a:srgbClr val="8B8478"/>
                          </a:solidFill>
                          <a:latin typeface="Arial"/>
                        </a:rPr>
                        <a:t>Escenario</a:t>
                      </a:r>
                      <a:endParaRPr sz="730" b="1" dirty="0">
                        <a:solidFill>
                          <a:srgbClr val="8B8478"/>
                        </a:solidFill>
                        <a:latin typeface="Arial"/>
                      </a:endParaRP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30" b="1">
                          <a:solidFill>
                            <a:srgbClr val="8B8478"/>
                          </a:solidFill>
                          <a:latin typeface="Arial"/>
                        </a:rPr>
                        <a:t>Nivel medio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30" b="1">
                          <a:solidFill>
                            <a:srgbClr val="8B8478"/>
                          </a:solidFill>
                          <a:latin typeface="Arial"/>
                        </a:rPr>
                        <a:t>A pedir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7150F"/>
                          </a:solidFill>
                          <a:latin typeface="Arial"/>
                        </a:rPr>
                        <a:t>Sin merma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0">
                          <a:solidFill>
                            <a:srgbClr val="555045"/>
                          </a:solidFill>
                          <a:latin typeface="Arial"/>
                        </a:rPr>
                        <a:t>0,99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0">
                          <a:solidFill>
                            <a:srgbClr val="555045"/>
                          </a:solidFill>
                          <a:latin typeface="Arial"/>
                        </a:rPr>
                        <a:t>16.671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7150F"/>
                          </a:solidFill>
                          <a:latin typeface="Arial"/>
                        </a:rPr>
                        <a:t>Merma parcial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0">
                          <a:solidFill>
                            <a:srgbClr val="555045"/>
                          </a:solidFill>
                          <a:latin typeface="Arial"/>
                        </a:rPr>
                        <a:t>0,78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0">
                          <a:solidFill>
                            <a:srgbClr val="555045"/>
                          </a:solidFill>
                          <a:latin typeface="Arial"/>
                        </a:rPr>
                        <a:t>13.248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17150F"/>
                          </a:solidFill>
                          <a:latin typeface="Arial"/>
                        </a:rPr>
                        <a:t>Con merma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1">
                          <a:solidFill>
                            <a:srgbClr val="17150F"/>
                          </a:solidFill>
                          <a:latin typeface="Arial"/>
                        </a:rPr>
                        <a:t>0,64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80" b="1" dirty="0">
                          <a:solidFill>
                            <a:srgbClr val="17150F"/>
                          </a:solidFill>
                          <a:latin typeface="Arial"/>
                        </a:rPr>
                        <a:t>12.290</a:t>
                      </a:r>
                    </a:p>
                  </a:txBody>
                  <a:tcPr marL="82296" marR="82296" anchor="ctr">
                    <a:solidFill>
                      <a:srgbClr val="F7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255867" y="4856733"/>
            <a:ext cx="5831030" cy="1470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17150F"/>
                </a:solidFill>
                <a:latin typeface="Arial"/>
              </a:rPr>
              <a:t>Son 4.381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unidades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semanales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de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diferencia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por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una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decisión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que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 no es </a:t>
            </a:r>
            <a:r>
              <a:rPr sz="1080" b="1" dirty="0" err="1">
                <a:solidFill>
                  <a:srgbClr val="17150F"/>
                </a:solidFill>
                <a:latin typeface="Arial"/>
              </a:rPr>
              <a:t>técnica</a:t>
            </a:r>
            <a:r>
              <a:rPr sz="1080" b="1" dirty="0">
                <a:solidFill>
                  <a:srgbClr val="17150F"/>
                </a:solidFill>
                <a:latin typeface="Arial"/>
              </a:rPr>
              <a:t>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1" dirty="0">
                <a:solidFill>
                  <a:srgbClr val="8C2F39"/>
                </a:solidFill>
                <a:latin typeface="Arial"/>
              </a:rPr>
              <a:t>Una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validación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 externa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que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 </a:t>
            </a:r>
            <a:r>
              <a:rPr sz="1080" b="1" dirty="0" err="1">
                <a:solidFill>
                  <a:srgbClr val="8C2F39"/>
                </a:solidFill>
                <a:latin typeface="Arial"/>
              </a:rPr>
              <a:t>salió</a:t>
            </a:r>
            <a:r>
              <a:rPr sz="1080" b="1" dirty="0">
                <a:solidFill>
                  <a:srgbClr val="8C2F39"/>
                </a:solidFill>
                <a:latin typeface="Arial"/>
              </a:rPr>
              <a:t> bien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>
                <a:solidFill>
                  <a:srgbClr val="555045"/>
                </a:solidFill>
                <a:latin typeface="Arial"/>
              </a:rPr>
              <a:t>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fichero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tendencias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dice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si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cada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serie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sube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o baja, y ese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dato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nunca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entra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al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modelo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Agrupando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por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él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variación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predice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modelo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orden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es el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correcto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: las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suben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son las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únicas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con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variación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positiva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y las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bajan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las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más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negativas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80" b="0" dirty="0" err="1">
                <a:solidFill>
                  <a:srgbClr val="555045"/>
                </a:solidFill>
                <a:latin typeface="Arial"/>
              </a:rPr>
              <a:t>Confirma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no hay error de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signo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. Las magnitudes son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diminutas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,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que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es lo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esperable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con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autocorrelación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555045"/>
                </a:solidFill>
                <a:latin typeface="Arial"/>
              </a:rPr>
              <a:t>cercana</a:t>
            </a:r>
            <a:r>
              <a:rPr sz="1080" b="0" dirty="0">
                <a:solidFill>
                  <a:srgbClr val="555045"/>
                </a:solidFill>
                <a:latin typeface="Arial"/>
              </a:rPr>
              <a:t> a cero.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5847" y="548640"/>
            <a:ext cx="9525" cy="5577840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Paso 16 · La entrega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8C2F39"/>
                </a:solidFill>
                <a:latin typeface="Arial"/>
              </a:rPr>
              <a:t>PRÓXIMOS PASOS · FRENTE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768096"/>
            <a:ext cx="502920" cy="3048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637215" cy="4457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7150F"/>
                </a:solidFill>
                <a:latin typeface="Arial"/>
              </a:rPr>
              <a:t>Convertir el ahorro simulado en ahorro comprobado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06474"/>
            <a:ext cx="9966960" cy="2833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55045"/>
                </a:solidFill>
                <a:latin typeface="Arial"/>
              </a:rPr>
              <a:t>La simulación supone que pedir distinto no cambia lo que se vende. En tienda sí lo cambia.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1990979"/>
          <a:ext cx="10637214" cy="188366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401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970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8B8478"/>
                          </a:solidFill>
                          <a:latin typeface="Arial"/>
                        </a:rPr>
                        <a:t>Elemento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8B8478"/>
                          </a:solidFill>
                          <a:latin typeface="Arial"/>
                        </a:rPr>
                        <a:t>Propuesta</a:t>
                      </a:r>
                    </a:p>
                  </a:txBody>
                  <a:tcPr marL="82296" marR="82296" anchor="ctr">
                    <a:solidFill>
                      <a:srgbClr val="F4F2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7150F"/>
                          </a:solidFill>
                          <a:latin typeface="Arial"/>
                        </a:rPr>
                        <a:t>Alcance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Seis u ocho tiendas emparejadas por volumen, durante seis u ocho semanas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7150F"/>
                          </a:solidFill>
                          <a:latin typeface="Arial"/>
                        </a:rPr>
                        <a:t>Diseño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La mitad aplica el pedido recomendado, la otra mitad sigue con el método actual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7150F"/>
                          </a:solidFill>
                          <a:latin typeface="Arial"/>
                        </a:rPr>
                        <a:t>Qué se mide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Unidades vendidas, sobrantes al cierre y roturas de stock, por tienda y producto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7150F"/>
                          </a:solidFill>
                          <a:latin typeface="Arial"/>
                        </a:rPr>
                        <a:t>Control adicional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555045"/>
                          </a:solidFill>
                          <a:latin typeface="Arial"/>
                        </a:rPr>
                        <a:t>Cobertura observada frente al nivel prometido, para validar la calibración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4304411"/>
            <a:ext cx="63500" cy="635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8" y="4203827"/>
            <a:ext cx="10436047" cy="4790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300" b="1">
                <a:solidFill>
                  <a:srgbClr val="17150F"/>
                </a:solidFill>
                <a:latin typeface="Arial"/>
              </a:rPr>
              <a:t>Separar por tienda y no por semana.</a:t>
            </a:r>
            <a:r>
              <a:rPr sz="1300" b="0">
                <a:solidFill>
                  <a:srgbClr val="555045"/>
                </a:solidFill>
                <a:latin typeface="Arial"/>
              </a:rPr>
              <a:t> Alternar semanas dentro de la misma tienda contamina el resultado, porque el inventario que sobra de una semana entra en la siguiente.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911471"/>
            <a:ext cx="63500" cy="635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8" y="4810887"/>
            <a:ext cx="10436047" cy="4790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300" b="1">
                <a:solidFill>
                  <a:srgbClr val="17150F"/>
                </a:solidFill>
                <a:latin typeface="Arial"/>
              </a:rPr>
              <a:t>Tres cosas hay que cerrar antes de arrancar</a:t>
            </a:r>
            <a:r>
              <a:rPr sz="1300" b="0">
                <a:solidFill>
                  <a:srgbClr val="555045"/>
                </a:solidFill>
                <a:latin typeface="Arial"/>
              </a:rPr>
              <a:t>, todas de negocio: el porcentaje real de merma, el inventario con fecha y las restricciones de lote y redondeo.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518531"/>
            <a:ext cx="63500" cy="635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78408" y="5417947"/>
            <a:ext cx="10436047" cy="4790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300" b="1">
                <a:solidFill>
                  <a:srgbClr val="17150F"/>
                </a:solidFill>
                <a:latin typeface="Arial"/>
              </a:rPr>
              <a:t>El criterio de salida se fija antes de empezar.</a:t>
            </a:r>
            <a:r>
              <a:rPr sz="1300" b="0">
                <a:solidFill>
                  <a:srgbClr val="555045"/>
                </a:solidFill>
                <a:latin typeface="Arial"/>
              </a:rPr>
              <a:t> Decidirlo después de ver los números es la forma más común de convencerse de un resultado que no está.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Próximos pasos · Piloto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8C2F39"/>
                </a:solidFill>
                <a:latin typeface="Arial"/>
              </a:rPr>
              <a:t>PRÓXIMOS PASOS · FRENTE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768096"/>
            <a:ext cx="502920" cy="3048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637215" cy="4457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7150F"/>
                </a:solidFill>
                <a:latin typeface="Arial"/>
              </a:rPr>
              <a:t>En GCP solo cambia de dónde se leen los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06474"/>
            <a:ext cx="9966960" cy="2833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55045"/>
                </a:solidFill>
                <a:latin typeface="Arial"/>
              </a:rPr>
              <a:t>La solución está por capas: modelado y decisión no saben de dónde vienen los datos, así que no se tocan.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990979"/>
            <a:ext cx="1374604" cy="566928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50392" y="2109851"/>
            <a:ext cx="12283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7150F"/>
                </a:solidFill>
                <a:latin typeface="Arial"/>
              </a:rPr>
              <a:t>Punto de venta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51844" y="2146427"/>
            <a:ext cx="16916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8C2F39"/>
                </a:solidFill>
                <a:latin typeface="Arial"/>
              </a:rPr>
              <a:t>›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21008" y="1990979"/>
            <a:ext cx="1374604" cy="566928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394160" y="2109851"/>
            <a:ext cx="12283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7150F"/>
                </a:solidFill>
                <a:latin typeface="Arial"/>
              </a:rPr>
              <a:t>Cloud Storage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95612" y="2146427"/>
            <a:ext cx="16916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8C2F39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64776" y="1990979"/>
            <a:ext cx="1374604" cy="566928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937928" y="2109851"/>
            <a:ext cx="12283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7150F"/>
                </a:solidFill>
                <a:latin typeface="Arial"/>
              </a:rPr>
              <a:t>BigQuery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9380" y="2146427"/>
            <a:ext cx="16916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8C2F39"/>
                </a:solidFill>
                <a:latin typeface="Arial"/>
              </a:rPr>
              <a:t>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08544" y="1990979"/>
            <a:ext cx="1374604" cy="566928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1696" y="2109851"/>
            <a:ext cx="12283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7150F"/>
                </a:solidFill>
                <a:latin typeface="Arial"/>
              </a:rPr>
              <a:t>Cloud Scheduler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3148" y="2146427"/>
            <a:ext cx="16916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8C2F39"/>
                </a:solidFill>
                <a:latin typeface="Arial"/>
              </a:rP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52312" y="1990979"/>
            <a:ext cx="1374604" cy="566928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025464" y="2109851"/>
            <a:ext cx="12283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7150F"/>
                </a:solidFill>
                <a:latin typeface="Arial"/>
              </a:rPr>
              <a:t>Cloud Run Job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6916" y="2146427"/>
            <a:ext cx="16916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8C2F39"/>
                </a:solidFill>
                <a:latin typeface="Arial"/>
              </a:rPr>
              <a:t>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96080" y="1990979"/>
            <a:ext cx="1374604" cy="566928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569232" y="2109851"/>
            <a:ext cx="12283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7150F"/>
                </a:solidFill>
                <a:latin typeface="Arial"/>
              </a:rPr>
              <a:t>Tabla de pedidos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0684" y="2146427"/>
            <a:ext cx="16916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8C2F39"/>
                </a:solidFill>
                <a:latin typeface="Arial"/>
              </a:rPr>
              <a:t>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39848" y="1990979"/>
            <a:ext cx="1374604" cy="566928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113000" y="2109851"/>
            <a:ext cx="12283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7150F"/>
                </a:solidFill>
                <a:latin typeface="Arial"/>
              </a:rPr>
              <a:t>Looker Studio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051683"/>
            <a:ext cx="63500" cy="635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78408" y="2951099"/>
            <a:ext cx="10436047" cy="4790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300" b="1">
                <a:solidFill>
                  <a:srgbClr val="17150F"/>
                </a:solidFill>
                <a:latin typeface="Arial"/>
              </a:rPr>
              <a:t>Ingesta.</a:t>
            </a:r>
            <a:r>
              <a:rPr sz="1300" b="0">
                <a:solidFill>
                  <a:srgbClr val="555045"/>
                </a:solidFill>
                <a:latin typeface="Arial"/>
              </a:rPr>
              <a:t> El export del punto de venta cae en un bucket por fecha. Un load job lo lleva a BigQuery validando el mismo esquema que ya declara el código. Una capa curada construye encima el panel semanal.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3658743"/>
            <a:ext cx="63500" cy="635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78408" y="3558159"/>
            <a:ext cx="10436047" cy="4790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300" b="1">
                <a:solidFill>
                  <a:srgbClr val="17150F"/>
                </a:solidFill>
                <a:latin typeface="Arial"/>
              </a:rPr>
              <a:t>Ejecución.</a:t>
            </a:r>
            <a:r>
              <a:rPr sz="1300" b="0">
                <a:solidFill>
                  <a:srgbClr val="555045"/>
                </a:solidFill>
                <a:latin typeface="Arial"/>
              </a:rPr>
              <a:t> Cloud Scheduler dispara una vez por semana tras el cierre. Para un lote de minutos, el sitio correcto es un Cloud Run Job y no una Cloud Function. La imagen queda versionada en Artifact Registry.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265803"/>
            <a:ext cx="63500" cy="635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78408" y="4165219"/>
            <a:ext cx="10436047" cy="4790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300" b="1">
                <a:solidFill>
                  <a:srgbClr val="17150F"/>
                </a:solidFill>
                <a:latin typeface="Arial"/>
              </a:rPr>
              <a:t>Salidas.</a:t>
            </a:r>
            <a:r>
              <a:rPr sz="1300" b="0">
                <a:solidFill>
                  <a:srgbClr val="555045"/>
                </a:solidFill>
                <a:latin typeface="Arial"/>
              </a:rPr>
              <a:t> Los pedidos van a una tabla de BigQuery con identificador de ejecución y versión del modelo, para poder comparar lo que se pidió con lo que después se vendió.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4872863"/>
            <a:ext cx="63500" cy="635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78408" y="4772279"/>
            <a:ext cx="10436047" cy="70027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300" b="1">
                <a:solidFill>
                  <a:srgbClr val="17150F"/>
                </a:solidFill>
                <a:latin typeface="Arial"/>
              </a:rPr>
              <a:t>El informe en Looker Studio, tres vistas</a:t>
            </a:r>
            <a:r>
              <a:rPr sz="1300" b="0">
                <a:solidFill>
                  <a:srgbClr val="555045"/>
                </a:solidFill>
                <a:latin typeface="Arial"/>
              </a:rPr>
              <a:t>: el pedido de la semana filtrable por tienda, el servicio real frente al prometido, y el coste acumulado. El proceso ya devuelve código de error cuando una verificación falla, así que la alerta se conecta sin escribir nada nuevo.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6327648"/>
            <a:ext cx="10637215" cy="9525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7240" y="642823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Próximos pasos · Automatización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00055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8478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309</TotalTime>
  <Words>5068</Words>
  <Application>Microsoft Macintosh PowerPoint</Application>
  <PresentationFormat>Widescreen</PresentationFormat>
  <Paragraphs>712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Danilo Melo</cp:lastModifiedBy>
  <cp:revision>13</cp:revision>
  <dcterms:created xsi:type="dcterms:W3CDTF">2013-01-27T09:14:16Z</dcterms:created>
  <dcterms:modified xsi:type="dcterms:W3CDTF">2026-09-13T14:13:28Z</dcterms:modified>
  <cp:category/>
</cp:coreProperties>
</file>