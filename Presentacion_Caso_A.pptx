
<file path=[Content_Types].xml><?xml version="1.0" encoding="utf-8"?>
<Types xmlns="http://schemas.openxmlformats.org/package/2006/content-types">
  <Default Extension="jpeg" ContentType="image/jpeg"/>
  <Default Extension="png" ContentType="image/pn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8" r:id="rId3"/>
    <p:sldId id="259" r:id="rId4"/>
    <p:sldId id="260" r:id="rId5"/>
    <p:sldId id="262" r:id="rId6"/>
    <p:sldId id="263" r:id="rId7"/>
    <p:sldId id="264" r:id="rId8"/>
    <p:sldId id="265" r:id="rId9"/>
    <p:sldId id="266" r:id="rId10"/>
    <p:sldId id="267" r:id="rId11"/>
    <p:sldId id="268" r:id="rId12"/>
    <p:sldId id="269" r:id="rId13"/>
    <p:sldId id="271" r:id="rId14"/>
    <p:sldId id="272" r:id="rId15"/>
    <p:sldId id="274" r:id="rId16"/>
    <p:sldId id="273" r:id="rId17"/>
    <p:sldId id="276" r:id="rId18"/>
    <p:sldId id="277" r:id="rId19"/>
    <p:sldId id="278" r:id="rId20"/>
    <p:sldId id="279" r:id="rId21"/>
    <p:sldId id="309" r:id="rId22"/>
    <p:sldId id="310" r:id="rId23"/>
    <p:sldId id="311" r:id="rId24"/>
    <p:sldId id="312" r:id="rId25"/>
    <p:sldId id="313" r:id="rId26"/>
    <p:sldId id="314" r:id="rId27"/>
    <p:sldId id="287" r:id="rId28"/>
    <p:sldId id="293" r:id="rId29"/>
    <p:sldId id="288" r:id="rId30"/>
    <p:sldId id="289" r:id="rId31"/>
    <p:sldId id="290" r:id="rId32"/>
    <p:sldId id="292" r:id="rId33"/>
    <p:sldId id="295" r:id="rId34"/>
    <p:sldId id="296" r:id="rId35"/>
    <p:sldId id="297" r:id="rId36"/>
    <p:sldId id="298" r:id="rId37"/>
    <p:sldId id="299" r:id="rId38"/>
    <p:sldId id="300" r:id="rId39"/>
    <p:sldId id="301" r:id="rId40"/>
    <p:sldId id="303" r:id="rId41"/>
    <p:sldId id="304" r:id="rId42"/>
    <p:sldId id="306" r:id="rId43"/>
    <p:sldId id="307" r:id="rId44"/>
    <p:sldId id="308" r:id="rId45"/>
  </p:sldIdLst>
  <p:sldSz cx="12192000" cy="6858000"/>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15:guide id="1" orient="horz" pos="2160">
          <p15:clr>
            <a:srgbClr val="A4A3A4"/>
          </p15:clr>
        </p15:guide>
        <p15:guide id="2" pos="2880">
          <p15:clr>
            <a:srgbClr val="A4A3A4"/>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3666"/>
    <p:restoredTop sz="94667"/>
  </p:normalViewPr>
  <p:slideViewPr>
    <p:cSldViewPr snapToGrid="0" snapToObjects="1">
      <p:cViewPr>
        <p:scale>
          <a:sx n="120" d="100"/>
          <a:sy n="120" d="100"/>
        </p:scale>
        <p:origin x="1304" y="83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3" Type="http://schemas.openxmlformats.org/officeDocument/2006/relationships/slide" Target="slides/slide12.xml"/><Relationship Id="rId18" Type="http://schemas.openxmlformats.org/officeDocument/2006/relationships/slide" Target="slides/slide17.xml"/><Relationship Id="rId26" Type="http://schemas.openxmlformats.org/officeDocument/2006/relationships/slide" Target="slides/slide25.xml"/><Relationship Id="rId39" Type="http://schemas.openxmlformats.org/officeDocument/2006/relationships/slide" Target="slides/slide38.xml"/><Relationship Id="rId21" Type="http://schemas.openxmlformats.org/officeDocument/2006/relationships/slide" Target="slides/slide20.xml"/><Relationship Id="rId34" Type="http://schemas.openxmlformats.org/officeDocument/2006/relationships/slide" Target="slides/slide33.xml"/><Relationship Id="rId42" Type="http://schemas.openxmlformats.org/officeDocument/2006/relationships/slide" Target="slides/slide41.xml"/><Relationship Id="rId47" Type="http://schemas.openxmlformats.org/officeDocument/2006/relationships/viewProps" Target="viewProps.xml"/><Relationship Id="rId7" Type="http://schemas.openxmlformats.org/officeDocument/2006/relationships/slide" Target="slides/slide6.xml"/><Relationship Id="rId2" Type="http://schemas.openxmlformats.org/officeDocument/2006/relationships/slide" Target="slides/slide1.xml"/><Relationship Id="rId16" Type="http://schemas.openxmlformats.org/officeDocument/2006/relationships/slide" Target="slides/slide15.xml"/><Relationship Id="rId29" Type="http://schemas.openxmlformats.org/officeDocument/2006/relationships/slide" Target="slides/slide28.xml"/><Relationship Id="rId11" Type="http://schemas.openxmlformats.org/officeDocument/2006/relationships/slide" Target="slides/slide10.xml"/><Relationship Id="rId24" Type="http://schemas.openxmlformats.org/officeDocument/2006/relationships/slide" Target="slides/slide23.xml"/><Relationship Id="rId32" Type="http://schemas.openxmlformats.org/officeDocument/2006/relationships/slide" Target="slides/slide31.xml"/><Relationship Id="rId37" Type="http://schemas.openxmlformats.org/officeDocument/2006/relationships/slide" Target="slides/slide36.xml"/><Relationship Id="rId40" Type="http://schemas.openxmlformats.org/officeDocument/2006/relationships/slide" Target="slides/slide39.xml"/><Relationship Id="rId45" Type="http://schemas.openxmlformats.org/officeDocument/2006/relationships/slide" Target="slides/slide44.xml"/><Relationship Id="rId5" Type="http://schemas.openxmlformats.org/officeDocument/2006/relationships/slide" Target="slides/slide4.xml"/><Relationship Id="rId15" Type="http://schemas.openxmlformats.org/officeDocument/2006/relationships/slide" Target="slides/slide14.xml"/><Relationship Id="rId23" Type="http://schemas.openxmlformats.org/officeDocument/2006/relationships/slide" Target="slides/slide22.xml"/><Relationship Id="rId28" Type="http://schemas.openxmlformats.org/officeDocument/2006/relationships/slide" Target="slides/slide27.xml"/><Relationship Id="rId36" Type="http://schemas.openxmlformats.org/officeDocument/2006/relationships/slide" Target="slides/slide35.xml"/><Relationship Id="rId49" Type="http://schemas.openxmlformats.org/officeDocument/2006/relationships/tableStyles" Target="tableStyles.xml"/><Relationship Id="rId10" Type="http://schemas.openxmlformats.org/officeDocument/2006/relationships/slide" Target="slides/slide9.xml"/><Relationship Id="rId19" Type="http://schemas.openxmlformats.org/officeDocument/2006/relationships/slide" Target="slides/slide18.xml"/><Relationship Id="rId31" Type="http://schemas.openxmlformats.org/officeDocument/2006/relationships/slide" Target="slides/slide30.xml"/><Relationship Id="rId44" Type="http://schemas.openxmlformats.org/officeDocument/2006/relationships/slide" Target="slides/slide43.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slide" Target="slides/slide13.xml"/><Relationship Id="rId22" Type="http://schemas.openxmlformats.org/officeDocument/2006/relationships/slide" Target="slides/slide21.xml"/><Relationship Id="rId27" Type="http://schemas.openxmlformats.org/officeDocument/2006/relationships/slide" Target="slides/slide26.xml"/><Relationship Id="rId30" Type="http://schemas.openxmlformats.org/officeDocument/2006/relationships/slide" Target="slides/slide29.xml"/><Relationship Id="rId35" Type="http://schemas.openxmlformats.org/officeDocument/2006/relationships/slide" Target="slides/slide34.xml"/><Relationship Id="rId43" Type="http://schemas.openxmlformats.org/officeDocument/2006/relationships/slide" Target="slides/slide42.xml"/><Relationship Id="rId48" Type="http://schemas.openxmlformats.org/officeDocument/2006/relationships/theme" Target="theme/theme1.xml"/><Relationship Id="rId8" Type="http://schemas.openxmlformats.org/officeDocument/2006/relationships/slide" Target="slides/slide7.xml"/><Relationship Id="rId3" Type="http://schemas.openxmlformats.org/officeDocument/2006/relationships/slide" Target="slides/slide2.xml"/><Relationship Id="rId12" Type="http://schemas.openxmlformats.org/officeDocument/2006/relationships/slide" Target="slides/slide11.xml"/><Relationship Id="rId17" Type="http://schemas.openxmlformats.org/officeDocument/2006/relationships/slide" Target="slides/slide16.xml"/><Relationship Id="rId25" Type="http://schemas.openxmlformats.org/officeDocument/2006/relationships/slide" Target="slides/slide24.xml"/><Relationship Id="rId33" Type="http://schemas.openxmlformats.org/officeDocument/2006/relationships/slide" Target="slides/slide32.xml"/><Relationship Id="rId38" Type="http://schemas.openxmlformats.org/officeDocument/2006/relationships/slide" Target="slides/slide37.xml"/><Relationship Id="rId46" Type="http://schemas.openxmlformats.org/officeDocument/2006/relationships/presProps" Target="presProps.xml"/><Relationship Id="rId20" Type="http://schemas.openxmlformats.org/officeDocument/2006/relationships/slide" Target="slides/slide19.xml"/><Relationship Id="rId41" Type="http://schemas.openxmlformats.org/officeDocument/2006/relationships/slide" Target="slides/slide40.xml"/><Relationship Id="rId1" Type="http://schemas.openxmlformats.org/officeDocument/2006/relationships/slideMaster" Target="slideMasters/slideMaster1.xml"/><Relationship Id="rId6" Type="http://schemas.openxmlformats.org/officeDocument/2006/relationships/slide" Target="slides/slide5.xml"/></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a:t>Click to edit Master title style</a:t>
            </a:r>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a:t>Click to edit Master subtitle style</a:t>
            </a:r>
          </a:p>
        </p:txBody>
      </p:sp>
      <p:sp>
        <p:nvSpPr>
          <p:cNvPr id="4" name="Date Placeholder 3"/>
          <p:cNvSpPr>
            <a:spLocks noGrp="1"/>
          </p:cNvSpPr>
          <p:nvPr>
            <p:ph type="dt" sz="half" idx="10"/>
          </p:nvPr>
        </p:nvSpPr>
        <p:spPr/>
        <p:txBody>
          <a:bodyPr/>
          <a:lstStyle/>
          <a:p>
            <a:fld id="{5BCAD085-E8A6-8845-BD4E-CB4CCA059FC4}" type="datetimeFigureOut">
              <a:rPr lang="en-US" smtClean="0"/>
              <a:t>9/12/26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5BCAD085-E8A6-8845-BD4E-CB4CCA059FC4}" type="datetimeFigureOut">
              <a:rPr lang="en-US" smtClean="0"/>
              <a:t>9/12/26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a:t>Click to edit Master title style</a:t>
            </a:r>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9/12/26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Date Placeholder 4"/>
          <p:cNvSpPr>
            <a:spLocks noGrp="1"/>
          </p:cNvSpPr>
          <p:nvPr>
            <p:ph type="dt" sz="half" idx="10"/>
          </p:nvPr>
        </p:nvSpPr>
        <p:spPr/>
        <p:txBody>
          <a:bodyPr/>
          <a:lstStyle/>
          <a:p>
            <a:fld id="{5BCAD085-E8A6-8845-BD4E-CB4CCA059FC4}" type="datetimeFigureOut">
              <a:rPr lang="en-US" smtClean="0"/>
              <a:t>9/12/26</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a:t>Click to edit Master title style</a:t>
            </a:r>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7" name="Date Placeholder 6"/>
          <p:cNvSpPr>
            <a:spLocks noGrp="1"/>
          </p:cNvSpPr>
          <p:nvPr>
            <p:ph type="dt" sz="half" idx="10"/>
          </p:nvPr>
        </p:nvSpPr>
        <p:spPr/>
        <p:txBody>
          <a:bodyPr/>
          <a:lstStyle/>
          <a:p>
            <a:fld id="{5BCAD085-E8A6-8845-BD4E-CB4CCA059FC4}" type="datetimeFigureOut">
              <a:rPr lang="en-US" smtClean="0"/>
              <a:t>9/12/26</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Date Placeholder 2"/>
          <p:cNvSpPr>
            <a:spLocks noGrp="1"/>
          </p:cNvSpPr>
          <p:nvPr>
            <p:ph type="dt" sz="half" idx="10"/>
          </p:nvPr>
        </p:nvSpPr>
        <p:spPr/>
        <p:txBody>
          <a:bodyPr/>
          <a:lstStyle/>
          <a:p>
            <a:fld id="{5BCAD085-E8A6-8845-BD4E-CB4CCA059FC4}" type="datetimeFigureOut">
              <a:rPr lang="en-US" smtClean="0"/>
              <a:t>9/12/26</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9/12/26</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a:t>Click to edit Master title style</a:t>
            </a:r>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9/12/26</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a:t>Click to edit Master title style</a:t>
            </a:r>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9/12/26</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Vertical Text Placeholder 2"/>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5BCAD085-E8A6-8845-BD4E-CB4CCA059FC4}" type="datetimeFigureOut">
              <a:rPr lang="en-US" smtClean="0"/>
              <a:t>9/12/26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a:t>Click to edit Master title style</a:t>
            </a:r>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5BCAD085-E8A6-8845-BD4E-CB4CCA059FC4}" type="datetimeFigureOut">
              <a:rPr lang="en-US" smtClean="0"/>
              <a:t>9/12/26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theme" Target="../theme/theme1.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a:t>Click to edit Master title style</a:t>
            </a:r>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9/12/26</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xml.rels><?xml version="1.0" encoding="UTF-8" standalone="yes"?>
<Relationships xmlns="http://schemas.openxmlformats.org/package/2006/relationships"><Relationship Id="rId2" Type="http://schemas.openxmlformats.org/officeDocument/2006/relationships/image" Target="../media/image1.png"/><Relationship Id="rId1" Type="http://schemas.openxmlformats.org/officeDocument/2006/relationships/slideLayout" Target="../slideLayouts/slideLayout7.xml"/></Relationships>
</file>

<file path=ppt/slides/_rels/slide7.xml.rels><?xml version="1.0" encoding="UTF-8" standalone="yes"?>
<Relationships xmlns="http://schemas.openxmlformats.org/package/2006/relationships"><Relationship Id="rId2" Type="http://schemas.openxmlformats.org/officeDocument/2006/relationships/image" Target="../media/image2.png"/><Relationship Id="rId1" Type="http://schemas.openxmlformats.org/officeDocument/2006/relationships/slideLayout" Target="../slideLayouts/slideLayout7.xml"/></Relationships>
</file>

<file path=ppt/slides/_rels/slide8.xml.rels><?xml version="1.0" encoding="UTF-8" standalone="yes"?>
<Relationships xmlns="http://schemas.openxmlformats.org/package/2006/relationships"><Relationship Id="rId2" Type="http://schemas.openxmlformats.org/officeDocument/2006/relationships/image" Target="../media/image3.png"/><Relationship Id="rId1" Type="http://schemas.openxmlformats.org/officeDocument/2006/relationships/slideLayout" Target="../slideLayouts/slideLayout7.xml"/></Relationships>
</file>

<file path=ppt/slides/_rels/slide9.xml.rels><?xml version="1.0" encoding="UTF-8" standalone="yes"?>
<Relationships xmlns="http://schemas.openxmlformats.org/package/2006/relationships"><Relationship Id="rId2" Type="http://schemas.openxmlformats.org/officeDocument/2006/relationships/image" Target="../media/image4.png"/><Relationship Id="rId1" Type="http://schemas.openxmlformats.org/officeDocument/2006/relationships/slideLayout" Target="../slideLayouts/slideLayout7.xml"/></Relationships>
</file>

<file path=ppt/slides/_rels/slide10.xml.rels><?xml version="1.0" encoding="UTF-8" standalone="yes"?>
<Relationships xmlns="http://schemas.openxmlformats.org/package/2006/relationships"><Relationship Id="rId2" Type="http://schemas.openxmlformats.org/officeDocument/2006/relationships/image" Target="../media/image5.png"/><Relationship Id="rId1" Type="http://schemas.openxmlformats.org/officeDocument/2006/relationships/slideLayout" Target="../slideLayouts/slideLayout7.xml"/></Relationships>
</file>

<file path=ppt/slides/_rels/slide11.xml.rels><?xml version="1.0" encoding="UTF-8" standalone="yes"?>
<Relationships xmlns="http://schemas.openxmlformats.org/package/2006/relationships"><Relationship Id="rId2" Type="http://schemas.openxmlformats.org/officeDocument/2006/relationships/image" Target="../media/image6.png"/><Relationship Id="rId1" Type="http://schemas.openxmlformats.org/officeDocument/2006/relationships/slideLayout" Target="../slideLayouts/slideLayout7.xml"/></Relationships>
</file>

<file path=ppt/slides/_rels/slide12.xml.rels><?xml version="1.0" encoding="UTF-8" standalone="yes"?>
<Relationships xmlns="http://schemas.openxmlformats.org/package/2006/relationships"><Relationship Id="rId2" Type="http://schemas.openxmlformats.org/officeDocument/2006/relationships/image" Target="../media/image7.png"/><Relationship Id="rId1" Type="http://schemas.openxmlformats.org/officeDocument/2006/relationships/slideLayout" Target="../slideLayouts/slideLayout7.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5.xml.rels><?xml version="1.0" encoding="UTF-8" standalone="yes"?>
<Relationships xmlns="http://schemas.openxmlformats.org/package/2006/relationships"><Relationship Id="rId2" Type="http://schemas.openxmlformats.org/officeDocument/2006/relationships/image" Target="../media/image8.png"/><Relationship Id="rId1" Type="http://schemas.openxmlformats.org/officeDocument/2006/relationships/slideLayout" Target="../slideLayouts/slideLayout7.xml"/></Relationships>
</file>

<file path=ppt/slides/_rels/slide16.xml.rels><?xml version="1.0" encoding="UTF-8" standalone="yes"?>
<Relationships xmlns="http://schemas.openxmlformats.org/package/2006/relationships"><Relationship Id="rId2" Type="http://schemas.openxmlformats.org/officeDocument/2006/relationships/image" Target="../media/image9.png"/><Relationship Id="rId1" Type="http://schemas.openxmlformats.org/officeDocument/2006/relationships/slideLayout" Target="../slideLayouts/slideLayout7.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8.xml.rels><?xml version="1.0" encoding="UTF-8" standalone="yes"?>
<Relationships xmlns="http://schemas.openxmlformats.org/package/2006/relationships"><Relationship Id="rId2" Type="http://schemas.openxmlformats.org/officeDocument/2006/relationships/image" Target="../media/image10.png"/><Relationship Id="rId1" Type="http://schemas.openxmlformats.org/officeDocument/2006/relationships/slideLayout" Target="../slideLayouts/slideLayout7.xml"/></Relationships>
</file>

<file path=ppt/slides/_rels/slide19.xml.rels><?xml version="1.0" encoding="UTF-8" standalone="yes"?>
<Relationships xmlns="http://schemas.openxmlformats.org/package/2006/relationships"><Relationship Id="rId2" Type="http://schemas.openxmlformats.org/officeDocument/2006/relationships/image" Target="../media/image11.png"/><Relationship Id="rId1" Type="http://schemas.openxmlformats.org/officeDocument/2006/relationships/slideLayout" Target="../slideLayouts/slideLayout7.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3.xml.rels><?xml version="1.0" encoding="UTF-8" standalone="yes"?>
<Relationships xmlns="http://schemas.openxmlformats.org/package/2006/relationships"><Relationship Id="rId2" Type="http://schemas.openxmlformats.org/officeDocument/2006/relationships/image" Target="../media/image12.png"/><Relationship Id="rId1" Type="http://schemas.openxmlformats.org/officeDocument/2006/relationships/slideLayout" Target="../slideLayouts/slideLayout7.xml"/></Relationships>
</file>

<file path=ppt/slides/_rels/slide24.xml.rels><?xml version="1.0" encoding="UTF-8" standalone="yes"?>
<Relationships xmlns="http://schemas.openxmlformats.org/package/2006/relationships"><Relationship Id="rId2" Type="http://schemas.openxmlformats.org/officeDocument/2006/relationships/image" Target="../media/image13.png"/><Relationship Id="rId1" Type="http://schemas.openxmlformats.org/officeDocument/2006/relationships/slideLayout" Target="../slideLayouts/slideLayout7.xml"/></Relationships>
</file>

<file path=ppt/slides/_rels/slide25.xml.rels><?xml version="1.0" encoding="UTF-8" standalone="yes"?>
<Relationships xmlns="http://schemas.openxmlformats.org/package/2006/relationships"><Relationship Id="rId2" Type="http://schemas.openxmlformats.org/officeDocument/2006/relationships/image" Target="../media/image14.png"/><Relationship Id="rId1" Type="http://schemas.openxmlformats.org/officeDocument/2006/relationships/slideLayout" Target="../slideLayouts/slideLayout7.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7.xml.rels><?xml version="1.0" encoding="UTF-8" standalone="yes"?>
<Relationships xmlns="http://schemas.openxmlformats.org/package/2006/relationships"><Relationship Id="rId2" Type="http://schemas.openxmlformats.org/officeDocument/2006/relationships/image" Target="../media/image15.png"/><Relationship Id="rId1" Type="http://schemas.openxmlformats.org/officeDocument/2006/relationships/slideLayout" Target="../slideLayouts/slideLayout7.xml"/></Relationships>
</file>

<file path=ppt/slides/_rels/slide28.xml.rels><?xml version="1.0" encoding="UTF-8" standalone="yes"?>
<Relationships xmlns="http://schemas.openxmlformats.org/package/2006/relationships"><Relationship Id="rId3" Type="http://schemas.openxmlformats.org/officeDocument/2006/relationships/image" Target="../media/image17.png"/><Relationship Id="rId2" Type="http://schemas.openxmlformats.org/officeDocument/2006/relationships/image" Target="../media/image16.png"/><Relationship Id="rId1" Type="http://schemas.openxmlformats.org/officeDocument/2006/relationships/slideLayout" Target="../slideLayouts/slideLayout7.xml"/></Relationships>
</file>

<file path=ppt/slides/_rels/slide29.xml.rels><?xml version="1.0" encoding="UTF-8" standalone="yes"?>
<Relationships xmlns="http://schemas.openxmlformats.org/package/2006/relationships"><Relationship Id="rId2" Type="http://schemas.openxmlformats.org/officeDocument/2006/relationships/image" Target="../media/image18.png"/><Relationship Id="rId1" Type="http://schemas.openxmlformats.org/officeDocument/2006/relationships/slideLayout" Target="../slideLayouts/slideLayout7.xml"/></Relationships>
</file>

<file path=ppt/slides/_rels/slide30.xml.rels><?xml version="1.0" encoding="UTF-8" standalone="yes"?>
<Relationships xmlns="http://schemas.openxmlformats.org/package/2006/relationships"><Relationship Id="rId2" Type="http://schemas.openxmlformats.org/officeDocument/2006/relationships/image" Target="../media/image19.png"/><Relationship Id="rId1" Type="http://schemas.openxmlformats.org/officeDocument/2006/relationships/slideLayout" Target="../slideLayouts/slideLayout7.xml"/></Relationships>
</file>

<file path=ppt/slides/_rels/slide31.xml.rels><?xml version="1.0" encoding="UTF-8" standalone="yes"?>
<Relationships xmlns="http://schemas.openxmlformats.org/package/2006/relationships"><Relationship Id="rId2" Type="http://schemas.openxmlformats.org/officeDocument/2006/relationships/image" Target="../media/image20.png"/><Relationship Id="rId1" Type="http://schemas.openxmlformats.org/officeDocument/2006/relationships/slideLayout" Target="../slideLayouts/slideLayout7.xml"/></Relationships>
</file>

<file path=ppt/slides/_rels/slide32.xml.rels><?xml version="1.0" encoding="UTF-8" standalone="yes"?>
<Relationships xmlns="http://schemas.openxmlformats.org/package/2006/relationships"><Relationship Id="rId2" Type="http://schemas.openxmlformats.org/officeDocument/2006/relationships/image" Target="../media/image21.png"/><Relationship Id="rId1" Type="http://schemas.openxmlformats.org/officeDocument/2006/relationships/slideLayout" Target="../slideLayouts/slideLayout7.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4.xml.rels><?xml version="1.0" encoding="UTF-8" standalone="yes"?>
<Relationships xmlns="http://schemas.openxmlformats.org/package/2006/relationships"><Relationship Id="rId3" Type="http://schemas.openxmlformats.org/officeDocument/2006/relationships/image" Target="../media/image23.png"/><Relationship Id="rId2" Type="http://schemas.openxmlformats.org/officeDocument/2006/relationships/image" Target="../media/image22.png"/><Relationship Id="rId1" Type="http://schemas.openxmlformats.org/officeDocument/2006/relationships/slideLayout" Target="../slideLayouts/slideLayout7.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6.xml.rels><?xml version="1.0" encoding="UTF-8" standalone="yes"?>
<Relationships xmlns="http://schemas.openxmlformats.org/package/2006/relationships"><Relationship Id="rId2" Type="http://schemas.openxmlformats.org/officeDocument/2006/relationships/image" Target="../media/image24.png"/><Relationship Id="rId1" Type="http://schemas.openxmlformats.org/officeDocument/2006/relationships/slideLayout" Target="../slideLayouts/slideLayout7.xml"/></Relationships>
</file>

<file path=ppt/slides/_rels/slide37.xml.rels><?xml version="1.0" encoding="UTF-8" standalone="yes"?>
<Relationships xmlns="http://schemas.openxmlformats.org/package/2006/relationships"><Relationship Id="rId2" Type="http://schemas.openxmlformats.org/officeDocument/2006/relationships/image" Target="../media/image25.png"/><Relationship Id="rId1" Type="http://schemas.openxmlformats.org/officeDocument/2006/relationships/slideLayout" Target="../slideLayouts/slideLayout7.xml"/></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9.xml.rels><?xml version="1.0" encoding="UTF-8" standalone="yes"?>
<Relationships xmlns="http://schemas.openxmlformats.org/package/2006/relationships"><Relationship Id="rId2" Type="http://schemas.openxmlformats.org/officeDocument/2006/relationships/image" Target="../media/image26.png"/><Relationship Id="rId1" Type="http://schemas.openxmlformats.org/officeDocument/2006/relationships/slideLayout" Target="../slideLayouts/slideLayout7.xml"/></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1.xml.rels><?xml version="1.0" encoding="UTF-8" standalone="yes"?>
<Relationships xmlns="http://schemas.openxmlformats.org/package/2006/relationships"><Relationship Id="rId2" Type="http://schemas.openxmlformats.org/officeDocument/2006/relationships/image" Target="../media/image27.png"/><Relationship Id="rId1" Type="http://schemas.openxmlformats.org/officeDocument/2006/relationships/slideLayout" Target="../slideLayouts/slideLayout7.xml"/></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858000"/>
          </a:xfrm>
          <a:prstGeom prst="rect">
            <a:avLst/>
          </a:prstGeom>
          <a:solidFill>
            <a:srgbClr val="F4F2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Rectangle 2"/>
          <p:cNvSpPr/>
          <p:nvPr/>
        </p:nvSpPr>
        <p:spPr>
          <a:xfrm>
            <a:off x="0" y="0"/>
            <a:ext cx="114300" cy="6858000"/>
          </a:xfrm>
          <a:prstGeom prst="rect">
            <a:avLst/>
          </a:prstGeom>
          <a:solidFill>
            <a:srgbClr val="8C2F3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TextBox 3"/>
          <p:cNvSpPr txBox="1"/>
          <p:nvPr/>
        </p:nvSpPr>
        <p:spPr>
          <a:xfrm>
            <a:off x="777240" y="1417320"/>
            <a:ext cx="10058400" cy="274320"/>
          </a:xfrm>
          <a:prstGeom prst="rect">
            <a:avLst/>
          </a:prstGeom>
          <a:noFill/>
        </p:spPr>
        <p:txBody>
          <a:bodyPr wrap="square" lIns="0" tIns="0" rIns="0" bIns="0">
            <a:spAutoFit/>
          </a:bodyPr>
          <a:lstStyle/>
          <a:p>
            <a:pPr algn="l">
              <a:lnSpc>
                <a:spcPct val="122000"/>
              </a:lnSpc>
              <a:spcBef>
                <a:spcPts val="0"/>
              </a:spcBef>
              <a:spcAft>
                <a:spcPts val="0"/>
              </a:spcAft>
            </a:pPr>
            <a:r>
              <a:rPr sz="1200" b="1">
                <a:solidFill>
                  <a:srgbClr val="8C2F39"/>
                </a:solidFill>
                <a:latin typeface="Arial"/>
              </a:rPr>
              <a:t>CASO A  ·  OPTIMIZACIÓN DE ABASTECIMIENTO</a:t>
            </a:r>
          </a:p>
        </p:txBody>
      </p:sp>
      <p:sp>
        <p:nvSpPr>
          <p:cNvPr id="5" name="TextBox 4"/>
          <p:cNvSpPr txBox="1"/>
          <p:nvPr/>
        </p:nvSpPr>
        <p:spPr>
          <a:xfrm>
            <a:off x="777240" y="1965960"/>
            <a:ext cx="9692640" cy="2011680"/>
          </a:xfrm>
          <a:prstGeom prst="rect">
            <a:avLst/>
          </a:prstGeom>
          <a:noFill/>
        </p:spPr>
        <p:txBody>
          <a:bodyPr wrap="square" lIns="0" tIns="0" rIns="0" bIns="0">
            <a:spAutoFit/>
          </a:bodyPr>
          <a:lstStyle/>
          <a:p>
            <a:pPr algn="l">
              <a:lnSpc>
                <a:spcPct val="106000"/>
              </a:lnSpc>
              <a:spcBef>
                <a:spcPts val="0"/>
              </a:spcBef>
              <a:spcAft>
                <a:spcPts val="0"/>
              </a:spcAft>
            </a:pPr>
            <a:r>
              <a:rPr sz="4000" b="1" dirty="0" err="1">
                <a:solidFill>
                  <a:srgbClr val="17150F"/>
                </a:solidFill>
                <a:latin typeface="Arial"/>
              </a:rPr>
              <a:t>Cuánto</a:t>
            </a:r>
            <a:r>
              <a:rPr sz="4000" b="1" dirty="0">
                <a:solidFill>
                  <a:srgbClr val="17150F"/>
                </a:solidFill>
                <a:latin typeface="Arial"/>
              </a:rPr>
              <a:t> </a:t>
            </a:r>
            <a:r>
              <a:rPr sz="4000" b="1" dirty="0" err="1">
                <a:solidFill>
                  <a:srgbClr val="17150F"/>
                </a:solidFill>
                <a:latin typeface="Arial"/>
              </a:rPr>
              <a:t>pedir</a:t>
            </a:r>
            <a:r>
              <a:rPr sz="4000" b="1" dirty="0">
                <a:solidFill>
                  <a:srgbClr val="17150F"/>
                </a:solidFill>
                <a:latin typeface="Arial"/>
              </a:rPr>
              <a:t> </a:t>
            </a:r>
            <a:r>
              <a:rPr sz="4000" b="1" dirty="0" err="1">
                <a:solidFill>
                  <a:srgbClr val="17150F"/>
                </a:solidFill>
                <a:latin typeface="Arial"/>
              </a:rPr>
              <a:t>cada</a:t>
            </a:r>
            <a:r>
              <a:rPr sz="4000" b="1" dirty="0">
                <a:solidFill>
                  <a:srgbClr val="17150F"/>
                </a:solidFill>
                <a:latin typeface="Arial"/>
              </a:rPr>
              <a:t> </a:t>
            </a:r>
            <a:r>
              <a:rPr sz="4000" b="1" dirty="0" err="1">
                <a:solidFill>
                  <a:srgbClr val="17150F"/>
                </a:solidFill>
                <a:latin typeface="Arial"/>
              </a:rPr>
              <a:t>semana</a:t>
            </a:r>
            <a:r>
              <a:rPr sz="4000" b="1" dirty="0">
                <a:solidFill>
                  <a:srgbClr val="17150F"/>
                </a:solidFill>
                <a:latin typeface="Arial"/>
              </a:rPr>
              <a:t>,
</a:t>
            </a:r>
            <a:r>
              <a:rPr sz="4000" b="1" dirty="0" err="1">
                <a:solidFill>
                  <a:srgbClr val="17150F"/>
                </a:solidFill>
                <a:latin typeface="Arial"/>
              </a:rPr>
              <a:t>producto</a:t>
            </a:r>
            <a:r>
              <a:rPr sz="4000" b="1" dirty="0">
                <a:solidFill>
                  <a:srgbClr val="17150F"/>
                </a:solidFill>
                <a:latin typeface="Arial"/>
              </a:rPr>
              <a:t> </a:t>
            </a:r>
            <a:r>
              <a:rPr sz="4000" b="1" dirty="0" err="1">
                <a:solidFill>
                  <a:srgbClr val="17150F"/>
                </a:solidFill>
                <a:latin typeface="Arial"/>
              </a:rPr>
              <a:t>por</a:t>
            </a:r>
            <a:r>
              <a:rPr sz="4000" b="1" dirty="0">
                <a:solidFill>
                  <a:srgbClr val="17150F"/>
                </a:solidFill>
                <a:latin typeface="Arial"/>
              </a:rPr>
              <a:t> </a:t>
            </a:r>
            <a:r>
              <a:rPr sz="4000" b="1" dirty="0" err="1">
                <a:solidFill>
                  <a:srgbClr val="17150F"/>
                </a:solidFill>
                <a:latin typeface="Arial"/>
              </a:rPr>
              <a:t>producto</a:t>
            </a:r>
            <a:r>
              <a:rPr sz="4000" b="1" dirty="0">
                <a:solidFill>
                  <a:srgbClr val="17150F"/>
                </a:solidFill>
                <a:latin typeface="Arial"/>
              </a:rPr>
              <a:t>
y tienda </a:t>
            </a:r>
            <a:r>
              <a:rPr sz="4000" b="1" dirty="0" err="1">
                <a:solidFill>
                  <a:srgbClr val="17150F"/>
                </a:solidFill>
                <a:latin typeface="Arial"/>
              </a:rPr>
              <a:t>por</a:t>
            </a:r>
            <a:r>
              <a:rPr sz="4000" b="1" dirty="0">
                <a:solidFill>
                  <a:srgbClr val="17150F"/>
                </a:solidFill>
                <a:latin typeface="Arial"/>
              </a:rPr>
              <a:t> tienda</a:t>
            </a:r>
          </a:p>
        </p:txBody>
      </p:sp>
      <p:sp>
        <p:nvSpPr>
          <p:cNvPr id="6" name="TextBox 5"/>
          <p:cNvSpPr txBox="1"/>
          <p:nvPr/>
        </p:nvSpPr>
        <p:spPr>
          <a:xfrm>
            <a:off x="777240" y="4343400"/>
            <a:ext cx="8595360" cy="914400"/>
          </a:xfrm>
          <a:prstGeom prst="rect">
            <a:avLst/>
          </a:prstGeom>
          <a:noFill/>
        </p:spPr>
        <p:txBody>
          <a:bodyPr wrap="square" lIns="0" tIns="0" rIns="0" bIns="0">
            <a:spAutoFit/>
          </a:bodyPr>
          <a:lstStyle/>
          <a:p>
            <a:pPr algn="l">
              <a:lnSpc>
                <a:spcPct val="135000"/>
              </a:lnSpc>
              <a:spcBef>
                <a:spcPts val="0"/>
              </a:spcBef>
              <a:spcAft>
                <a:spcPts val="0"/>
              </a:spcAft>
            </a:pPr>
            <a:r>
              <a:rPr sz="1550" b="0" dirty="0">
                <a:solidFill>
                  <a:srgbClr val="555045"/>
                </a:solidFill>
                <a:latin typeface="Arial"/>
              </a:rPr>
              <a:t>El </a:t>
            </a:r>
            <a:r>
              <a:rPr sz="1550" b="0" dirty="0" err="1">
                <a:solidFill>
                  <a:srgbClr val="555045"/>
                </a:solidFill>
                <a:latin typeface="Arial"/>
              </a:rPr>
              <a:t>entregable</a:t>
            </a:r>
            <a:r>
              <a:rPr sz="1550" b="0" dirty="0">
                <a:solidFill>
                  <a:srgbClr val="555045"/>
                </a:solidFill>
                <a:latin typeface="Arial"/>
              </a:rPr>
              <a:t> no es un </a:t>
            </a:r>
            <a:r>
              <a:rPr sz="1550" b="0" dirty="0" err="1">
                <a:solidFill>
                  <a:srgbClr val="555045"/>
                </a:solidFill>
                <a:latin typeface="Arial"/>
              </a:rPr>
              <a:t>pronóstico</a:t>
            </a:r>
            <a:r>
              <a:rPr sz="1550" b="0" dirty="0">
                <a:solidFill>
                  <a:srgbClr val="555045"/>
                </a:solidFill>
                <a:latin typeface="Arial"/>
              </a:rPr>
              <a:t>. Es la </a:t>
            </a:r>
            <a:r>
              <a:rPr sz="1550" b="0" dirty="0" err="1">
                <a:solidFill>
                  <a:srgbClr val="555045"/>
                </a:solidFill>
                <a:latin typeface="Arial"/>
              </a:rPr>
              <a:t>cantidad</a:t>
            </a:r>
            <a:r>
              <a:rPr sz="1550" b="0" dirty="0">
                <a:solidFill>
                  <a:srgbClr val="555045"/>
                </a:solidFill>
                <a:latin typeface="Arial"/>
              </a:rPr>
              <a:t> </a:t>
            </a:r>
            <a:r>
              <a:rPr sz="1550" b="0" dirty="0" err="1">
                <a:solidFill>
                  <a:srgbClr val="555045"/>
                </a:solidFill>
                <a:latin typeface="Arial"/>
              </a:rPr>
              <a:t>que</a:t>
            </a:r>
            <a:r>
              <a:rPr sz="1550" b="0" dirty="0">
                <a:solidFill>
                  <a:srgbClr val="555045"/>
                </a:solidFill>
                <a:latin typeface="Arial"/>
              </a:rPr>
              <a:t> </a:t>
            </a:r>
            <a:r>
              <a:rPr sz="1550" b="0" dirty="0" err="1">
                <a:solidFill>
                  <a:srgbClr val="555045"/>
                </a:solidFill>
                <a:latin typeface="Arial"/>
              </a:rPr>
              <a:t>cada</a:t>
            </a:r>
            <a:r>
              <a:rPr sz="1550" b="0" dirty="0">
                <a:solidFill>
                  <a:srgbClr val="555045"/>
                </a:solidFill>
                <a:latin typeface="Arial"/>
              </a:rPr>
              <a:t> tienda </a:t>
            </a:r>
            <a:r>
              <a:rPr sz="1550" b="0" dirty="0" err="1">
                <a:solidFill>
                  <a:srgbClr val="555045"/>
                </a:solidFill>
                <a:latin typeface="Arial"/>
              </a:rPr>
              <a:t>ejecuta</a:t>
            </a:r>
            <a:r>
              <a:rPr sz="1550" b="0" dirty="0">
                <a:solidFill>
                  <a:srgbClr val="555045"/>
                </a:solidFill>
                <a:latin typeface="Arial"/>
              </a:rPr>
              <a:t>, </a:t>
            </a:r>
            <a:r>
              <a:rPr sz="1550" b="0" dirty="0" err="1">
                <a:solidFill>
                  <a:srgbClr val="555045"/>
                </a:solidFill>
                <a:latin typeface="Arial"/>
              </a:rPr>
              <a:t>calculada</a:t>
            </a:r>
            <a:r>
              <a:rPr sz="1550" b="0" dirty="0">
                <a:solidFill>
                  <a:srgbClr val="555045"/>
                </a:solidFill>
                <a:latin typeface="Arial"/>
              </a:rPr>
              <a:t> a </a:t>
            </a:r>
            <a:r>
              <a:rPr sz="1550" b="0" dirty="0" err="1">
                <a:solidFill>
                  <a:srgbClr val="555045"/>
                </a:solidFill>
                <a:latin typeface="Arial"/>
              </a:rPr>
              <a:t>partir</a:t>
            </a:r>
            <a:r>
              <a:rPr sz="1550" b="0" dirty="0">
                <a:solidFill>
                  <a:srgbClr val="555045"/>
                </a:solidFill>
                <a:latin typeface="Arial"/>
              </a:rPr>
              <a:t> de lo </a:t>
            </a:r>
            <a:r>
              <a:rPr sz="1550" b="0" dirty="0" err="1">
                <a:solidFill>
                  <a:srgbClr val="555045"/>
                </a:solidFill>
                <a:latin typeface="Arial"/>
              </a:rPr>
              <a:t>que</a:t>
            </a:r>
            <a:r>
              <a:rPr sz="1550" b="0" dirty="0">
                <a:solidFill>
                  <a:srgbClr val="555045"/>
                </a:solidFill>
                <a:latin typeface="Arial"/>
              </a:rPr>
              <a:t> cuesta </a:t>
            </a:r>
            <a:r>
              <a:rPr sz="1550" b="0" dirty="0" err="1">
                <a:solidFill>
                  <a:srgbClr val="555045"/>
                </a:solidFill>
                <a:latin typeface="Arial"/>
              </a:rPr>
              <a:t>quedarse</a:t>
            </a:r>
            <a:r>
              <a:rPr sz="1550" b="0" dirty="0">
                <a:solidFill>
                  <a:srgbClr val="555045"/>
                </a:solidFill>
                <a:latin typeface="Arial"/>
              </a:rPr>
              <a:t> corto y lo </a:t>
            </a:r>
            <a:r>
              <a:rPr sz="1550" b="0" dirty="0" err="1">
                <a:solidFill>
                  <a:srgbClr val="555045"/>
                </a:solidFill>
                <a:latin typeface="Arial"/>
              </a:rPr>
              <a:t>que</a:t>
            </a:r>
            <a:r>
              <a:rPr sz="1550" b="0" dirty="0">
                <a:solidFill>
                  <a:srgbClr val="555045"/>
                </a:solidFill>
                <a:latin typeface="Arial"/>
              </a:rPr>
              <a:t> cuesta </a:t>
            </a:r>
            <a:r>
              <a:rPr sz="1550" b="0" dirty="0" err="1">
                <a:solidFill>
                  <a:srgbClr val="555045"/>
                </a:solidFill>
                <a:latin typeface="Arial"/>
              </a:rPr>
              <a:t>que</a:t>
            </a:r>
            <a:r>
              <a:rPr sz="1550" b="0" dirty="0">
                <a:solidFill>
                  <a:srgbClr val="555045"/>
                </a:solidFill>
                <a:latin typeface="Arial"/>
              </a:rPr>
              <a:t> </a:t>
            </a:r>
            <a:r>
              <a:rPr sz="1550" b="0" dirty="0" err="1">
                <a:solidFill>
                  <a:srgbClr val="555045"/>
                </a:solidFill>
                <a:latin typeface="Arial"/>
              </a:rPr>
              <a:t>sobre</a:t>
            </a:r>
            <a:r>
              <a:rPr sz="1550" b="0" dirty="0">
                <a:solidFill>
                  <a:srgbClr val="555045"/>
                </a:solidFill>
                <a:latin typeface="Arial"/>
              </a:rPr>
              <a:t>.</a:t>
            </a:r>
          </a:p>
        </p:txBody>
      </p:sp>
      <p:sp>
        <p:nvSpPr>
          <p:cNvPr id="7" name="Rectangle 6"/>
          <p:cNvSpPr/>
          <p:nvPr/>
        </p:nvSpPr>
        <p:spPr>
          <a:xfrm>
            <a:off x="777240" y="5440680"/>
            <a:ext cx="502920" cy="30480"/>
          </a:xfrm>
          <a:prstGeom prst="rect">
            <a:avLst/>
          </a:prstGeom>
          <a:solidFill>
            <a:srgbClr val="8C2F3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8" name="TextBox 7"/>
          <p:cNvSpPr txBox="1"/>
          <p:nvPr/>
        </p:nvSpPr>
        <p:spPr>
          <a:xfrm>
            <a:off x="777240" y="5669280"/>
            <a:ext cx="9144000" cy="212494"/>
          </a:xfrm>
          <a:prstGeom prst="rect">
            <a:avLst/>
          </a:prstGeom>
          <a:noFill/>
        </p:spPr>
        <p:txBody>
          <a:bodyPr wrap="square" lIns="0" tIns="0" rIns="0" bIns="0">
            <a:spAutoFit/>
          </a:bodyPr>
          <a:lstStyle/>
          <a:p>
            <a:pPr algn="l">
              <a:lnSpc>
                <a:spcPct val="122000"/>
              </a:lnSpc>
              <a:spcBef>
                <a:spcPts val="0"/>
              </a:spcBef>
              <a:spcAft>
                <a:spcPts val="0"/>
              </a:spcAft>
            </a:pPr>
            <a:r>
              <a:rPr sz="1250" b="0" dirty="0">
                <a:solidFill>
                  <a:srgbClr val="8B8478"/>
                </a:solidFill>
                <a:latin typeface="Arial"/>
              </a:rPr>
              <a:t>20 tiendas · 8 </a:t>
            </a:r>
            <a:r>
              <a:rPr sz="1250" b="0" dirty="0" err="1">
                <a:solidFill>
                  <a:srgbClr val="8B8478"/>
                </a:solidFill>
                <a:latin typeface="Arial"/>
              </a:rPr>
              <a:t>productos</a:t>
            </a:r>
            <a:r>
              <a:rPr sz="1250" b="0" dirty="0">
                <a:solidFill>
                  <a:srgbClr val="8B8478"/>
                </a:solidFill>
                <a:latin typeface="Arial"/>
              </a:rPr>
              <a:t> · 13 </a:t>
            </a:r>
            <a:r>
              <a:rPr sz="1250" b="0" dirty="0" err="1">
                <a:solidFill>
                  <a:srgbClr val="8B8478"/>
                </a:solidFill>
                <a:latin typeface="Arial"/>
              </a:rPr>
              <a:t>semanas</a:t>
            </a:r>
            <a:r>
              <a:rPr sz="1250" b="0" dirty="0">
                <a:solidFill>
                  <a:srgbClr val="8B8478"/>
                </a:solidFill>
                <a:latin typeface="Arial"/>
              </a:rPr>
              <a:t> · 2.080 </a:t>
            </a:r>
            <a:r>
              <a:rPr sz="1250" b="0" dirty="0" err="1">
                <a:solidFill>
                  <a:srgbClr val="8B8478"/>
                </a:solidFill>
                <a:latin typeface="Arial"/>
              </a:rPr>
              <a:t>observaciones</a:t>
            </a:r>
            <a:endParaRPr sz="1250" b="0" dirty="0">
              <a:solidFill>
                <a:srgbClr val="8B8478"/>
              </a:solidFill>
              <a:latin typeface="Arial"/>
            </a:endParaRPr>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155448"/>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777240" y="475488"/>
            <a:ext cx="10637215" cy="237744"/>
          </a:xfrm>
          <a:prstGeom prst="rect">
            <a:avLst/>
          </a:prstGeom>
          <a:noFill/>
        </p:spPr>
        <p:txBody>
          <a:bodyPr wrap="square" lIns="0" tIns="0" rIns="0" bIns="0">
            <a:spAutoFit/>
          </a:bodyPr>
          <a:lstStyle/>
          <a:p>
            <a:pPr algn="l">
              <a:lnSpc>
                <a:spcPct val="122000"/>
              </a:lnSpc>
              <a:spcBef>
                <a:spcPts val="0"/>
              </a:spcBef>
              <a:spcAft>
                <a:spcPts val="0"/>
              </a:spcAft>
            </a:pPr>
            <a:r>
              <a:rPr sz="1050" b="1">
                <a:solidFill>
                  <a:srgbClr val="8C2F39"/>
                </a:solidFill>
                <a:latin typeface="Arial"/>
              </a:rPr>
              <a:t>EL ENCARGO</a:t>
            </a:r>
          </a:p>
        </p:txBody>
      </p:sp>
      <p:sp>
        <p:nvSpPr>
          <p:cNvPr id="4" name="Rectangle 3"/>
          <p:cNvSpPr/>
          <p:nvPr/>
        </p:nvSpPr>
        <p:spPr>
          <a:xfrm>
            <a:off x="777240" y="768096"/>
            <a:ext cx="502920" cy="30480"/>
          </a:xfrm>
          <a:prstGeom prst="rect">
            <a:avLst/>
          </a:prstGeom>
          <a:solidFill>
            <a:srgbClr val="8C2F3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 name="TextBox 4"/>
          <p:cNvSpPr txBox="1"/>
          <p:nvPr/>
        </p:nvSpPr>
        <p:spPr>
          <a:xfrm>
            <a:off x="777240" y="914400"/>
            <a:ext cx="10637215" cy="445770"/>
          </a:xfrm>
          <a:prstGeom prst="rect">
            <a:avLst/>
          </a:prstGeom>
          <a:noFill/>
        </p:spPr>
        <p:txBody>
          <a:bodyPr wrap="square" lIns="0" tIns="0" rIns="0" bIns="0">
            <a:spAutoFit/>
          </a:bodyPr>
          <a:lstStyle/>
          <a:p>
            <a:pPr algn="l">
              <a:lnSpc>
                <a:spcPct val="106000"/>
              </a:lnSpc>
              <a:spcBef>
                <a:spcPts val="0"/>
              </a:spcBef>
              <a:spcAft>
                <a:spcPts val="0"/>
              </a:spcAft>
            </a:pPr>
            <a:r>
              <a:rPr sz="2700" b="1">
                <a:solidFill>
                  <a:srgbClr val="17150F"/>
                </a:solidFill>
                <a:latin typeface="Arial"/>
              </a:rPr>
              <a:t>Tres cosas pedidas, tres cosas entregadas</a:t>
            </a:r>
          </a:p>
        </p:txBody>
      </p:sp>
      <p:graphicFrame>
        <p:nvGraphicFramePr>
          <p:cNvPr id="6" name="Table 5"/>
          <p:cNvGraphicFramePr>
            <a:graphicFrameLocks noGrp="1"/>
          </p:cNvGraphicFramePr>
          <p:nvPr/>
        </p:nvGraphicFramePr>
        <p:xfrm>
          <a:off x="777240" y="1506474"/>
          <a:ext cx="10637214" cy="1780032"/>
        </p:xfrm>
        <a:graphic>
          <a:graphicData uri="http://schemas.openxmlformats.org/drawingml/2006/table">
            <a:tbl>
              <a:tblPr bandRow="1">
                <a:tableStyleId>{5C22544A-7EE6-4342-B048-85BDC9FD1C3A}</a:tableStyleId>
              </a:tblPr>
              <a:tblGrid>
                <a:gridCol w="4042141">
                  <a:extLst>
                    <a:ext uri="{9D8B030D-6E8A-4147-A177-3AD203B41FA5}">
                      <a16:colId xmlns:a16="http://schemas.microsoft.com/office/drawing/2014/main" val="20000"/>
                    </a:ext>
                  </a:extLst>
                </a:gridCol>
                <a:gridCol w="4254886">
                  <a:extLst>
                    <a:ext uri="{9D8B030D-6E8A-4147-A177-3AD203B41FA5}">
                      <a16:colId xmlns:a16="http://schemas.microsoft.com/office/drawing/2014/main" val="20001"/>
                    </a:ext>
                  </a:extLst>
                </a:gridCol>
                <a:gridCol w="2340187">
                  <a:extLst>
                    <a:ext uri="{9D8B030D-6E8A-4147-A177-3AD203B41FA5}">
                      <a16:colId xmlns:a16="http://schemas.microsoft.com/office/drawing/2014/main" val="20002"/>
                    </a:ext>
                  </a:extLst>
                </a:gridCol>
              </a:tblGrid>
              <a:tr h="347472">
                <a:tc>
                  <a:txBody>
                    <a:bodyPr/>
                    <a:lstStyle/>
                    <a:p>
                      <a:pPr algn="l"/>
                      <a:r>
                        <a:rPr sz="1150" b="1">
                          <a:solidFill>
                            <a:srgbClr val="8B8478"/>
                          </a:solidFill>
                          <a:latin typeface="Arial"/>
                        </a:rPr>
                        <a:t>Lo que se pide</a:t>
                      </a:r>
                    </a:p>
                  </a:txBody>
                  <a:tcPr marL="82296" marR="82296" anchor="ctr">
                    <a:solidFill>
                      <a:srgbClr val="F4F2ED"/>
                    </a:solidFill>
                  </a:tcPr>
                </a:tc>
                <a:tc>
                  <a:txBody>
                    <a:bodyPr/>
                    <a:lstStyle/>
                    <a:p>
                      <a:pPr algn="r"/>
                      <a:r>
                        <a:rPr sz="1150" b="1">
                          <a:solidFill>
                            <a:srgbClr val="8B8478"/>
                          </a:solidFill>
                          <a:latin typeface="Arial"/>
                        </a:rPr>
                        <a:t>Lo que se entrega</a:t>
                      </a:r>
                    </a:p>
                  </a:txBody>
                  <a:tcPr marL="82296" marR="82296" anchor="ctr">
                    <a:solidFill>
                      <a:srgbClr val="F4F2ED"/>
                    </a:solidFill>
                  </a:tcPr>
                </a:tc>
                <a:tc>
                  <a:txBody>
                    <a:bodyPr/>
                    <a:lstStyle/>
                    <a:p>
                      <a:pPr algn="r"/>
                      <a:r>
                        <a:rPr sz="1150" b="1">
                          <a:solidFill>
                            <a:srgbClr val="8B8478"/>
                          </a:solidFill>
                          <a:latin typeface="Arial"/>
                        </a:rPr>
                        <a:t>Dónde está</a:t>
                      </a:r>
                    </a:p>
                  </a:txBody>
                  <a:tcPr marL="82296" marR="82296" anchor="ctr">
                    <a:solidFill>
                      <a:srgbClr val="F4F2ED"/>
                    </a:solidFill>
                  </a:tcPr>
                </a:tc>
                <a:extLst>
                  <a:ext uri="{0D108BD9-81ED-4DB2-BD59-A6C34878D82A}">
                    <a16:rowId xmlns:a16="http://schemas.microsoft.com/office/drawing/2014/main" val="10000"/>
                  </a:ext>
                </a:extLst>
              </a:tr>
              <a:tr h="457200">
                <a:tc>
                  <a:txBody>
                    <a:bodyPr/>
                    <a:lstStyle/>
                    <a:p>
                      <a:pPr algn="l"/>
                      <a:r>
                        <a:rPr sz="1300" b="0">
                          <a:solidFill>
                            <a:srgbClr val="17150F"/>
                          </a:solidFill>
                          <a:latin typeface="Arial"/>
                        </a:rPr>
                        <a:t>Pronóstico semanal de demanda por SKU y tienda</a:t>
                      </a:r>
                    </a:p>
                  </a:txBody>
                  <a:tcPr marL="82296" marR="82296" anchor="ctr">
                    <a:solidFill>
                      <a:srgbClr val="FFFFFF"/>
                    </a:solidFill>
                  </a:tcPr>
                </a:tc>
                <a:tc>
                  <a:txBody>
                    <a:bodyPr/>
                    <a:lstStyle/>
                    <a:p>
                      <a:pPr algn="r"/>
                      <a:r>
                        <a:rPr sz="1300" b="0">
                          <a:solidFill>
                            <a:srgbClr val="555045"/>
                          </a:solidFill>
                          <a:latin typeface="Arial"/>
                        </a:rPr>
                        <a:t>Regresión cuantílica relativa, 17 niveles entrenados</a:t>
                      </a:r>
                    </a:p>
                  </a:txBody>
                  <a:tcPr marL="82296" marR="82296" anchor="ctr">
                    <a:solidFill>
                      <a:srgbClr val="FFFFFF"/>
                    </a:solidFill>
                  </a:tcPr>
                </a:tc>
                <a:tc>
                  <a:txBody>
                    <a:bodyPr/>
                    <a:lstStyle/>
                    <a:p>
                      <a:pPr algn="r"/>
                      <a:r>
                        <a:rPr sz="1300" b="0">
                          <a:solidFill>
                            <a:srgbClr val="555045"/>
                          </a:solidFill>
                          <a:latin typeface="Arial"/>
                        </a:rPr>
                        <a:t>Pasos 10 y 11</a:t>
                      </a:r>
                    </a:p>
                  </a:txBody>
                  <a:tcPr marL="82296" marR="82296" anchor="ctr">
                    <a:solidFill>
                      <a:srgbClr val="FFFFFF"/>
                    </a:solidFill>
                  </a:tcPr>
                </a:tc>
                <a:extLst>
                  <a:ext uri="{0D108BD9-81ED-4DB2-BD59-A6C34878D82A}">
                    <a16:rowId xmlns:a16="http://schemas.microsoft.com/office/drawing/2014/main" val="10001"/>
                  </a:ext>
                </a:extLst>
              </a:tr>
              <a:tr h="457200">
                <a:tc>
                  <a:txBody>
                    <a:bodyPr/>
                    <a:lstStyle/>
                    <a:p>
                      <a:pPr algn="l"/>
                      <a:r>
                        <a:rPr sz="1300" b="0">
                          <a:solidFill>
                            <a:srgbClr val="17150F"/>
                          </a:solidFill>
                          <a:latin typeface="Arial"/>
                        </a:rPr>
                        <a:t>Una política de pedido que use la incertidumbre y los márgenes</a:t>
                      </a:r>
                    </a:p>
                  </a:txBody>
                  <a:tcPr marL="82296" marR="82296" anchor="ctr">
                    <a:solidFill>
                      <a:srgbClr val="FFFFFF"/>
                    </a:solidFill>
                  </a:tcPr>
                </a:tc>
                <a:tc>
                  <a:txBody>
                    <a:bodyPr/>
                    <a:lstStyle/>
                    <a:p>
                      <a:pPr algn="r"/>
                      <a:r>
                        <a:rPr sz="1300" b="0">
                          <a:solidFill>
                            <a:srgbClr val="555045"/>
                          </a:solidFill>
                          <a:latin typeface="Arial"/>
                        </a:rPr>
                        <a:t>Nivel de servicio por producto derivado de sus costes</a:t>
                      </a:r>
                    </a:p>
                  </a:txBody>
                  <a:tcPr marL="82296" marR="82296" anchor="ctr">
                    <a:solidFill>
                      <a:srgbClr val="FFFFFF"/>
                    </a:solidFill>
                  </a:tcPr>
                </a:tc>
                <a:tc>
                  <a:txBody>
                    <a:bodyPr/>
                    <a:lstStyle/>
                    <a:p>
                      <a:pPr algn="r"/>
                      <a:r>
                        <a:rPr sz="1300" b="0">
                          <a:solidFill>
                            <a:srgbClr val="555045"/>
                          </a:solidFill>
                          <a:latin typeface="Arial"/>
                        </a:rPr>
                        <a:t>Pasos 9 y 14</a:t>
                      </a:r>
                    </a:p>
                  </a:txBody>
                  <a:tcPr marL="82296" marR="82296" anchor="ctr">
                    <a:solidFill>
                      <a:srgbClr val="FFFFFF"/>
                    </a:solidFill>
                  </a:tcPr>
                </a:tc>
                <a:extLst>
                  <a:ext uri="{0D108BD9-81ED-4DB2-BD59-A6C34878D82A}">
                    <a16:rowId xmlns:a16="http://schemas.microsoft.com/office/drawing/2014/main" val="10002"/>
                  </a:ext>
                </a:extLst>
              </a:tr>
              <a:tr h="457200">
                <a:tc>
                  <a:txBody>
                    <a:bodyPr/>
                    <a:lstStyle/>
                    <a:p>
                      <a:pPr algn="l"/>
                      <a:r>
                        <a:rPr sz="1300" b="0">
                          <a:solidFill>
                            <a:srgbClr val="17150F"/>
                          </a:solidFill>
                          <a:latin typeface="Arial"/>
                        </a:rPr>
                        <a:t>Decidir si el pedido es agresivo o conservador</a:t>
                      </a:r>
                    </a:p>
                  </a:txBody>
                  <a:tcPr marL="82296" marR="82296" anchor="ctr">
                    <a:solidFill>
                      <a:srgbClr val="FFFFFF"/>
                    </a:solidFill>
                  </a:tcPr>
                </a:tc>
                <a:tc>
                  <a:txBody>
                    <a:bodyPr/>
                    <a:lstStyle/>
                    <a:p>
                      <a:pPr algn="r"/>
                      <a:r>
                        <a:rPr sz="1300" b="0">
                          <a:solidFill>
                            <a:srgbClr val="555045"/>
                          </a:solidFill>
                          <a:latin typeface="Arial"/>
                        </a:rPr>
                        <a:t>Colchón del 2,7 % al 6,3 % según el margen del producto</a:t>
                      </a:r>
                    </a:p>
                  </a:txBody>
                  <a:tcPr marL="82296" marR="82296" anchor="ctr">
                    <a:solidFill>
                      <a:srgbClr val="FFFFFF"/>
                    </a:solidFill>
                  </a:tcPr>
                </a:tc>
                <a:tc>
                  <a:txBody>
                    <a:bodyPr/>
                    <a:lstStyle/>
                    <a:p>
                      <a:pPr algn="r"/>
                      <a:r>
                        <a:rPr sz="1300" b="0">
                          <a:solidFill>
                            <a:srgbClr val="555045"/>
                          </a:solidFill>
                          <a:latin typeface="Arial"/>
                        </a:rPr>
                        <a:t>Paso 14</a:t>
                      </a:r>
                    </a:p>
                  </a:txBody>
                  <a:tcPr marL="82296" marR="82296" anchor="ctr">
                    <a:solidFill>
                      <a:srgbClr val="FFFFFF"/>
                    </a:solidFill>
                  </a:tcPr>
                </a:tc>
                <a:extLst>
                  <a:ext uri="{0D108BD9-81ED-4DB2-BD59-A6C34878D82A}">
                    <a16:rowId xmlns:a16="http://schemas.microsoft.com/office/drawing/2014/main" val="10003"/>
                  </a:ext>
                </a:extLst>
              </a:tr>
            </a:tbl>
          </a:graphicData>
        </a:graphic>
      </p:graphicFrame>
      <p:sp>
        <p:nvSpPr>
          <p:cNvPr id="8" name="Rectangle 7"/>
          <p:cNvSpPr/>
          <p:nvPr/>
        </p:nvSpPr>
        <p:spPr>
          <a:xfrm>
            <a:off x="777240" y="6327648"/>
            <a:ext cx="10637215" cy="9525"/>
          </a:xfrm>
          <a:prstGeom prst="rect">
            <a:avLst/>
          </a:prstGeom>
          <a:solidFill>
            <a:srgbClr val="DCD8C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9" name="TextBox 8"/>
          <p:cNvSpPr txBox="1"/>
          <p:nvPr/>
        </p:nvSpPr>
        <p:spPr>
          <a:xfrm>
            <a:off x="777240" y="6428232"/>
            <a:ext cx="8686800" cy="274320"/>
          </a:xfrm>
          <a:prstGeom prst="rect">
            <a:avLst/>
          </a:prstGeom>
          <a:noFill/>
        </p:spPr>
        <p:txBody>
          <a:bodyPr wrap="square" lIns="0" tIns="0" rIns="0" bIns="0">
            <a:spAutoFit/>
          </a:bodyPr>
          <a:lstStyle/>
          <a:p>
            <a:pPr algn="l">
              <a:lnSpc>
                <a:spcPct val="122000"/>
              </a:lnSpc>
              <a:spcBef>
                <a:spcPts val="0"/>
              </a:spcBef>
              <a:spcAft>
                <a:spcPts val="0"/>
              </a:spcAft>
            </a:pPr>
            <a:r>
              <a:rPr sz="950" b="0">
                <a:solidFill>
                  <a:srgbClr val="8B8478"/>
                </a:solidFill>
                <a:latin typeface="Arial"/>
              </a:rPr>
              <a:t>El encargo</a:t>
            </a:r>
          </a:p>
        </p:txBody>
      </p:sp>
      <p:sp>
        <p:nvSpPr>
          <p:cNvPr id="10" name="TextBox 9"/>
          <p:cNvSpPr txBox="1"/>
          <p:nvPr/>
        </p:nvSpPr>
        <p:spPr>
          <a:xfrm>
            <a:off x="10500055" y="6428232"/>
            <a:ext cx="914400" cy="274320"/>
          </a:xfrm>
          <a:prstGeom prst="rect">
            <a:avLst/>
          </a:prstGeom>
          <a:noFill/>
        </p:spPr>
        <p:txBody>
          <a:bodyPr wrap="square" lIns="0" tIns="0" rIns="0" bIns="0">
            <a:spAutoFit/>
          </a:bodyPr>
          <a:lstStyle/>
          <a:p>
            <a:pPr algn="r">
              <a:lnSpc>
                <a:spcPct val="122000"/>
              </a:lnSpc>
              <a:spcBef>
                <a:spcPts val="0"/>
              </a:spcBef>
              <a:spcAft>
                <a:spcPts val="0"/>
              </a:spcAft>
            </a:pPr>
            <a:r>
              <a:rPr sz="950" b="0">
                <a:solidFill>
                  <a:srgbClr val="8B8478"/>
                </a:solidFill>
                <a:latin typeface="Arial"/>
              </a:rPr>
              <a:t>2</a:t>
            </a:r>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87086"/>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777240" y="475488"/>
            <a:ext cx="10637215" cy="237744"/>
          </a:xfrm>
          <a:prstGeom prst="rect">
            <a:avLst/>
          </a:prstGeom>
          <a:noFill/>
        </p:spPr>
        <p:txBody>
          <a:bodyPr wrap="square" lIns="0" tIns="0" rIns="0" bIns="0">
            <a:spAutoFit/>
          </a:bodyPr>
          <a:lstStyle/>
          <a:p>
            <a:pPr algn="l">
              <a:lnSpc>
                <a:spcPct val="122000"/>
              </a:lnSpc>
              <a:spcBef>
                <a:spcPts val="0"/>
              </a:spcBef>
              <a:spcAft>
                <a:spcPts val="0"/>
              </a:spcAft>
            </a:pPr>
            <a:r>
              <a:rPr sz="1050" b="1">
                <a:solidFill>
                  <a:srgbClr val="8C2F39"/>
                </a:solidFill>
                <a:latin typeface="Arial"/>
              </a:rPr>
              <a:t>EL PROBLEMA</a:t>
            </a:r>
          </a:p>
        </p:txBody>
      </p:sp>
      <p:sp>
        <p:nvSpPr>
          <p:cNvPr id="4" name="Rectangle 3"/>
          <p:cNvSpPr/>
          <p:nvPr/>
        </p:nvSpPr>
        <p:spPr>
          <a:xfrm>
            <a:off x="777240" y="768096"/>
            <a:ext cx="502920" cy="30480"/>
          </a:xfrm>
          <a:prstGeom prst="rect">
            <a:avLst/>
          </a:prstGeom>
          <a:solidFill>
            <a:srgbClr val="8C2F3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 name="TextBox 4"/>
          <p:cNvSpPr txBox="1"/>
          <p:nvPr/>
        </p:nvSpPr>
        <p:spPr>
          <a:xfrm>
            <a:off x="777240" y="914400"/>
            <a:ext cx="10637215" cy="445770"/>
          </a:xfrm>
          <a:prstGeom prst="rect">
            <a:avLst/>
          </a:prstGeom>
          <a:noFill/>
        </p:spPr>
        <p:txBody>
          <a:bodyPr wrap="square" lIns="0" tIns="0" rIns="0" bIns="0">
            <a:spAutoFit/>
          </a:bodyPr>
          <a:lstStyle/>
          <a:p>
            <a:pPr algn="l">
              <a:lnSpc>
                <a:spcPct val="106000"/>
              </a:lnSpc>
              <a:spcBef>
                <a:spcPts val="0"/>
              </a:spcBef>
              <a:spcAft>
                <a:spcPts val="0"/>
              </a:spcAft>
            </a:pPr>
            <a:r>
              <a:rPr sz="2700" b="1">
                <a:solidFill>
                  <a:srgbClr val="17150F"/>
                </a:solidFill>
                <a:latin typeface="Arial"/>
              </a:rPr>
              <a:t>Equivocarse por arriba y por abajo no cuesta lo mismo</a:t>
            </a:r>
          </a:p>
        </p:txBody>
      </p:sp>
      <p:sp>
        <p:nvSpPr>
          <p:cNvPr id="6" name="TextBox 5"/>
          <p:cNvSpPr txBox="1"/>
          <p:nvPr/>
        </p:nvSpPr>
        <p:spPr>
          <a:xfrm>
            <a:off x="808990" y="1360170"/>
            <a:ext cx="9966960" cy="550022"/>
          </a:xfrm>
          <a:prstGeom prst="rect">
            <a:avLst/>
          </a:prstGeom>
          <a:noFill/>
        </p:spPr>
        <p:txBody>
          <a:bodyPr wrap="square" lIns="0" tIns="0" rIns="0" bIns="0">
            <a:spAutoFit/>
          </a:bodyPr>
          <a:lstStyle/>
          <a:p>
            <a:pPr algn="l">
              <a:lnSpc>
                <a:spcPct val="130000"/>
              </a:lnSpc>
              <a:spcBef>
                <a:spcPts val="0"/>
              </a:spcBef>
              <a:spcAft>
                <a:spcPts val="0"/>
              </a:spcAft>
            </a:pPr>
            <a:r>
              <a:rPr sz="1450" b="0" dirty="0">
                <a:solidFill>
                  <a:srgbClr val="555045"/>
                </a:solidFill>
                <a:latin typeface="Arial"/>
              </a:rPr>
              <a:t>Por </a:t>
            </a:r>
            <a:r>
              <a:rPr sz="1450" b="0" dirty="0" err="1">
                <a:solidFill>
                  <a:srgbClr val="555045"/>
                </a:solidFill>
                <a:latin typeface="Arial"/>
              </a:rPr>
              <a:t>eso</a:t>
            </a:r>
            <a:r>
              <a:rPr sz="1450" b="0" dirty="0">
                <a:solidFill>
                  <a:srgbClr val="555045"/>
                </a:solidFill>
                <a:latin typeface="Arial"/>
              </a:rPr>
              <a:t> la </a:t>
            </a:r>
            <a:r>
              <a:rPr sz="1450" b="0" dirty="0" err="1">
                <a:solidFill>
                  <a:srgbClr val="555045"/>
                </a:solidFill>
                <a:latin typeface="Arial"/>
              </a:rPr>
              <a:t>cantidad</a:t>
            </a:r>
            <a:r>
              <a:rPr sz="1450" b="0" dirty="0">
                <a:solidFill>
                  <a:srgbClr val="555045"/>
                </a:solidFill>
                <a:latin typeface="Arial"/>
              </a:rPr>
              <a:t> </a:t>
            </a:r>
            <a:r>
              <a:rPr sz="1450" b="0" dirty="0" err="1">
                <a:solidFill>
                  <a:srgbClr val="555045"/>
                </a:solidFill>
                <a:latin typeface="Arial"/>
              </a:rPr>
              <a:t>correcta</a:t>
            </a:r>
            <a:r>
              <a:rPr sz="1450" b="0" dirty="0">
                <a:solidFill>
                  <a:srgbClr val="555045"/>
                </a:solidFill>
                <a:latin typeface="Arial"/>
              </a:rPr>
              <a:t> </a:t>
            </a:r>
            <a:r>
              <a:rPr sz="1450" b="0" dirty="0" err="1">
                <a:solidFill>
                  <a:srgbClr val="555045"/>
                </a:solidFill>
                <a:latin typeface="Arial"/>
              </a:rPr>
              <a:t>nunca</a:t>
            </a:r>
            <a:r>
              <a:rPr sz="1450" b="0" dirty="0">
                <a:solidFill>
                  <a:srgbClr val="555045"/>
                </a:solidFill>
                <a:latin typeface="Arial"/>
              </a:rPr>
              <a:t> es la </a:t>
            </a:r>
            <a:r>
              <a:rPr sz="1450" b="0" dirty="0" err="1">
                <a:solidFill>
                  <a:srgbClr val="555045"/>
                </a:solidFill>
                <a:latin typeface="Arial"/>
              </a:rPr>
              <a:t>demanda</a:t>
            </a:r>
            <a:r>
              <a:rPr sz="1450" b="0" dirty="0">
                <a:solidFill>
                  <a:srgbClr val="555045"/>
                </a:solidFill>
                <a:latin typeface="Arial"/>
              </a:rPr>
              <a:t> </a:t>
            </a:r>
            <a:r>
              <a:rPr sz="1450" b="0" dirty="0" err="1">
                <a:solidFill>
                  <a:srgbClr val="555045"/>
                </a:solidFill>
                <a:latin typeface="Arial"/>
              </a:rPr>
              <a:t>esperada</a:t>
            </a:r>
            <a:r>
              <a:rPr sz="1450" b="0" dirty="0">
                <a:solidFill>
                  <a:srgbClr val="555045"/>
                </a:solidFill>
                <a:latin typeface="Arial"/>
              </a:rPr>
              <a:t>. </a:t>
            </a:r>
            <a:r>
              <a:rPr sz="1450" b="0" dirty="0" err="1">
                <a:solidFill>
                  <a:srgbClr val="555045"/>
                </a:solidFill>
                <a:latin typeface="Arial"/>
              </a:rPr>
              <a:t>Ejemplo</a:t>
            </a:r>
            <a:r>
              <a:rPr sz="1450" b="0" dirty="0">
                <a:solidFill>
                  <a:srgbClr val="555045"/>
                </a:solidFill>
                <a:latin typeface="Arial"/>
              </a:rPr>
              <a:t> con un Tinto</a:t>
            </a:r>
            <a:r>
              <a:rPr lang="es-419" sz="1450" b="0" dirty="0">
                <a:solidFill>
                  <a:srgbClr val="555045"/>
                </a:solidFill>
                <a:latin typeface="Arial"/>
              </a:rPr>
              <a:t> (se vende en 2.500, ganancia 1.700, producrilo 800 y guardarlo 10)</a:t>
            </a:r>
            <a:r>
              <a:rPr sz="1450" b="0" dirty="0">
                <a:solidFill>
                  <a:srgbClr val="555045"/>
                </a:solidFill>
                <a:latin typeface="Arial"/>
              </a:rPr>
              <a:t>.</a:t>
            </a:r>
          </a:p>
        </p:txBody>
      </p:sp>
      <p:sp>
        <p:nvSpPr>
          <p:cNvPr id="7" name="Rectangle 6"/>
          <p:cNvSpPr/>
          <p:nvPr/>
        </p:nvSpPr>
        <p:spPr>
          <a:xfrm>
            <a:off x="777240" y="1990979"/>
            <a:ext cx="5208879" cy="1828800"/>
          </a:xfrm>
          <a:prstGeom prst="rect">
            <a:avLst/>
          </a:prstGeom>
          <a:solidFill>
            <a:srgbClr val="FFFFFF"/>
          </a:solidFill>
          <a:ln w="9525">
            <a:solidFill>
              <a:srgbClr val="DCD8C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8" name="TextBox 7"/>
          <p:cNvSpPr txBox="1"/>
          <p:nvPr/>
        </p:nvSpPr>
        <p:spPr>
          <a:xfrm>
            <a:off x="1033272" y="2210435"/>
            <a:ext cx="4696815" cy="1463040"/>
          </a:xfrm>
          <a:prstGeom prst="rect">
            <a:avLst/>
          </a:prstGeom>
          <a:noFill/>
        </p:spPr>
        <p:txBody>
          <a:bodyPr wrap="square" lIns="0" tIns="0" rIns="0" bIns="0">
            <a:spAutoFit/>
          </a:bodyPr>
          <a:lstStyle/>
          <a:p>
            <a:pPr algn="l">
              <a:lnSpc>
                <a:spcPct val="122000"/>
              </a:lnSpc>
              <a:spcBef>
                <a:spcPts val="0"/>
              </a:spcBef>
              <a:spcAft>
                <a:spcPts val="600"/>
              </a:spcAft>
            </a:pPr>
            <a:r>
              <a:rPr sz="1050" b="1" dirty="0">
                <a:solidFill>
                  <a:srgbClr val="BC5A26"/>
                </a:solidFill>
                <a:latin typeface="Arial"/>
              </a:rPr>
              <a:t>SI FALTA UNA UNIDAD</a:t>
            </a:r>
          </a:p>
          <a:p>
            <a:pPr algn="l">
              <a:lnSpc>
                <a:spcPct val="100000"/>
              </a:lnSpc>
              <a:spcBef>
                <a:spcPts val="0"/>
              </a:spcBef>
              <a:spcAft>
                <a:spcPts val="800"/>
              </a:spcAft>
            </a:pPr>
            <a:r>
              <a:rPr sz="3000" b="1" dirty="0">
                <a:solidFill>
                  <a:srgbClr val="17150F"/>
                </a:solidFill>
                <a:latin typeface="Arial"/>
              </a:rPr>
              <a:t>1.700 pesos</a:t>
            </a:r>
          </a:p>
          <a:p>
            <a:pPr algn="l">
              <a:lnSpc>
                <a:spcPct val="128000"/>
              </a:lnSpc>
              <a:spcBef>
                <a:spcPts val="0"/>
              </a:spcBef>
              <a:spcAft>
                <a:spcPts val="0"/>
              </a:spcAft>
            </a:pPr>
            <a:r>
              <a:rPr sz="1300" b="0" dirty="0">
                <a:solidFill>
                  <a:srgbClr val="555045"/>
                </a:solidFill>
                <a:latin typeface="Arial"/>
              </a:rPr>
              <a:t>Es el </a:t>
            </a:r>
            <a:r>
              <a:rPr sz="1300" b="0" dirty="0" err="1">
                <a:solidFill>
                  <a:srgbClr val="555045"/>
                </a:solidFill>
                <a:latin typeface="Arial"/>
              </a:rPr>
              <a:t>margen</a:t>
            </a:r>
            <a:r>
              <a:rPr sz="1300" b="0" dirty="0">
                <a:solidFill>
                  <a:srgbClr val="555045"/>
                </a:solidFill>
                <a:latin typeface="Arial"/>
              </a:rPr>
              <a:t> </a:t>
            </a:r>
            <a:r>
              <a:rPr sz="1300" b="0" dirty="0" err="1">
                <a:solidFill>
                  <a:srgbClr val="555045"/>
                </a:solidFill>
                <a:latin typeface="Arial"/>
              </a:rPr>
              <a:t>que</a:t>
            </a:r>
            <a:r>
              <a:rPr sz="1300" b="0" dirty="0">
                <a:solidFill>
                  <a:srgbClr val="555045"/>
                </a:solidFill>
                <a:latin typeface="Arial"/>
              </a:rPr>
              <a:t> se </a:t>
            </a:r>
            <a:r>
              <a:rPr sz="1300" b="0" dirty="0" err="1">
                <a:solidFill>
                  <a:srgbClr val="555045"/>
                </a:solidFill>
                <a:latin typeface="Arial"/>
              </a:rPr>
              <a:t>deja</a:t>
            </a:r>
            <a:r>
              <a:rPr sz="1300" b="0" dirty="0">
                <a:solidFill>
                  <a:srgbClr val="555045"/>
                </a:solidFill>
                <a:latin typeface="Arial"/>
              </a:rPr>
              <a:t> de </a:t>
            </a:r>
            <a:r>
              <a:rPr sz="1300" b="0" dirty="0" err="1">
                <a:solidFill>
                  <a:srgbClr val="555045"/>
                </a:solidFill>
                <a:latin typeface="Arial"/>
              </a:rPr>
              <a:t>ganar</a:t>
            </a:r>
            <a:r>
              <a:rPr sz="1300" b="0" dirty="0">
                <a:solidFill>
                  <a:srgbClr val="555045"/>
                </a:solidFill>
                <a:latin typeface="Arial"/>
              </a:rPr>
              <a:t>. El </a:t>
            </a:r>
            <a:r>
              <a:rPr sz="1300" b="0" dirty="0" err="1">
                <a:solidFill>
                  <a:srgbClr val="555045"/>
                </a:solidFill>
                <a:latin typeface="Arial"/>
              </a:rPr>
              <a:t>cliente</a:t>
            </a:r>
            <a:r>
              <a:rPr sz="1300" b="0" dirty="0">
                <a:solidFill>
                  <a:srgbClr val="555045"/>
                </a:solidFill>
                <a:latin typeface="Arial"/>
              </a:rPr>
              <a:t> </a:t>
            </a:r>
            <a:r>
              <a:rPr sz="1300" b="0" dirty="0" err="1">
                <a:solidFill>
                  <a:srgbClr val="555045"/>
                </a:solidFill>
                <a:latin typeface="Arial"/>
              </a:rPr>
              <a:t>quería</a:t>
            </a:r>
            <a:r>
              <a:rPr sz="1300" b="0" dirty="0">
                <a:solidFill>
                  <a:srgbClr val="555045"/>
                </a:solidFill>
                <a:latin typeface="Arial"/>
              </a:rPr>
              <a:t> el </a:t>
            </a:r>
            <a:r>
              <a:rPr sz="1300" b="0" dirty="0" err="1">
                <a:solidFill>
                  <a:srgbClr val="555045"/>
                </a:solidFill>
                <a:latin typeface="Arial"/>
              </a:rPr>
              <a:t>producto</a:t>
            </a:r>
            <a:r>
              <a:rPr sz="1300" b="0" dirty="0">
                <a:solidFill>
                  <a:srgbClr val="555045"/>
                </a:solidFill>
                <a:latin typeface="Arial"/>
              </a:rPr>
              <a:t> y no </a:t>
            </a:r>
            <a:r>
              <a:rPr sz="1300" b="0" dirty="0" err="1">
                <a:solidFill>
                  <a:srgbClr val="555045"/>
                </a:solidFill>
                <a:latin typeface="Arial"/>
              </a:rPr>
              <a:t>estaba</a:t>
            </a:r>
            <a:r>
              <a:rPr sz="1300" b="0" dirty="0">
                <a:solidFill>
                  <a:srgbClr val="555045"/>
                </a:solidFill>
                <a:latin typeface="Arial"/>
              </a:rPr>
              <a:t>.</a:t>
            </a:r>
          </a:p>
        </p:txBody>
      </p:sp>
      <p:sp>
        <p:nvSpPr>
          <p:cNvPr id="9" name="Rectangle 8"/>
          <p:cNvSpPr/>
          <p:nvPr/>
        </p:nvSpPr>
        <p:spPr>
          <a:xfrm>
            <a:off x="6205575" y="1990979"/>
            <a:ext cx="5208879" cy="1828800"/>
          </a:xfrm>
          <a:prstGeom prst="rect">
            <a:avLst/>
          </a:prstGeom>
          <a:solidFill>
            <a:srgbClr val="FFFFFF"/>
          </a:solidFill>
          <a:ln w="9525">
            <a:solidFill>
              <a:srgbClr val="DCD8C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0" name="TextBox 9"/>
          <p:cNvSpPr txBox="1"/>
          <p:nvPr/>
        </p:nvSpPr>
        <p:spPr>
          <a:xfrm>
            <a:off x="6461607" y="2210435"/>
            <a:ext cx="4696815" cy="1463040"/>
          </a:xfrm>
          <a:prstGeom prst="rect">
            <a:avLst/>
          </a:prstGeom>
          <a:noFill/>
        </p:spPr>
        <p:txBody>
          <a:bodyPr wrap="square" lIns="0" tIns="0" rIns="0" bIns="0">
            <a:spAutoFit/>
          </a:bodyPr>
          <a:lstStyle/>
          <a:p>
            <a:pPr algn="l">
              <a:lnSpc>
                <a:spcPct val="122000"/>
              </a:lnSpc>
              <a:spcBef>
                <a:spcPts val="0"/>
              </a:spcBef>
              <a:spcAft>
                <a:spcPts val="600"/>
              </a:spcAft>
            </a:pPr>
            <a:r>
              <a:rPr sz="1050" b="1">
                <a:solidFill>
                  <a:srgbClr val="3E6B7E"/>
                </a:solidFill>
                <a:latin typeface="Arial"/>
              </a:rPr>
              <a:t>SI SOBRA UNA UNIDAD</a:t>
            </a:r>
          </a:p>
          <a:p>
            <a:pPr algn="l">
              <a:lnSpc>
                <a:spcPct val="100000"/>
              </a:lnSpc>
              <a:spcBef>
                <a:spcPts val="0"/>
              </a:spcBef>
              <a:spcAft>
                <a:spcPts val="800"/>
              </a:spcAft>
            </a:pPr>
            <a:r>
              <a:rPr sz="3000" b="1">
                <a:solidFill>
                  <a:srgbClr val="17150F"/>
                </a:solidFill>
                <a:latin typeface="Arial"/>
              </a:rPr>
              <a:t>810 pesos</a:t>
            </a:r>
          </a:p>
          <a:p>
            <a:pPr algn="l">
              <a:lnSpc>
                <a:spcPct val="128000"/>
              </a:lnSpc>
              <a:spcBef>
                <a:spcPts val="0"/>
              </a:spcBef>
              <a:spcAft>
                <a:spcPts val="0"/>
              </a:spcAft>
            </a:pPr>
            <a:r>
              <a:rPr sz="1300" b="0">
                <a:solidFill>
                  <a:srgbClr val="555045"/>
                </a:solidFill>
                <a:latin typeface="Arial"/>
              </a:rPr>
              <a:t>Es el producto que se descarta al cierre más el almacenaje. Un tinto no se guarda para mañana.</a:t>
            </a:r>
          </a:p>
        </p:txBody>
      </p:sp>
      <p:sp>
        <p:nvSpPr>
          <p:cNvPr id="11" name="Rectangle 10"/>
          <p:cNvSpPr/>
          <p:nvPr/>
        </p:nvSpPr>
        <p:spPr>
          <a:xfrm>
            <a:off x="777240" y="4249547"/>
            <a:ext cx="63500" cy="63500"/>
          </a:xfrm>
          <a:prstGeom prst="rect">
            <a:avLst/>
          </a:prstGeom>
          <a:solidFill>
            <a:srgbClr val="8C2F3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2" name="TextBox 11"/>
          <p:cNvSpPr txBox="1"/>
          <p:nvPr/>
        </p:nvSpPr>
        <p:spPr>
          <a:xfrm>
            <a:off x="978408" y="4148963"/>
            <a:ext cx="10436047" cy="283337"/>
          </a:xfrm>
          <a:prstGeom prst="rect">
            <a:avLst/>
          </a:prstGeom>
          <a:noFill/>
        </p:spPr>
        <p:txBody>
          <a:bodyPr wrap="square" lIns="0" tIns="0" rIns="0" bIns="0">
            <a:spAutoFit/>
          </a:bodyPr>
          <a:lstStyle/>
          <a:p>
            <a:pPr>
              <a:lnSpc>
                <a:spcPct val="124000"/>
              </a:lnSpc>
              <a:spcAft>
                <a:spcPts val="0"/>
              </a:spcAft>
            </a:pPr>
            <a:r>
              <a:rPr sz="1450" b="0">
                <a:solidFill>
                  <a:srgbClr val="555045"/>
                </a:solidFill>
                <a:latin typeface="Arial"/>
              </a:rPr>
              <a:t>Quedarse corto cuesta algo más del </a:t>
            </a:r>
            <a:r>
              <a:rPr sz="1450" b="1">
                <a:solidFill>
                  <a:srgbClr val="17150F"/>
                </a:solidFill>
                <a:latin typeface="Arial"/>
              </a:rPr>
              <a:t>doble</a:t>
            </a:r>
            <a:r>
              <a:rPr sz="1450" b="0">
                <a:solidFill>
                  <a:srgbClr val="555045"/>
                </a:solidFill>
                <a:latin typeface="Arial"/>
              </a:rPr>
              <a:t> que pasarse, así que conviene pedir por encima de lo esperado.</a:t>
            </a:r>
          </a:p>
        </p:txBody>
      </p:sp>
      <p:sp>
        <p:nvSpPr>
          <p:cNvPr id="13" name="Rectangle 12"/>
          <p:cNvSpPr/>
          <p:nvPr/>
        </p:nvSpPr>
        <p:spPr>
          <a:xfrm>
            <a:off x="777240" y="4660900"/>
            <a:ext cx="63500" cy="63500"/>
          </a:xfrm>
          <a:prstGeom prst="rect">
            <a:avLst/>
          </a:prstGeom>
          <a:solidFill>
            <a:srgbClr val="8C2F3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4" name="TextBox 13"/>
          <p:cNvSpPr txBox="1"/>
          <p:nvPr/>
        </p:nvSpPr>
        <p:spPr>
          <a:xfrm>
            <a:off x="978408" y="4560316"/>
            <a:ext cx="10436047" cy="283337"/>
          </a:xfrm>
          <a:prstGeom prst="rect">
            <a:avLst/>
          </a:prstGeom>
          <a:noFill/>
        </p:spPr>
        <p:txBody>
          <a:bodyPr wrap="square" lIns="0" tIns="0" rIns="0" bIns="0">
            <a:spAutoFit/>
          </a:bodyPr>
          <a:lstStyle/>
          <a:p>
            <a:pPr>
              <a:lnSpc>
                <a:spcPct val="124000"/>
              </a:lnSpc>
              <a:spcAft>
                <a:spcPts val="0"/>
              </a:spcAft>
            </a:pPr>
            <a:r>
              <a:rPr sz="1450" b="0">
                <a:solidFill>
                  <a:srgbClr val="555045"/>
                </a:solidFill>
                <a:latin typeface="Arial"/>
              </a:rPr>
              <a:t>Pero solo hasta cierto punto, y </a:t>
            </a:r>
            <a:r>
              <a:rPr sz="1450" b="1">
                <a:solidFill>
                  <a:srgbClr val="17150F"/>
                </a:solidFill>
                <a:latin typeface="Arial"/>
              </a:rPr>
              <a:t>ese punto es distinto en cada producto</a:t>
            </a:r>
            <a:r>
              <a:rPr sz="1450" b="0">
                <a:solidFill>
                  <a:srgbClr val="555045"/>
                </a:solidFill>
                <a:latin typeface="Arial"/>
              </a:rPr>
              <a:t> porque sus dos costes lo son.</a:t>
            </a:r>
          </a:p>
        </p:txBody>
      </p:sp>
      <p:sp>
        <p:nvSpPr>
          <p:cNvPr id="15" name="Rectangle 14"/>
          <p:cNvSpPr/>
          <p:nvPr/>
        </p:nvSpPr>
        <p:spPr>
          <a:xfrm>
            <a:off x="777240" y="6327648"/>
            <a:ext cx="10637215" cy="9525"/>
          </a:xfrm>
          <a:prstGeom prst="rect">
            <a:avLst/>
          </a:prstGeom>
          <a:solidFill>
            <a:srgbClr val="DCD8C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6" name="TextBox 15"/>
          <p:cNvSpPr txBox="1"/>
          <p:nvPr/>
        </p:nvSpPr>
        <p:spPr>
          <a:xfrm>
            <a:off x="777240" y="6428232"/>
            <a:ext cx="8686800" cy="274320"/>
          </a:xfrm>
          <a:prstGeom prst="rect">
            <a:avLst/>
          </a:prstGeom>
          <a:noFill/>
        </p:spPr>
        <p:txBody>
          <a:bodyPr wrap="square" lIns="0" tIns="0" rIns="0" bIns="0">
            <a:spAutoFit/>
          </a:bodyPr>
          <a:lstStyle/>
          <a:p>
            <a:pPr algn="l">
              <a:lnSpc>
                <a:spcPct val="122000"/>
              </a:lnSpc>
              <a:spcBef>
                <a:spcPts val="0"/>
              </a:spcBef>
              <a:spcAft>
                <a:spcPts val="0"/>
              </a:spcAft>
            </a:pPr>
            <a:r>
              <a:rPr sz="950" b="0">
                <a:solidFill>
                  <a:srgbClr val="8B8478"/>
                </a:solidFill>
                <a:latin typeface="Arial"/>
              </a:rPr>
              <a:t>El problema</a:t>
            </a:r>
          </a:p>
        </p:txBody>
      </p:sp>
      <p:sp>
        <p:nvSpPr>
          <p:cNvPr id="17" name="TextBox 16"/>
          <p:cNvSpPr txBox="1"/>
          <p:nvPr/>
        </p:nvSpPr>
        <p:spPr>
          <a:xfrm>
            <a:off x="10500055" y="6428232"/>
            <a:ext cx="914400" cy="274320"/>
          </a:xfrm>
          <a:prstGeom prst="rect">
            <a:avLst/>
          </a:prstGeom>
          <a:noFill/>
        </p:spPr>
        <p:txBody>
          <a:bodyPr wrap="square" lIns="0" tIns="0" rIns="0" bIns="0">
            <a:spAutoFit/>
          </a:bodyPr>
          <a:lstStyle/>
          <a:p>
            <a:pPr algn="r">
              <a:lnSpc>
                <a:spcPct val="122000"/>
              </a:lnSpc>
              <a:spcBef>
                <a:spcPts val="0"/>
              </a:spcBef>
              <a:spcAft>
                <a:spcPts val="0"/>
              </a:spcAft>
            </a:pPr>
            <a:r>
              <a:rPr sz="950" b="0">
                <a:solidFill>
                  <a:srgbClr val="8B8478"/>
                </a:solidFill>
                <a:latin typeface="Arial"/>
              </a:rPr>
              <a:t>3</a:t>
            </a:r>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777240" y="475488"/>
            <a:ext cx="10637215" cy="237744"/>
          </a:xfrm>
          <a:prstGeom prst="rect">
            <a:avLst/>
          </a:prstGeom>
          <a:noFill/>
        </p:spPr>
        <p:txBody>
          <a:bodyPr wrap="square" lIns="0" tIns="0" rIns="0" bIns="0">
            <a:spAutoFit/>
          </a:bodyPr>
          <a:lstStyle/>
          <a:p>
            <a:pPr algn="l">
              <a:lnSpc>
                <a:spcPct val="122000"/>
              </a:lnSpc>
              <a:spcBef>
                <a:spcPts val="0"/>
              </a:spcBef>
              <a:spcAft>
                <a:spcPts val="0"/>
              </a:spcAft>
            </a:pPr>
            <a:r>
              <a:rPr sz="1050" b="1">
                <a:solidFill>
                  <a:srgbClr val="8C2F39"/>
                </a:solidFill>
                <a:latin typeface="Arial"/>
              </a:rPr>
              <a:t>LOS DATOS DE PARTIDA</a:t>
            </a:r>
          </a:p>
        </p:txBody>
      </p:sp>
      <p:sp>
        <p:nvSpPr>
          <p:cNvPr id="4" name="Rectangle 3"/>
          <p:cNvSpPr/>
          <p:nvPr/>
        </p:nvSpPr>
        <p:spPr>
          <a:xfrm>
            <a:off x="777240" y="768096"/>
            <a:ext cx="502920" cy="30480"/>
          </a:xfrm>
          <a:prstGeom prst="rect">
            <a:avLst/>
          </a:prstGeom>
          <a:solidFill>
            <a:srgbClr val="8C2F3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 name="TextBox 4"/>
          <p:cNvSpPr txBox="1"/>
          <p:nvPr/>
        </p:nvSpPr>
        <p:spPr>
          <a:xfrm>
            <a:off x="777240" y="914400"/>
            <a:ext cx="10637215" cy="445770"/>
          </a:xfrm>
          <a:prstGeom prst="rect">
            <a:avLst/>
          </a:prstGeom>
          <a:noFill/>
        </p:spPr>
        <p:txBody>
          <a:bodyPr wrap="square" lIns="0" tIns="0" rIns="0" bIns="0">
            <a:spAutoFit/>
          </a:bodyPr>
          <a:lstStyle/>
          <a:p>
            <a:pPr algn="l">
              <a:lnSpc>
                <a:spcPct val="106000"/>
              </a:lnSpc>
              <a:spcBef>
                <a:spcPts val="0"/>
              </a:spcBef>
              <a:spcAft>
                <a:spcPts val="0"/>
              </a:spcAft>
            </a:pPr>
            <a:r>
              <a:rPr sz="2700" b="1">
                <a:solidFill>
                  <a:srgbClr val="17150F"/>
                </a:solidFill>
                <a:latin typeface="Arial"/>
              </a:rPr>
              <a:t>Cinco tablas, trece semanas, ciento sesenta series</a:t>
            </a:r>
          </a:p>
        </p:txBody>
      </p:sp>
      <p:graphicFrame>
        <p:nvGraphicFramePr>
          <p:cNvPr id="6" name="Table 5"/>
          <p:cNvGraphicFramePr>
            <a:graphicFrameLocks noGrp="1"/>
          </p:cNvGraphicFramePr>
          <p:nvPr/>
        </p:nvGraphicFramePr>
        <p:xfrm>
          <a:off x="777240" y="1506474"/>
          <a:ext cx="10637214" cy="2267712"/>
        </p:xfrm>
        <a:graphic>
          <a:graphicData uri="http://schemas.openxmlformats.org/drawingml/2006/table">
            <a:tbl>
              <a:tblPr bandRow="1">
                <a:tableStyleId>{5C22544A-7EE6-4342-B048-85BDC9FD1C3A}</a:tableStyleId>
              </a:tblPr>
              <a:tblGrid>
                <a:gridCol w="2765675">
                  <a:extLst>
                    <a:ext uri="{9D8B030D-6E8A-4147-A177-3AD203B41FA5}">
                      <a16:colId xmlns:a16="http://schemas.microsoft.com/office/drawing/2014/main" val="20000"/>
                    </a:ext>
                  </a:extLst>
                </a:gridCol>
                <a:gridCol w="4254886">
                  <a:extLst>
                    <a:ext uri="{9D8B030D-6E8A-4147-A177-3AD203B41FA5}">
                      <a16:colId xmlns:a16="http://schemas.microsoft.com/office/drawing/2014/main" val="20001"/>
                    </a:ext>
                  </a:extLst>
                </a:gridCol>
                <a:gridCol w="3616653">
                  <a:extLst>
                    <a:ext uri="{9D8B030D-6E8A-4147-A177-3AD203B41FA5}">
                      <a16:colId xmlns:a16="http://schemas.microsoft.com/office/drawing/2014/main" val="20002"/>
                    </a:ext>
                  </a:extLst>
                </a:gridCol>
              </a:tblGrid>
              <a:tr h="347472">
                <a:tc>
                  <a:txBody>
                    <a:bodyPr/>
                    <a:lstStyle/>
                    <a:p>
                      <a:pPr algn="l"/>
                      <a:r>
                        <a:rPr sz="1100" b="1">
                          <a:solidFill>
                            <a:srgbClr val="8B8478"/>
                          </a:solidFill>
                          <a:latin typeface="Arial"/>
                        </a:rPr>
                        <a:t>Tabla</a:t>
                      </a:r>
                    </a:p>
                  </a:txBody>
                  <a:tcPr marL="82296" marR="82296" anchor="ctr">
                    <a:solidFill>
                      <a:srgbClr val="F4F2ED"/>
                    </a:solidFill>
                  </a:tcPr>
                </a:tc>
                <a:tc>
                  <a:txBody>
                    <a:bodyPr/>
                    <a:lstStyle/>
                    <a:p>
                      <a:pPr algn="r"/>
                      <a:r>
                        <a:rPr sz="1100" b="1">
                          <a:solidFill>
                            <a:srgbClr val="8B8478"/>
                          </a:solidFill>
                          <a:latin typeface="Arial"/>
                        </a:rPr>
                        <a:t>Contenido</a:t>
                      </a:r>
                    </a:p>
                  </a:txBody>
                  <a:tcPr marL="82296" marR="82296" anchor="ctr">
                    <a:solidFill>
                      <a:srgbClr val="F4F2ED"/>
                    </a:solidFill>
                  </a:tcPr>
                </a:tc>
                <a:tc>
                  <a:txBody>
                    <a:bodyPr/>
                    <a:lstStyle/>
                    <a:p>
                      <a:pPr algn="r"/>
                      <a:r>
                        <a:rPr sz="1100" b="1">
                          <a:solidFill>
                            <a:srgbClr val="8B8478"/>
                          </a:solidFill>
                          <a:latin typeface="Arial"/>
                        </a:rPr>
                        <a:t>Uso en el proyecto</a:t>
                      </a:r>
                    </a:p>
                  </a:txBody>
                  <a:tcPr marL="82296" marR="82296" anchor="ctr">
                    <a:solidFill>
                      <a:srgbClr val="F4F2ED"/>
                    </a:solidFill>
                  </a:tcPr>
                </a:tc>
                <a:extLst>
                  <a:ext uri="{0D108BD9-81ED-4DB2-BD59-A6C34878D82A}">
                    <a16:rowId xmlns:a16="http://schemas.microsoft.com/office/drawing/2014/main" val="10000"/>
                  </a:ext>
                </a:extLst>
              </a:tr>
              <a:tr h="384048">
                <a:tc>
                  <a:txBody>
                    <a:bodyPr/>
                    <a:lstStyle/>
                    <a:p>
                      <a:pPr algn="l"/>
                      <a:r>
                        <a:rPr sz="1250" b="0">
                          <a:solidFill>
                            <a:srgbClr val="17150F"/>
                          </a:solidFill>
                          <a:latin typeface="Arial"/>
                        </a:rPr>
                        <a:t>ventas_historicas</a:t>
                      </a:r>
                    </a:p>
                  </a:txBody>
                  <a:tcPr marL="82296" marR="82296" anchor="ctr">
                    <a:solidFill>
                      <a:srgbClr val="FFFFFF"/>
                    </a:solidFill>
                  </a:tcPr>
                </a:tc>
                <a:tc>
                  <a:txBody>
                    <a:bodyPr/>
                    <a:lstStyle/>
                    <a:p>
                      <a:pPr algn="r"/>
                      <a:r>
                        <a:rPr sz="1250" b="0">
                          <a:solidFill>
                            <a:srgbClr val="555045"/>
                          </a:solidFill>
                          <a:latin typeface="Arial"/>
                        </a:rPr>
                        <a:t>Ventas diarias por tienda y producto</a:t>
                      </a:r>
                    </a:p>
                  </a:txBody>
                  <a:tcPr marL="82296" marR="82296" anchor="ctr">
                    <a:solidFill>
                      <a:srgbClr val="FFFFFF"/>
                    </a:solidFill>
                  </a:tcPr>
                </a:tc>
                <a:tc>
                  <a:txBody>
                    <a:bodyPr/>
                    <a:lstStyle/>
                    <a:p>
                      <a:pPr algn="r"/>
                      <a:r>
                        <a:rPr sz="1250" b="0">
                          <a:solidFill>
                            <a:srgbClr val="555045"/>
                          </a:solidFill>
                          <a:latin typeface="Arial"/>
                        </a:rPr>
                        <a:t>Objetivo a predecir</a:t>
                      </a:r>
                    </a:p>
                  </a:txBody>
                  <a:tcPr marL="82296" marR="82296" anchor="ctr">
                    <a:solidFill>
                      <a:srgbClr val="FFFFFF"/>
                    </a:solidFill>
                  </a:tcPr>
                </a:tc>
                <a:extLst>
                  <a:ext uri="{0D108BD9-81ED-4DB2-BD59-A6C34878D82A}">
                    <a16:rowId xmlns:a16="http://schemas.microsoft.com/office/drawing/2014/main" val="10001"/>
                  </a:ext>
                </a:extLst>
              </a:tr>
              <a:tr h="384048">
                <a:tc>
                  <a:txBody>
                    <a:bodyPr/>
                    <a:lstStyle/>
                    <a:p>
                      <a:pPr algn="l"/>
                      <a:r>
                        <a:rPr sz="1250" b="0">
                          <a:solidFill>
                            <a:srgbClr val="17150F"/>
                          </a:solidFill>
                          <a:latin typeface="Arial"/>
                        </a:rPr>
                        <a:t>catalogo_productos</a:t>
                      </a:r>
                    </a:p>
                  </a:txBody>
                  <a:tcPr marL="82296" marR="82296" anchor="ctr">
                    <a:solidFill>
                      <a:srgbClr val="FFFFFF"/>
                    </a:solidFill>
                  </a:tcPr>
                </a:tc>
                <a:tc>
                  <a:txBody>
                    <a:bodyPr/>
                    <a:lstStyle/>
                    <a:p>
                      <a:pPr algn="r"/>
                      <a:r>
                        <a:rPr sz="1250" b="0">
                          <a:solidFill>
                            <a:srgbClr val="555045"/>
                          </a:solidFill>
                          <a:latin typeface="Arial"/>
                        </a:rPr>
                        <a:t>Precio, coste unitario y almacenaje</a:t>
                      </a:r>
                    </a:p>
                  </a:txBody>
                  <a:tcPr marL="82296" marR="82296" anchor="ctr">
                    <a:solidFill>
                      <a:srgbClr val="FFFFFF"/>
                    </a:solidFill>
                  </a:tcPr>
                </a:tc>
                <a:tc>
                  <a:txBody>
                    <a:bodyPr/>
                    <a:lstStyle/>
                    <a:p>
                      <a:pPr algn="r"/>
                      <a:r>
                        <a:rPr sz="1250" b="0">
                          <a:solidFill>
                            <a:srgbClr val="555045"/>
                          </a:solidFill>
                          <a:latin typeface="Arial"/>
                        </a:rPr>
                        <a:t>Calcula el nivel de servicio</a:t>
                      </a:r>
                    </a:p>
                  </a:txBody>
                  <a:tcPr marL="82296" marR="82296" anchor="ctr">
                    <a:solidFill>
                      <a:srgbClr val="FFFFFF"/>
                    </a:solidFill>
                  </a:tcPr>
                </a:tc>
                <a:extLst>
                  <a:ext uri="{0D108BD9-81ED-4DB2-BD59-A6C34878D82A}">
                    <a16:rowId xmlns:a16="http://schemas.microsoft.com/office/drawing/2014/main" val="10002"/>
                  </a:ext>
                </a:extLst>
              </a:tr>
              <a:tr h="384048">
                <a:tc>
                  <a:txBody>
                    <a:bodyPr/>
                    <a:lstStyle/>
                    <a:p>
                      <a:pPr algn="l"/>
                      <a:r>
                        <a:rPr sz="1250" b="0">
                          <a:solidFill>
                            <a:srgbClr val="17150F"/>
                          </a:solidFill>
                          <a:latin typeface="Arial"/>
                        </a:rPr>
                        <a:t>inventario_actual</a:t>
                      </a:r>
                    </a:p>
                  </a:txBody>
                  <a:tcPr marL="82296" marR="82296" anchor="ctr">
                    <a:solidFill>
                      <a:srgbClr val="FFFFFF"/>
                    </a:solidFill>
                  </a:tcPr>
                </a:tc>
                <a:tc>
                  <a:txBody>
                    <a:bodyPr/>
                    <a:lstStyle/>
                    <a:p>
                      <a:pPr algn="r"/>
                      <a:r>
                        <a:rPr sz="1250" b="0">
                          <a:solidFill>
                            <a:srgbClr val="555045"/>
                          </a:solidFill>
                          <a:latin typeface="Arial"/>
                        </a:rPr>
                        <a:t>Stock disponible por serie</a:t>
                      </a:r>
                    </a:p>
                  </a:txBody>
                  <a:tcPr marL="82296" marR="82296" anchor="ctr">
                    <a:solidFill>
                      <a:srgbClr val="FFFFFF"/>
                    </a:solidFill>
                  </a:tcPr>
                </a:tc>
                <a:tc>
                  <a:txBody>
                    <a:bodyPr/>
                    <a:lstStyle/>
                    <a:p>
                      <a:pPr algn="r"/>
                      <a:r>
                        <a:rPr sz="1250" b="0">
                          <a:solidFill>
                            <a:srgbClr val="555045"/>
                          </a:solidFill>
                          <a:latin typeface="Arial"/>
                        </a:rPr>
                        <a:t>Se resta del objetivo</a:t>
                      </a:r>
                    </a:p>
                  </a:txBody>
                  <a:tcPr marL="82296" marR="82296" anchor="ctr">
                    <a:solidFill>
                      <a:srgbClr val="FFFFFF"/>
                    </a:solidFill>
                  </a:tcPr>
                </a:tc>
                <a:extLst>
                  <a:ext uri="{0D108BD9-81ED-4DB2-BD59-A6C34878D82A}">
                    <a16:rowId xmlns:a16="http://schemas.microsoft.com/office/drawing/2014/main" val="10003"/>
                  </a:ext>
                </a:extLst>
              </a:tr>
              <a:tr h="384048">
                <a:tc>
                  <a:txBody>
                    <a:bodyPr/>
                    <a:lstStyle/>
                    <a:p>
                      <a:pPr algn="l"/>
                      <a:r>
                        <a:rPr sz="1250" b="0">
                          <a:solidFill>
                            <a:srgbClr val="17150F"/>
                          </a:solidFill>
                          <a:latin typeface="Arial"/>
                        </a:rPr>
                        <a:t>maestro_tiendas</a:t>
                      </a:r>
                    </a:p>
                  </a:txBody>
                  <a:tcPr marL="82296" marR="82296" anchor="ctr">
                    <a:solidFill>
                      <a:srgbClr val="FFFFFF"/>
                    </a:solidFill>
                  </a:tcPr>
                </a:tc>
                <a:tc>
                  <a:txBody>
                    <a:bodyPr/>
                    <a:lstStyle/>
                    <a:p>
                      <a:pPr algn="r"/>
                      <a:r>
                        <a:rPr sz="1250" b="0">
                          <a:solidFill>
                            <a:srgbClr val="555045"/>
                          </a:solidFill>
                          <a:latin typeface="Arial"/>
                        </a:rPr>
                        <a:t>Ciudad y superficie</a:t>
                      </a:r>
                    </a:p>
                  </a:txBody>
                  <a:tcPr marL="82296" marR="82296" anchor="ctr">
                    <a:solidFill>
                      <a:srgbClr val="FFFFFF"/>
                    </a:solidFill>
                  </a:tcPr>
                </a:tc>
                <a:tc>
                  <a:txBody>
                    <a:bodyPr/>
                    <a:lstStyle/>
                    <a:p>
                      <a:pPr algn="r"/>
                      <a:r>
                        <a:rPr sz="1250" b="0">
                          <a:solidFill>
                            <a:srgbClr val="555045"/>
                          </a:solidFill>
                          <a:latin typeface="Arial"/>
                        </a:rPr>
                        <a:t>Superficie entra al modelo, ciudad no</a:t>
                      </a:r>
                    </a:p>
                  </a:txBody>
                  <a:tcPr marL="82296" marR="82296" anchor="ctr">
                    <a:solidFill>
                      <a:srgbClr val="FFFFFF"/>
                    </a:solidFill>
                  </a:tcPr>
                </a:tc>
                <a:extLst>
                  <a:ext uri="{0D108BD9-81ED-4DB2-BD59-A6C34878D82A}">
                    <a16:rowId xmlns:a16="http://schemas.microsoft.com/office/drawing/2014/main" val="10004"/>
                  </a:ext>
                </a:extLst>
              </a:tr>
              <a:tr h="384048">
                <a:tc>
                  <a:txBody>
                    <a:bodyPr/>
                    <a:lstStyle/>
                    <a:p>
                      <a:pPr algn="l"/>
                      <a:r>
                        <a:rPr sz="1250" b="0">
                          <a:solidFill>
                            <a:srgbClr val="17150F"/>
                          </a:solidFill>
                          <a:latin typeface="Arial"/>
                        </a:rPr>
                        <a:t>ground_truth_trends</a:t>
                      </a:r>
                    </a:p>
                  </a:txBody>
                  <a:tcPr marL="82296" marR="82296" anchor="ctr">
                    <a:solidFill>
                      <a:srgbClr val="FFFFFF"/>
                    </a:solidFill>
                  </a:tcPr>
                </a:tc>
                <a:tc>
                  <a:txBody>
                    <a:bodyPr/>
                    <a:lstStyle/>
                    <a:p>
                      <a:pPr algn="r"/>
                      <a:r>
                        <a:rPr sz="1250" b="0">
                          <a:solidFill>
                            <a:srgbClr val="555045"/>
                          </a:solidFill>
                          <a:latin typeface="Arial"/>
                        </a:rPr>
                        <a:t>Patrón real de cada serie</a:t>
                      </a:r>
                    </a:p>
                  </a:txBody>
                  <a:tcPr marL="82296" marR="82296" anchor="ctr">
                    <a:solidFill>
                      <a:srgbClr val="FFFFFF"/>
                    </a:solidFill>
                  </a:tcPr>
                </a:tc>
                <a:tc>
                  <a:txBody>
                    <a:bodyPr/>
                    <a:lstStyle/>
                    <a:p>
                      <a:pPr algn="r"/>
                      <a:r>
                        <a:rPr sz="1250" b="0">
                          <a:solidFill>
                            <a:srgbClr val="555045"/>
                          </a:solidFill>
                          <a:latin typeface="Arial"/>
                        </a:rPr>
                        <a:t>Solo contraste, nunca predictor</a:t>
                      </a:r>
                    </a:p>
                  </a:txBody>
                  <a:tcPr marL="82296" marR="82296" anchor="ctr">
                    <a:solidFill>
                      <a:srgbClr val="FFFFFF"/>
                    </a:solidFill>
                  </a:tcPr>
                </a:tc>
                <a:extLst>
                  <a:ext uri="{0D108BD9-81ED-4DB2-BD59-A6C34878D82A}">
                    <a16:rowId xmlns:a16="http://schemas.microsoft.com/office/drawing/2014/main" val="10005"/>
                  </a:ext>
                </a:extLst>
              </a:tr>
            </a:tbl>
          </a:graphicData>
        </a:graphic>
      </p:graphicFrame>
      <p:sp>
        <p:nvSpPr>
          <p:cNvPr id="7" name="Rectangle 6"/>
          <p:cNvSpPr/>
          <p:nvPr/>
        </p:nvSpPr>
        <p:spPr>
          <a:xfrm>
            <a:off x="777240" y="4085082"/>
            <a:ext cx="2549575" cy="1051560"/>
          </a:xfrm>
          <a:prstGeom prst="rect">
            <a:avLst/>
          </a:prstGeom>
          <a:solidFill>
            <a:srgbClr val="FFFFFF"/>
          </a:solidFill>
          <a:ln w="9525">
            <a:solidFill>
              <a:srgbClr val="DCD8C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8" name="TextBox 7"/>
          <p:cNvSpPr txBox="1"/>
          <p:nvPr/>
        </p:nvSpPr>
        <p:spPr>
          <a:xfrm>
            <a:off x="941832" y="4213098"/>
            <a:ext cx="2220391" cy="868680"/>
          </a:xfrm>
          <a:prstGeom prst="rect">
            <a:avLst/>
          </a:prstGeom>
          <a:noFill/>
        </p:spPr>
        <p:txBody>
          <a:bodyPr wrap="square" lIns="0" tIns="0" rIns="0" bIns="0">
            <a:spAutoFit/>
          </a:bodyPr>
          <a:lstStyle/>
          <a:p>
            <a:pPr algn="l">
              <a:lnSpc>
                <a:spcPct val="122000"/>
              </a:lnSpc>
              <a:spcBef>
                <a:spcPts val="0"/>
              </a:spcBef>
              <a:spcAft>
                <a:spcPts val="300"/>
              </a:spcAft>
            </a:pPr>
            <a:r>
              <a:rPr sz="950" b="1">
                <a:solidFill>
                  <a:srgbClr val="8B8478"/>
                </a:solidFill>
                <a:latin typeface="Arial"/>
              </a:rPr>
              <a:t>OBSERVACIONES DIARIAS</a:t>
            </a:r>
          </a:p>
          <a:p>
            <a:pPr algn="l">
              <a:lnSpc>
                <a:spcPct val="100000"/>
              </a:lnSpc>
              <a:spcBef>
                <a:spcPts val="0"/>
              </a:spcBef>
              <a:spcAft>
                <a:spcPts val="300"/>
              </a:spcAft>
            </a:pPr>
            <a:r>
              <a:rPr sz="2500" b="1">
                <a:solidFill>
                  <a:srgbClr val="17150F"/>
                </a:solidFill>
                <a:latin typeface="Arial"/>
              </a:rPr>
              <a:t>14.560</a:t>
            </a:r>
          </a:p>
          <a:p>
            <a:pPr algn="l">
              <a:lnSpc>
                <a:spcPct val="120000"/>
              </a:lnSpc>
              <a:spcBef>
                <a:spcPts val="0"/>
              </a:spcBef>
              <a:spcAft>
                <a:spcPts val="0"/>
              </a:spcAft>
            </a:pPr>
            <a:r>
              <a:rPr sz="1050" b="0">
                <a:solidFill>
                  <a:srgbClr val="555045"/>
                </a:solidFill>
                <a:latin typeface="Arial"/>
              </a:rPr>
              <a:t>del 1 de enero al 31 de marzo</a:t>
            </a:r>
          </a:p>
        </p:txBody>
      </p:sp>
      <p:sp>
        <p:nvSpPr>
          <p:cNvPr id="9" name="Rectangle 8"/>
          <p:cNvSpPr/>
          <p:nvPr/>
        </p:nvSpPr>
        <p:spPr>
          <a:xfrm>
            <a:off x="3473119" y="4085082"/>
            <a:ext cx="2549575" cy="1051560"/>
          </a:xfrm>
          <a:prstGeom prst="rect">
            <a:avLst/>
          </a:prstGeom>
          <a:solidFill>
            <a:srgbClr val="FFFFFF"/>
          </a:solidFill>
          <a:ln w="9525">
            <a:solidFill>
              <a:srgbClr val="DCD8C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0" name="TextBox 9"/>
          <p:cNvSpPr txBox="1"/>
          <p:nvPr/>
        </p:nvSpPr>
        <p:spPr>
          <a:xfrm>
            <a:off x="3637711" y="4213098"/>
            <a:ext cx="2220391" cy="868680"/>
          </a:xfrm>
          <a:prstGeom prst="rect">
            <a:avLst/>
          </a:prstGeom>
          <a:noFill/>
        </p:spPr>
        <p:txBody>
          <a:bodyPr wrap="square" lIns="0" tIns="0" rIns="0" bIns="0">
            <a:spAutoFit/>
          </a:bodyPr>
          <a:lstStyle/>
          <a:p>
            <a:pPr algn="l">
              <a:lnSpc>
                <a:spcPct val="122000"/>
              </a:lnSpc>
              <a:spcBef>
                <a:spcPts val="0"/>
              </a:spcBef>
              <a:spcAft>
                <a:spcPts val="300"/>
              </a:spcAft>
            </a:pPr>
            <a:r>
              <a:rPr sz="950" b="1">
                <a:solidFill>
                  <a:srgbClr val="8B8478"/>
                </a:solidFill>
                <a:latin typeface="Arial"/>
              </a:rPr>
              <a:t>PANEL SEMANAL</a:t>
            </a:r>
          </a:p>
          <a:p>
            <a:pPr algn="l">
              <a:lnSpc>
                <a:spcPct val="100000"/>
              </a:lnSpc>
              <a:spcBef>
                <a:spcPts val="0"/>
              </a:spcBef>
              <a:spcAft>
                <a:spcPts val="300"/>
              </a:spcAft>
            </a:pPr>
            <a:r>
              <a:rPr sz="2500" b="1">
                <a:solidFill>
                  <a:srgbClr val="17150F"/>
                </a:solidFill>
                <a:latin typeface="Arial"/>
              </a:rPr>
              <a:t>2.080</a:t>
            </a:r>
          </a:p>
          <a:p>
            <a:pPr algn="l">
              <a:lnSpc>
                <a:spcPct val="120000"/>
              </a:lnSpc>
              <a:spcBef>
                <a:spcPts val="0"/>
              </a:spcBef>
              <a:spcAft>
                <a:spcPts val="0"/>
              </a:spcAft>
            </a:pPr>
            <a:r>
              <a:rPr sz="1050" b="0">
                <a:solidFill>
                  <a:srgbClr val="555045"/>
                </a:solidFill>
                <a:latin typeface="Arial"/>
              </a:rPr>
              <a:t>160 series × 13 semanas</a:t>
            </a:r>
          </a:p>
        </p:txBody>
      </p:sp>
      <p:sp>
        <p:nvSpPr>
          <p:cNvPr id="11" name="Rectangle 10"/>
          <p:cNvSpPr/>
          <p:nvPr/>
        </p:nvSpPr>
        <p:spPr>
          <a:xfrm>
            <a:off x="6168998" y="4085082"/>
            <a:ext cx="2549575" cy="1051560"/>
          </a:xfrm>
          <a:prstGeom prst="rect">
            <a:avLst/>
          </a:prstGeom>
          <a:solidFill>
            <a:srgbClr val="FFFFFF"/>
          </a:solidFill>
          <a:ln w="9525">
            <a:solidFill>
              <a:srgbClr val="DCD8C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2" name="TextBox 11"/>
          <p:cNvSpPr txBox="1"/>
          <p:nvPr/>
        </p:nvSpPr>
        <p:spPr>
          <a:xfrm>
            <a:off x="6333590" y="4213098"/>
            <a:ext cx="2220391" cy="868680"/>
          </a:xfrm>
          <a:prstGeom prst="rect">
            <a:avLst/>
          </a:prstGeom>
          <a:noFill/>
        </p:spPr>
        <p:txBody>
          <a:bodyPr wrap="square" lIns="0" tIns="0" rIns="0" bIns="0">
            <a:spAutoFit/>
          </a:bodyPr>
          <a:lstStyle/>
          <a:p>
            <a:pPr algn="l">
              <a:lnSpc>
                <a:spcPct val="122000"/>
              </a:lnSpc>
              <a:spcBef>
                <a:spcPts val="0"/>
              </a:spcBef>
              <a:spcAft>
                <a:spcPts val="300"/>
              </a:spcAft>
            </a:pPr>
            <a:r>
              <a:rPr sz="950" b="1">
                <a:solidFill>
                  <a:srgbClr val="8B8478"/>
                </a:solidFill>
                <a:latin typeface="Arial"/>
              </a:rPr>
              <a:t>SERIES ACTIVAS</a:t>
            </a:r>
          </a:p>
          <a:p>
            <a:pPr algn="l">
              <a:lnSpc>
                <a:spcPct val="100000"/>
              </a:lnSpc>
              <a:spcBef>
                <a:spcPts val="0"/>
              </a:spcBef>
              <a:spcAft>
                <a:spcPts val="300"/>
              </a:spcAft>
            </a:pPr>
            <a:r>
              <a:rPr sz="2500" b="1">
                <a:solidFill>
                  <a:srgbClr val="17150F"/>
                </a:solidFill>
                <a:latin typeface="Arial"/>
              </a:rPr>
              <a:t>160</a:t>
            </a:r>
          </a:p>
          <a:p>
            <a:pPr algn="l">
              <a:lnSpc>
                <a:spcPct val="120000"/>
              </a:lnSpc>
              <a:spcBef>
                <a:spcPts val="0"/>
              </a:spcBef>
              <a:spcAft>
                <a:spcPts val="0"/>
              </a:spcAft>
            </a:pPr>
            <a:r>
              <a:rPr sz="1050" b="0">
                <a:solidFill>
                  <a:srgbClr val="555045"/>
                </a:solidFill>
                <a:latin typeface="Arial"/>
              </a:rPr>
              <a:t>20 tiendas × 8 productos</a:t>
            </a:r>
          </a:p>
        </p:txBody>
      </p:sp>
      <p:sp>
        <p:nvSpPr>
          <p:cNvPr id="13" name="Rectangle 12"/>
          <p:cNvSpPr/>
          <p:nvPr/>
        </p:nvSpPr>
        <p:spPr>
          <a:xfrm>
            <a:off x="8864877" y="4085082"/>
            <a:ext cx="2549575" cy="1051560"/>
          </a:xfrm>
          <a:prstGeom prst="rect">
            <a:avLst/>
          </a:prstGeom>
          <a:solidFill>
            <a:srgbClr val="FFFFFF"/>
          </a:solidFill>
          <a:ln w="9525">
            <a:solidFill>
              <a:srgbClr val="DCD8C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4" name="TextBox 13"/>
          <p:cNvSpPr txBox="1"/>
          <p:nvPr/>
        </p:nvSpPr>
        <p:spPr>
          <a:xfrm>
            <a:off x="9029469" y="4213098"/>
            <a:ext cx="2220391" cy="868680"/>
          </a:xfrm>
          <a:prstGeom prst="rect">
            <a:avLst/>
          </a:prstGeom>
          <a:noFill/>
        </p:spPr>
        <p:txBody>
          <a:bodyPr wrap="square" lIns="0" tIns="0" rIns="0" bIns="0">
            <a:spAutoFit/>
          </a:bodyPr>
          <a:lstStyle/>
          <a:p>
            <a:pPr algn="l">
              <a:lnSpc>
                <a:spcPct val="122000"/>
              </a:lnSpc>
              <a:spcBef>
                <a:spcPts val="0"/>
              </a:spcBef>
              <a:spcAft>
                <a:spcPts val="300"/>
              </a:spcAft>
            </a:pPr>
            <a:r>
              <a:rPr sz="950" b="1">
                <a:solidFill>
                  <a:srgbClr val="8B8478"/>
                </a:solidFill>
                <a:latin typeface="Arial"/>
              </a:rPr>
              <a:t>SEMANAS COMPLETAS</a:t>
            </a:r>
          </a:p>
          <a:p>
            <a:pPr algn="l">
              <a:lnSpc>
                <a:spcPct val="100000"/>
              </a:lnSpc>
              <a:spcBef>
                <a:spcPts val="0"/>
              </a:spcBef>
              <a:spcAft>
                <a:spcPts val="300"/>
              </a:spcAft>
            </a:pPr>
            <a:r>
              <a:rPr sz="2500" b="1">
                <a:solidFill>
                  <a:srgbClr val="17150F"/>
                </a:solidFill>
                <a:latin typeface="Arial"/>
              </a:rPr>
              <a:t>13</a:t>
            </a:r>
          </a:p>
          <a:p>
            <a:pPr algn="l">
              <a:lnSpc>
                <a:spcPct val="120000"/>
              </a:lnSpc>
              <a:spcBef>
                <a:spcPts val="0"/>
              </a:spcBef>
              <a:spcAft>
                <a:spcPts val="0"/>
              </a:spcAft>
            </a:pPr>
            <a:r>
              <a:rPr sz="1050" b="0">
                <a:solidFill>
                  <a:srgbClr val="555045"/>
                </a:solidFill>
                <a:latin typeface="Arial"/>
              </a:rPr>
              <a:t>sin periodos parciales</a:t>
            </a:r>
          </a:p>
        </p:txBody>
      </p:sp>
      <p:sp>
        <p:nvSpPr>
          <p:cNvPr id="15" name="Rectangle 14"/>
          <p:cNvSpPr/>
          <p:nvPr/>
        </p:nvSpPr>
        <p:spPr>
          <a:xfrm>
            <a:off x="777240" y="6327648"/>
            <a:ext cx="10637215" cy="9525"/>
          </a:xfrm>
          <a:prstGeom prst="rect">
            <a:avLst/>
          </a:prstGeom>
          <a:solidFill>
            <a:srgbClr val="DCD8C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6" name="TextBox 15"/>
          <p:cNvSpPr txBox="1"/>
          <p:nvPr/>
        </p:nvSpPr>
        <p:spPr>
          <a:xfrm>
            <a:off x="777240" y="6428232"/>
            <a:ext cx="8686800" cy="274320"/>
          </a:xfrm>
          <a:prstGeom prst="rect">
            <a:avLst/>
          </a:prstGeom>
          <a:noFill/>
        </p:spPr>
        <p:txBody>
          <a:bodyPr wrap="square" lIns="0" tIns="0" rIns="0" bIns="0">
            <a:spAutoFit/>
          </a:bodyPr>
          <a:lstStyle/>
          <a:p>
            <a:pPr algn="l">
              <a:lnSpc>
                <a:spcPct val="122000"/>
              </a:lnSpc>
              <a:spcBef>
                <a:spcPts val="0"/>
              </a:spcBef>
              <a:spcAft>
                <a:spcPts val="0"/>
              </a:spcAft>
            </a:pPr>
            <a:r>
              <a:rPr sz="950" b="0">
                <a:solidFill>
                  <a:srgbClr val="8B8478"/>
                </a:solidFill>
                <a:latin typeface="Arial"/>
              </a:rPr>
              <a:t>Los datos de partida</a:t>
            </a:r>
          </a:p>
        </p:txBody>
      </p:sp>
      <p:sp>
        <p:nvSpPr>
          <p:cNvPr id="17" name="TextBox 16"/>
          <p:cNvSpPr txBox="1"/>
          <p:nvPr/>
        </p:nvSpPr>
        <p:spPr>
          <a:xfrm>
            <a:off x="10500055" y="6428232"/>
            <a:ext cx="914400" cy="274320"/>
          </a:xfrm>
          <a:prstGeom prst="rect">
            <a:avLst/>
          </a:prstGeom>
          <a:noFill/>
        </p:spPr>
        <p:txBody>
          <a:bodyPr wrap="square" lIns="0" tIns="0" rIns="0" bIns="0">
            <a:spAutoFit/>
          </a:bodyPr>
          <a:lstStyle/>
          <a:p>
            <a:pPr algn="r">
              <a:lnSpc>
                <a:spcPct val="122000"/>
              </a:lnSpc>
              <a:spcBef>
                <a:spcPts val="0"/>
              </a:spcBef>
              <a:spcAft>
                <a:spcPts val="0"/>
              </a:spcAft>
            </a:pPr>
            <a:r>
              <a:rPr sz="950" b="0">
                <a:solidFill>
                  <a:srgbClr val="8B8478"/>
                </a:solidFill>
                <a:latin typeface="Arial"/>
              </a:rPr>
              <a:t>4</a:t>
            </a:r>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extBox 2"/>
          <p:cNvSpPr txBox="1"/>
          <p:nvPr/>
        </p:nvSpPr>
        <p:spPr>
          <a:xfrm>
            <a:off x="777240" y="475488"/>
            <a:ext cx="10637215" cy="237744"/>
          </a:xfrm>
          <a:prstGeom prst="rect">
            <a:avLst/>
          </a:prstGeom>
          <a:noFill/>
        </p:spPr>
        <p:txBody>
          <a:bodyPr wrap="square" lIns="0" tIns="0" rIns="0" bIns="0">
            <a:spAutoFit/>
          </a:bodyPr>
          <a:lstStyle/>
          <a:p>
            <a:pPr algn="l">
              <a:lnSpc>
                <a:spcPct val="122000"/>
              </a:lnSpc>
              <a:spcBef>
                <a:spcPts val="0"/>
              </a:spcBef>
              <a:spcAft>
                <a:spcPts val="0"/>
              </a:spcAft>
            </a:pPr>
            <a:r>
              <a:rPr sz="1050" b="1">
                <a:solidFill>
                  <a:srgbClr val="8C2F39"/>
                </a:solidFill>
                <a:latin typeface="Arial"/>
              </a:rPr>
              <a:t>PASOS 1 Y 2 · AUDITORÍA</a:t>
            </a:r>
          </a:p>
        </p:txBody>
      </p:sp>
      <p:sp>
        <p:nvSpPr>
          <p:cNvPr id="4" name="Rectangle 3"/>
          <p:cNvSpPr/>
          <p:nvPr/>
        </p:nvSpPr>
        <p:spPr>
          <a:xfrm>
            <a:off x="777240" y="768096"/>
            <a:ext cx="502920" cy="30480"/>
          </a:xfrm>
          <a:prstGeom prst="rect">
            <a:avLst/>
          </a:prstGeom>
          <a:solidFill>
            <a:srgbClr val="8C2F3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 name="TextBox 4"/>
          <p:cNvSpPr txBox="1"/>
          <p:nvPr/>
        </p:nvSpPr>
        <p:spPr>
          <a:xfrm>
            <a:off x="777240" y="914400"/>
            <a:ext cx="10637215" cy="409151"/>
          </a:xfrm>
          <a:prstGeom prst="rect">
            <a:avLst/>
          </a:prstGeom>
          <a:noFill/>
        </p:spPr>
        <p:txBody>
          <a:bodyPr wrap="square" lIns="0" tIns="0" rIns="0" bIns="0">
            <a:spAutoFit/>
          </a:bodyPr>
          <a:lstStyle/>
          <a:p>
            <a:pPr algn="l">
              <a:lnSpc>
                <a:spcPct val="106000"/>
              </a:lnSpc>
              <a:spcBef>
                <a:spcPts val="0"/>
              </a:spcBef>
              <a:spcAft>
                <a:spcPts val="0"/>
              </a:spcAft>
            </a:pPr>
            <a:r>
              <a:rPr sz="2700" b="1" dirty="0">
                <a:solidFill>
                  <a:srgbClr val="17150F"/>
                </a:solidFill>
                <a:latin typeface="Arial"/>
              </a:rPr>
              <a:t>Antes de </a:t>
            </a:r>
            <a:r>
              <a:rPr sz="2700" b="1" dirty="0" err="1">
                <a:solidFill>
                  <a:srgbClr val="17150F"/>
                </a:solidFill>
                <a:latin typeface="Arial"/>
              </a:rPr>
              <a:t>modelar</a:t>
            </a:r>
            <a:r>
              <a:rPr sz="2700" b="1" dirty="0">
                <a:solidFill>
                  <a:srgbClr val="17150F"/>
                </a:solidFill>
                <a:latin typeface="Arial"/>
              </a:rPr>
              <a:t>, </a:t>
            </a:r>
            <a:r>
              <a:rPr sz="2700" b="1" dirty="0" err="1">
                <a:solidFill>
                  <a:srgbClr val="17150F"/>
                </a:solidFill>
                <a:latin typeface="Arial"/>
              </a:rPr>
              <a:t>comprobar</a:t>
            </a:r>
            <a:r>
              <a:rPr sz="2700" b="1" dirty="0">
                <a:solidFill>
                  <a:srgbClr val="17150F"/>
                </a:solidFill>
                <a:latin typeface="Arial"/>
              </a:rPr>
              <a:t> </a:t>
            </a:r>
            <a:r>
              <a:rPr lang="es-419" sz="2700" b="1" dirty="0">
                <a:solidFill>
                  <a:srgbClr val="17150F"/>
                </a:solidFill>
                <a:latin typeface="Arial"/>
              </a:rPr>
              <a:t>los datos</a:t>
            </a:r>
            <a:endParaRPr sz="2700" b="1" dirty="0">
              <a:solidFill>
                <a:srgbClr val="17150F"/>
              </a:solidFill>
              <a:latin typeface="Arial"/>
            </a:endParaRPr>
          </a:p>
        </p:txBody>
      </p:sp>
      <p:sp>
        <p:nvSpPr>
          <p:cNvPr id="7" name="Rectangle 6"/>
          <p:cNvSpPr/>
          <p:nvPr/>
        </p:nvSpPr>
        <p:spPr>
          <a:xfrm>
            <a:off x="777240" y="2091563"/>
            <a:ext cx="63500" cy="63500"/>
          </a:xfrm>
          <a:prstGeom prst="rect">
            <a:avLst/>
          </a:prstGeom>
          <a:solidFill>
            <a:srgbClr val="8C2F3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8" name="TextBox 7"/>
          <p:cNvSpPr txBox="1"/>
          <p:nvPr/>
        </p:nvSpPr>
        <p:spPr>
          <a:xfrm>
            <a:off x="978408" y="1990979"/>
            <a:ext cx="10436047" cy="283337"/>
          </a:xfrm>
          <a:prstGeom prst="rect">
            <a:avLst/>
          </a:prstGeom>
          <a:noFill/>
        </p:spPr>
        <p:txBody>
          <a:bodyPr wrap="square" lIns="0" tIns="0" rIns="0" bIns="0">
            <a:spAutoFit/>
          </a:bodyPr>
          <a:lstStyle/>
          <a:p>
            <a:pPr>
              <a:lnSpc>
                <a:spcPct val="124000"/>
              </a:lnSpc>
              <a:spcAft>
                <a:spcPts val="0"/>
              </a:spcAft>
            </a:pPr>
            <a:r>
              <a:rPr sz="1450" b="1" dirty="0" err="1">
                <a:solidFill>
                  <a:srgbClr val="17150F"/>
                </a:solidFill>
                <a:latin typeface="Arial"/>
              </a:rPr>
              <a:t>Integridad</a:t>
            </a:r>
            <a:r>
              <a:rPr sz="1450" b="1" dirty="0">
                <a:solidFill>
                  <a:srgbClr val="17150F"/>
                </a:solidFill>
                <a:latin typeface="Arial"/>
              </a:rPr>
              <a:t> </a:t>
            </a:r>
            <a:r>
              <a:rPr sz="1450" b="1" dirty="0" err="1">
                <a:solidFill>
                  <a:srgbClr val="17150F"/>
                </a:solidFill>
                <a:latin typeface="Arial"/>
              </a:rPr>
              <a:t>referencial</a:t>
            </a:r>
            <a:r>
              <a:rPr sz="1450" b="1" dirty="0">
                <a:solidFill>
                  <a:srgbClr val="17150F"/>
                </a:solidFill>
                <a:latin typeface="Arial"/>
              </a:rPr>
              <a:t>.</a:t>
            </a:r>
            <a:r>
              <a:rPr sz="1450" b="0" dirty="0">
                <a:solidFill>
                  <a:srgbClr val="555045"/>
                </a:solidFill>
                <a:latin typeface="Arial"/>
              </a:rPr>
              <a:t> </a:t>
            </a:r>
            <a:r>
              <a:rPr sz="1450" b="0" dirty="0" err="1">
                <a:solidFill>
                  <a:srgbClr val="555045"/>
                </a:solidFill>
                <a:latin typeface="Arial"/>
              </a:rPr>
              <a:t>Todas</a:t>
            </a:r>
            <a:r>
              <a:rPr sz="1450" b="0" dirty="0">
                <a:solidFill>
                  <a:srgbClr val="555045"/>
                </a:solidFill>
                <a:latin typeface="Arial"/>
              </a:rPr>
              <a:t> las series de </a:t>
            </a:r>
            <a:r>
              <a:rPr sz="1450" b="0" dirty="0" err="1">
                <a:solidFill>
                  <a:srgbClr val="555045"/>
                </a:solidFill>
                <a:latin typeface="Arial"/>
              </a:rPr>
              <a:t>ventas</a:t>
            </a:r>
            <a:r>
              <a:rPr sz="1450" b="0" dirty="0">
                <a:solidFill>
                  <a:srgbClr val="555045"/>
                </a:solidFill>
                <a:latin typeface="Arial"/>
              </a:rPr>
              <a:t> </a:t>
            </a:r>
            <a:r>
              <a:rPr sz="1450" b="0" dirty="0" err="1">
                <a:solidFill>
                  <a:srgbClr val="555045"/>
                </a:solidFill>
                <a:latin typeface="Arial"/>
              </a:rPr>
              <a:t>existen</a:t>
            </a:r>
            <a:r>
              <a:rPr sz="1450" b="0" dirty="0">
                <a:solidFill>
                  <a:srgbClr val="555045"/>
                </a:solidFill>
                <a:latin typeface="Arial"/>
              </a:rPr>
              <a:t> </a:t>
            </a:r>
            <a:r>
              <a:rPr sz="1450" b="0" dirty="0" err="1">
                <a:solidFill>
                  <a:srgbClr val="555045"/>
                </a:solidFill>
                <a:latin typeface="Arial"/>
              </a:rPr>
              <a:t>en</a:t>
            </a:r>
            <a:r>
              <a:rPr sz="1450" b="0" dirty="0">
                <a:solidFill>
                  <a:srgbClr val="555045"/>
                </a:solidFill>
                <a:latin typeface="Arial"/>
              </a:rPr>
              <a:t> </a:t>
            </a:r>
            <a:r>
              <a:rPr sz="1450" b="0" dirty="0" err="1">
                <a:solidFill>
                  <a:srgbClr val="555045"/>
                </a:solidFill>
                <a:latin typeface="Arial"/>
              </a:rPr>
              <a:t>catálogo</a:t>
            </a:r>
            <a:r>
              <a:rPr sz="1450" b="0" dirty="0">
                <a:solidFill>
                  <a:srgbClr val="555045"/>
                </a:solidFill>
                <a:latin typeface="Arial"/>
              </a:rPr>
              <a:t>, tiendas e </a:t>
            </a:r>
            <a:r>
              <a:rPr sz="1450" b="0" dirty="0" err="1">
                <a:solidFill>
                  <a:srgbClr val="555045"/>
                </a:solidFill>
                <a:latin typeface="Arial"/>
              </a:rPr>
              <a:t>inventario</a:t>
            </a:r>
            <a:r>
              <a:rPr sz="1450" b="0" dirty="0">
                <a:solidFill>
                  <a:srgbClr val="555045"/>
                </a:solidFill>
                <a:latin typeface="Arial"/>
              </a:rPr>
              <a:t>, y al </a:t>
            </a:r>
            <a:r>
              <a:rPr sz="1450" b="0" dirty="0" err="1">
                <a:solidFill>
                  <a:srgbClr val="555045"/>
                </a:solidFill>
                <a:latin typeface="Arial"/>
              </a:rPr>
              <a:t>revés</a:t>
            </a:r>
            <a:r>
              <a:rPr sz="1450" b="0" dirty="0">
                <a:solidFill>
                  <a:srgbClr val="555045"/>
                </a:solidFill>
                <a:latin typeface="Arial"/>
              </a:rPr>
              <a:t>.</a:t>
            </a:r>
          </a:p>
        </p:txBody>
      </p:sp>
      <p:sp>
        <p:nvSpPr>
          <p:cNvPr id="9" name="Rectangle 8"/>
          <p:cNvSpPr/>
          <p:nvPr/>
        </p:nvSpPr>
        <p:spPr>
          <a:xfrm>
            <a:off x="777240" y="2502916"/>
            <a:ext cx="63500" cy="63500"/>
          </a:xfrm>
          <a:prstGeom prst="rect">
            <a:avLst/>
          </a:prstGeom>
          <a:solidFill>
            <a:srgbClr val="8C2F3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0" name="TextBox 9"/>
          <p:cNvSpPr txBox="1"/>
          <p:nvPr/>
        </p:nvSpPr>
        <p:spPr>
          <a:xfrm>
            <a:off x="978408" y="2402332"/>
            <a:ext cx="10436047" cy="283337"/>
          </a:xfrm>
          <a:prstGeom prst="rect">
            <a:avLst/>
          </a:prstGeom>
          <a:noFill/>
        </p:spPr>
        <p:txBody>
          <a:bodyPr wrap="square" lIns="0" tIns="0" rIns="0" bIns="0">
            <a:spAutoFit/>
          </a:bodyPr>
          <a:lstStyle/>
          <a:p>
            <a:pPr>
              <a:lnSpc>
                <a:spcPct val="124000"/>
              </a:lnSpc>
              <a:spcAft>
                <a:spcPts val="0"/>
              </a:spcAft>
            </a:pPr>
            <a:r>
              <a:rPr sz="1450" b="1">
                <a:solidFill>
                  <a:srgbClr val="17150F"/>
                </a:solidFill>
                <a:latin typeface="Arial"/>
              </a:rPr>
              <a:t>Esquema declarado.</a:t>
            </a:r>
            <a:r>
              <a:rPr sz="1450" b="0">
                <a:solidFill>
                  <a:srgbClr val="555045"/>
                </a:solidFill>
                <a:latin typeface="Arial"/>
              </a:rPr>
              <a:t> Tipos, rangos y claves se validan contra un esquema, no contra la confianza.</a:t>
            </a:r>
          </a:p>
        </p:txBody>
      </p:sp>
      <p:sp>
        <p:nvSpPr>
          <p:cNvPr id="11" name="Rectangle 10"/>
          <p:cNvSpPr/>
          <p:nvPr/>
        </p:nvSpPr>
        <p:spPr>
          <a:xfrm>
            <a:off x="777240" y="2914269"/>
            <a:ext cx="63500" cy="63500"/>
          </a:xfrm>
          <a:prstGeom prst="rect">
            <a:avLst/>
          </a:prstGeom>
          <a:solidFill>
            <a:srgbClr val="8C2F3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2" name="TextBox 11"/>
          <p:cNvSpPr txBox="1"/>
          <p:nvPr/>
        </p:nvSpPr>
        <p:spPr>
          <a:xfrm>
            <a:off x="978408" y="2813685"/>
            <a:ext cx="10436047" cy="283337"/>
          </a:xfrm>
          <a:prstGeom prst="rect">
            <a:avLst/>
          </a:prstGeom>
          <a:noFill/>
        </p:spPr>
        <p:txBody>
          <a:bodyPr wrap="square" lIns="0" tIns="0" rIns="0" bIns="0">
            <a:spAutoFit/>
          </a:bodyPr>
          <a:lstStyle/>
          <a:p>
            <a:pPr>
              <a:lnSpc>
                <a:spcPct val="124000"/>
              </a:lnSpc>
              <a:spcAft>
                <a:spcPts val="0"/>
              </a:spcAft>
            </a:pPr>
            <a:r>
              <a:rPr sz="1450" b="1">
                <a:solidFill>
                  <a:srgbClr val="17150F"/>
                </a:solidFill>
                <a:latin typeface="Arial"/>
              </a:rPr>
              <a:t>Calendario continuo.</a:t>
            </a:r>
            <a:r>
              <a:rPr sz="1450" b="0">
                <a:solidFill>
                  <a:srgbClr val="555045"/>
                </a:solidFill>
                <a:latin typeface="Arial"/>
              </a:rPr>
              <a:t> Trece semanas completas de lunes a domingo, sin huecos ni semanas parciales.</a:t>
            </a:r>
          </a:p>
        </p:txBody>
      </p:sp>
      <p:sp>
        <p:nvSpPr>
          <p:cNvPr id="13" name="Rectangle 12"/>
          <p:cNvSpPr/>
          <p:nvPr/>
        </p:nvSpPr>
        <p:spPr>
          <a:xfrm>
            <a:off x="777240" y="3325622"/>
            <a:ext cx="63500" cy="63500"/>
          </a:xfrm>
          <a:prstGeom prst="rect">
            <a:avLst/>
          </a:prstGeom>
          <a:solidFill>
            <a:srgbClr val="8C2F3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4" name="TextBox 13"/>
          <p:cNvSpPr txBox="1"/>
          <p:nvPr/>
        </p:nvSpPr>
        <p:spPr>
          <a:xfrm>
            <a:off x="978408" y="3225038"/>
            <a:ext cx="10436047" cy="283337"/>
          </a:xfrm>
          <a:prstGeom prst="rect">
            <a:avLst/>
          </a:prstGeom>
          <a:noFill/>
        </p:spPr>
        <p:txBody>
          <a:bodyPr wrap="square" lIns="0" tIns="0" rIns="0" bIns="0">
            <a:spAutoFit/>
          </a:bodyPr>
          <a:lstStyle/>
          <a:p>
            <a:pPr>
              <a:lnSpc>
                <a:spcPct val="124000"/>
              </a:lnSpc>
              <a:spcAft>
                <a:spcPts val="0"/>
              </a:spcAft>
            </a:pPr>
            <a:r>
              <a:rPr sz="1450" b="1">
                <a:solidFill>
                  <a:srgbClr val="17150F"/>
                </a:solidFill>
                <a:latin typeface="Arial"/>
              </a:rPr>
              <a:t>Sin duplicados.</a:t>
            </a:r>
            <a:r>
              <a:rPr sz="1450" b="0">
                <a:solidFill>
                  <a:srgbClr val="555045"/>
                </a:solidFill>
                <a:latin typeface="Arial"/>
              </a:rPr>
              <a:t> Una sola observación por tienda, producto y día.</a:t>
            </a:r>
          </a:p>
        </p:txBody>
      </p:sp>
      <p:sp>
        <p:nvSpPr>
          <p:cNvPr id="18" name="Rectangle 17"/>
          <p:cNvSpPr/>
          <p:nvPr/>
        </p:nvSpPr>
        <p:spPr>
          <a:xfrm>
            <a:off x="777240" y="6327648"/>
            <a:ext cx="10637215" cy="9525"/>
          </a:xfrm>
          <a:prstGeom prst="rect">
            <a:avLst/>
          </a:prstGeom>
          <a:solidFill>
            <a:srgbClr val="DCD8C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9" name="TextBox 18"/>
          <p:cNvSpPr txBox="1"/>
          <p:nvPr/>
        </p:nvSpPr>
        <p:spPr>
          <a:xfrm>
            <a:off x="777240" y="6428232"/>
            <a:ext cx="8686800" cy="274320"/>
          </a:xfrm>
          <a:prstGeom prst="rect">
            <a:avLst/>
          </a:prstGeom>
          <a:noFill/>
        </p:spPr>
        <p:txBody>
          <a:bodyPr wrap="square" lIns="0" tIns="0" rIns="0" bIns="0">
            <a:spAutoFit/>
          </a:bodyPr>
          <a:lstStyle/>
          <a:p>
            <a:pPr algn="l">
              <a:lnSpc>
                <a:spcPct val="122000"/>
              </a:lnSpc>
              <a:spcBef>
                <a:spcPts val="0"/>
              </a:spcBef>
              <a:spcAft>
                <a:spcPts val="0"/>
              </a:spcAft>
            </a:pPr>
            <a:r>
              <a:rPr sz="950" b="0">
                <a:solidFill>
                  <a:srgbClr val="8B8478"/>
                </a:solidFill>
                <a:latin typeface="Arial"/>
              </a:rPr>
              <a:t>Pasos 1-2 · Auditoría</a:t>
            </a:r>
          </a:p>
        </p:txBody>
      </p:sp>
      <p:sp>
        <p:nvSpPr>
          <p:cNvPr id="20" name="TextBox 19"/>
          <p:cNvSpPr txBox="1"/>
          <p:nvPr/>
        </p:nvSpPr>
        <p:spPr>
          <a:xfrm>
            <a:off x="10500055" y="6428232"/>
            <a:ext cx="914400" cy="274320"/>
          </a:xfrm>
          <a:prstGeom prst="rect">
            <a:avLst/>
          </a:prstGeom>
          <a:noFill/>
        </p:spPr>
        <p:txBody>
          <a:bodyPr wrap="square" lIns="0" tIns="0" rIns="0" bIns="0">
            <a:spAutoFit/>
          </a:bodyPr>
          <a:lstStyle/>
          <a:p>
            <a:pPr algn="r">
              <a:lnSpc>
                <a:spcPct val="122000"/>
              </a:lnSpc>
              <a:spcBef>
                <a:spcPts val="0"/>
              </a:spcBef>
              <a:spcAft>
                <a:spcPts val="0"/>
              </a:spcAft>
            </a:pPr>
            <a:r>
              <a:rPr sz="950" b="0">
                <a:solidFill>
                  <a:srgbClr val="8B8478"/>
                </a:solidFill>
                <a:latin typeface="Arial"/>
              </a:rPr>
              <a:t>6</a:t>
            </a:r>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777240" y="475488"/>
            <a:ext cx="10637215" cy="237744"/>
          </a:xfrm>
          <a:prstGeom prst="rect">
            <a:avLst/>
          </a:prstGeom>
          <a:noFill/>
        </p:spPr>
        <p:txBody>
          <a:bodyPr wrap="square" lIns="0" tIns="0" rIns="0" bIns="0">
            <a:spAutoFit/>
          </a:bodyPr>
          <a:lstStyle/>
          <a:p>
            <a:pPr algn="l">
              <a:lnSpc>
                <a:spcPct val="122000"/>
              </a:lnSpc>
              <a:spcBef>
                <a:spcPts val="0"/>
              </a:spcBef>
              <a:spcAft>
                <a:spcPts val="0"/>
              </a:spcAft>
            </a:pPr>
            <a:r>
              <a:rPr sz="1050" b="1">
                <a:solidFill>
                  <a:srgbClr val="8C2F39"/>
                </a:solidFill>
                <a:latin typeface="Arial"/>
              </a:rPr>
              <a:t>PASOS 3 Y 4 · UNIVARIADO</a:t>
            </a:r>
          </a:p>
        </p:txBody>
      </p:sp>
      <p:sp>
        <p:nvSpPr>
          <p:cNvPr id="4" name="Rectangle 3"/>
          <p:cNvSpPr/>
          <p:nvPr/>
        </p:nvSpPr>
        <p:spPr>
          <a:xfrm>
            <a:off x="777240" y="768096"/>
            <a:ext cx="502920" cy="30480"/>
          </a:xfrm>
          <a:prstGeom prst="rect">
            <a:avLst/>
          </a:prstGeom>
          <a:solidFill>
            <a:srgbClr val="8C2F3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 name="TextBox 4"/>
          <p:cNvSpPr txBox="1"/>
          <p:nvPr/>
        </p:nvSpPr>
        <p:spPr>
          <a:xfrm>
            <a:off x="777240" y="914400"/>
            <a:ext cx="10637215" cy="445770"/>
          </a:xfrm>
          <a:prstGeom prst="rect">
            <a:avLst/>
          </a:prstGeom>
          <a:noFill/>
        </p:spPr>
        <p:txBody>
          <a:bodyPr wrap="square" lIns="0" tIns="0" rIns="0" bIns="0">
            <a:spAutoFit/>
          </a:bodyPr>
          <a:lstStyle/>
          <a:p>
            <a:pPr algn="l">
              <a:lnSpc>
                <a:spcPct val="106000"/>
              </a:lnSpc>
              <a:spcBef>
                <a:spcPts val="0"/>
              </a:spcBef>
              <a:spcAft>
                <a:spcPts val="0"/>
              </a:spcAft>
            </a:pPr>
            <a:r>
              <a:rPr sz="2700" b="1">
                <a:solidFill>
                  <a:srgbClr val="17150F"/>
                </a:solidFill>
                <a:latin typeface="Arial"/>
              </a:rPr>
              <a:t>La demanda semanal se modela tal cual, sin transformar</a:t>
            </a:r>
          </a:p>
        </p:txBody>
      </p:sp>
      <p:pic>
        <p:nvPicPr>
          <p:cNvPr id="6" name="Picture 5" descr="01_distribucion_semanal.png"/>
          <p:cNvPicPr>
            <a:picLocks noChangeAspect="1"/>
          </p:cNvPicPr>
          <p:nvPr/>
        </p:nvPicPr>
        <p:blipFill>
          <a:blip r:embed="rId2"/>
          <a:stretch>
            <a:fillRect/>
          </a:stretch>
        </p:blipFill>
        <p:spPr>
          <a:xfrm>
            <a:off x="777240" y="1506474"/>
            <a:ext cx="5852160" cy="3251200"/>
          </a:xfrm>
          <a:prstGeom prst="rect">
            <a:avLst/>
          </a:prstGeom>
        </p:spPr>
      </p:pic>
      <p:graphicFrame>
        <p:nvGraphicFramePr>
          <p:cNvPr id="7" name="Table 6"/>
          <p:cNvGraphicFramePr>
            <a:graphicFrameLocks noGrp="1"/>
          </p:cNvGraphicFramePr>
          <p:nvPr/>
        </p:nvGraphicFramePr>
        <p:xfrm>
          <a:off x="6949440" y="1597914"/>
          <a:ext cx="4465014" cy="2011680"/>
        </p:xfrm>
        <a:graphic>
          <a:graphicData uri="http://schemas.openxmlformats.org/drawingml/2006/table">
            <a:tbl>
              <a:tblPr bandRow="1">
                <a:tableStyleId>{5C22544A-7EE6-4342-B048-85BDC9FD1C3A}</a:tableStyleId>
              </a:tblPr>
              <a:tblGrid>
                <a:gridCol w="1875306">
                  <a:extLst>
                    <a:ext uri="{9D8B030D-6E8A-4147-A177-3AD203B41FA5}">
                      <a16:colId xmlns:a16="http://schemas.microsoft.com/office/drawing/2014/main" val="20000"/>
                    </a:ext>
                  </a:extLst>
                </a:gridCol>
                <a:gridCol w="1294854">
                  <a:extLst>
                    <a:ext uri="{9D8B030D-6E8A-4147-A177-3AD203B41FA5}">
                      <a16:colId xmlns:a16="http://schemas.microsoft.com/office/drawing/2014/main" val="20001"/>
                    </a:ext>
                  </a:extLst>
                </a:gridCol>
                <a:gridCol w="1294854">
                  <a:extLst>
                    <a:ext uri="{9D8B030D-6E8A-4147-A177-3AD203B41FA5}">
                      <a16:colId xmlns:a16="http://schemas.microsoft.com/office/drawing/2014/main" val="20002"/>
                    </a:ext>
                  </a:extLst>
                </a:gridCol>
              </a:tblGrid>
              <a:tr h="347472">
                <a:tc>
                  <a:txBody>
                    <a:bodyPr/>
                    <a:lstStyle/>
                    <a:p>
                      <a:pPr algn="l"/>
                      <a:endParaRPr/>
                    </a:p>
                  </a:txBody>
                  <a:tcPr marL="82296" marR="82296" anchor="ctr">
                    <a:solidFill>
                      <a:srgbClr val="F4F2ED"/>
                    </a:solidFill>
                  </a:tcPr>
                </a:tc>
                <a:tc>
                  <a:txBody>
                    <a:bodyPr/>
                    <a:lstStyle/>
                    <a:p>
                      <a:pPr algn="r"/>
                      <a:r>
                        <a:rPr sz="1050" b="1">
                          <a:solidFill>
                            <a:srgbClr val="8B8478"/>
                          </a:solidFill>
                          <a:latin typeface="Arial"/>
                        </a:rPr>
                        <a:t>Diario</a:t>
                      </a:r>
                    </a:p>
                  </a:txBody>
                  <a:tcPr marL="82296" marR="82296" anchor="ctr">
                    <a:solidFill>
                      <a:srgbClr val="F4F2ED"/>
                    </a:solidFill>
                  </a:tcPr>
                </a:tc>
                <a:tc>
                  <a:txBody>
                    <a:bodyPr/>
                    <a:lstStyle/>
                    <a:p>
                      <a:pPr algn="r"/>
                      <a:r>
                        <a:rPr sz="1050" b="1">
                          <a:solidFill>
                            <a:srgbClr val="8B8478"/>
                          </a:solidFill>
                          <a:latin typeface="Arial"/>
                        </a:rPr>
                        <a:t>Semanal</a:t>
                      </a:r>
                    </a:p>
                  </a:txBody>
                  <a:tcPr marL="82296" marR="82296" anchor="ctr">
                    <a:solidFill>
                      <a:srgbClr val="F4F2ED"/>
                    </a:solidFill>
                  </a:tcPr>
                </a:tc>
                <a:extLst>
                  <a:ext uri="{0D108BD9-81ED-4DB2-BD59-A6C34878D82A}">
                    <a16:rowId xmlns:a16="http://schemas.microsoft.com/office/drawing/2014/main" val="10000"/>
                  </a:ext>
                </a:extLst>
              </a:tr>
              <a:tr h="329184">
                <a:tc>
                  <a:txBody>
                    <a:bodyPr/>
                    <a:lstStyle/>
                    <a:p>
                      <a:pPr algn="l"/>
                      <a:r>
                        <a:rPr sz="1200" b="0">
                          <a:solidFill>
                            <a:srgbClr val="17150F"/>
                          </a:solidFill>
                          <a:latin typeface="Arial"/>
                        </a:rPr>
                        <a:t>Media</a:t>
                      </a:r>
                    </a:p>
                  </a:txBody>
                  <a:tcPr marL="82296" marR="82296" anchor="ctr">
                    <a:solidFill>
                      <a:srgbClr val="FFFFFF"/>
                    </a:solidFill>
                  </a:tcPr>
                </a:tc>
                <a:tc>
                  <a:txBody>
                    <a:bodyPr/>
                    <a:lstStyle/>
                    <a:p>
                      <a:pPr algn="r"/>
                      <a:r>
                        <a:rPr sz="1200" b="0">
                          <a:solidFill>
                            <a:srgbClr val="555045"/>
                          </a:solidFill>
                          <a:latin typeface="Arial"/>
                        </a:rPr>
                        <a:t>13,2</a:t>
                      </a:r>
                    </a:p>
                  </a:txBody>
                  <a:tcPr marL="82296" marR="82296" anchor="ctr">
                    <a:solidFill>
                      <a:srgbClr val="FFFFFF"/>
                    </a:solidFill>
                  </a:tcPr>
                </a:tc>
                <a:tc>
                  <a:txBody>
                    <a:bodyPr/>
                    <a:lstStyle/>
                    <a:p>
                      <a:pPr algn="r"/>
                      <a:r>
                        <a:rPr sz="1200" b="0">
                          <a:solidFill>
                            <a:srgbClr val="555045"/>
                          </a:solidFill>
                          <a:latin typeface="Arial"/>
                        </a:rPr>
                        <a:t>92,2</a:t>
                      </a:r>
                    </a:p>
                  </a:txBody>
                  <a:tcPr marL="82296" marR="82296" anchor="ctr">
                    <a:solidFill>
                      <a:srgbClr val="FFFFFF"/>
                    </a:solidFill>
                  </a:tcPr>
                </a:tc>
                <a:extLst>
                  <a:ext uri="{0D108BD9-81ED-4DB2-BD59-A6C34878D82A}">
                    <a16:rowId xmlns:a16="http://schemas.microsoft.com/office/drawing/2014/main" val="10001"/>
                  </a:ext>
                </a:extLst>
              </a:tr>
              <a:tr h="329184">
                <a:tc>
                  <a:txBody>
                    <a:bodyPr/>
                    <a:lstStyle/>
                    <a:p>
                      <a:pPr algn="l"/>
                      <a:r>
                        <a:rPr sz="1200" b="0">
                          <a:solidFill>
                            <a:srgbClr val="17150F"/>
                          </a:solidFill>
                          <a:latin typeface="Arial"/>
                        </a:rPr>
                        <a:t>Coef. variación</a:t>
                      </a:r>
                    </a:p>
                  </a:txBody>
                  <a:tcPr marL="82296" marR="82296" anchor="ctr">
                    <a:solidFill>
                      <a:srgbClr val="FFFFFF"/>
                    </a:solidFill>
                  </a:tcPr>
                </a:tc>
                <a:tc>
                  <a:txBody>
                    <a:bodyPr/>
                    <a:lstStyle/>
                    <a:p>
                      <a:pPr algn="r"/>
                      <a:r>
                        <a:rPr sz="1200" b="0">
                          <a:solidFill>
                            <a:srgbClr val="555045"/>
                          </a:solidFill>
                          <a:latin typeface="Arial"/>
                        </a:rPr>
                        <a:t>0,591</a:t>
                      </a:r>
                    </a:p>
                  </a:txBody>
                  <a:tcPr marL="82296" marR="82296" anchor="ctr">
                    <a:solidFill>
                      <a:srgbClr val="FFFFFF"/>
                    </a:solidFill>
                  </a:tcPr>
                </a:tc>
                <a:tc>
                  <a:txBody>
                    <a:bodyPr/>
                    <a:lstStyle/>
                    <a:p>
                      <a:pPr algn="r"/>
                      <a:r>
                        <a:rPr sz="1200" b="0">
                          <a:solidFill>
                            <a:srgbClr val="555045"/>
                          </a:solidFill>
                          <a:latin typeface="Arial"/>
                        </a:rPr>
                        <a:t>0,449</a:t>
                      </a:r>
                    </a:p>
                  </a:txBody>
                  <a:tcPr marL="82296" marR="82296" anchor="ctr">
                    <a:solidFill>
                      <a:srgbClr val="FFFFFF"/>
                    </a:solidFill>
                  </a:tcPr>
                </a:tc>
                <a:extLst>
                  <a:ext uri="{0D108BD9-81ED-4DB2-BD59-A6C34878D82A}">
                    <a16:rowId xmlns:a16="http://schemas.microsoft.com/office/drawing/2014/main" val="10002"/>
                  </a:ext>
                </a:extLst>
              </a:tr>
              <a:tr h="329184">
                <a:tc>
                  <a:txBody>
                    <a:bodyPr/>
                    <a:lstStyle/>
                    <a:p>
                      <a:pPr algn="l"/>
                      <a:r>
                        <a:rPr sz="1200" b="0">
                          <a:solidFill>
                            <a:srgbClr val="17150F"/>
                          </a:solidFill>
                          <a:latin typeface="Arial"/>
                        </a:rPr>
                        <a:t>Asimetría</a:t>
                      </a:r>
                    </a:p>
                  </a:txBody>
                  <a:tcPr marL="82296" marR="82296" anchor="ctr">
                    <a:solidFill>
                      <a:srgbClr val="FFFFFF"/>
                    </a:solidFill>
                  </a:tcPr>
                </a:tc>
                <a:tc>
                  <a:txBody>
                    <a:bodyPr/>
                    <a:lstStyle/>
                    <a:p>
                      <a:pPr algn="r"/>
                      <a:r>
                        <a:rPr sz="1200" b="0">
                          <a:solidFill>
                            <a:srgbClr val="555045"/>
                          </a:solidFill>
                          <a:latin typeface="Arial"/>
                        </a:rPr>
                        <a:t>1,020</a:t>
                      </a:r>
                    </a:p>
                  </a:txBody>
                  <a:tcPr marL="82296" marR="82296" anchor="ctr">
                    <a:solidFill>
                      <a:srgbClr val="FFFFFF"/>
                    </a:solidFill>
                  </a:tcPr>
                </a:tc>
                <a:tc>
                  <a:txBody>
                    <a:bodyPr/>
                    <a:lstStyle/>
                    <a:p>
                      <a:pPr algn="r"/>
                      <a:r>
                        <a:rPr sz="1200" b="0">
                          <a:solidFill>
                            <a:srgbClr val="555045"/>
                          </a:solidFill>
                          <a:latin typeface="Arial"/>
                        </a:rPr>
                        <a:t>0,673</a:t>
                      </a:r>
                    </a:p>
                  </a:txBody>
                  <a:tcPr marL="82296" marR="82296" anchor="ctr">
                    <a:solidFill>
                      <a:srgbClr val="FFFFFF"/>
                    </a:solidFill>
                  </a:tcPr>
                </a:tc>
                <a:extLst>
                  <a:ext uri="{0D108BD9-81ED-4DB2-BD59-A6C34878D82A}">
                    <a16:rowId xmlns:a16="http://schemas.microsoft.com/office/drawing/2014/main" val="10003"/>
                  </a:ext>
                </a:extLst>
              </a:tr>
              <a:tr h="329184">
                <a:tc>
                  <a:txBody>
                    <a:bodyPr/>
                    <a:lstStyle/>
                    <a:p>
                      <a:pPr algn="l"/>
                      <a:r>
                        <a:rPr sz="1200" b="0">
                          <a:solidFill>
                            <a:srgbClr val="17150F"/>
                          </a:solidFill>
                          <a:latin typeface="Arial"/>
                        </a:rPr>
                        <a:t>Ceros</a:t>
                      </a:r>
                    </a:p>
                  </a:txBody>
                  <a:tcPr marL="82296" marR="82296" anchor="ctr">
                    <a:solidFill>
                      <a:srgbClr val="FFFFFF"/>
                    </a:solidFill>
                  </a:tcPr>
                </a:tc>
                <a:tc>
                  <a:txBody>
                    <a:bodyPr/>
                    <a:lstStyle/>
                    <a:p>
                      <a:pPr algn="r"/>
                      <a:r>
                        <a:rPr sz="1200" b="0">
                          <a:solidFill>
                            <a:srgbClr val="555045"/>
                          </a:solidFill>
                          <a:latin typeface="Arial"/>
                        </a:rPr>
                        <a:t>26</a:t>
                      </a:r>
                    </a:p>
                  </a:txBody>
                  <a:tcPr marL="82296" marR="82296" anchor="ctr">
                    <a:solidFill>
                      <a:srgbClr val="FFFFFF"/>
                    </a:solidFill>
                  </a:tcPr>
                </a:tc>
                <a:tc>
                  <a:txBody>
                    <a:bodyPr/>
                    <a:lstStyle/>
                    <a:p>
                      <a:pPr algn="r"/>
                      <a:r>
                        <a:rPr sz="1200" b="0">
                          <a:solidFill>
                            <a:srgbClr val="555045"/>
                          </a:solidFill>
                          <a:latin typeface="Arial"/>
                        </a:rPr>
                        <a:t>0</a:t>
                      </a:r>
                    </a:p>
                  </a:txBody>
                  <a:tcPr marL="82296" marR="82296" anchor="ctr">
                    <a:solidFill>
                      <a:srgbClr val="FFFFFF"/>
                    </a:solidFill>
                  </a:tcPr>
                </a:tc>
                <a:extLst>
                  <a:ext uri="{0D108BD9-81ED-4DB2-BD59-A6C34878D82A}">
                    <a16:rowId xmlns:a16="http://schemas.microsoft.com/office/drawing/2014/main" val="10004"/>
                  </a:ext>
                </a:extLst>
              </a:tr>
              <a:tr h="329184">
                <a:tc>
                  <a:txBody>
                    <a:bodyPr/>
                    <a:lstStyle/>
                    <a:p>
                      <a:pPr algn="l"/>
                      <a:r>
                        <a:rPr sz="1200" b="0">
                          <a:solidFill>
                            <a:srgbClr val="17150F"/>
                          </a:solidFill>
                          <a:latin typeface="Arial"/>
                        </a:rPr>
                        <a:t>Atípicos</a:t>
                      </a:r>
                    </a:p>
                  </a:txBody>
                  <a:tcPr marL="82296" marR="82296" anchor="ctr">
                    <a:solidFill>
                      <a:srgbClr val="FFFFFF"/>
                    </a:solidFill>
                  </a:tcPr>
                </a:tc>
                <a:tc>
                  <a:txBody>
                    <a:bodyPr/>
                    <a:lstStyle/>
                    <a:p>
                      <a:pPr algn="r"/>
                      <a:r>
                        <a:rPr sz="1200" b="0">
                          <a:solidFill>
                            <a:srgbClr val="555045"/>
                          </a:solidFill>
                          <a:latin typeface="Arial"/>
                        </a:rPr>
                        <a:t>127</a:t>
                      </a:r>
                    </a:p>
                  </a:txBody>
                  <a:tcPr marL="82296" marR="82296" anchor="ctr">
                    <a:solidFill>
                      <a:srgbClr val="FFFFFF"/>
                    </a:solidFill>
                  </a:tcPr>
                </a:tc>
                <a:tc>
                  <a:txBody>
                    <a:bodyPr/>
                    <a:lstStyle/>
                    <a:p>
                      <a:pPr algn="r"/>
                      <a:r>
                        <a:rPr sz="1200" b="0">
                          <a:solidFill>
                            <a:srgbClr val="555045"/>
                          </a:solidFill>
                          <a:latin typeface="Arial"/>
                        </a:rPr>
                        <a:t>3</a:t>
                      </a:r>
                    </a:p>
                  </a:txBody>
                  <a:tcPr marL="82296" marR="82296" anchor="ctr">
                    <a:solidFill>
                      <a:srgbClr val="FFFFFF"/>
                    </a:solidFill>
                  </a:tcPr>
                </a:tc>
                <a:extLst>
                  <a:ext uri="{0D108BD9-81ED-4DB2-BD59-A6C34878D82A}">
                    <a16:rowId xmlns:a16="http://schemas.microsoft.com/office/drawing/2014/main" val="10005"/>
                  </a:ext>
                </a:extLst>
              </a:tr>
            </a:tbl>
          </a:graphicData>
        </a:graphic>
      </p:graphicFrame>
      <p:sp>
        <p:nvSpPr>
          <p:cNvPr id="8" name="TextBox 7"/>
          <p:cNvSpPr txBox="1"/>
          <p:nvPr/>
        </p:nvSpPr>
        <p:spPr>
          <a:xfrm>
            <a:off x="6949440" y="4112514"/>
            <a:ext cx="4465015" cy="2011680"/>
          </a:xfrm>
          <a:prstGeom prst="rect">
            <a:avLst/>
          </a:prstGeom>
          <a:noFill/>
        </p:spPr>
        <p:txBody>
          <a:bodyPr wrap="square" lIns="0" tIns="0" rIns="0" bIns="0">
            <a:spAutoFit/>
          </a:bodyPr>
          <a:lstStyle/>
          <a:p>
            <a:pPr algn="l">
              <a:lnSpc>
                <a:spcPct val="130000"/>
              </a:lnSpc>
              <a:spcBef>
                <a:spcPts val="0"/>
              </a:spcBef>
              <a:spcAft>
                <a:spcPts val="1000"/>
              </a:spcAft>
            </a:pPr>
            <a:r>
              <a:rPr sz="1300" b="0">
                <a:solidFill>
                  <a:srgbClr val="555045"/>
                </a:solidFill>
                <a:latin typeface="Arial"/>
              </a:rPr>
              <a:t>Al pasar de día a semana la variable cambia de carácter: campana con cola derecha corta y sin masa pegada al cero.</a:t>
            </a:r>
          </a:p>
          <a:p>
            <a:pPr algn="l">
              <a:lnSpc>
                <a:spcPct val="130000"/>
              </a:lnSpc>
              <a:spcBef>
                <a:spcPts val="0"/>
              </a:spcBef>
              <a:spcAft>
                <a:spcPts val="0"/>
              </a:spcAft>
            </a:pPr>
            <a:r>
              <a:rPr sz="1300" b="1">
                <a:solidFill>
                  <a:srgbClr val="17150F"/>
                </a:solidFill>
                <a:latin typeface="Arial"/>
              </a:rPr>
              <a:t>No hace falta transformación logarítmica, ni modelos de conteo, ni tratamiento de atípicos.</a:t>
            </a:r>
          </a:p>
        </p:txBody>
      </p:sp>
      <p:sp>
        <p:nvSpPr>
          <p:cNvPr id="9" name="Rectangle 8"/>
          <p:cNvSpPr/>
          <p:nvPr/>
        </p:nvSpPr>
        <p:spPr>
          <a:xfrm>
            <a:off x="777240" y="6327648"/>
            <a:ext cx="10637215" cy="9525"/>
          </a:xfrm>
          <a:prstGeom prst="rect">
            <a:avLst/>
          </a:prstGeom>
          <a:solidFill>
            <a:srgbClr val="DCD8C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0" name="TextBox 9"/>
          <p:cNvSpPr txBox="1"/>
          <p:nvPr/>
        </p:nvSpPr>
        <p:spPr>
          <a:xfrm>
            <a:off x="777240" y="6428232"/>
            <a:ext cx="8686800" cy="274320"/>
          </a:xfrm>
          <a:prstGeom prst="rect">
            <a:avLst/>
          </a:prstGeom>
          <a:noFill/>
        </p:spPr>
        <p:txBody>
          <a:bodyPr wrap="square" lIns="0" tIns="0" rIns="0" bIns="0">
            <a:spAutoFit/>
          </a:bodyPr>
          <a:lstStyle/>
          <a:p>
            <a:pPr algn="l">
              <a:lnSpc>
                <a:spcPct val="122000"/>
              </a:lnSpc>
              <a:spcBef>
                <a:spcPts val="0"/>
              </a:spcBef>
              <a:spcAft>
                <a:spcPts val="0"/>
              </a:spcAft>
            </a:pPr>
            <a:r>
              <a:rPr sz="950" b="0">
                <a:solidFill>
                  <a:srgbClr val="8B8478"/>
                </a:solidFill>
                <a:latin typeface="Arial"/>
              </a:rPr>
              <a:t>Pasos 3-4 · Univariado</a:t>
            </a:r>
          </a:p>
        </p:txBody>
      </p:sp>
      <p:sp>
        <p:nvSpPr>
          <p:cNvPr id="11" name="TextBox 10"/>
          <p:cNvSpPr txBox="1"/>
          <p:nvPr/>
        </p:nvSpPr>
        <p:spPr>
          <a:xfrm>
            <a:off x="10500055" y="6428232"/>
            <a:ext cx="914400" cy="274320"/>
          </a:xfrm>
          <a:prstGeom prst="rect">
            <a:avLst/>
          </a:prstGeom>
          <a:noFill/>
        </p:spPr>
        <p:txBody>
          <a:bodyPr wrap="square" lIns="0" tIns="0" rIns="0" bIns="0">
            <a:spAutoFit/>
          </a:bodyPr>
          <a:lstStyle/>
          <a:p>
            <a:pPr algn="r">
              <a:lnSpc>
                <a:spcPct val="122000"/>
              </a:lnSpc>
              <a:spcBef>
                <a:spcPts val="0"/>
              </a:spcBef>
              <a:spcAft>
                <a:spcPts val="0"/>
              </a:spcAft>
            </a:pPr>
            <a:r>
              <a:rPr sz="950" b="0">
                <a:solidFill>
                  <a:srgbClr val="8B8478"/>
                </a:solidFill>
                <a:latin typeface="Arial"/>
              </a:rPr>
              <a:t>7</a:t>
            </a:r>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777240" y="475488"/>
            <a:ext cx="10637215" cy="237744"/>
          </a:xfrm>
          <a:prstGeom prst="rect">
            <a:avLst/>
          </a:prstGeom>
          <a:noFill/>
        </p:spPr>
        <p:txBody>
          <a:bodyPr wrap="square" lIns="0" tIns="0" rIns="0" bIns="0">
            <a:spAutoFit/>
          </a:bodyPr>
          <a:lstStyle/>
          <a:p>
            <a:pPr algn="l">
              <a:lnSpc>
                <a:spcPct val="122000"/>
              </a:lnSpc>
              <a:spcBef>
                <a:spcPts val="0"/>
              </a:spcBef>
              <a:spcAft>
                <a:spcPts val="0"/>
              </a:spcAft>
            </a:pPr>
            <a:r>
              <a:rPr sz="1050" b="1">
                <a:solidFill>
                  <a:srgbClr val="8C2F39"/>
                </a:solidFill>
                <a:latin typeface="Arial"/>
              </a:rPr>
              <a:t>PASOS 3 Y 4 · UNIVARIADO</a:t>
            </a:r>
          </a:p>
        </p:txBody>
      </p:sp>
      <p:sp>
        <p:nvSpPr>
          <p:cNvPr id="4" name="Rectangle 3"/>
          <p:cNvSpPr/>
          <p:nvPr/>
        </p:nvSpPr>
        <p:spPr>
          <a:xfrm>
            <a:off x="777240" y="768096"/>
            <a:ext cx="502920" cy="30480"/>
          </a:xfrm>
          <a:prstGeom prst="rect">
            <a:avLst/>
          </a:prstGeom>
          <a:solidFill>
            <a:srgbClr val="8C2F3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 name="TextBox 4"/>
          <p:cNvSpPr txBox="1"/>
          <p:nvPr/>
        </p:nvSpPr>
        <p:spPr>
          <a:xfrm>
            <a:off x="777240" y="914400"/>
            <a:ext cx="10637215" cy="445770"/>
          </a:xfrm>
          <a:prstGeom prst="rect">
            <a:avLst/>
          </a:prstGeom>
          <a:noFill/>
        </p:spPr>
        <p:txBody>
          <a:bodyPr wrap="square" lIns="0" tIns="0" rIns="0" bIns="0">
            <a:spAutoFit/>
          </a:bodyPr>
          <a:lstStyle/>
          <a:p>
            <a:pPr algn="l">
              <a:lnSpc>
                <a:spcPct val="106000"/>
              </a:lnSpc>
              <a:spcBef>
                <a:spcPts val="0"/>
              </a:spcBef>
              <a:spcAft>
                <a:spcPts val="0"/>
              </a:spcAft>
            </a:pPr>
            <a:r>
              <a:rPr sz="2700" b="1">
                <a:solidFill>
                  <a:srgbClr val="17150F"/>
                </a:solidFill>
                <a:latin typeface="Arial"/>
              </a:rPr>
              <a:t>Agregar a semana elimina la señal dominante del dato diario</a:t>
            </a:r>
          </a:p>
        </p:txBody>
      </p:sp>
      <p:pic>
        <p:nvPicPr>
          <p:cNvPr id="6" name="Picture 5" descr="02_ciclo_dia_semana.png"/>
          <p:cNvPicPr>
            <a:picLocks noChangeAspect="1"/>
          </p:cNvPicPr>
          <p:nvPr/>
        </p:nvPicPr>
        <p:blipFill>
          <a:blip r:embed="rId2"/>
          <a:stretch>
            <a:fillRect/>
          </a:stretch>
        </p:blipFill>
        <p:spPr>
          <a:xfrm>
            <a:off x="777240" y="1506474"/>
            <a:ext cx="5852160" cy="3251200"/>
          </a:xfrm>
          <a:prstGeom prst="rect">
            <a:avLst/>
          </a:prstGeom>
        </p:spPr>
      </p:pic>
      <p:sp>
        <p:nvSpPr>
          <p:cNvPr id="7" name="TextBox 6"/>
          <p:cNvSpPr txBox="1"/>
          <p:nvPr/>
        </p:nvSpPr>
        <p:spPr>
          <a:xfrm>
            <a:off x="6949440" y="1689354"/>
            <a:ext cx="4465015" cy="3657600"/>
          </a:xfrm>
          <a:prstGeom prst="rect">
            <a:avLst/>
          </a:prstGeom>
          <a:noFill/>
        </p:spPr>
        <p:txBody>
          <a:bodyPr wrap="square" lIns="0" tIns="0" rIns="0" bIns="0">
            <a:spAutoFit/>
          </a:bodyPr>
          <a:lstStyle/>
          <a:p>
            <a:pPr algn="l">
              <a:lnSpc>
                <a:spcPct val="132000"/>
              </a:lnSpc>
              <a:spcBef>
                <a:spcPts val="0"/>
              </a:spcBef>
              <a:spcAft>
                <a:spcPts val="1200"/>
              </a:spcAft>
            </a:pPr>
            <a:r>
              <a:rPr sz="1400" b="0">
                <a:solidFill>
                  <a:srgbClr val="555045"/>
                </a:solidFill>
                <a:latin typeface="Arial"/>
              </a:rPr>
              <a:t>El fin de semana vende 1,25 veces la media y el jueves 0,82. Una amplitud de 1,54 veces entre el día más alto y el más bajo.</a:t>
            </a:r>
          </a:p>
          <a:p>
            <a:pPr algn="l">
              <a:lnSpc>
                <a:spcPct val="132000"/>
              </a:lnSpc>
              <a:spcBef>
                <a:spcPts val="0"/>
              </a:spcBef>
              <a:spcAft>
                <a:spcPts val="1200"/>
              </a:spcAft>
            </a:pPr>
            <a:r>
              <a:rPr sz="1400" b="0">
                <a:solidFill>
                  <a:srgbClr val="555045"/>
                </a:solidFill>
                <a:latin typeface="Arial"/>
              </a:rPr>
              <a:t>Cada semana del periodo contiene exactamente un día de cada tipo, así que al sumar el ciclo se anula por construcción.</a:t>
            </a:r>
          </a:p>
          <a:p>
            <a:pPr algn="l">
              <a:lnSpc>
                <a:spcPct val="132000"/>
              </a:lnSpc>
              <a:spcBef>
                <a:spcPts val="0"/>
              </a:spcBef>
              <a:spcAft>
                <a:spcPts val="0"/>
              </a:spcAft>
            </a:pPr>
            <a:r>
              <a:rPr sz="1400" b="1">
                <a:solidFill>
                  <a:srgbClr val="17150F"/>
                </a:solidFill>
                <a:latin typeface="Arial"/>
              </a:rPr>
              <a:t>La agregación semanal no pierde señal útil y retira una fuente de variación grande.</a:t>
            </a:r>
          </a:p>
        </p:txBody>
      </p:sp>
      <p:sp>
        <p:nvSpPr>
          <p:cNvPr id="8" name="Rectangle 7"/>
          <p:cNvSpPr/>
          <p:nvPr/>
        </p:nvSpPr>
        <p:spPr>
          <a:xfrm>
            <a:off x="777240" y="6327648"/>
            <a:ext cx="10637215" cy="9525"/>
          </a:xfrm>
          <a:prstGeom prst="rect">
            <a:avLst/>
          </a:prstGeom>
          <a:solidFill>
            <a:srgbClr val="DCD8C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9" name="TextBox 8"/>
          <p:cNvSpPr txBox="1"/>
          <p:nvPr/>
        </p:nvSpPr>
        <p:spPr>
          <a:xfrm>
            <a:off x="777240" y="6428232"/>
            <a:ext cx="8686800" cy="274320"/>
          </a:xfrm>
          <a:prstGeom prst="rect">
            <a:avLst/>
          </a:prstGeom>
          <a:noFill/>
        </p:spPr>
        <p:txBody>
          <a:bodyPr wrap="square" lIns="0" tIns="0" rIns="0" bIns="0">
            <a:spAutoFit/>
          </a:bodyPr>
          <a:lstStyle/>
          <a:p>
            <a:pPr algn="l">
              <a:lnSpc>
                <a:spcPct val="122000"/>
              </a:lnSpc>
              <a:spcBef>
                <a:spcPts val="0"/>
              </a:spcBef>
              <a:spcAft>
                <a:spcPts val="0"/>
              </a:spcAft>
            </a:pPr>
            <a:r>
              <a:rPr sz="950" b="0">
                <a:solidFill>
                  <a:srgbClr val="8B8478"/>
                </a:solidFill>
                <a:latin typeface="Arial"/>
              </a:rPr>
              <a:t>Pasos 3-4 · Univariado</a:t>
            </a:r>
          </a:p>
        </p:txBody>
      </p:sp>
      <p:sp>
        <p:nvSpPr>
          <p:cNvPr id="10" name="TextBox 9"/>
          <p:cNvSpPr txBox="1"/>
          <p:nvPr/>
        </p:nvSpPr>
        <p:spPr>
          <a:xfrm>
            <a:off x="10500055" y="6428232"/>
            <a:ext cx="914400" cy="274320"/>
          </a:xfrm>
          <a:prstGeom prst="rect">
            <a:avLst/>
          </a:prstGeom>
          <a:noFill/>
        </p:spPr>
        <p:txBody>
          <a:bodyPr wrap="square" lIns="0" tIns="0" rIns="0" bIns="0">
            <a:spAutoFit/>
          </a:bodyPr>
          <a:lstStyle/>
          <a:p>
            <a:pPr algn="r">
              <a:lnSpc>
                <a:spcPct val="122000"/>
              </a:lnSpc>
              <a:spcBef>
                <a:spcPts val="0"/>
              </a:spcBef>
              <a:spcAft>
                <a:spcPts val="0"/>
              </a:spcAft>
            </a:pPr>
            <a:r>
              <a:rPr sz="950" b="0">
                <a:solidFill>
                  <a:srgbClr val="8B8478"/>
                </a:solidFill>
                <a:latin typeface="Arial"/>
              </a:rPr>
              <a:t>8</a:t>
            </a:r>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777240" y="475488"/>
            <a:ext cx="10637215" cy="237744"/>
          </a:xfrm>
          <a:prstGeom prst="rect">
            <a:avLst/>
          </a:prstGeom>
          <a:noFill/>
        </p:spPr>
        <p:txBody>
          <a:bodyPr wrap="square" lIns="0" tIns="0" rIns="0" bIns="0">
            <a:spAutoFit/>
          </a:bodyPr>
          <a:lstStyle/>
          <a:p>
            <a:pPr algn="l">
              <a:lnSpc>
                <a:spcPct val="122000"/>
              </a:lnSpc>
              <a:spcBef>
                <a:spcPts val="0"/>
              </a:spcBef>
              <a:spcAft>
                <a:spcPts val="0"/>
              </a:spcAft>
            </a:pPr>
            <a:r>
              <a:rPr sz="1050" b="1">
                <a:solidFill>
                  <a:srgbClr val="8C2F39"/>
                </a:solidFill>
                <a:latin typeface="Arial"/>
              </a:rPr>
              <a:t>PASOS 3 Y 4 · UNIVARIADO</a:t>
            </a:r>
          </a:p>
        </p:txBody>
      </p:sp>
      <p:sp>
        <p:nvSpPr>
          <p:cNvPr id="4" name="Rectangle 3"/>
          <p:cNvSpPr/>
          <p:nvPr/>
        </p:nvSpPr>
        <p:spPr>
          <a:xfrm>
            <a:off x="777240" y="768096"/>
            <a:ext cx="502920" cy="30480"/>
          </a:xfrm>
          <a:prstGeom prst="rect">
            <a:avLst/>
          </a:prstGeom>
          <a:solidFill>
            <a:srgbClr val="8C2F3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 name="TextBox 4"/>
          <p:cNvSpPr txBox="1"/>
          <p:nvPr/>
        </p:nvSpPr>
        <p:spPr>
          <a:xfrm>
            <a:off x="777238" y="836104"/>
            <a:ext cx="10637215" cy="409151"/>
          </a:xfrm>
          <a:prstGeom prst="rect">
            <a:avLst/>
          </a:prstGeom>
          <a:noFill/>
        </p:spPr>
        <p:txBody>
          <a:bodyPr wrap="square" lIns="0" tIns="0" rIns="0" bIns="0">
            <a:spAutoFit/>
          </a:bodyPr>
          <a:lstStyle/>
          <a:p>
            <a:pPr algn="l">
              <a:lnSpc>
                <a:spcPct val="106000"/>
              </a:lnSpc>
              <a:spcBef>
                <a:spcPts val="0"/>
              </a:spcBef>
              <a:spcAft>
                <a:spcPts val="0"/>
              </a:spcAft>
            </a:pPr>
            <a:r>
              <a:rPr lang="es-419" sz="2700" b="1" dirty="0">
                <a:solidFill>
                  <a:srgbClr val="17150F"/>
                </a:solidFill>
                <a:latin typeface="Arial"/>
              </a:rPr>
              <a:t>N</a:t>
            </a:r>
            <a:r>
              <a:rPr sz="2700" b="1" dirty="0">
                <a:solidFill>
                  <a:srgbClr val="17150F"/>
                </a:solidFill>
                <a:latin typeface="Arial"/>
              </a:rPr>
              <a:t>o hay memoria </a:t>
            </a:r>
            <a:r>
              <a:rPr sz="2700" b="1" dirty="0" err="1">
                <a:solidFill>
                  <a:srgbClr val="17150F"/>
                </a:solidFill>
                <a:latin typeface="Arial"/>
              </a:rPr>
              <a:t>semanal</a:t>
            </a:r>
            <a:endParaRPr sz="2700" b="1" dirty="0">
              <a:solidFill>
                <a:srgbClr val="17150F"/>
              </a:solidFill>
              <a:latin typeface="Arial"/>
            </a:endParaRPr>
          </a:p>
        </p:txBody>
      </p:sp>
      <p:pic>
        <p:nvPicPr>
          <p:cNvPr id="6" name="Picture 5" descr="03_autocorrelacion.png"/>
          <p:cNvPicPr>
            <a:picLocks noChangeAspect="1"/>
          </p:cNvPicPr>
          <p:nvPr/>
        </p:nvPicPr>
        <p:blipFill>
          <a:blip r:embed="rId2"/>
          <a:stretch>
            <a:fillRect/>
          </a:stretch>
        </p:blipFill>
        <p:spPr>
          <a:xfrm>
            <a:off x="180839" y="1938825"/>
            <a:ext cx="6492771" cy="2479058"/>
          </a:xfrm>
          <a:prstGeom prst="rect">
            <a:avLst/>
          </a:prstGeom>
        </p:spPr>
      </p:pic>
      <p:graphicFrame>
        <p:nvGraphicFramePr>
          <p:cNvPr id="7" name="Table 6"/>
          <p:cNvGraphicFramePr>
            <a:graphicFrameLocks noGrp="1"/>
          </p:cNvGraphicFramePr>
          <p:nvPr/>
        </p:nvGraphicFramePr>
        <p:xfrm>
          <a:off x="6949440" y="1597914"/>
          <a:ext cx="4465013" cy="1005840"/>
        </p:xfrm>
        <a:graphic>
          <a:graphicData uri="http://schemas.openxmlformats.org/drawingml/2006/table">
            <a:tbl>
              <a:tblPr bandRow="1">
                <a:tableStyleId>{5C22544A-7EE6-4342-B048-85BDC9FD1C3A}</a:tableStyleId>
              </a:tblPr>
              <a:tblGrid>
                <a:gridCol w="1428804">
                  <a:extLst>
                    <a:ext uri="{9D8B030D-6E8A-4147-A177-3AD203B41FA5}">
                      <a16:colId xmlns:a16="http://schemas.microsoft.com/office/drawing/2014/main" val="20000"/>
                    </a:ext>
                  </a:extLst>
                </a:gridCol>
                <a:gridCol w="1339504">
                  <a:extLst>
                    <a:ext uri="{9D8B030D-6E8A-4147-A177-3AD203B41FA5}">
                      <a16:colId xmlns:a16="http://schemas.microsoft.com/office/drawing/2014/main" val="20001"/>
                    </a:ext>
                  </a:extLst>
                </a:gridCol>
                <a:gridCol w="1696705">
                  <a:extLst>
                    <a:ext uri="{9D8B030D-6E8A-4147-A177-3AD203B41FA5}">
                      <a16:colId xmlns:a16="http://schemas.microsoft.com/office/drawing/2014/main" val="20002"/>
                    </a:ext>
                  </a:extLst>
                </a:gridCol>
              </a:tblGrid>
              <a:tr h="347472">
                <a:tc>
                  <a:txBody>
                    <a:bodyPr/>
                    <a:lstStyle/>
                    <a:p>
                      <a:pPr algn="l"/>
                      <a:r>
                        <a:rPr sz="1050" b="1">
                          <a:solidFill>
                            <a:srgbClr val="8B8478"/>
                          </a:solidFill>
                          <a:latin typeface="Arial"/>
                        </a:rPr>
                        <a:t>Nivel</a:t>
                      </a:r>
                    </a:p>
                  </a:txBody>
                  <a:tcPr marL="82296" marR="82296" anchor="ctr">
                    <a:solidFill>
                      <a:srgbClr val="F4F2ED"/>
                    </a:solidFill>
                  </a:tcPr>
                </a:tc>
                <a:tc>
                  <a:txBody>
                    <a:bodyPr/>
                    <a:lstStyle/>
                    <a:p>
                      <a:pPr algn="r"/>
                      <a:r>
                        <a:rPr sz="1050" b="1">
                          <a:solidFill>
                            <a:srgbClr val="8B8478"/>
                          </a:solidFill>
                          <a:latin typeface="Arial"/>
                        </a:rPr>
                        <a:t>Rezago 1</a:t>
                      </a:r>
                    </a:p>
                  </a:txBody>
                  <a:tcPr marL="82296" marR="82296" anchor="ctr">
                    <a:solidFill>
                      <a:srgbClr val="F4F2ED"/>
                    </a:solidFill>
                  </a:tcPr>
                </a:tc>
                <a:tc>
                  <a:txBody>
                    <a:bodyPr/>
                    <a:lstStyle/>
                    <a:p>
                      <a:pPr algn="r"/>
                      <a:r>
                        <a:rPr sz="1050" b="1">
                          <a:solidFill>
                            <a:srgbClr val="8B8478"/>
                          </a:solidFill>
                          <a:latin typeface="Arial"/>
                        </a:rPr>
                        <a:t>Significativos</a:t>
                      </a:r>
                    </a:p>
                  </a:txBody>
                  <a:tcPr marL="82296" marR="82296" anchor="ctr">
                    <a:solidFill>
                      <a:srgbClr val="F4F2ED"/>
                    </a:solidFill>
                  </a:tcPr>
                </a:tc>
                <a:extLst>
                  <a:ext uri="{0D108BD9-81ED-4DB2-BD59-A6C34878D82A}">
                    <a16:rowId xmlns:a16="http://schemas.microsoft.com/office/drawing/2014/main" val="10000"/>
                  </a:ext>
                </a:extLst>
              </a:tr>
              <a:tr h="329184">
                <a:tc>
                  <a:txBody>
                    <a:bodyPr/>
                    <a:lstStyle/>
                    <a:p>
                      <a:pPr algn="l"/>
                      <a:r>
                        <a:rPr sz="1200" b="0">
                          <a:solidFill>
                            <a:srgbClr val="17150F"/>
                          </a:solidFill>
                          <a:latin typeface="Arial"/>
                        </a:rPr>
                        <a:t>Diario</a:t>
                      </a:r>
                    </a:p>
                  </a:txBody>
                  <a:tcPr marL="82296" marR="82296" anchor="ctr">
                    <a:solidFill>
                      <a:srgbClr val="FFFFFF"/>
                    </a:solidFill>
                  </a:tcPr>
                </a:tc>
                <a:tc>
                  <a:txBody>
                    <a:bodyPr/>
                    <a:lstStyle/>
                    <a:p>
                      <a:pPr algn="r"/>
                      <a:r>
                        <a:rPr sz="1200" b="0">
                          <a:solidFill>
                            <a:srgbClr val="555045"/>
                          </a:solidFill>
                          <a:latin typeface="Arial"/>
                        </a:rPr>
                        <a:t>0,153</a:t>
                      </a:r>
                    </a:p>
                  </a:txBody>
                  <a:tcPr marL="82296" marR="82296" anchor="ctr">
                    <a:solidFill>
                      <a:srgbClr val="FFFFFF"/>
                    </a:solidFill>
                  </a:tcPr>
                </a:tc>
                <a:tc>
                  <a:txBody>
                    <a:bodyPr/>
                    <a:lstStyle/>
                    <a:p>
                      <a:pPr algn="r"/>
                      <a:r>
                        <a:rPr sz="1200" b="0">
                          <a:solidFill>
                            <a:srgbClr val="555045"/>
                          </a:solidFill>
                          <a:latin typeface="Arial"/>
                        </a:rPr>
                        <a:t>7, 14, 21</a:t>
                      </a:r>
                    </a:p>
                  </a:txBody>
                  <a:tcPr marL="82296" marR="82296" anchor="ctr">
                    <a:solidFill>
                      <a:srgbClr val="FFFFFF"/>
                    </a:solidFill>
                  </a:tcPr>
                </a:tc>
                <a:extLst>
                  <a:ext uri="{0D108BD9-81ED-4DB2-BD59-A6C34878D82A}">
                    <a16:rowId xmlns:a16="http://schemas.microsoft.com/office/drawing/2014/main" val="10001"/>
                  </a:ext>
                </a:extLst>
              </a:tr>
              <a:tr h="329184">
                <a:tc>
                  <a:txBody>
                    <a:bodyPr/>
                    <a:lstStyle/>
                    <a:p>
                      <a:pPr algn="l"/>
                      <a:r>
                        <a:rPr sz="1200" b="0">
                          <a:solidFill>
                            <a:srgbClr val="17150F"/>
                          </a:solidFill>
                          <a:latin typeface="Arial"/>
                        </a:rPr>
                        <a:t>Semanal</a:t>
                      </a:r>
                    </a:p>
                  </a:txBody>
                  <a:tcPr marL="82296" marR="82296" anchor="ctr">
                    <a:solidFill>
                      <a:srgbClr val="FFFFFF"/>
                    </a:solidFill>
                  </a:tcPr>
                </a:tc>
                <a:tc>
                  <a:txBody>
                    <a:bodyPr/>
                    <a:lstStyle/>
                    <a:p>
                      <a:pPr algn="r"/>
                      <a:r>
                        <a:rPr sz="1200" b="0">
                          <a:solidFill>
                            <a:srgbClr val="555045"/>
                          </a:solidFill>
                          <a:latin typeface="Arial"/>
                        </a:rPr>
                        <a:t>0,101</a:t>
                      </a:r>
                    </a:p>
                  </a:txBody>
                  <a:tcPr marL="82296" marR="82296" anchor="ctr">
                    <a:solidFill>
                      <a:srgbClr val="FFFFFF"/>
                    </a:solidFill>
                  </a:tcPr>
                </a:tc>
                <a:tc>
                  <a:txBody>
                    <a:bodyPr/>
                    <a:lstStyle/>
                    <a:p>
                      <a:pPr algn="r"/>
                      <a:r>
                        <a:rPr sz="1200" b="0">
                          <a:solidFill>
                            <a:srgbClr val="555045"/>
                          </a:solidFill>
                          <a:latin typeface="Arial"/>
                        </a:rPr>
                        <a:t>ninguno</a:t>
                      </a:r>
                    </a:p>
                  </a:txBody>
                  <a:tcPr marL="82296" marR="82296" anchor="ctr">
                    <a:solidFill>
                      <a:srgbClr val="FFFFFF"/>
                    </a:solidFill>
                  </a:tcPr>
                </a:tc>
                <a:extLst>
                  <a:ext uri="{0D108BD9-81ED-4DB2-BD59-A6C34878D82A}">
                    <a16:rowId xmlns:a16="http://schemas.microsoft.com/office/drawing/2014/main" val="10002"/>
                  </a:ext>
                </a:extLst>
              </a:tr>
            </a:tbl>
          </a:graphicData>
        </a:graphic>
      </p:graphicFrame>
      <p:sp>
        <p:nvSpPr>
          <p:cNvPr id="8" name="TextBox 7"/>
          <p:cNvSpPr txBox="1"/>
          <p:nvPr/>
        </p:nvSpPr>
        <p:spPr>
          <a:xfrm>
            <a:off x="6949440" y="2923794"/>
            <a:ext cx="4465015" cy="1401538"/>
          </a:xfrm>
          <a:prstGeom prst="rect">
            <a:avLst/>
          </a:prstGeom>
          <a:noFill/>
        </p:spPr>
        <p:txBody>
          <a:bodyPr wrap="square" lIns="0" tIns="0" rIns="0" bIns="0">
            <a:spAutoFit/>
          </a:bodyPr>
          <a:lstStyle/>
          <a:p>
            <a:pPr algn="l">
              <a:lnSpc>
                <a:spcPct val="130000"/>
              </a:lnSpc>
              <a:spcBef>
                <a:spcPts val="0"/>
              </a:spcBef>
              <a:spcAft>
                <a:spcPts val="1000"/>
              </a:spcAft>
            </a:pPr>
            <a:r>
              <a:rPr sz="1300" b="1" dirty="0" err="1">
                <a:solidFill>
                  <a:srgbClr val="17150F"/>
                </a:solidFill>
                <a:latin typeface="Arial"/>
              </a:rPr>
              <a:t>Consecuencia</a:t>
            </a:r>
            <a:r>
              <a:rPr sz="1300" b="1" dirty="0">
                <a:solidFill>
                  <a:srgbClr val="17150F"/>
                </a:solidFill>
                <a:latin typeface="Arial"/>
              </a:rPr>
              <a:t> 1. </a:t>
            </a:r>
            <a:r>
              <a:rPr sz="1300" b="1" dirty="0" err="1">
                <a:solidFill>
                  <a:srgbClr val="17150F"/>
                </a:solidFill>
                <a:latin typeface="Arial"/>
              </a:rPr>
              <a:t>Pedir</a:t>
            </a:r>
            <a:r>
              <a:rPr sz="1300" b="1" dirty="0">
                <a:solidFill>
                  <a:srgbClr val="17150F"/>
                </a:solidFill>
                <a:latin typeface="Arial"/>
              </a:rPr>
              <a:t> lo </a:t>
            </a:r>
            <a:r>
              <a:rPr sz="1300" b="1" dirty="0" err="1">
                <a:solidFill>
                  <a:srgbClr val="17150F"/>
                </a:solidFill>
                <a:latin typeface="Arial"/>
              </a:rPr>
              <a:t>mismo</a:t>
            </a:r>
            <a:r>
              <a:rPr sz="1300" b="1" dirty="0">
                <a:solidFill>
                  <a:srgbClr val="17150F"/>
                </a:solidFill>
                <a:latin typeface="Arial"/>
              </a:rPr>
              <a:t> </a:t>
            </a:r>
            <a:r>
              <a:rPr sz="1300" b="1" dirty="0" err="1">
                <a:solidFill>
                  <a:srgbClr val="17150F"/>
                </a:solidFill>
                <a:latin typeface="Arial"/>
              </a:rPr>
              <a:t>que</a:t>
            </a:r>
            <a:r>
              <a:rPr sz="1300" b="1" dirty="0">
                <a:solidFill>
                  <a:srgbClr val="17150F"/>
                </a:solidFill>
                <a:latin typeface="Arial"/>
              </a:rPr>
              <a:t> la </a:t>
            </a:r>
            <a:r>
              <a:rPr sz="1300" b="1" dirty="0" err="1">
                <a:solidFill>
                  <a:srgbClr val="17150F"/>
                </a:solidFill>
                <a:latin typeface="Arial"/>
              </a:rPr>
              <a:t>semana</a:t>
            </a:r>
            <a:r>
              <a:rPr sz="1300" b="1" dirty="0">
                <a:solidFill>
                  <a:srgbClr val="17150F"/>
                </a:solidFill>
                <a:latin typeface="Arial"/>
              </a:rPr>
              <a:t> </a:t>
            </a:r>
            <a:r>
              <a:rPr sz="1300" b="1" dirty="0" err="1">
                <a:solidFill>
                  <a:srgbClr val="17150F"/>
                </a:solidFill>
                <a:latin typeface="Arial"/>
              </a:rPr>
              <a:t>pasada</a:t>
            </a:r>
            <a:r>
              <a:rPr sz="1300" b="1" dirty="0">
                <a:solidFill>
                  <a:srgbClr val="17150F"/>
                </a:solidFill>
                <a:latin typeface="Arial"/>
              </a:rPr>
              <a:t> es un rival </a:t>
            </a:r>
            <a:r>
              <a:rPr sz="1300" b="1" dirty="0" err="1">
                <a:solidFill>
                  <a:srgbClr val="17150F"/>
                </a:solidFill>
                <a:latin typeface="Arial"/>
              </a:rPr>
              <a:t>débil</a:t>
            </a:r>
            <a:r>
              <a:rPr sz="1300" b="1" dirty="0">
                <a:solidFill>
                  <a:srgbClr val="17150F"/>
                </a:solidFill>
                <a:latin typeface="Arial"/>
              </a:rPr>
              <a:t>, no </a:t>
            </a:r>
            <a:r>
              <a:rPr sz="1300" b="1" dirty="0" err="1">
                <a:solidFill>
                  <a:srgbClr val="17150F"/>
                </a:solidFill>
                <a:latin typeface="Arial"/>
              </a:rPr>
              <a:t>una</a:t>
            </a:r>
            <a:r>
              <a:rPr sz="1300" b="1" dirty="0">
                <a:solidFill>
                  <a:srgbClr val="17150F"/>
                </a:solidFill>
                <a:latin typeface="Arial"/>
              </a:rPr>
              <a:t> </a:t>
            </a:r>
            <a:r>
              <a:rPr sz="1300" b="1" dirty="0" err="1">
                <a:solidFill>
                  <a:srgbClr val="17150F"/>
                </a:solidFill>
                <a:latin typeface="Arial"/>
              </a:rPr>
              <a:t>buena</a:t>
            </a:r>
            <a:r>
              <a:rPr sz="1300" b="1" dirty="0">
                <a:solidFill>
                  <a:srgbClr val="17150F"/>
                </a:solidFill>
                <a:latin typeface="Arial"/>
              </a:rPr>
              <a:t> </a:t>
            </a:r>
            <a:r>
              <a:rPr sz="1300" b="1" dirty="0" err="1">
                <a:solidFill>
                  <a:srgbClr val="17150F"/>
                </a:solidFill>
                <a:latin typeface="Arial"/>
              </a:rPr>
              <a:t>referencia</a:t>
            </a:r>
            <a:r>
              <a:rPr sz="1300" b="1" dirty="0">
                <a:solidFill>
                  <a:srgbClr val="17150F"/>
                </a:solidFill>
                <a:latin typeface="Arial"/>
              </a:rPr>
              <a:t>.</a:t>
            </a:r>
          </a:p>
          <a:p>
            <a:pPr algn="l">
              <a:lnSpc>
                <a:spcPct val="130000"/>
              </a:lnSpc>
              <a:spcBef>
                <a:spcPts val="0"/>
              </a:spcBef>
              <a:spcAft>
                <a:spcPts val="0"/>
              </a:spcAft>
            </a:pPr>
            <a:r>
              <a:rPr sz="1300" b="1" dirty="0" err="1">
                <a:solidFill>
                  <a:srgbClr val="17150F"/>
                </a:solidFill>
                <a:latin typeface="Arial"/>
              </a:rPr>
              <a:t>Consecuencia</a:t>
            </a:r>
            <a:r>
              <a:rPr sz="1300" b="1" dirty="0">
                <a:solidFill>
                  <a:srgbClr val="17150F"/>
                </a:solidFill>
                <a:latin typeface="Arial"/>
              </a:rPr>
              <a:t> 2. Las variables </a:t>
            </a:r>
            <a:r>
              <a:rPr sz="1300" b="1" dirty="0" err="1">
                <a:solidFill>
                  <a:srgbClr val="17150F"/>
                </a:solidFill>
                <a:latin typeface="Arial"/>
              </a:rPr>
              <a:t>útiles</a:t>
            </a:r>
            <a:r>
              <a:rPr sz="1300" b="1" dirty="0">
                <a:solidFill>
                  <a:srgbClr val="17150F"/>
                </a:solidFill>
                <a:latin typeface="Arial"/>
              </a:rPr>
              <a:t> </a:t>
            </a:r>
            <a:r>
              <a:rPr sz="1300" b="1" dirty="0" err="1">
                <a:solidFill>
                  <a:srgbClr val="17150F"/>
                </a:solidFill>
                <a:latin typeface="Arial"/>
              </a:rPr>
              <a:t>serán</a:t>
            </a:r>
            <a:r>
              <a:rPr sz="1300" b="1" dirty="0">
                <a:solidFill>
                  <a:srgbClr val="17150F"/>
                </a:solidFill>
                <a:latin typeface="Arial"/>
              </a:rPr>
              <a:t> medias </a:t>
            </a:r>
            <a:r>
              <a:rPr sz="1300" b="1" dirty="0" err="1">
                <a:solidFill>
                  <a:srgbClr val="17150F"/>
                </a:solidFill>
                <a:latin typeface="Arial"/>
              </a:rPr>
              <a:t>móviles</a:t>
            </a:r>
            <a:r>
              <a:rPr sz="1300" b="1" dirty="0">
                <a:solidFill>
                  <a:srgbClr val="17150F"/>
                </a:solidFill>
                <a:latin typeface="Arial"/>
              </a:rPr>
              <a:t>, </a:t>
            </a:r>
            <a:r>
              <a:rPr sz="1300" b="1" dirty="0" err="1">
                <a:solidFill>
                  <a:srgbClr val="17150F"/>
                </a:solidFill>
                <a:latin typeface="Arial"/>
              </a:rPr>
              <a:t>que</a:t>
            </a:r>
            <a:r>
              <a:rPr sz="1300" b="1" dirty="0">
                <a:solidFill>
                  <a:srgbClr val="17150F"/>
                </a:solidFill>
                <a:latin typeface="Arial"/>
              </a:rPr>
              <a:t> </a:t>
            </a:r>
            <a:r>
              <a:rPr sz="1300" b="1" dirty="0" err="1">
                <a:solidFill>
                  <a:srgbClr val="17150F"/>
                </a:solidFill>
                <a:latin typeface="Arial"/>
              </a:rPr>
              <a:t>promedian</a:t>
            </a:r>
            <a:r>
              <a:rPr sz="1300" b="1" dirty="0">
                <a:solidFill>
                  <a:srgbClr val="17150F"/>
                </a:solidFill>
                <a:latin typeface="Arial"/>
              </a:rPr>
              <a:t> el </a:t>
            </a:r>
            <a:r>
              <a:rPr sz="1300" b="1" dirty="0" err="1">
                <a:solidFill>
                  <a:srgbClr val="17150F"/>
                </a:solidFill>
                <a:latin typeface="Arial"/>
              </a:rPr>
              <a:t>ruido</a:t>
            </a:r>
            <a:r>
              <a:rPr sz="1300" b="1" dirty="0">
                <a:solidFill>
                  <a:srgbClr val="17150F"/>
                </a:solidFill>
                <a:latin typeface="Arial"/>
              </a:rPr>
              <a:t>, y no el </a:t>
            </a:r>
            <a:r>
              <a:rPr sz="1300" b="1" dirty="0" err="1">
                <a:solidFill>
                  <a:srgbClr val="17150F"/>
                </a:solidFill>
                <a:latin typeface="Arial"/>
              </a:rPr>
              <a:t>rezago</a:t>
            </a:r>
            <a:r>
              <a:rPr sz="1300" b="1" dirty="0">
                <a:solidFill>
                  <a:srgbClr val="17150F"/>
                </a:solidFill>
                <a:latin typeface="Arial"/>
              </a:rPr>
              <a:t> de </a:t>
            </a:r>
            <a:r>
              <a:rPr sz="1300" b="1" dirty="0" err="1">
                <a:solidFill>
                  <a:srgbClr val="17150F"/>
                </a:solidFill>
                <a:latin typeface="Arial"/>
              </a:rPr>
              <a:t>una</a:t>
            </a:r>
            <a:r>
              <a:rPr sz="1300" b="1" dirty="0">
                <a:solidFill>
                  <a:srgbClr val="17150F"/>
                </a:solidFill>
                <a:latin typeface="Arial"/>
              </a:rPr>
              <a:t> </a:t>
            </a:r>
            <a:r>
              <a:rPr sz="1300" b="1" dirty="0" err="1">
                <a:solidFill>
                  <a:srgbClr val="17150F"/>
                </a:solidFill>
                <a:latin typeface="Arial"/>
              </a:rPr>
              <a:t>semana</a:t>
            </a:r>
            <a:r>
              <a:rPr sz="1300" b="1" dirty="0">
                <a:solidFill>
                  <a:srgbClr val="17150F"/>
                </a:solidFill>
                <a:latin typeface="Arial"/>
              </a:rPr>
              <a:t>.</a:t>
            </a:r>
          </a:p>
        </p:txBody>
      </p:sp>
      <p:sp>
        <p:nvSpPr>
          <p:cNvPr id="9" name="Rectangle 8"/>
          <p:cNvSpPr/>
          <p:nvPr/>
        </p:nvSpPr>
        <p:spPr>
          <a:xfrm>
            <a:off x="777240" y="6327648"/>
            <a:ext cx="10637215" cy="9525"/>
          </a:xfrm>
          <a:prstGeom prst="rect">
            <a:avLst/>
          </a:prstGeom>
          <a:solidFill>
            <a:srgbClr val="DCD8C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0" name="TextBox 9"/>
          <p:cNvSpPr txBox="1"/>
          <p:nvPr/>
        </p:nvSpPr>
        <p:spPr>
          <a:xfrm>
            <a:off x="777240" y="6428232"/>
            <a:ext cx="8686800" cy="274320"/>
          </a:xfrm>
          <a:prstGeom prst="rect">
            <a:avLst/>
          </a:prstGeom>
          <a:noFill/>
        </p:spPr>
        <p:txBody>
          <a:bodyPr wrap="square" lIns="0" tIns="0" rIns="0" bIns="0">
            <a:spAutoFit/>
          </a:bodyPr>
          <a:lstStyle/>
          <a:p>
            <a:pPr algn="l">
              <a:lnSpc>
                <a:spcPct val="122000"/>
              </a:lnSpc>
              <a:spcBef>
                <a:spcPts val="0"/>
              </a:spcBef>
              <a:spcAft>
                <a:spcPts val="0"/>
              </a:spcAft>
            </a:pPr>
            <a:r>
              <a:rPr sz="950" b="0">
                <a:solidFill>
                  <a:srgbClr val="8B8478"/>
                </a:solidFill>
                <a:latin typeface="Arial"/>
              </a:rPr>
              <a:t>Pasos 3-4 · Univariado</a:t>
            </a:r>
          </a:p>
        </p:txBody>
      </p:sp>
      <p:sp>
        <p:nvSpPr>
          <p:cNvPr id="11" name="TextBox 10"/>
          <p:cNvSpPr txBox="1"/>
          <p:nvPr/>
        </p:nvSpPr>
        <p:spPr>
          <a:xfrm>
            <a:off x="10500055" y="6428232"/>
            <a:ext cx="914400" cy="274320"/>
          </a:xfrm>
          <a:prstGeom prst="rect">
            <a:avLst/>
          </a:prstGeom>
          <a:noFill/>
        </p:spPr>
        <p:txBody>
          <a:bodyPr wrap="square" lIns="0" tIns="0" rIns="0" bIns="0">
            <a:spAutoFit/>
          </a:bodyPr>
          <a:lstStyle/>
          <a:p>
            <a:pPr algn="r">
              <a:lnSpc>
                <a:spcPct val="122000"/>
              </a:lnSpc>
              <a:spcBef>
                <a:spcPts val="0"/>
              </a:spcBef>
              <a:spcAft>
                <a:spcPts val="0"/>
              </a:spcAft>
            </a:pPr>
            <a:r>
              <a:rPr sz="950" b="0">
                <a:solidFill>
                  <a:srgbClr val="8B8478"/>
                </a:solidFill>
                <a:latin typeface="Arial"/>
              </a:rPr>
              <a:t>9</a:t>
            </a:r>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777240" y="475488"/>
            <a:ext cx="10637215" cy="237744"/>
          </a:xfrm>
          <a:prstGeom prst="rect">
            <a:avLst/>
          </a:prstGeom>
          <a:noFill/>
        </p:spPr>
        <p:txBody>
          <a:bodyPr wrap="square" lIns="0" tIns="0" rIns="0" bIns="0">
            <a:spAutoFit/>
          </a:bodyPr>
          <a:lstStyle/>
          <a:p>
            <a:pPr algn="l">
              <a:lnSpc>
                <a:spcPct val="122000"/>
              </a:lnSpc>
              <a:spcBef>
                <a:spcPts val="0"/>
              </a:spcBef>
              <a:spcAft>
                <a:spcPts val="0"/>
              </a:spcAft>
            </a:pPr>
            <a:r>
              <a:rPr sz="1050" b="1">
                <a:solidFill>
                  <a:srgbClr val="8C2F39"/>
                </a:solidFill>
                <a:latin typeface="Arial"/>
              </a:rPr>
              <a:t>PASOS 3 Y 4 · UNIVARIADO</a:t>
            </a:r>
          </a:p>
        </p:txBody>
      </p:sp>
      <p:sp>
        <p:nvSpPr>
          <p:cNvPr id="4" name="Rectangle 3"/>
          <p:cNvSpPr/>
          <p:nvPr/>
        </p:nvSpPr>
        <p:spPr>
          <a:xfrm>
            <a:off x="777240" y="768096"/>
            <a:ext cx="502920" cy="30480"/>
          </a:xfrm>
          <a:prstGeom prst="rect">
            <a:avLst/>
          </a:prstGeom>
          <a:solidFill>
            <a:srgbClr val="8C2F3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 name="TextBox 4"/>
          <p:cNvSpPr txBox="1"/>
          <p:nvPr/>
        </p:nvSpPr>
        <p:spPr>
          <a:xfrm>
            <a:off x="777240" y="914400"/>
            <a:ext cx="10637215" cy="445770"/>
          </a:xfrm>
          <a:prstGeom prst="rect">
            <a:avLst/>
          </a:prstGeom>
          <a:noFill/>
        </p:spPr>
        <p:txBody>
          <a:bodyPr wrap="square" lIns="0" tIns="0" rIns="0" bIns="0">
            <a:spAutoFit/>
          </a:bodyPr>
          <a:lstStyle/>
          <a:p>
            <a:pPr algn="l">
              <a:lnSpc>
                <a:spcPct val="106000"/>
              </a:lnSpc>
              <a:spcBef>
                <a:spcPts val="0"/>
              </a:spcBef>
              <a:spcAft>
                <a:spcPts val="0"/>
              </a:spcAft>
            </a:pPr>
            <a:r>
              <a:rPr sz="2700" b="1">
                <a:solidFill>
                  <a:srgbClr val="17150F"/>
                </a:solidFill>
                <a:latin typeface="Arial"/>
              </a:rPr>
              <a:t>El techo de lo predecible, y por qué el R² no sirve aquí</a:t>
            </a:r>
          </a:p>
        </p:txBody>
      </p:sp>
      <p:pic>
        <p:nvPicPr>
          <p:cNvPr id="6" name="Picture 5" descr="04_descomposicion_varianza.png"/>
          <p:cNvPicPr>
            <a:picLocks noChangeAspect="1"/>
          </p:cNvPicPr>
          <p:nvPr/>
        </p:nvPicPr>
        <p:blipFill>
          <a:blip r:embed="rId2"/>
          <a:stretch>
            <a:fillRect/>
          </a:stretch>
        </p:blipFill>
        <p:spPr>
          <a:xfrm>
            <a:off x="548640" y="2051983"/>
            <a:ext cx="5852160" cy="2289976"/>
          </a:xfrm>
          <a:prstGeom prst="rect">
            <a:avLst/>
          </a:prstGeom>
        </p:spPr>
      </p:pic>
      <p:graphicFrame>
        <p:nvGraphicFramePr>
          <p:cNvPr id="7" name="Table 6"/>
          <p:cNvGraphicFramePr>
            <a:graphicFrameLocks noGrp="1"/>
          </p:cNvGraphicFramePr>
          <p:nvPr/>
        </p:nvGraphicFramePr>
        <p:xfrm>
          <a:off x="6949440" y="1597914"/>
          <a:ext cx="4465014" cy="1335024"/>
        </p:xfrm>
        <a:graphic>
          <a:graphicData uri="http://schemas.openxmlformats.org/drawingml/2006/table">
            <a:tbl>
              <a:tblPr bandRow="1">
                <a:tableStyleId>{5C22544A-7EE6-4342-B048-85BDC9FD1C3A}</a:tableStyleId>
              </a:tblPr>
              <a:tblGrid>
                <a:gridCol w="2768309">
                  <a:extLst>
                    <a:ext uri="{9D8B030D-6E8A-4147-A177-3AD203B41FA5}">
                      <a16:colId xmlns:a16="http://schemas.microsoft.com/office/drawing/2014/main" val="20000"/>
                    </a:ext>
                  </a:extLst>
                </a:gridCol>
                <a:gridCol w="1696705">
                  <a:extLst>
                    <a:ext uri="{9D8B030D-6E8A-4147-A177-3AD203B41FA5}">
                      <a16:colId xmlns:a16="http://schemas.microsoft.com/office/drawing/2014/main" val="20001"/>
                    </a:ext>
                  </a:extLst>
                </a:gridCol>
              </a:tblGrid>
              <a:tr h="347472">
                <a:tc>
                  <a:txBody>
                    <a:bodyPr/>
                    <a:lstStyle/>
                    <a:p>
                      <a:pPr algn="l"/>
                      <a:r>
                        <a:rPr sz="1100" b="1">
                          <a:solidFill>
                            <a:srgbClr val="8B8478"/>
                          </a:solidFill>
                          <a:latin typeface="Arial"/>
                        </a:rPr>
                        <a:t>Fuente de varianza</a:t>
                      </a:r>
                    </a:p>
                  </a:txBody>
                  <a:tcPr marL="82296" marR="82296" anchor="ctr">
                    <a:solidFill>
                      <a:srgbClr val="F4F2ED"/>
                    </a:solidFill>
                  </a:tcPr>
                </a:tc>
                <a:tc>
                  <a:txBody>
                    <a:bodyPr/>
                    <a:lstStyle/>
                    <a:p>
                      <a:pPr algn="r"/>
                      <a:r>
                        <a:rPr sz="1100" b="1">
                          <a:solidFill>
                            <a:srgbClr val="8B8478"/>
                          </a:solidFill>
                          <a:latin typeface="Arial"/>
                        </a:rPr>
                        <a:t>Peso</a:t>
                      </a:r>
                    </a:p>
                  </a:txBody>
                  <a:tcPr marL="82296" marR="82296" anchor="ctr">
                    <a:solidFill>
                      <a:srgbClr val="F4F2ED"/>
                    </a:solidFill>
                  </a:tcPr>
                </a:tc>
                <a:extLst>
                  <a:ext uri="{0D108BD9-81ED-4DB2-BD59-A6C34878D82A}">
                    <a16:rowId xmlns:a16="http://schemas.microsoft.com/office/drawing/2014/main" val="10000"/>
                  </a:ext>
                </a:extLst>
              </a:tr>
              <a:tr h="329184">
                <a:tc>
                  <a:txBody>
                    <a:bodyPr/>
                    <a:lstStyle/>
                    <a:p>
                      <a:pPr algn="l"/>
                      <a:r>
                        <a:rPr sz="1250" b="0">
                          <a:solidFill>
                            <a:srgbClr val="17150F"/>
                          </a:solidFill>
                          <a:latin typeface="Arial"/>
                        </a:rPr>
                        <a:t>Diferencias entre series</a:t>
                      </a:r>
                    </a:p>
                  </a:txBody>
                  <a:tcPr marL="82296" marR="82296" anchor="ctr">
                    <a:solidFill>
                      <a:srgbClr val="FFFFFF"/>
                    </a:solidFill>
                  </a:tcPr>
                </a:tc>
                <a:tc>
                  <a:txBody>
                    <a:bodyPr/>
                    <a:lstStyle/>
                    <a:p>
                      <a:pPr algn="r"/>
                      <a:r>
                        <a:rPr sz="1250" b="0">
                          <a:solidFill>
                            <a:srgbClr val="555045"/>
                          </a:solidFill>
                          <a:latin typeface="Arial"/>
                        </a:rPr>
                        <a:t>90,0 %</a:t>
                      </a:r>
                    </a:p>
                  </a:txBody>
                  <a:tcPr marL="82296" marR="82296" anchor="ctr">
                    <a:solidFill>
                      <a:srgbClr val="FFFFFF"/>
                    </a:solidFill>
                  </a:tcPr>
                </a:tc>
                <a:extLst>
                  <a:ext uri="{0D108BD9-81ED-4DB2-BD59-A6C34878D82A}">
                    <a16:rowId xmlns:a16="http://schemas.microsoft.com/office/drawing/2014/main" val="10001"/>
                  </a:ext>
                </a:extLst>
              </a:tr>
              <a:tr h="329184">
                <a:tc>
                  <a:txBody>
                    <a:bodyPr/>
                    <a:lstStyle/>
                    <a:p>
                      <a:pPr algn="l"/>
                      <a:r>
                        <a:rPr sz="1250" b="1">
                          <a:solidFill>
                            <a:srgbClr val="17150F"/>
                          </a:solidFill>
                          <a:latin typeface="Arial"/>
                        </a:rPr>
                        <a:t>Tendencia de cada serie</a:t>
                      </a:r>
                    </a:p>
                  </a:txBody>
                  <a:tcPr marL="82296" marR="82296" anchor="ctr">
                    <a:solidFill>
                      <a:srgbClr val="F7EEEF"/>
                    </a:solidFill>
                  </a:tcPr>
                </a:tc>
                <a:tc>
                  <a:txBody>
                    <a:bodyPr/>
                    <a:lstStyle/>
                    <a:p>
                      <a:pPr algn="r"/>
                      <a:r>
                        <a:rPr sz="1250" b="1">
                          <a:solidFill>
                            <a:srgbClr val="17150F"/>
                          </a:solidFill>
                          <a:latin typeface="Arial"/>
                        </a:rPr>
                        <a:t>3,6 %</a:t>
                      </a:r>
                    </a:p>
                  </a:txBody>
                  <a:tcPr marL="82296" marR="82296" anchor="ctr">
                    <a:solidFill>
                      <a:srgbClr val="F7EEEF"/>
                    </a:solidFill>
                  </a:tcPr>
                </a:tc>
                <a:extLst>
                  <a:ext uri="{0D108BD9-81ED-4DB2-BD59-A6C34878D82A}">
                    <a16:rowId xmlns:a16="http://schemas.microsoft.com/office/drawing/2014/main" val="10002"/>
                  </a:ext>
                </a:extLst>
              </a:tr>
              <a:tr h="329184">
                <a:tc>
                  <a:txBody>
                    <a:bodyPr/>
                    <a:lstStyle/>
                    <a:p>
                      <a:pPr algn="l"/>
                      <a:r>
                        <a:rPr sz="1250" b="0">
                          <a:solidFill>
                            <a:srgbClr val="17150F"/>
                          </a:solidFill>
                          <a:latin typeface="Arial"/>
                        </a:rPr>
                        <a:t>Ruido irrecuperable</a:t>
                      </a:r>
                    </a:p>
                  </a:txBody>
                  <a:tcPr marL="82296" marR="82296" anchor="ctr">
                    <a:solidFill>
                      <a:srgbClr val="FFFFFF"/>
                    </a:solidFill>
                  </a:tcPr>
                </a:tc>
                <a:tc>
                  <a:txBody>
                    <a:bodyPr/>
                    <a:lstStyle/>
                    <a:p>
                      <a:pPr algn="r"/>
                      <a:r>
                        <a:rPr sz="1250" b="0">
                          <a:solidFill>
                            <a:srgbClr val="555045"/>
                          </a:solidFill>
                          <a:latin typeface="Arial"/>
                        </a:rPr>
                        <a:t>6,5 %</a:t>
                      </a:r>
                    </a:p>
                  </a:txBody>
                  <a:tcPr marL="82296" marR="82296" anchor="ctr">
                    <a:solidFill>
                      <a:srgbClr val="FFFFFF"/>
                    </a:solidFill>
                  </a:tcPr>
                </a:tc>
                <a:extLst>
                  <a:ext uri="{0D108BD9-81ED-4DB2-BD59-A6C34878D82A}">
                    <a16:rowId xmlns:a16="http://schemas.microsoft.com/office/drawing/2014/main" val="10003"/>
                  </a:ext>
                </a:extLst>
              </a:tr>
            </a:tbl>
          </a:graphicData>
        </a:graphic>
      </p:graphicFrame>
      <p:sp>
        <p:nvSpPr>
          <p:cNvPr id="8" name="TextBox 7"/>
          <p:cNvSpPr txBox="1"/>
          <p:nvPr/>
        </p:nvSpPr>
        <p:spPr>
          <a:xfrm>
            <a:off x="6949440" y="3289554"/>
            <a:ext cx="4465015" cy="2743200"/>
          </a:xfrm>
          <a:prstGeom prst="rect">
            <a:avLst/>
          </a:prstGeom>
          <a:noFill/>
        </p:spPr>
        <p:txBody>
          <a:bodyPr wrap="square" lIns="0" tIns="0" rIns="0" bIns="0">
            <a:spAutoFit/>
          </a:bodyPr>
          <a:lstStyle/>
          <a:p>
            <a:pPr algn="l">
              <a:lnSpc>
                <a:spcPct val="130000"/>
              </a:lnSpc>
              <a:spcBef>
                <a:spcPts val="0"/>
              </a:spcBef>
              <a:spcAft>
                <a:spcPts val="1200"/>
              </a:spcAft>
            </a:pPr>
            <a:r>
              <a:rPr sz="1300" b="0">
                <a:solidFill>
                  <a:srgbClr val="555045"/>
                </a:solidFill>
                <a:latin typeface="Arial"/>
              </a:rPr>
              <a:t>Predecir la media de cada serie ya da un R² de 0,900. Un modelo que reporte 0,88 estaría por debajo de una tabla de medias hecha en una hoja de cálculo.</a:t>
            </a:r>
          </a:p>
          <a:p>
            <a:pPr algn="l">
              <a:lnSpc>
                <a:spcPct val="130000"/>
              </a:lnSpc>
              <a:spcBef>
                <a:spcPts val="0"/>
              </a:spcBef>
              <a:spcAft>
                <a:spcPts val="1200"/>
              </a:spcAft>
            </a:pPr>
            <a:r>
              <a:rPr sz="1300" b="1">
                <a:solidFill>
                  <a:srgbClr val="17150F"/>
                </a:solidFill>
                <a:latin typeface="Arial"/>
              </a:rPr>
              <a:t>El R² queda descartado como métrica principal. Se mide con error porcentual ponderado y pérdida pinball.</a:t>
            </a:r>
          </a:p>
          <a:p>
            <a:pPr algn="l">
              <a:lnSpc>
                <a:spcPct val="130000"/>
              </a:lnSpc>
              <a:spcBef>
                <a:spcPts val="0"/>
              </a:spcBef>
              <a:spcAft>
                <a:spcPts val="0"/>
              </a:spcAft>
            </a:pPr>
            <a:r>
              <a:rPr sz="1300" b="1">
                <a:solidFill>
                  <a:srgbClr val="17150F"/>
                </a:solidFill>
                <a:latin typeface="Arial"/>
              </a:rPr>
              <a:t>El trabajo del modelo es ese 3,6 % de tendencia. Todo lo demás lo resuelve la identidad de la serie.</a:t>
            </a:r>
          </a:p>
        </p:txBody>
      </p:sp>
      <p:sp>
        <p:nvSpPr>
          <p:cNvPr id="9" name="Rectangle 8"/>
          <p:cNvSpPr/>
          <p:nvPr/>
        </p:nvSpPr>
        <p:spPr>
          <a:xfrm>
            <a:off x="777240" y="6327648"/>
            <a:ext cx="10637215" cy="9525"/>
          </a:xfrm>
          <a:prstGeom prst="rect">
            <a:avLst/>
          </a:prstGeom>
          <a:solidFill>
            <a:srgbClr val="DCD8C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0" name="TextBox 9"/>
          <p:cNvSpPr txBox="1"/>
          <p:nvPr/>
        </p:nvSpPr>
        <p:spPr>
          <a:xfrm>
            <a:off x="777240" y="6428232"/>
            <a:ext cx="8686800" cy="274320"/>
          </a:xfrm>
          <a:prstGeom prst="rect">
            <a:avLst/>
          </a:prstGeom>
          <a:noFill/>
        </p:spPr>
        <p:txBody>
          <a:bodyPr wrap="square" lIns="0" tIns="0" rIns="0" bIns="0">
            <a:spAutoFit/>
          </a:bodyPr>
          <a:lstStyle/>
          <a:p>
            <a:pPr algn="l">
              <a:lnSpc>
                <a:spcPct val="122000"/>
              </a:lnSpc>
              <a:spcBef>
                <a:spcPts val="0"/>
              </a:spcBef>
              <a:spcAft>
                <a:spcPts val="0"/>
              </a:spcAft>
            </a:pPr>
            <a:r>
              <a:rPr sz="950" b="0">
                <a:solidFill>
                  <a:srgbClr val="8B8478"/>
                </a:solidFill>
                <a:latin typeface="Arial"/>
              </a:rPr>
              <a:t>Pasos 3-4 · Univariado</a:t>
            </a:r>
          </a:p>
        </p:txBody>
      </p:sp>
      <p:sp>
        <p:nvSpPr>
          <p:cNvPr id="11" name="TextBox 10"/>
          <p:cNvSpPr txBox="1"/>
          <p:nvPr/>
        </p:nvSpPr>
        <p:spPr>
          <a:xfrm>
            <a:off x="10500055" y="6428232"/>
            <a:ext cx="914400" cy="274320"/>
          </a:xfrm>
          <a:prstGeom prst="rect">
            <a:avLst/>
          </a:prstGeom>
          <a:noFill/>
        </p:spPr>
        <p:txBody>
          <a:bodyPr wrap="square" lIns="0" tIns="0" rIns="0" bIns="0">
            <a:spAutoFit/>
          </a:bodyPr>
          <a:lstStyle/>
          <a:p>
            <a:pPr algn="r">
              <a:lnSpc>
                <a:spcPct val="122000"/>
              </a:lnSpc>
              <a:spcBef>
                <a:spcPts val="0"/>
              </a:spcBef>
              <a:spcAft>
                <a:spcPts val="0"/>
              </a:spcAft>
            </a:pPr>
            <a:r>
              <a:rPr sz="950" b="0">
                <a:solidFill>
                  <a:srgbClr val="8B8478"/>
                </a:solidFill>
                <a:latin typeface="Arial"/>
              </a:rPr>
              <a:t>10</a:t>
            </a:r>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777240" y="475488"/>
            <a:ext cx="10637215" cy="237744"/>
          </a:xfrm>
          <a:prstGeom prst="rect">
            <a:avLst/>
          </a:prstGeom>
          <a:noFill/>
        </p:spPr>
        <p:txBody>
          <a:bodyPr wrap="square" lIns="0" tIns="0" rIns="0" bIns="0">
            <a:spAutoFit/>
          </a:bodyPr>
          <a:lstStyle/>
          <a:p>
            <a:pPr algn="l">
              <a:lnSpc>
                <a:spcPct val="122000"/>
              </a:lnSpc>
              <a:spcBef>
                <a:spcPts val="0"/>
              </a:spcBef>
              <a:spcAft>
                <a:spcPts val="0"/>
              </a:spcAft>
            </a:pPr>
            <a:r>
              <a:rPr sz="1050" b="1">
                <a:solidFill>
                  <a:srgbClr val="8C2F39"/>
                </a:solidFill>
                <a:latin typeface="Arial"/>
              </a:rPr>
              <a:t>PASOS 3 Y 4 · UNIVARIADO</a:t>
            </a:r>
          </a:p>
        </p:txBody>
      </p:sp>
      <p:sp>
        <p:nvSpPr>
          <p:cNvPr id="4" name="Rectangle 3"/>
          <p:cNvSpPr/>
          <p:nvPr/>
        </p:nvSpPr>
        <p:spPr>
          <a:xfrm>
            <a:off x="777240" y="768096"/>
            <a:ext cx="502920" cy="30480"/>
          </a:xfrm>
          <a:prstGeom prst="rect">
            <a:avLst/>
          </a:prstGeom>
          <a:solidFill>
            <a:srgbClr val="8C2F3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 name="TextBox 4"/>
          <p:cNvSpPr txBox="1"/>
          <p:nvPr/>
        </p:nvSpPr>
        <p:spPr>
          <a:xfrm>
            <a:off x="777240" y="914400"/>
            <a:ext cx="10637215" cy="445770"/>
          </a:xfrm>
          <a:prstGeom prst="rect">
            <a:avLst/>
          </a:prstGeom>
          <a:noFill/>
        </p:spPr>
        <p:txBody>
          <a:bodyPr wrap="square" lIns="0" tIns="0" rIns="0" bIns="0">
            <a:spAutoFit/>
          </a:bodyPr>
          <a:lstStyle/>
          <a:p>
            <a:pPr algn="l">
              <a:lnSpc>
                <a:spcPct val="106000"/>
              </a:lnSpc>
              <a:spcBef>
                <a:spcPts val="0"/>
              </a:spcBef>
              <a:spcAft>
                <a:spcPts val="0"/>
              </a:spcAft>
            </a:pPr>
            <a:r>
              <a:rPr sz="2700" b="1">
                <a:solidFill>
                  <a:srgbClr val="17150F"/>
                </a:solidFill>
                <a:latin typeface="Arial"/>
              </a:rPr>
              <a:t>Ese 3,6 % es exactamente donde está el caso de negocio</a:t>
            </a:r>
          </a:p>
        </p:txBody>
      </p:sp>
      <p:pic>
        <p:nvPicPr>
          <p:cNvPr id="6" name="Picture 5" descr="05_tendencias_por_serie.png"/>
          <p:cNvPicPr>
            <a:picLocks noChangeAspect="1"/>
          </p:cNvPicPr>
          <p:nvPr/>
        </p:nvPicPr>
        <p:blipFill>
          <a:blip r:embed="rId2"/>
          <a:stretch>
            <a:fillRect/>
          </a:stretch>
        </p:blipFill>
        <p:spPr>
          <a:xfrm>
            <a:off x="777240" y="1506474"/>
            <a:ext cx="5852160" cy="3251200"/>
          </a:xfrm>
          <a:prstGeom prst="rect">
            <a:avLst/>
          </a:prstGeom>
        </p:spPr>
      </p:pic>
      <p:graphicFrame>
        <p:nvGraphicFramePr>
          <p:cNvPr id="7" name="Table 6"/>
          <p:cNvGraphicFramePr>
            <a:graphicFrameLocks noGrp="1"/>
          </p:cNvGraphicFramePr>
          <p:nvPr/>
        </p:nvGraphicFramePr>
        <p:xfrm>
          <a:off x="6949440" y="1597914"/>
          <a:ext cx="4465013" cy="1335024"/>
        </p:xfrm>
        <a:graphic>
          <a:graphicData uri="http://schemas.openxmlformats.org/drawingml/2006/table">
            <a:tbl>
              <a:tblPr bandRow="1">
                <a:tableStyleId>{5C22544A-7EE6-4342-B048-85BDC9FD1C3A}</a:tableStyleId>
              </a:tblPr>
              <a:tblGrid>
                <a:gridCol w="2053906">
                  <a:extLst>
                    <a:ext uri="{9D8B030D-6E8A-4147-A177-3AD203B41FA5}">
                      <a16:colId xmlns:a16="http://schemas.microsoft.com/office/drawing/2014/main" val="20000"/>
                    </a:ext>
                  </a:extLst>
                </a:gridCol>
                <a:gridCol w="982303">
                  <a:extLst>
                    <a:ext uri="{9D8B030D-6E8A-4147-A177-3AD203B41FA5}">
                      <a16:colId xmlns:a16="http://schemas.microsoft.com/office/drawing/2014/main" val="20001"/>
                    </a:ext>
                  </a:extLst>
                </a:gridCol>
                <a:gridCol w="1428804">
                  <a:extLst>
                    <a:ext uri="{9D8B030D-6E8A-4147-A177-3AD203B41FA5}">
                      <a16:colId xmlns:a16="http://schemas.microsoft.com/office/drawing/2014/main" val="20002"/>
                    </a:ext>
                  </a:extLst>
                </a:gridCol>
              </a:tblGrid>
              <a:tr h="347472">
                <a:tc>
                  <a:txBody>
                    <a:bodyPr/>
                    <a:lstStyle/>
                    <a:p>
                      <a:pPr algn="l"/>
                      <a:r>
                        <a:rPr sz="1050" b="1">
                          <a:solidFill>
                            <a:srgbClr val="8B8478"/>
                          </a:solidFill>
                          <a:latin typeface="Arial"/>
                        </a:rPr>
                        <a:t>Grupo</a:t>
                      </a:r>
                    </a:p>
                  </a:txBody>
                  <a:tcPr marL="82296" marR="82296" anchor="ctr">
                    <a:solidFill>
                      <a:srgbClr val="F4F2ED"/>
                    </a:solidFill>
                  </a:tcPr>
                </a:tc>
                <a:tc>
                  <a:txBody>
                    <a:bodyPr/>
                    <a:lstStyle/>
                    <a:p>
                      <a:pPr algn="r"/>
                      <a:r>
                        <a:rPr sz="1050" b="1">
                          <a:solidFill>
                            <a:srgbClr val="8B8478"/>
                          </a:solidFill>
                          <a:latin typeface="Arial"/>
                        </a:rPr>
                        <a:t>Series</a:t>
                      </a:r>
                    </a:p>
                  </a:txBody>
                  <a:tcPr marL="82296" marR="82296" anchor="ctr">
                    <a:solidFill>
                      <a:srgbClr val="F4F2ED"/>
                    </a:solidFill>
                  </a:tcPr>
                </a:tc>
                <a:tc>
                  <a:txBody>
                    <a:bodyPr/>
                    <a:lstStyle/>
                    <a:p>
                      <a:pPr algn="r"/>
                      <a:r>
                        <a:rPr sz="1050" b="1">
                          <a:solidFill>
                            <a:srgbClr val="8B8478"/>
                          </a:solidFill>
                          <a:latin typeface="Arial"/>
                        </a:rPr>
                        <a:t>Recorrido</a:t>
                      </a:r>
                    </a:p>
                  </a:txBody>
                  <a:tcPr marL="82296" marR="82296" anchor="ctr">
                    <a:solidFill>
                      <a:srgbClr val="F4F2ED"/>
                    </a:solidFill>
                  </a:tcPr>
                </a:tc>
                <a:extLst>
                  <a:ext uri="{0D108BD9-81ED-4DB2-BD59-A6C34878D82A}">
                    <a16:rowId xmlns:a16="http://schemas.microsoft.com/office/drawing/2014/main" val="10000"/>
                  </a:ext>
                </a:extLst>
              </a:tr>
              <a:tr h="329184">
                <a:tc>
                  <a:txBody>
                    <a:bodyPr/>
                    <a:lstStyle/>
                    <a:p>
                      <a:pPr algn="l"/>
                      <a:r>
                        <a:rPr sz="1200" b="0">
                          <a:solidFill>
                            <a:srgbClr val="17150F"/>
                          </a:solidFill>
                          <a:latin typeface="Arial"/>
                        </a:rPr>
                        <a:t>Crecen más de 20 %</a:t>
                      </a:r>
                    </a:p>
                  </a:txBody>
                  <a:tcPr marL="82296" marR="82296" anchor="ctr">
                    <a:solidFill>
                      <a:srgbClr val="FFFFFF"/>
                    </a:solidFill>
                  </a:tcPr>
                </a:tc>
                <a:tc>
                  <a:txBody>
                    <a:bodyPr/>
                    <a:lstStyle/>
                    <a:p>
                      <a:pPr algn="r"/>
                      <a:r>
                        <a:rPr sz="1200" b="0">
                          <a:solidFill>
                            <a:srgbClr val="555045"/>
                          </a:solidFill>
                          <a:latin typeface="Arial"/>
                        </a:rPr>
                        <a:t>36</a:t>
                      </a:r>
                    </a:p>
                  </a:txBody>
                  <a:tcPr marL="82296" marR="82296" anchor="ctr">
                    <a:solidFill>
                      <a:srgbClr val="FFFFFF"/>
                    </a:solidFill>
                  </a:tcPr>
                </a:tc>
                <a:tc>
                  <a:txBody>
                    <a:bodyPr/>
                    <a:lstStyle/>
                    <a:p>
                      <a:pPr algn="r"/>
                      <a:r>
                        <a:rPr sz="1200" b="0">
                          <a:solidFill>
                            <a:srgbClr val="555045"/>
                          </a:solidFill>
                          <a:latin typeface="Arial"/>
                        </a:rPr>
                        <a:t>hasta +61 %</a:t>
                      </a:r>
                    </a:p>
                  </a:txBody>
                  <a:tcPr marL="82296" marR="82296" anchor="ctr">
                    <a:solidFill>
                      <a:srgbClr val="FFFFFF"/>
                    </a:solidFill>
                  </a:tcPr>
                </a:tc>
                <a:extLst>
                  <a:ext uri="{0D108BD9-81ED-4DB2-BD59-A6C34878D82A}">
                    <a16:rowId xmlns:a16="http://schemas.microsoft.com/office/drawing/2014/main" val="10001"/>
                  </a:ext>
                </a:extLst>
              </a:tr>
              <a:tr h="329184">
                <a:tc>
                  <a:txBody>
                    <a:bodyPr/>
                    <a:lstStyle/>
                    <a:p>
                      <a:pPr algn="l"/>
                      <a:r>
                        <a:rPr sz="1200" b="0">
                          <a:solidFill>
                            <a:srgbClr val="17150F"/>
                          </a:solidFill>
                          <a:latin typeface="Arial"/>
                        </a:rPr>
                        <a:t>Planas</a:t>
                      </a:r>
                    </a:p>
                  </a:txBody>
                  <a:tcPr marL="82296" marR="82296" anchor="ctr">
                    <a:solidFill>
                      <a:srgbClr val="FFFFFF"/>
                    </a:solidFill>
                  </a:tcPr>
                </a:tc>
                <a:tc>
                  <a:txBody>
                    <a:bodyPr/>
                    <a:lstStyle/>
                    <a:p>
                      <a:pPr algn="r"/>
                      <a:r>
                        <a:rPr sz="1200" b="0">
                          <a:solidFill>
                            <a:srgbClr val="555045"/>
                          </a:solidFill>
                          <a:latin typeface="Arial"/>
                        </a:rPr>
                        <a:t>33</a:t>
                      </a:r>
                    </a:p>
                  </a:txBody>
                  <a:tcPr marL="82296" marR="82296" anchor="ctr">
                    <a:solidFill>
                      <a:srgbClr val="FFFFFF"/>
                    </a:solidFill>
                  </a:tcPr>
                </a:tc>
                <a:tc>
                  <a:txBody>
                    <a:bodyPr/>
                    <a:lstStyle/>
                    <a:p>
                      <a:pPr algn="r"/>
                      <a:r>
                        <a:rPr sz="1200" b="0">
                          <a:solidFill>
                            <a:srgbClr val="555045"/>
                          </a:solidFill>
                          <a:latin typeface="Arial"/>
                        </a:rPr>
                        <a:t>±5 %</a:t>
                      </a:r>
                    </a:p>
                  </a:txBody>
                  <a:tcPr marL="82296" marR="82296" anchor="ctr">
                    <a:solidFill>
                      <a:srgbClr val="FFFFFF"/>
                    </a:solidFill>
                  </a:tcPr>
                </a:tc>
                <a:extLst>
                  <a:ext uri="{0D108BD9-81ED-4DB2-BD59-A6C34878D82A}">
                    <a16:rowId xmlns:a16="http://schemas.microsoft.com/office/drawing/2014/main" val="10002"/>
                  </a:ext>
                </a:extLst>
              </a:tr>
              <a:tr h="329184">
                <a:tc>
                  <a:txBody>
                    <a:bodyPr/>
                    <a:lstStyle/>
                    <a:p>
                      <a:pPr algn="l"/>
                      <a:r>
                        <a:rPr sz="1200" b="0">
                          <a:solidFill>
                            <a:srgbClr val="17150F"/>
                          </a:solidFill>
                          <a:latin typeface="Arial"/>
                        </a:rPr>
                        <a:t>Caen más de 20 %</a:t>
                      </a:r>
                    </a:p>
                  </a:txBody>
                  <a:tcPr marL="82296" marR="82296" anchor="ctr">
                    <a:solidFill>
                      <a:srgbClr val="FFFFFF"/>
                    </a:solidFill>
                  </a:tcPr>
                </a:tc>
                <a:tc>
                  <a:txBody>
                    <a:bodyPr/>
                    <a:lstStyle/>
                    <a:p>
                      <a:pPr algn="r"/>
                      <a:r>
                        <a:rPr sz="1200" b="0">
                          <a:solidFill>
                            <a:srgbClr val="555045"/>
                          </a:solidFill>
                          <a:latin typeface="Arial"/>
                        </a:rPr>
                        <a:t>33</a:t>
                      </a:r>
                    </a:p>
                  </a:txBody>
                  <a:tcPr marL="82296" marR="82296" anchor="ctr">
                    <a:solidFill>
                      <a:srgbClr val="FFFFFF"/>
                    </a:solidFill>
                  </a:tcPr>
                </a:tc>
                <a:tc>
                  <a:txBody>
                    <a:bodyPr/>
                    <a:lstStyle/>
                    <a:p>
                      <a:pPr algn="r"/>
                      <a:r>
                        <a:rPr sz="1200" b="0">
                          <a:solidFill>
                            <a:srgbClr val="555045"/>
                          </a:solidFill>
                          <a:latin typeface="Arial"/>
                        </a:rPr>
                        <a:t>hasta −55 %</a:t>
                      </a:r>
                    </a:p>
                  </a:txBody>
                  <a:tcPr marL="82296" marR="82296" anchor="ctr">
                    <a:solidFill>
                      <a:srgbClr val="FFFFFF"/>
                    </a:solidFill>
                  </a:tcPr>
                </a:tc>
                <a:extLst>
                  <a:ext uri="{0D108BD9-81ED-4DB2-BD59-A6C34878D82A}">
                    <a16:rowId xmlns:a16="http://schemas.microsoft.com/office/drawing/2014/main" val="10003"/>
                  </a:ext>
                </a:extLst>
              </a:tr>
            </a:tbl>
          </a:graphicData>
        </a:graphic>
      </p:graphicFrame>
      <p:sp>
        <p:nvSpPr>
          <p:cNvPr id="8" name="TextBox 7"/>
          <p:cNvSpPr txBox="1"/>
          <p:nvPr/>
        </p:nvSpPr>
        <p:spPr>
          <a:xfrm>
            <a:off x="6949440" y="3289554"/>
            <a:ext cx="4465015" cy="2743200"/>
          </a:xfrm>
          <a:prstGeom prst="rect">
            <a:avLst/>
          </a:prstGeom>
          <a:noFill/>
        </p:spPr>
        <p:txBody>
          <a:bodyPr wrap="square" lIns="0" tIns="0" rIns="0" bIns="0">
            <a:spAutoFit/>
          </a:bodyPr>
          <a:lstStyle/>
          <a:p>
            <a:pPr algn="l">
              <a:lnSpc>
                <a:spcPct val="130000"/>
              </a:lnSpc>
              <a:spcBef>
                <a:spcPts val="0"/>
              </a:spcBef>
              <a:spcAft>
                <a:spcPts val="1200"/>
              </a:spcAft>
            </a:pPr>
            <a:r>
              <a:rPr sz="1300" b="0">
                <a:solidFill>
                  <a:srgbClr val="555045"/>
                </a:solidFill>
                <a:latin typeface="Arial"/>
              </a:rPr>
              <a:t>69 de las 160 series se mueven más de un 20 % en trece semanas, y las subidas compensan a las bajadas: no hay deriva global que aprovechar.</a:t>
            </a:r>
          </a:p>
          <a:p>
            <a:pPr algn="l">
              <a:lnSpc>
                <a:spcPct val="130000"/>
              </a:lnSpc>
              <a:spcBef>
                <a:spcPts val="0"/>
              </a:spcBef>
              <a:spcAft>
                <a:spcPts val="0"/>
              </a:spcAft>
            </a:pPr>
            <a:r>
              <a:rPr sz="1300" b="1">
                <a:solidFill>
                  <a:srgbClr val="17150F"/>
                </a:solidFill>
                <a:latin typeface="Arial"/>
              </a:rPr>
              <a:t>En esas 69 series, quien pide mirando el histórico se queda corto en las que suben y acumula merma en las que bajan.</a:t>
            </a:r>
          </a:p>
        </p:txBody>
      </p:sp>
      <p:sp>
        <p:nvSpPr>
          <p:cNvPr id="9" name="Rectangle 8"/>
          <p:cNvSpPr/>
          <p:nvPr/>
        </p:nvSpPr>
        <p:spPr>
          <a:xfrm>
            <a:off x="777240" y="6327648"/>
            <a:ext cx="10637215" cy="9525"/>
          </a:xfrm>
          <a:prstGeom prst="rect">
            <a:avLst/>
          </a:prstGeom>
          <a:solidFill>
            <a:srgbClr val="DCD8C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0" name="TextBox 9"/>
          <p:cNvSpPr txBox="1"/>
          <p:nvPr/>
        </p:nvSpPr>
        <p:spPr>
          <a:xfrm>
            <a:off x="777240" y="6428232"/>
            <a:ext cx="8686800" cy="274320"/>
          </a:xfrm>
          <a:prstGeom prst="rect">
            <a:avLst/>
          </a:prstGeom>
          <a:noFill/>
        </p:spPr>
        <p:txBody>
          <a:bodyPr wrap="square" lIns="0" tIns="0" rIns="0" bIns="0">
            <a:spAutoFit/>
          </a:bodyPr>
          <a:lstStyle/>
          <a:p>
            <a:pPr algn="l">
              <a:lnSpc>
                <a:spcPct val="122000"/>
              </a:lnSpc>
              <a:spcBef>
                <a:spcPts val="0"/>
              </a:spcBef>
              <a:spcAft>
                <a:spcPts val="0"/>
              </a:spcAft>
            </a:pPr>
            <a:r>
              <a:rPr sz="950" b="0">
                <a:solidFill>
                  <a:srgbClr val="8B8478"/>
                </a:solidFill>
                <a:latin typeface="Arial"/>
              </a:rPr>
              <a:t>Pasos 3-4 · Univariado</a:t>
            </a:r>
          </a:p>
        </p:txBody>
      </p:sp>
      <p:sp>
        <p:nvSpPr>
          <p:cNvPr id="11" name="TextBox 10"/>
          <p:cNvSpPr txBox="1"/>
          <p:nvPr/>
        </p:nvSpPr>
        <p:spPr>
          <a:xfrm>
            <a:off x="10500055" y="6428232"/>
            <a:ext cx="914400" cy="274320"/>
          </a:xfrm>
          <a:prstGeom prst="rect">
            <a:avLst/>
          </a:prstGeom>
          <a:noFill/>
        </p:spPr>
        <p:txBody>
          <a:bodyPr wrap="square" lIns="0" tIns="0" rIns="0" bIns="0">
            <a:spAutoFit/>
          </a:bodyPr>
          <a:lstStyle/>
          <a:p>
            <a:pPr algn="r">
              <a:lnSpc>
                <a:spcPct val="122000"/>
              </a:lnSpc>
              <a:spcBef>
                <a:spcPts val="0"/>
              </a:spcBef>
              <a:spcAft>
                <a:spcPts val="0"/>
              </a:spcAft>
            </a:pPr>
            <a:r>
              <a:rPr sz="950" b="0">
                <a:solidFill>
                  <a:srgbClr val="8B8478"/>
                </a:solidFill>
                <a:latin typeface="Arial"/>
              </a:rPr>
              <a:t>11</a:t>
            </a:r>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777240" y="475488"/>
            <a:ext cx="10637215" cy="237744"/>
          </a:xfrm>
          <a:prstGeom prst="rect">
            <a:avLst/>
          </a:prstGeom>
          <a:noFill/>
        </p:spPr>
        <p:txBody>
          <a:bodyPr wrap="square" lIns="0" tIns="0" rIns="0" bIns="0">
            <a:spAutoFit/>
          </a:bodyPr>
          <a:lstStyle/>
          <a:p>
            <a:pPr algn="l">
              <a:lnSpc>
                <a:spcPct val="122000"/>
              </a:lnSpc>
              <a:spcBef>
                <a:spcPts val="0"/>
              </a:spcBef>
              <a:spcAft>
                <a:spcPts val="0"/>
              </a:spcAft>
            </a:pPr>
            <a:r>
              <a:rPr sz="1050" b="1">
                <a:solidFill>
                  <a:srgbClr val="8C2F39"/>
                </a:solidFill>
                <a:latin typeface="Arial"/>
              </a:rPr>
              <a:t>PASOS 3 Y 4 · UNIVARIADO</a:t>
            </a:r>
          </a:p>
        </p:txBody>
      </p:sp>
      <p:sp>
        <p:nvSpPr>
          <p:cNvPr id="4" name="Rectangle 3"/>
          <p:cNvSpPr/>
          <p:nvPr/>
        </p:nvSpPr>
        <p:spPr>
          <a:xfrm>
            <a:off x="777240" y="768096"/>
            <a:ext cx="502920" cy="30480"/>
          </a:xfrm>
          <a:prstGeom prst="rect">
            <a:avLst/>
          </a:prstGeom>
          <a:solidFill>
            <a:srgbClr val="8C2F3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 name="TextBox 4"/>
          <p:cNvSpPr txBox="1"/>
          <p:nvPr/>
        </p:nvSpPr>
        <p:spPr>
          <a:xfrm>
            <a:off x="777240" y="914400"/>
            <a:ext cx="10637215" cy="445770"/>
          </a:xfrm>
          <a:prstGeom prst="rect">
            <a:avLst/>
          </a:prstGeom>
          <a:noFill/>
        </p:spPr>
        <p:txBody>
          <a:bodyPr wrap="square" lIns="0" tIns="0" rIns="0" bIns="0">
            <a:spAutoFit/>
          </a:bodyPr>
          <a:lstStyle/>
          <a:p>
            <a:pPr algn="l">
              <a:lnSpc>
                <a:spcPct val="106000"/>
              </a:lnSpc>
              <a:spcBef>
                <a:spcPts val="0"/>
              </a:spcBef>
              <a:spcAft>
                <a:spcPts val="0"/>
              </a:spcAft>
            </a:pPr>
            <a:r>
              <a:rPr sz="2700" b="1">
                <a:solidFill>
                  <a:srgbClr val="17150F"/>
                </a:solidFill>
                <a:latin typeface="Arial"/>
              </a:rPr>
              <a:t>Qué variables de contexto entran y cuáles se descartan</a:t>
            </a:r>
          </a:p>
        </p:txBody>
      </p:sp>
      <p:pic>
        <p:nvPicPr>
          <p:cNvPr id="6" name="Picture 5" descr="07_tamano_vs_demanda.png"/>
          <p:cNvPicPr>
            <a:picLocks noChangeAspect="1"/>
          </p:cNvPicPr>
          <p:nvPr/>
        </p:nvPicPr>
        <p:blipFill>
          <a:blip r:embed="rId2"/>
          <a:stretch>
            <a:fillRect/>
          </a:stretch>
        </p:blipFill>
        <p:spPr>
          <a:xfrm>
            <a:off x="777240" y="1506474"/>
            <a:ext cx="5852160" cy="3413760"/>
          </a:xfrm>
          <a:prstGeom prst="rect">
            <a:avLst/>
          </a:prstGeom>
        </p:spPr>
      </p:pic>
      <p:sp>
        <p:nvSpPr>
          <p:cNvPr id="7" name="Rectangle 6"/>
          <p:cNvSpPr/>
          <p:nvPr/>
        </p:nvSpPr>
        <p:spPr>
          <a:xfrm>
            <a:off x="6949440" y="1698498"/>
            <a:ext cx="63500" cy="63500"/>
          </a:xfrm>
          <a:prstGeom prst="rect">
            <a:avLst/>
          </a:prstGeom>
          <a:solidFill>
            <a:srgbClr val="8C2F3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8" name="TextBox 7"/>
          <p:cNvSpPr txBox="1"/>
          <p:nvPr/>
        </p:nvSpPr>
        <p:spPr>
          <a:xfrm>
            <a:off x="7150608" y="1597914"/>
            <a:ext cx="4263847" cy="674751"/>
          </a:xfrm>
          <a:prstGeom prst="rect">
            <a:avLst/>
          </a:prstGeom>
          <a:noFill/>
        </p:spPr>
        <p:txBody>
          <a:bodyPr wrap="square" lIns="0" tIns="0" rIns="0" bIns="0">
            <a:spAutoFit/>
          </a:bodyPr>
          <a:lstStyle/>
          <a:p>
            <a:pPr>
              <a:lnSpc>
                <a:spcPct val="124000"/>
              </a:lnSpc>
              <a:spcAft>
                <a:spcPts val="0"/>
              </a:spcAft>
            </a:pPr>
            <a:r>
              <a:rPr sz="1250" b="1">
                <a:solidFill>
                  <a:srgbClr val="17150F"/>
                </a:solidFill>
                <a:latin typeface="Arial"/>
              </a:rPr>
              <a:t>La superficie entra.</a:t>
            </a:r>
            <a:r>
              <a:rPr sz="1250" b="0">
                <a:solidFill>
                  <a:srgbClr val="555045"/>
                </a:solidFill>
                <a:latin typeface="Arial"/>
              </a:rPr>
              <a:t> Correlación 0,976 con la demanda de la tienda. Permite además estimar una tienda nueva sin historial.</a:t>
            </a:r>
          </a:p>
        </p:txBody>
      </p:sp>
      <p:sp>
        <p:nvSpPr>
          <p:cNvPr id="9" name="Rectangle 8"/>
          <p:cNvSpPr/>
          <p:nvPr/>
        </p:nvSpPr>
        <p:spPr>
          <a:xfrm>
            <a:off x="6949440" y="2501265"/>
            <a:ext cx="63500" cy="63500"/>
          </a:xfrm>
          <a:prstGeom prst="rect">
            <a:avLst/>
          </a:prstGeom>
          <a:solidFill>
            <a:srgbClr val="8C2F3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0" name="TextBox 9"/>
          <p:cNvSpPr txBox="1"/>
          <p:nvPr/>
        </p:nvSpPr>
        <p:spPr>
          <a:xfrm>
            <a:off x="7150608" y="2400681"/>
            <a:ext cx="4263847" cy="674751"/>
          </a:xfrm>
          <a:prstGeom prst="rect">
            <a:avLst/>
          </a:prstGeom>
          <a:noFill/>
        </p:spPr>
        <p:txBody>
          <a:bodyPr wrap="square" lIns="0" tIns="0" rIns="0" bIns="0">
            <a:spAutoFit/>
          </a:bodyPr>
          <a:lstStyle/>
          <a:p>
            <a:pPr>
              <a:lnSpc>
                <a:spcPct val="124000"/>
              </a:lnSpc>
              <a:spcAft>
                <a:spcPts val="0"/>
              </a:spcAft>
            </a:pPr>
            <a:r>
              <a:rPr sz="1250" b="1">
                <a:solidFill>
                  <a:srgbClr val="17150F"/>
                </a:solidFill>
                <a:latin typeface="Arial"/>
              </a:rPr>
              <a:t>La ciudad se descarta.</a:t>
            </a:r>
            <a:r>
              <a:rPr sz="1250" b="0">
                <a:solidFill>
                  <a:srgbClr val="555045"/>
                </a:solidFill>
                <a:latin typeface="Arial"/>
              </a:rPr>
              <a:t> Sobre el residuo del tamaño no aporta nada, y con una sola tienda en Cali cualquier conclusión sería indefendible.</a:t>
            </a:r>
          </a:p>
        </p:txBody>
      </p:sp>
      <p:sp>
        <p:nvSpPr>
          <p:cNvPr id="11" name="Rectangle 10"/>
          <p:cNvSpPr/>
          <p:nvPr/>
        </p:nvSpPr>
        <p:spPr>
          <a:xfrm>
            <a:off x="6949440" y="3304032"/>
            <a:ext cx="63500" cy="63500"/>
          </a:xfrm>
          <a:prstGeom prst="rect">
            <a:avLst/>
          </a:prstGeom>
          <a:solidFill>
            <a:srgbClr val="8C2F3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2" name="TextBox 11"/>
          <p:cNvSpPr txBox="1"/>
          <p:nvPr/>
        </p:nvSpPr>
        <p:spPr>
          <a:xfrm>
            <a:off x="7150608" y="3203448"/>
            <a:ext cx="4263847" cy="462026"/>
          </a:xfrm>
          <a:prstGeom prst="rect">
            <a:avLst/>
          </a:prstGeom>
          <a:noFill/>
        </p:spPr>
        <p:txBody>
          <a:bodyPr wrap="square" lIns="0" tIns="0" rIns="0" bIns="0">
            <a:spAutoFit/>
          </a:bodyPr>
          <a:lstStyle/>
          <a:p>
            <a:pPr>
              <a:lnSpc>
                <a:spcPct val="124000"/>
              </a:lnSpc>
              <a:spcAft>
                <a:spcPts val="0"/>
              </a:spcAft>
            </a:pPr>
            <a:r>
              <a:rPr sz="1250" b="1">
                <a:solidFill>
                  <a:srgbClr val="17150F"/>
                </a:solidFill>
                <a:latin typeface="Arial"/>
              </a:rPr>
              <a:t>Precio y coste se quedan fuera del modelo.</a:t>
            </a:r>
            <a:r>
              <a:rPr sz="1250" b="0">
                <a:solidFill>
                  <a:srgbClr val="555045"/>
                </a:solidFill>
                <a:latin typeface="Arial"/>
              </a:rPr>
              <a:t> Su sitio es la capa de costes, no la matriz de entrada.</a:t>
            </a:r>
          </a:p>
        </p:txBody>
      </p:sp>
      <p:sp>
        <p:nvSpPr>
          <p:cNvPr id="13" name="Rectangle 12"/>
          <p:cNvSpPr/>
          <p:nvPr/>
        </p:nvSpPr>
        <p:spPr>
          <a:xfrm>
            <a:off x="6949440" y="3894074"/>
            <a:ext cx="63500" cy="63500"/>
          </a:xfrm>
          <a:prstGeom prst="rect">
            <a:avLst/>
          </a:prstGeom>
          <a:solidFill>
            <a:srgbClr val="8C2F3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4" name="TextBox 13"/>
          <p:cNvSpPr txBox="1"/>
          <p:nvPr/>
        </p:nvSpPr>
        <p:spPr>
          <a:xfrm>
            <a:off x="7150608" y="3793490"/>
            <a:ext cx="4263847" cy="674751"/>
          </a:xfrm>
          <a:prstGeom prst="rect">
            <a:avLst/>
          </a:prstGeom>
          <a:noFill/>
        </p:spPr>
        <p:txBody>
          <a:bodyPr wrap="square" lIns="0" tIns="0" rIns="0" bIns="0">
            <a:spAutoFit/>
          </a:bodyPr>
          <a:lstStyle/>
          <a:p>
            <a:pPr>
              <a:lnSpc>
                <a:spcPct val="124000"/>
              </a:lnSpc>
              <a:spcAft>
                <a:spcPts val="0"/>
              </a:spcAft>
            </a:pPr>
            <a:r>
              <a:rPr sz="1250" b="1">
                <a:solidFill>
                  <a:srgbClr val="17150F"/>
                </a:solidFill>
                <a:latin typeface="Arial"/>
              </a:rPr>
              <a:t>Producto y tienda con indicadoras.</a:t>
            </a:r>
            <a:r>
              <a:rPr sz="1250" b="0">
                <a:solidFill>
                  <a:srgbClr val="555045"/>
                </a:solidFill>
                <a:latin typeface="Arial"/>
              </a:rPr>
              <a:t> El diseño está balanceado, así que codificar por frecuencia devolvería una constante.</a:t>
            </a:r>
          </a:p>
        </p:txBody>
      </p:sp>
      <p:sp>
        <p:nvSpPr>
          <p:cNvPr id="15" name="Rectangle 14"/>
          <p:cNvSpPr/>
          <p:nvPr/>
        </p:nvSpPr>
        <p:spPr>
          <a:xfrm>
            <a:off x="777240" y="6327648"/>
            <a:ext cx="10637215" cy="9525"/>
          </a:xfrm>
          <a:prstGeom prst="rect">
            <a:avLst/>
          </a:prstGeom>
          <a:solidFill>
            <a:srgbClr val="DCD8C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6" name="TextBox 15"/>
          <p:cNvSpPr txBox="1"/>
          <p:nvPr/>
        </p:nvSpPr>
        <p:spPr>
          <a:xfrm>
            <a:off x="777240" y="6428232"/>
            <a:ext cx="8686800" cy="274320"/>
          </a:xfrm>
          <a:prstGeom prst="rect">
            <a:avLst/>
          </a:prstGeom>
          <a:noFill/>
        </p:spPr>
        <p:txBody>
          <a:bodyPr wrap="square" lIns="0" tIns="0" rIns="0" bIns="0">
            <a:spAutoFit/>
          </a:bodyPr>
          <a:lstStyle/>
          <a:p>
            <a:pPr algn="l">
              <a:lnSpc>
                <a:spcPct val="122000"/>
              </a:lnSpc>
              <a:spcBef>
                <a:spcPts val="0"/>
              </a:spcBef>
              <a:spcAft>
                <a:spcPts val="0"/>
              </a:spcAft>
            </a:pPr>
            <a:r>
              <a:rPr sz="950" b="0">
                <a:solidFill>
                  <a:srgbClr val="8B8478"/>
                </a:solidFill>
                <a:latin typeface="Arial"/>
              </a:rPr>
              <a:t>Pasos 3-4 · Univariado</a:t>
            </a:r>
          </a:p>
        </p:txBody>
      </p:sp>
      <p:sp>
        <p:nvSpPr>
          <p:cNvPr id="17" name="TextBox 16"/>
          <p:cNvSpPr txBox="1"/>
          <p:nvPr/>
        </p:nvSpPr>
        <p:spPr>
          <a:xfrm>
            <a:off x="10500055" y="6428232"/>
            <a:ext cx="914400" cy="274320"/>
          </a:xfrm>
          <a:prstGeom prst="rect">
            <a:avLst/>
          </a:prstGeom>
          <a:noFill/>
        </p:spPr>
        <p:txBody>
          <a:bodyPr wrap="square" lIns="0" tIns="0" rIns="0" bIns="0">
            <a:spAutoFit/>
          </a:bodyPr>
          <a:lstStyle/>
          <a:p>
            <a:pPr algn="r">
              <a:lnSpc>
                <a:spcPct val="122000"/>
              </a:lnSpc>
              <a:spcBef>
                <a:spcPts val="0"/>
              </a:spcBef>
              <a:spcAft>
                <a:spcPts val="0"/>
              </a:spcAft>
            </a:pPr>
            <a:r>
              <a:rPr sz="950" b="0">
                <a:solidFill>
                  <a:srgbClr val="8B8478"/>
                </a:solidFill>
                <a:latin typeface="Arial"/>
              </a:rPr>
              <a:t>12</a:t>
            </a:r>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777240" y="475488"/>
            <a:ext cx="10637215" cy="237744"/>
          </a:xfrm>
          <a:prstGeom prst="rect">
            <a:avLst/>
          </a:prstGeom>
          <a:noFill/>
        </p:spPr>
        <p:txBody>
          <a:bodyPr wrap="square" lIns="0" tIns="0" rIns="0" bIns="0">
            <a:spAutoFit/>
          </a:bodyPr>
          <a:lstStyle/>
          <a:p>
            <a:pPr algn="l">
              <a:lnSpc>
                <a:spcPct val="122000"/>
              </a:lnSpc>
              <a:spcBef>
                <a:spcPts val="0"/>
              </a:spcBef>
              <a:spcAft>
                <a:spcPts val="0"/>
              </a:spcAft>
            </a:pPr>
            <a:r>
              <a:rPr sz="1050" b="1">
                <a:solidFill>
                  <a:srgbClr val="8C2F39"/>
                </a:solidFill>
                <a:latin typeface="Arial"/>
              </a:rPr>
              <a:t>PASOS 3 Y 4 · UNIVARIADO</a:t>
            </a:r>
          </a:p>
        </p:txBody>
      </p:sp>
      <p:sp>
        <p:nvSpPr>
          <p:cNvPr id="4" name="Rectangle 3"/>
          <p:cNvSpPr/>
          <p:nvPr/>
        </p:nvSpPr>
        <p:spPr>
          <a:xfrm>
            <a:off x="777240" y="768096"/>
            <a:ext cx="502920" cy="30480"/>
          </a:xfrm>
          <a:prstGeom prst="rect">
            <a:avLst/>
          </a:prstGeom>
          <a:solidFill>
            <a:srgbClr val="8C2F3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 name="TextBox 4"/>
          <p:cNvSpPr txBox="1"/>
          <p:nvPr/>
        </p:nvSpPr>
        <p:spPr>
          <a:xfrm>
            <a:off x="777240" y="914400"/>
            <a:ext cx="10637215" cy="836676"/>
          </a:xfrm>
          <a:prstGeom prst="rect">
            <a:avLst/>
          </a:prstGeom>
          <a:noFill/>
        </p:spPr>
        <p:txBody>
          <a:bodyPr wrap="square" lIns="0" tIns="0" rIns="0" bIns="0">
            <a:spAutoFit/>
          </a:bodyPr>
          <a:lstStyle/>
          <a:p>
            <a:pPr algn="l">
              <a:lnSpc>
                <a:spcPct val="106000"/>
              </a:lnSpc>
              <a:spcBef>
                <a:spcPts val="0"/>
              </a:spcBef>
              <a:spcAft>
                <a:spcPts val="0"/>
              </a:spcAft>
            </a:pPr>
            <a:r>
              <a:rPr sz="2700" b="1">
                <a:solidFill>
                  <a:srgbClr val="17150F"/>
                </a:solidFill>
                <a:latin typeface="Arial"/>
              </a:rPr>
              <a:t>Las etiquetas de tendencia no describen lo que hacen las series</a:t>
            </a:r>
          </a:p>
        </p:txBody>
      </p:sp>
      <p:pic>
        <p:nvPicPr>
          <p:cNvPr id="6" name="Picture 5" descr="08_patrones_ejemplo.png"/>
          <p:cNvPicPr>
            <a:picLocks noChangeAspect="1"/>
          </p:cNvPicPr>
          <p:nvPr/>
        </p:nvPicPr>
        <p:blipFill>
          <a:blip r:embed="rId2"/>
          <a:stretch>
            <a:fillRect/>
          </a:stretch>
        </p:blipFill>
        <p:spPr>
          <a:xfrm>
            <a:off x="548640" y="1900428"/>
            <a:ext cx="5852160" cy="1560576"/>
          </a:xfrm>
          <a:prstGeom prst="rect">
            <a:avLst/>
          </a:prstGeom>
        </p:spPr>
      </p:pic>
      <p:graphicFrame>
        <p:nvGraphicFramePr>
          <p:cNvPr id="7" name="Table 6"/>
          <p:cNvGraphicFramePr>
            <a:graphicFrameLocks noGrp="1"/>
          </p:cNvGraphicFramePr>
          <p:nvPr/>
        </p:nvGraphicFramePr>
        <p:xfrm>
          <a:off x="6949440" y="1988820"/>
          <a:ext cx="4465013" cy="1591056"/>
        </p:xfrm>
        <a:graphic>
          <a:graphicData uri="http://schemas.openxmlformats.org/drawingml/2006/table">
            <a:tbl>
              <a:tblPr bandRow="1">
                <a:tableStyleId>{5C22544A-7EE6-4342-B048-85BDC9FD1C3A}</a:tableStyleId>
              </a:tblPr>
              <a:tblGrid>
                <a:gridCol w="1696705">
                  <a:extLst>
                    <a:ext uri="{9D8B030D-6E8A-4147-A177-3AD203B41FA5}">
                      <a16:colId xmlns:a16="http://schemas.microsoft.com/office/drawing/2014/main" val="20000"/>
                    </a:ext>
                  </a:extLst>
                </a:gridCol>
                <a:gridCol w="1071603">
                  <a:extLst>
                    <a:ext uri="{9D8B030D-6E8A-4147-A177-3AD203B41FA5}">
                      <a16:colId xmlns:a16="http://schemas.microsoft.com/office/drawing/2014/main" val="20001"/>
                    </a:ext>
                  </a:extLst>
                </a:gridCol>
                <a:gridCol w="1696705">
                  <a:extLst>
                    <a:ext uri="{9D8B030D-6E8A-4147-A177-3AD203B41FA5}">
                      <a16:colId xmlns:a16="http://schemas.microsoft.com/office/drawing/2014/main" val="20002"/>
                    </a:ext>
                  </a:extLst>
                </a:gridCol>
              </a:tblGrid>
              <a:tr h="347472">
                <a:tc>
                  <a:txBody>
                    <a:bodyPr/>
                    <a:lstStyle/>
                    <a:p>
                      <a:pPr algn="l"/>
                      <a:r>
                        <a:rPr sz="1050" b="1">
                          <a:solidFill>
                            <a:srgbClr val="8B8478"/>
                          </a:solidFill>
                          <a:latin typeface="Arial"/>
                        </a:rPr>
                        <a:t>Patrón</a:t>
                      </a:r>
                    </a:p>
                  </a:txBody>
                  <a:tcPr marL="82296" marR="82296" anchor="ctr">
                    <a:solidFill>
                      <a:srgbClr val="F4F2ED"/>
                    </a:solidFill>
                  </a:tcPr>
                </a:tc>
                <a:tc>
                  <a:txBody>
                    <a:bodyPr/>
                    <a:lstStyle/>
                    <a:p>
                      <a:pPr algn="r"/>
                      <a:r>
                        <a:rPr sz="1050" b="1">
                          <a:solidFill>
                            <a:srgbClr val="8B8478"/>
                          </a:solidFill>
                          <a:latin typeface="Arial"/>
                        </a:rPr>
                        <a:t>Series</a:t>
                      </a:r>
                    </a:p>
                  </a:txBody>
                  <a:tcPr marL="82296" marR="82296" anchor="ctr">
                    <a:solidFill>
                      <a:srgbClr val="F4F2ED"/>
                    </a:solidFill>
                  </a:tcPr>
                </a:tc>
                <a:tc>
                  <a:txBody>
                    <a:bodyPr/>
                    <a:lstStyle/>
                    <a:p>
                      <a:pPr algn="r"/>
                      <a:r>
                        <a:rPr sz="1050" b="1">
                          <a:solidFill>
                            <a:srgbClr val="8B8478"/>
                          </a:solidFill>
                          <a:latin typeface="Arial"/>
                        </a:rPr>
                        <a:t>Cambio mediano</a:t>
                      </a:r>
                    </a:p>
                  </a:txBody>
                  <a:tcPr marL="82296" marR="82296" anchor="ctr">
                    <a:solidFill>
                      <a:srgbClr val="F4F2ED"/>
                    </a:solidFill>
                  </a:tcPr>
                </a:tc>
                <a:extLst>
                  <a:ext uri="{0D108BD9-81ED-4DB2-BD59-A6C34878D82A}">
                    <a16:rowId xmlns:a16="http://schemas.microsoft.com/office/drawing/2014/main" val="10000"/>
                  </a:ext>
                </a:extLst>
              </a:tr>
              <a:tr h="310896">
                <a:tc>
                  <a:txBody>
                    <a:bodyPr/>
                    <a:lstStyle/>
                    <a:p>
                      <a:pPr algn="l"/>
                      <a:r>
                        <a:rPr sz="1200" b="0">
                          <a:solidFill>
                            <a:srgbClr val="17150F"/>
                          </a:solidFill>
                          <a:latin typeface="Arial"/>
                        </a:rPr>
                        <a:t>down</a:t>
                      </a:r>
                    </a:p>
                  </a:txBody>
                  <a:tcPr marL="82296" marR="82296" anchor="ctr">
                    <a:solidFill>
                      <a:srgbClr val="FFFFFF"/>
                    </a:solidFill>
                  </a:tcPr>
                </a:tc>
                <a:tc>
                  <a:txBody>
                    <a:bodyPr/>
                    <a:lstStyle/>
                    <a:p>
                      <a:pPr algn="r"/>
                      <a:r>
                        <a:rPr sz="1200" b="0">
                          <a:solidFill>
                            <a:srgbClr val="555045"/>
                          </a:solidFill>
                          <a:latin typeface="Arial"/>
                        </a:rPr>
                        <a:t>44</a:t>
                      </a:r>
                    </a:p>
                  </a:txBody>
                  <a:tcPr marL="82296" marR="82296" anchor="ctr">
                    <a:solidFill>
                      <a:srgbClr val="FFFFFF"/>
                    </a:solidFill>
                  </a:tcPr>
                </a:tc>
                <a:tc>
                  <a:txBody>
                    <a:bodyPr/>
                    <a:lstStyle/>
                    <a:p>
                      <a:pPr algn="r"/>
                      <a:r>
                        <a:rPr sz="1200" b="0">
                          <a:solidFill>
                            <a:srgbClr val="555045"/>
                          </a:solidFill>
                          <a:latin typeface="Arial"/>
                        </a:rPr>
                        <a:t>−1,0 %</a:t>
                      </a:r>
                    </a:p>
                  </a:txBody>
                  <a:tcPr marL="82296" marR="82296" anchor="ctr">
                    <a:solidFill>
                      <a:srgbClr val="FFFFFF"/>
                    </a:solidFill>
                  </a:tcPr>
                </a:tc>
                <a:extLst>
                  <a:ext uri="{0D108BD9-81ED-4DB2-BD59-A6C34878D82A}">
                    <a16:rowId xmlns:a16="http://schemas.microsoft.com/office/drawing/2014/main" val="10001"/>
                  </a:ext>
                </a:extLst>
              </a:tr>
              <a:tr h="310896">
                <a:tc>
                  <a:txBody>
                    <a:bodyPr/>
                    <a:lstStyle/>
                    <a:p>
                      <a:pPr algn="l"/>
                      <a:r>
                        <a:rPr sz="1200" b="0">
                          <a:solidFill>
                            <a:srgbClr val="17150F"/>
                          </a:solidFill>
                          <a:latin typeface="Arial"/>
                        </a:rPr>
                        <a:t>seasonal</a:t>
                      </a:r>
                    </a:p>
                  </a:txBody>
                  <a:tcPr marL="82296" marR="82296" anchor="ctr">
                    <a:solidFill>
                      <a:srgbClr val="FFFFFF"/>
                    </a:solidFill>
                  </a:tcPr>
                </a:tc>
                <a:tc>
                  <a:txBody>
                    <a:bodyPr/>
                    <a:lstStyle/>
                    <a:p>
                      <a:pPr algn="r"/>
                      <a:r>
                        <a:rPr sz="1200" b="0">
                          <a:solidFill>
                            <a:srgbClr val="555045"/>
                          </a:solidFill>
                          <a:latin typeface="Arial"/>
                        </a:rPr>
                        <a:t>57</a:t>
                      </a:r>
                    </a:p>
                  </a:txBody>
                  <a:tcPr marL="82296" marR="82296" anchor="ctr">
                    <a:solidFill>
                      <a:srgbClr val="FFFFFF"/>
                    </a:solidFill>
                  </a:tcPr>
                </a:tc>
                <a:tc>
                  <a:txBody>
                    <a:bodyPr/>
                    <a:lstStyle/>
                    <a:p>
                      <a:pPr algn="r"/>
                      <a:r>
                        <a:rPr sz="1200" b="0">
                          <a:solidFill>
                            <a:srgbClr val="555045"/>
                          </a:solidFill>
                          <a:latin typeface="Arial"/>
                        </a:rPr>
                        <a:t>−2,5 %</a:t>
                      </a:r>
                    </a:p>
                  </a:txBody>
                  <a:tcPr marL="82296" marR="82296" anchor="ctr">
                    <a:solidFill>
                      <a:srgbClr val="FFFFFF"/>
                    </a:solidFill>
                  </a:tcPr>
                </a:tc>
                <a:extLst>
                  <a:ext uri="{0D108BD9-81ED-4DB2-BD59-A6C34878D82A}">
                    <a16:rowId xmlns:a16="http://schemas.microsoft.com/office/drawing/2014/main" val="10002"/>
                  </a:ext>
                </a:extLst>
              </a:tr>
              <a:tr h="310896">
                <a:tc>
                  <a:txBody>
                    <a:bodyPr/>
                    <a:lstStyle/>
                    <a:p>
                      <a:pPr algn="l"/>
                      <a:r>
                        <a:rPr sz="1200" b="0">
                          <a:solidFill>
                            <a:srgbClr val="17150F"/>
                          </a:solidFill>
                          <a:latin typeface="Arial"/>
                        </a:rPr>
                        <a:t>random</a:t>
                      </a:r>
                    </a:p>
                  </a:txBody>
                  <a:tcPr marL="82296" marR="82296" anchor="ctr">
                    <a:solidFill>
                      <a:srgbClr val="FFFFFF"/>
                    </a:solidFill>
                  </a:tcPr>
                </a:tc>
                <a:tc>
                  <a:txBody>
                    <a:bodyPr/>
                    <a:lstStyle/>
                    <a:p>
                      <a:pPr algn="r"/>
                      <a:r>
                        <a:rPr sz="1200" b="0">
                          <a:solidFill>
                            <a:srgbClr val="555045"/>
                          </a:solidFill>
                          <a:latin typeface="Arial"/>
                        </a:rPr>
                        <a:t>32</a:t>
                      </a:r>
                    </a:p>
                  </a:txBody>
                  <a:tcPr marL="82296" marR="82296" anchor="ctr">
                    <a:solidFill>
                      <a:srgbClr val="FFFFFF"/>
                    </a:solidFill>
                  </a:tcPr>
                </a:tc>
                <a:tc>
                  <a:txBody>
                    <a:bodyPr/>
                    <a:lstStyle/>
                    <a:p>
                      <a:pPr algn="r"/>
                      <a:r>
                        <a:rPr sz="1200" b="0">
                          <a:solidFill>
                            <a:srgbClr val="555045"/>
                          </a:solidFill>
                          <a:latin typeface="Arial"/>
                        </a:rPr>
                        <a:t>+2,8 %</a:t>
                      </a:r>
                    </a:p>
                  </a:txBody>
                  <a:tcPr marL="82296" marR="82296" anchor="ctr">
                    <a:solidFill>
                      <a:srgbClr val="FFFFFF"/>
                    </a:solidFill>
                  </a:tcPr>
                </a:tc>
                <a:extLst>
                  <a:ext uri="{0D108BD9-81ED-4DB2-BD59-A6C34878D82A}">
                    <a16:rowId xmlns:a16="http://schemas.microsoft.com/office/drawing/2014/main" val="10003"/>
                  </a:ext>
                </a:extLst>
              </a:tr>
              <a:tr h="310896">
                <a:tc>
                  <a:txBody>
                    <a:bodyPr/>
                    <a:lstStyle/>
                    <a:p>
                      <a:pPr algn="l"/>
                      <a:r>
                        <a:rPr sz="1200" b="0">
                          <a:solidFill>
                            <a:srgbClr val="17150F"/>
                          </a:solidFill>
                          <a:latin typeface="Arial"/>
                        </a:rPr>
                        <a:t>up</a:t>
                      </a:r>
                    </a:p>
                  </a:txBody>
                  <a:tcPr marL="82296" marR="82296" anchor="ctr">
                    <a:solidFill>
                      <a:srgbClr val="FFFFFF"/>
                    </a:solidFill>
                  </a:tcPr>
                </a:tc>
                <a:tc>
                  <a:txBody>
                    <a:bodyPr/>
                    <a:lstStyle/>
                    <a:p>
                      <a:pPr algn="r"/>
                      <a:r>
                        <a:rPr sz="1200" b="0">
                          <a:solidFill>
                            <a:srgbClr val="555045"/>
                          </a:solidFill>
                          <a:latin typeface="Arial"/>
                        </a:rPr>
                        <a:t>27</a:t>
                      </a:r>
                    </a:p>
                  </a:txBody>
                  <a:tcPr marL="82296" marR="82296" anchor="ctr">
                    <a:solidFill>
                      <a:srgbClr val="FFFFFF"/>
                    </a:solidFill>
                  </a:tcPr>
                </a:tc>
                <a:tc>
                  <a:txBody>
                    <a:bodyPr/>
                    <a:lstStyle/>
                    <a:p>
                      <a:pPr algn="r"/>
                      <a:r>
                        <a:rPr sz="1200" b="0">
                          <a:solidFill>
                            <a:srgbClr val="555045"/>
                          </a:solidFill>
                          <a:latin typeface="Arial"/>
                        </a:rPr>
                        <a:t>+3,5 %</a:t>
                      </a:r>
                    </a:p>
                  </a:txBody>
                  <a:tcPr marL="82296" marR="82296" anchor="ctr">
                    <a:solidFill>
                      <a:srgbClr val="FFFFFF"/>
                    </a:solidFill>
                  </a:tcPr>
                </a:tc>
                <a:extLst>
                  <a:ext uri="{0D108BD9-81ED-4DB2-BD59-A6C34878D82A}">
                    <a16:rowId xmlns:a16="http://schemas.microsoft.com/office/drawing/2014/main" val="10004"/>
                  </a:ext>
                </a:extLst>
              </a:tr>
            </a:tbl>
          </a:graphicData>
        </a:graphic>
      </p:graphicFrame>
      <p:sp>
        <p:nvSpPr>
          <p:cNvPr id="8" name="TextBox 7"/>
          <p:cNvSpPr txBox="1"/>
          <p:nvPr/>
        </p:nvSpPr>
        <p:spPr>
          <a:xfrm>
            <a:off x="6949440" y="3954780"/>
            <a:ext cx="4465015" cy="2377440"/>
          </a:xfrm>
          <a:prstGeom prst="rect">
            <a:avLst/>
          </a:prstGeom>
          <a:noFill/>
        </p:spPr>
        <p:txBody>
          <a:bodyPr wrap="square" lIns="0" tIns="0" rIns="0" bIns="0">
            <a:spAutoFit/>
          </a:bodyPr>
          <a:lstStyle/>
          <a:p>
            <a:pPr algn="l">
              <a:lnSpc>
                <a:spcPct val="130000"/>
              </a:lnSpc>
              <a:spcBef>
                <a:spcPts val="0"/>
              </a:spcBef>
              <a:spcAft>
                <a:spcPts val="1200"/>
              </a:spcAft>
            </a:pPr>
            <a:r>
              <a:rPr sz="1300" b="0">
                <a:solidFill>
                  <a:srgbClr val="555045"/>
                </a:solidFill>
                <a:latin typeface="Arial"/>
              </a:rPr>
              <a:t>El contraste de Kruskal-Wallis da p = 0,453: la etiqueta explica el 1,6 % de la variación observada. El panel etiquetado «up» tiene la recta ajustada descendente.</a:t>
            </a:r>
          </a:p>
          <a:p>
            <a:pPr algn="l">
              <a:lnSpc>
                <a:spcPct val="130000"/>
              </a:lnSpc>
              <a:spcBef>
                <a:spcPts val="0"/>
              </a:spcBef>
              <a:spcAft>
                <a:spcPts val="0"/>
              </a:spcAft>
            </a:pPr>
            <a:r>
              <a:rPr sz="1300" b="1">
                <a:solidFill>
                  <a:srgbClr val="17150F"/>
                </a:solidFill>
                <a:latin typeface="Arial"/>
              </a:rPr>
              <a:t>El fichero sigue excluido del modelo, y además su valor como herramienta de diagnóstico es mucho menor de lo esperado.</a:t>
            </a:r>
          </a:p>
        </p:txBody>
      </p:sp>
      <p:sp>
        <p:nvSpPr>
          <p:cNvPr id="9" name="Rectangle 8"/>
          <p:cNvSpPr/>
          <p:nvPr/>
        </p:nvSpPr>
        <p:spPr>
          <a:xfrm>
            <a:off x="777240" y="6327648"/>
            <a:ext cx="10637215" cy="9525"/>
          </a:xfrm>
          <a:prstGeom prst="rect">
            <a:avLst/>
          </a:prstGeom>
          <a:solidFill>
            <a:srgbClr val="DCD8C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0" name="TextBox 9"/>
          <p:cNvSpPr txBox="1"/>
          <p:nvPr/>
        </p:nvSpPr>
        <p:spPr>
          <a:xfrm>
            <a:off x="777240" y="6428232"/>
            <a:ext cx="8686800" cy="274320"/>
          </a:xfrm>
          <a:prstGeom prst="rect">
            <a:avLst/>
          </a:prstGeom>
          <a:noFill/>
        </p:spPr>
        <p:txBody>
          <a:bodyPr wrap="square" lIns="0" tIns="0" rIns="0" bIns="0">
            <a:spAutoFit/>
          </a:bodyPr>
          <a:lstStyle/>
          <a:p>
            <a:pPr algn="l">
              <a:lnSpc>
                <a:spcPct val="122000"/>
              </a:lnSpc>
              <a:spcBef>
                <a:spcPts val="0"/>
              </a:spcBef>
              <a:spcAft>
                <a:spcPts val="0"/>
              </a:spcAft>
            </a:pPr>
            <a:r>
              <a:rPr sz="950" b="0">
                <a:solidFill>
                  <a:srgbClr val="8B8478"/>
                </a:solidFill>
                <a:latin typeface="Arial"/>
              </a:rPr>
              <a:t>Pasos 3-4 · Univariado</a:t>
            </a:r>
          </a:p>
        </p:txBody>
      </p:sp>
      <p:sp>
        <p:nvSpPr>
          <p:cNvPr id="11" name="TextBox 10"/>
          <p:cNvSpPr txBox="1"/>
          <p:nvPr/>
        </p:nvSpPr>
        <p:spPr>
          <a:xfrm>
            <a:off x="10500055" y="6428232"/>
            <a:ext cx="914400" cy="274320"/>
          </a:xfrm>
          <a:prstGeom prst="rect">
            <a:avLst/>
          </a:prstGeom>
          <a:noFill/>
        </p:spPr>
        <p:txBody>
          <a:bodyPr wrap="square" lIns="0" tIns="0" rIns="0" bIns="0">
            <a:spAutoFit/>
          </a:bodyPr>
          <a:lstStyle/>
          <a:p>
            <a:pPr algn="r">
              <a:lnSpc>
                <a:spcPct val="122000"/>
              </a:lnSpc>
              <a:spcBef>
                <a:spcPts val="0"/>
              </a:spcBef>
              <a:spcAft>
                <a:spcPts val="0"/>
              </a:spcAft>
            </a:pPr>
            <a:r>
              <a:rPr sz="950" b="0">
                <a:solidFill>
                  <a:srgbClr val="8B8478"/>
                </a:solidFill>
                <a:latin typeface="Arial"/>
              </a:rPr>
              <a:t>13</a:t>
            </a:r>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777240" y="475488"/>
            <a:ext cx="10637215" cy="237744"/>
          </a:xfrm>
          <a:prstGeom prst="rect">
            <a:avLst/>
          </a:prstGeom>
          <a:noFill/>
        </p:spPr>
        <p:txBody>
          <a:bodyPr wrap="square" lIns="0" tIns="0" rIns="0" bIns="0">
            <a:spAutoFit/>
          </a:bodyPr>
          <a:lstStyle/>
          <a:p>
            <a:pPr algn="l">
              <a:lnSpc>
                <a:spcPct val="122000"/>
              </a:lnSpc>
              <a:spcBef>
                <a:spcPts val="0"/>
              </a:spcBef>
              <a:spcAft>
                <a:spcPts val="0"/>
              </a:spcAft>
            </a:pPr>
            <a:r>
              <a:rPr sz="1050" b="1">
                <a:solidFill>
                  <a:srgbClr val="8C2F39"/>
                </a:solidFill>
                <a:latin typeface="Arial"/>
              </a:rPr>
              <a:t>PASOS 5 A 8 · DISEÑO</a:t>
            </a:r>
          </a:p>
        </p:txBody>
      </p:sp>
      <p:sp>
        <p:nvSpPr>
          <p:cNvPr id="4" name="Rectangle 3"/>
          <p:cNvSpPr/>
          <p:nvPr/>
        </p:nvSpPr>
        <p:spPr>
          <a:xfrm>
            <a:off x="777240" y="768096"/>
            <a:ext cx="502920" cy="30480"/>
          </a:xfrm>
          <a:prstGeom prst="rect">
            <a:avLst/>
          </a:prstGeom>
          <a:solidFill>
            <a:srgbClr val="8C2F3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 name="TextBox 4"/>
          <p:cNvSpPr txBox="1"/>
          <p:nvPr/>
        </p:nvSpPr>
        <p:spPr>
          <a:xfrm>
            <a:off x="777240" y="914400"/>
            <a:ext cx="10637215" cy="445770"/>
          </a:xfrm>
          <a:prstGeom prst="rect">
            <a:avLst/>
          </a:prstGeom>
          <a:noFill/>
        </p:spPr>
        <p:txBody>
          <a:bodyPr wrap="square" lIns="0" tIns="0" rIns="0" bIns="0">
            <a:spAutoFit/>
          </a:bodyPr>
          <a:lstStyle/>
          <a:p>
            <a:pPr algn="l">
              <a:lnSpc>
                <a:spcPct val="106000"/>
              </a:lnSpc>
              <a:spcBef>
                <a:spcPts val="0"/>
              </a:spcBef>
              <a:spcAft>
                <a:spcPts val="0"/>
              </a:spcAft>
            </a:pPr>
            <a:r>
              <a:rPr sz="2700" b="1">
                <a:solidFill>
                  <a:srgbClr val="17150F"/>
                </a:solidFill>
                <a:latin typeface="Arial"/>
              </a:rPr>
              <a:t>Las particiones se congelan antes de modelar</a:t>
            </a:r>
          </a:p>
        </p:txBody>
      </p:sp>
      <p:sp>
        <p:nvSpPr>
          <p:cNvPr id="6" name="TextBox 5"/>
          <p:cNvSpPr txBox="1"/>
          <p:nvPr/>
        </p:nvSpPr>
        <p:spPr>
          <a:xfrm>
            <a:off x="777240" y="1506474"/>
            <a:ext cx="9966960" cy="283337"/>
          </a:xfrm>
          <a:prstGeom prst="rect">
            <a:avLst/>
          </a:prstGeom>
          <a:noFill/>
        </p:spPr>
        <p:txBody>
          <a:bodyPr wrap="square" lIns="0" tIns="0" rIns="0" bIns="0">
            <a:spAutoFit/>
          </a:bodyPr>
          <a:lstStyle/>
          <a:p>
            <a:pPr algn="l">
              <a:lnSpc>
                <a:spcPct val="130000"/>
              </a:lnSpc>
              <a:spcBef>
                <a:spcPts val="0"/>
              </a:spcBef>
              <a:spcAft>
                <a:spcPts val="0"/>
              </a:spcAft>
            </a:pPr>
            <a:r>
              <a:rPr sz="1450" b="0">
                <a:solidFill>
                  <a:srgbClr val="555045"/>
                </a:solidFill>
                <a:latin typeface="Arial"/>
              </a:rPr>
              <a:t>Ajustarlas después de ver resultados invalidaría toda la evaluación.</a:t>
            </a:r>
          </a:p>
        </p:txBody>
      </p:sp>
      <p:graphicFrame>
        <p:nvGraphicFramePr>
          <p:cNvPr id="7" name="Table 6"/>
          <p:cNvGraphicFramePr>
            <a:graphicFrameLocks noGrp="1"/>
          </p:cNvGraphicFramePr>
          <p:nvPr/>
        </p:nvGraphicFramePr>
        <p:xfrm>
          <a:off x="777240" y="1990979"/>
          <a:ext cx="10637213" cy="1883664"/>
        </p:xfrm>
        <a:graphic>
          <a:graphicData uri="http://schemas.openxmlformats.org/drawingml/2006/table">
            <a:tbl>
              <a:tblPr bandRow="1">
                <a:tableStyleId>{5C22544A-7EE6-4342-B048-85BDC9FD1C3A}</a:tableStyleId>
              </a:tblPr>
              <a:tblGrid>
                <a:gridCol w="2978420">
                  <a:extLst>
                    <a:ext uri="{9D8B030D-6E8A-4147-A177-3AD203B41FA5}">
                      <a16:colId xmlns:a16="http://schemas.microsoft.com/office/drawing/2014/main" val="20000"/>
                    </a:ext>
                  </a:extLst>
                </a:gridCol>
                <a:gridCol w="1489210">
                  <a:extLst>
                    <a:ext uri="{9D8B030D-6E8A-4147-A177-3AD203B41FA5}">
                      <a16:colId xmlns:a16="http://schemas.microsoft.com/office/drawing/2014/main" val="20001"/>
                    </a:ext>
                  </a:extLst>
                </a:gridCol>
                <a:gridCol w="1276465">
                  <a:extLst>
                    <a:ext uri="{9D8B030D-6E8A-4147-A177-3AD203B41FA5}">
                      <a16:colId xmlns:a16="http://schemas.microsoft.com/office/drawing/2014/main" val="20002"/>
                    </a:ext>
                  </a:extLst>
                </a:gridCol>
                <a:gridCol w="4893118">
                  <a:extLst>
                    <a:ext uri="{9D8B030D-6E8A-4147-A177-3AD203B41FA5}">
                      <a16:colId xmlns:a16="http://schemas.microsoft.com/office/drawing/2014/main" val="20003"/>
                    </a:ext>
                  </a:extLst>
                </a:gridCol>
              </a:tblGrid>
              <a:tr h="347472">
                <a:tc>
                  <a:txBody>
                    <a:bodyPr/>
                    <a:lstStyle/>
                    <a:p>
                      <a:pPr algn="l"/>
                      <a:r>
                        <a:rPr sz="1150" b="1">
                          <a:solidFill>
                            <a:srgbClr val="8B8478"/>
                          </a:solidFill>
                          <a:latin typeface="Arial"/>
                        </a:rPr>
                        <a:t>Periodo</a:t>
                      </a:r>
                    </a:p>
                  </a:txBody>
                  <a:tcPr marL="82296" marR="82296" anchor="ctr">
                    <a:solidFill>
                      <a:srgbClr val="F4F2ED"/>
                    </a:solidFill>
                  </a:tcPr>
                </a:tc>
                <a:tc>
                  <a:txBody>
                    <a:bodyPr/>
                    <a:lstStyle/>
                    <a:p>
                      <a:pPr algn="r"/>
                      <a:r>
                        <a:rPr sz="1150" b="1">
                          <a:solidFill>
                            <a:srgbClr val="8B8478"/>
                          </a:solidFill>
                          <a:latin typeface="Arial"/>
                        </a:rPr>
                        <a:t>Semanas</a:t>
                      </a:r>
                    </a:p>
                  </a:txBody>
                  <a:tcPr marL="82296" marR="82296" anchor="ctr">
                    <a:solidFill>
                      <a:srgbClr val="F4F2ED"/>
                    </a:solidFill>
                  </a:tcPr>
                </a:tc>
                <a:tc>
                  <a:txBody>
                    <a:bodyPr/>
                    <a:lstStyle/>
                    <a:p>
                      <a:pPr algn="r"/>
                      <a:r>
                        <a:rPr sz="1150" b="1">
                          <a:solidFill>
                            <a:srgbClr val="8B8478"/>
                          </a:solidFill>
                          <a:latin typeface="Arial"/>
                        </a:rPr>
                        <a:t>Filas</a:t>
                      </a:r>
                    </a:p>
                  </a:txBody>
                  <a:tcPr marL="82296" marR="82296" anchor="ctr">
                    <a:solidFill>
                      <a:srgbClr val="F4F2ED"/>
                    </a:solidFill>
                  </a:tcPr>
                </a:tc>
                <a:tc>
                  <a:txBody>
                    <a:bodyPr/>
                    <a:lstStyle/>
                    <a:p>
                      <a:pPr algn="r"/>
                      <a:r>
                        <a:rPr sz="1150" b="1">
                          <a:solidFill>
                            <a:srgbClr val="8B8478"/>
                          </a:solidFill>
                          <a:latin typeface="Arial"/>
                        </a:rPr>
                        <a:t>Uso</a:t>
                      </a:r>
                    </a:p>
                  </a:txBody>
                  <a:tcPr marL="82296" marR="82296" anchor="ctr">
                    <a:solidFill>
                      <a:srgbClr val="F4F2ED"/>
                    </a:solidFill>
                  </a:tcPr>
                </a:tc>
                <a:extLst>
                  <a:ext uri="{0D108BD9-81ED-4DB2-BD59-A6C34878D82A}">
                    <a16:rowId xmlns:a16="http://schemas.microsoft.com/office/drawing/2014/main" val="10000"/>
                  </a:ext>
                </a:extLst>
              </a:tr>
              <a:tr h="384048">
                <a:tc>
                  <a:txBody>
                    <a:bodyPr/>
                    <a:lstStyle/>
                    <a:p>
                      <a:pPr algn="l"/>
                      <a:r>
                        <a:rPr sz="1300" b="0">
                          <a:solidFill>
                            <a:srgbClr val="17150F"/>
                          </a:solidFill>
                          <a:latin typeface="Arial"/>
                        </a:rPr>
                        <a:t>Historia de los rezagos</a:t>
                      </a:r>
                    </a:p>
                  </a:txBody>
                  <a:tcPr marL="82296" marR="82296" anchor="ctr">
                    <a:solidFill>
                      <a:srgbClr val="FFFFFF"/>
                    </a:solidFill>
                  </a:tcPr>
                </a:tc>
                <a:tc>
                  <a:txBody>
                    <a:bodyPr/>
                    <a:lstStyle/>
                    <a:p>
                      <a:pPr algn="r"/>
                      <a:r>
                        <a:rPr sz="1300" b="0">
                          <a:solidFill>
                            <a:srgbClr val="555045"/>
                          </a:solidFill>
                          <a:latin typeface="Arial"/>
                        </a:rPr>
                        <a:t>1 a 4</a:t>
                      </a:r>
                    </a:p>
                  </a:txBody>
                  <a:tcPr marL="82296" marR="82296" anchor="ctr">
                    <a:solidFill>
                      <a:srgbClr val="FFFFFF"/>
                    </a:solidFill>
                  </a:tcPr>
                </a:tc>
                <a:tc>
                  <a:txBody>
                    <a:bodyPr/>
                    <a:lstStyle/>
                    <a:p>
                      <a:pPr algn="r"/>
                      <a:r>
                        <a:rPr sz="1300" b="0">
                          <a:solidFill>
                            <a:srgbClr val="555045"/>
                          </a:solidFill>
                          <a:latin typeface="Arial"/>
                        </a:rPr>
                        <a:t>—</a:t>
                      </a:r>
                    </a:p>
                  </a:txBody>
                  <a:tcPr marL="82296" marR="82296" anchor="ctr">
                    <a:solidFill>
                      <a:srgbClr val="FFFFFF"/>
                    </a:solidFill>
                  </a:tcPr>
                </a:tc>
                <a:tc>
                  <a:txBody>
                    <a:bodyPr/>
                    <a:lstStyle/>
                    <a:p>
                      <a:pPr algn="r"/>
                      <a:r>
                        <a:rPr sz="1300" b="0">
                          <a:solidFill>
                            <a:srgbClr val="555045"/>
                          </a:solidFill>
                          <a:latin typeface="Arial"/>
                        </a:rPr>
                        <a:t>No genera filas utilizables</a:t>
                      </a:r>
                    </a:p>
                  </a:txBody>
                  <a:tcPr marL="82296" marR="82296" anchor="ctr">
                    <a:solidFill>
                      <a:srgbClr val="FFFFFF"/>
                    </a:solidFill>
                  </a:tcPr>
                </a:tc>
                <a:extLst>
                  <a:ext uri="{0D108BD9-81ED-4DB2-BD59-A6C34878D82A}">
                    <a16:rowId xmlns:a16="http://schemas.microsoft.com/office/drawing/2014/main" val="10001"/>
                  </a:ext>
                </a:extLst>
              </a:tr>
              <a:tr h="384048">
                <a:tc>
                  <a:txBody>
                    <a:bodyPr/>
                    <a:lstStyle/>
                    <a:p>
                      <a:pPr algn="l"/>
                      <a:r>
                        <a:rPr sz="1300" b="0">
                          <a:solidFill>
                            <a:srgbClr val="17150F"/>
                          </a:solidFill>
                          <a:latin typeface="Arial"/>
                        </a:rPr>
                        <a:t>Entrenamiento</a:t>
                      </a:r>
                    </a:p>
                  </a:txBody>
                  <a:tcPr marL="82296" marR="82296" anchor="ctr">
                    <a:solidFill>
                      <a:srgbClr val="FFFFFF"/>
                    </a:solidFill>
                  </a:tcPr>
                </a:tc>
                <a:tc>
                  <a:txBody>
                    <a:bodyPr/>
                    <a:lstStyle/>
                    <a:p>
                      <a:pPr algn="r"/>
                      <a:r>
                        <a:rPr sz="1300" b="0">
                          <a:solidFill>
                            <a:srgbClr val="555045"/>
                          </a:solidFill>
                          <a:latin typeface="Arial"/>
                        </a:rPr>
                        <a:t>5 a 10</a:t>
                      </a:r>
                    </a:p>
                  </a:txBody>
                  <a:tcPr marL="82296" marR="82296" anchor="ctr">
                    <a:solidFill>
                      <a:srgbClr val="FFFFFF"/>
                    </a:solidFill>
                  </a:tcPr>
                </a:tc>
                <a:tc>
                  <a:txBody>
                    <a:bodyPr/>
                    <a:lstStyle/>
                    <a:p>
                      <a:pPr algn="r"/>
                      <a:r>
                        <a:rPr sz="1300" b="0">
                          <a:solidFill>
                            <a:srgbClr val="555045"/>
                          </a:solidFill>
                          <a:latin typeface="Arial"/>
                        </a:rPr>
                        <a:t>960</a:t>
                      </a:r>
                    </a:p>
                  </a:txBody>
                  <a:tcPr marL="82296" marR="82296" anchor="ctr">
                    <a:solidFill>
                      <a:srgbClr val="FFFFFF"/>
                    </a:solidFill>
                  </a:tcPr>
                </a:tc>
                <a:tc>
                  <a:txBody>
                    <a:bodyPr/>
                    <a:lstStyle/>
                    <a:p>
                      <a:pPr algn="r"/>
                      <a:r>
                        <a:rPr sz="1300" b="0">
                          <a:solidFill>
                            <a:srgbClr val="555045"/>
                          </a:solidFill>
                          <a:latin typeface="Arial"/>
                        </a:rPr>
                        <a:t>El modelo aprende aquí</a:t>
                      </a:r>
                    </a:p>
                  </a:txBody>
                  <a:tcPr marL="82296" marR="82296" anchor="ctr">
                    <a:solidFill>
                      <a:srgbClr val="FFFFFF"/>
                    </a:solidFill>
                  </a:tcPr>
                </a:tc>
                <a:extLst>
                  <a:ext uri="{0D108BD9-81ED-4DB2-BD59-A6C34878D82A}">
                    <a16:rowId xmlns:a16="http://schemas.microsoft.com/office/drawing/2014/main" val="10002"/>
                  </a:ext>
                </a:extLst>
              </a:tr>
              <a:tr h="384048">
                <a:tc>
                  <a:txBody>
                    <a:bodyPr/>
                    <a:lstStyle/>
                    <a:p>
                      <a:pPr algn="l"/>
                      <a:r>
                        <a:rPr sz="1300" b="1">
                          <a:solidFill>
                            <a:srgbClr val="17150F"/>
                          </a:solidFill>
                          <a:latin typeface="Arial"/>
                        </a:rPr>
                        <a:t>Prueba</a:t>
                      </a:r>
                    </a:p>
                  </a:txBody>
                  <a:tcPr marL="82296" marR="82296" anchor="ctr">
                    <a:solidFill>
                      <a:srgbClr val="F7EEEF"/>
                    </a:solidFill>
                  </a:tcPr>
                </a:tc>
                <a:tc>
                  <a:txBody>
                    <a:bodyPr/>
                    <a:lstStyle/>
                    <a:p>
                      <a:pPr algn="r"/>
                      <a:r>
                        <a:rPr sz="1300" b="1">
                          <a:solidFill>
                            <a:srgbClr val="17150F"/>
                          </a:solidFill>
                          <a:latin typeface="Arial"/>
                        </a:rPr>
                        <a:t>11 a 13</a:t>
                      </a:r>
                    </a:p>
                  </a:txBody>
                  <a:tcPr marL="82296" marR="82296" anchor="ctr">
                    <a:solidFill>
                      <a:srgbClr val="F7EEEF"/>
                    </a:solidFill>
                  </a:tcPr>
                </a:tc>
                <a:tc>
                  <a:txBody>
                    <a:bodyPr/>
                    <a:lstStyle/>
                    <a:p>
                      <a:pPr algn="r"/>
                      <a:r>
                        <a:rPr sz="1300" b="1">
                          <a:solidFill>
                            <a:srgbClr val="17150F"/>
                          </a:solidFill>
                          <a:latin typeface="Arial"/>
                        </a:rPr>
                        <a:t>480</a:t>
                      </a:r>
                    </a:p>
                  </a:txBody>
                  <a:tcPr marL="82296" marR="82296" anchor="ctr">
                    <a:solidFill>
                      <a:srgbClr val="F7EEEF"/>
                    </a:solidFill>
                  </a:tcPr>
                </a:tc>
                <a:tc>
                  <a:txBody>
                    <a:bodyPr/>
                    <a:lstStyle/>
                    <a:p>
                      <a:pPr algn="r"/>
                      <a:r>
                        <a:rPr sz="1300" b="1">
                          <a:solidFill>
                            <a:srgbClr val="17150F"/>
                          </a:solidFill>
                          <a:latin typeface="Arial"/>
                        </a:rPr>
                        <a:t>Intacta hasta el final</a:t>
                      </a:r>
                    </a:p>
                  </a:txBody>
                  <a:tcPr marL="82296" marR="82296" anchor="ctr">
                    <a:solidFill>
                      <a:srgbClr val="F7EEEF"/>
                    </a:solidFill>
                  </a:tcPr>
                </a:tc>
                <a:extLst>
                  <a:ext uri="{0D108BD9-81ED-4DB2-BD59-A6C34878D82A}">
                    <a16:rowId xmlns:a16="http://schemas.microsoft.com/office/drawing/2014/main" val="10003"/>
                  </a:ext>
                </a:extLst>
              </a:tr>
              <a:tr h="384048">
                <a:tc>
                  <a:txBody>
                    <a:bodyPr/>
                    <a:lstStyle/>
                    <a:p>
                      <a:pPr algn="l"/>
                      <a:r>
                        <a:rPr sz="1300" b="0">
                          <a:solidFill>
                            <a:srgbClr val="17150F"/>
                          </a:solidFill>
                          <a:latin typeface="Arial"/>
                        </a:rPr>
                        <a:t>Predicción</a:t>
                      </a:r>
                    </a:p>
                  </a:txBody>
                  <a:tcPr marL="82296" marR="82296" anchor="ctr">
                    <a:solidFill>
                      <a:srgbClr val="FFFFFF"/>
                    </a:solidFill>
                  </a:tcPr>
                </a:tc>
                <a:tc>
                  <a:txBody>
                    <a:bodyPr/>
                    <a:lstStyle/>
                    <a:p>
                      <a:pPr algn="r"/>
                      <a:r>
                        <a:rPr sz="1300" b="0">
                          <a:solidFill>
                            <a:srgbClr val="555045"/>
                          </a:solidFill>
                          <a:latin typeface="Arial"/>
                        </a:rPr>
                        <a:t>14</a:t>
                      </a:r>
                    </a:p>
                  </a:txBody>
                  <a:tcPr marL="82296" marR="82296" anchor="ctr">
                    <a:solidFill>
                      <a:srgbClr val="FFFFFF"/>
                    </a:solidFill>
                  </a:tcPr>
                </a:tc>
                <a:tc>
                  <a:txBody>
                    <a:bodyPr/>
                    <a:lstStyle/>
                    <a:p>
                      <a:pPr algn="r"/>
                      <a:r>
                        <a:rPr sz="1300" b="0">
                          <a:solidFill>
                            <a:srgbClr val="555045"/>
                          </a:solidFill>
                          <a:latin typeface="Arial"/>
                        </a:rPr>
                        <a:t>160</a:t>
                      </a:r>
                    </a:p>
                  </a:txBody>
                  <a:tcPr marL="82296" marR="82296" anchor="ctr">
                    <a:solidFill>
                      <a:srgbClr val="FFFFFF"/>
                    </a:solidFill>
                  </a:tcPr>
                </a:tc>
                <a:tc>
                  <a:txBody>
                    <a:bodyPr/>
                    <a:lstStyle/>
                    <a:p>
                      <a:pPr algn="r"/>
                      <a:r>
                        <a:rPr sz="1300" b="0">
                          <a:solidFill>
                            <a:srgbClr val="555045"/>
                          </a:solidFill>
                          <a:latin typeface="Arial"/>
                        </a:rPr>
                        <a:t>Se entrega, sin observación real</a:t>
                      </a:r>
                    </a:p>
                  </a:txBody>
                  <a:tcPr marL="82296" marR="82296" anchor="ctr">
                    <a:solidFill>
                      <a:srgbClr val="FFFFFF"/>
                    </a:solidFill>
                  </a:tcPr>
                </a:tc>
                <a:extLst>
                  <a:ext uri="{0D108BD9-81ED-4DB2-BD59-A6C34878D82A}">
                    <a16:rowId xmlns:a16="http://schemas.microsoft.com/office/drawing/2014/main" val="10004"/>
                  </a:ext>
                </a:extLst>
              </a:tr>
            </a:tbl>
          </a:graphicData>
        </a:graphic>
      </p:graphicFrame>
      <p:sp>
        <p:nvSpPr>
          <p:cNvPr id="8" name="Rectangle 7"/>
          <p:cNvSpPr/>
          <p:nvPr/>
        </p:nvSpPr>
        <p:spPr>
          <a:xfrm>
            <a:off x="777240" y="4304411"/>
            <a:ext cx="63500" cy="63500"/>
          </a:xfrm>
          <a:prstGeom prst="rect">
            <a:avLst/>
          </a:prstGeom>
          <a:solidFill>
            <a:srgbClr val="8C2F3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9" name="TextBox 8"/>
          <p:cNvSpPr txBox="1"/>
          <p:nvPr/>
        </p:nvSpPr>
        <p:spPr>
          <a:xfrm>
            <a:off x="978408" y="4203827"/>
            <a:ext cx="10436047" cy="530098"/>
          </a:xfrm>
          <a:prstGeom prst="rect">
            <a:avLst/>
          </a:prstGeom>
          <a:noFill/>
        </p:spPr>
        <p:txBody>
          <a:bodyPr wrap="square" lIns="0" tIns="0" rIns="0" bIns="0">
            <a:spAutoFit/>
          </a:bodyPr>
          <a:lstStyle/>
          <a:p>
            <a:pPr>
              <a:lnSpc>
                <a:spcPct val="124000"/>
              </a:lnSpc>
              <a:spcAft>
                <a:spcPts val="0"/>
              </a:spcAft>
            </a:pPr>
            <a:r>
              <a:rPr sz="1450" b="0">
                <a:solidFill>
                  <a:srgbClr val="555045"/>
                </a:solidFill>
                <a:latin typeface="Arial"/>
              </a:rPr>
              <a:t>Dentro de entrenamiento, </a:t>
            </a:r>
            <a:r>
              <a:rPr sz="1450" b="1">
                <a:solidFill>
                  <a:srgbClr val="17150F"/>
                </a:solidFill>
                <a:latin typeface="Arial"/>
              </a:rPr>
              <a:t>tres pliegues de ventana expansiva</a:t>
            </a:r>
            <a:r>
              <a:rPr sz="1450" b="0">
                <a:solidFill>
                  <a:srgbClr val="555045"/>
                </a:solidFill>
                <a:latin typeface="Arial"/>
              </a:rPr>
              <a:t>: ajusta con 5-7 y valida 8, luego 5-8 y valida 9, luego 5-9 y valida 10.</a:t>
            </a:r>
          </a:p>
        </p:txBody>
      </p:sp>
      <p:sp>
        <p:nvSpPr>
          <p:cNvPr id="10" name="Rectangle 9"/>
          <p:cNvSpPr/>
          <p:nvPr/>
        </p:nvSpPr>
        <p:spPr>
          <a:xfrm>
            <a:off x="777240" y="4962525"/>
            <a:ext cx="63500" cy="63500"/>
          </a:xfrm>
          <a:prstGeom prst="rect">
            <a:avLst/>
          </a:prstGeom>
          <a:solidFill>
            <a:srgbClr val="8C2F3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1" name="TextBox 10"/>
          <p:cNvSpPr txBox="1"/>
          <p:nvPr/>
        </p:nvSpPr>
        <p:spPr>
          <a:xfrm>
            <a:off x="978408" y="4861941"/>
            <a:ext cx="10436047" cy="283337"/>
          </a:xfrm>
          <a:prstGeom prst="rect">
            <a:avLst/>
          </a:prstGeom>
          <a:noFill/>
        </p:spPr>
        <p:txBody>
          <a:bodyPr wrap="square" lIns="0" tIns="0" rIns="0" bIns="0">
            <a:spAutoFit/>
          </a:bodyPr>
          <a:lstStyle/>
          <a:p>
            <a:pPr>
              <a:lnSpc>
                <a:spcPct val="124000"/>
              </a:lnSpc>
              <a:spcAft>
                <a:spcPts val="0"/>
              </a:spcAft>
            </a:pPr>
            <a:r>
              <a:rPr sz="1450" b="0">
                <a:solidFill>
                  <a:srgbClr val="555045"/>
                </a:solidFill>
                <a:latin typeface="Arial"/>
              </a:rPr>
              <a:t>Los hiperparámetros y la longitud de la media móvil </a:t>
            </a:r>
            <a:r>
              <a:rPr sz="1450" b="1">
                <a:solidFill>
                  <a:srgbClr val="17150F"/>
                </a:solidFill>
                <a:latin typeface="Arial"/>
              </a:rPr>
              <a:t>se eligen en validación</a:t>
            </a:r>
            <a:r>
              <a:rPr sz="1450" b="0">
                <a:solidFill>
                  <a:srgbClr val="555045"/>
                </a:solidFill>
                <a:latin typeface="Arial"/>
              </a:rPr>
              <a:t>, nunca en prueba.</a:t>
            </a:r>
          </a:p>
        </p:txBody>
      </p:sp>
      <p:sp>
        <p:nvSpPr>
          <p:cNvPr id="12" name="Rectangle 11"/>
          <p:cNvSpPr/>
          <p:nvPr/>
        </p:nvSpPr>
        <p:spPr>
          <a:xfrm>
            <a:off x="777240" y="5373878"/>
            <a:ext cx="63500" cy="63500"/>
          </a:xfrm>
          <a:prstGeom prst="rect">
            <a:avLst/>
          </a:prstGeom>
          <a:solidFill>
            <a:srgbClr val="8C2F3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3" name="TextBox 12"/>
          <p:cNvSpPr txBox="1"/>
          <p:nvPr/>
        </p:nvSpPr>
        <p:spPr>
          <a:xfrm>
            <a:off x="978408" y="5273294"/>
            <a:ext cx="10436047" cy="530098"/>
          </a:xfrm>
          <a:prstGeom prst="rect">
            <a:avLst/>
          </a:prstGeom>
          <a:noFill/>
        </p:spPr>
        <p:txBody>
          <a:bodyPr wrap="square" lIns="0" tIns="0" rIns="0" bIns="0">
            <a:spAutoFit/>
          </a:bodyPr>
          <a:lstStyle/>
          <a:p>
            <a:pPr>
              <a:lnSpc>
                <a:spcPct val="124000"/>
              </a:lnSpc>
              <a:spcAft>
                <a:spcPts val="0"/>
              </a:spcAft>
            </a:pPr>
            <a:r>
              <a:rPr sz="1450" b="0">
                <a:solidFill>
                  <a:srgbClr val="555045"/>
                </a:solidFill>
                <a:latin typeface="Arial"/>
              </a:rPr>
              <a:t>Las semanas </a:t>
            </a:r>
            <a:r>
              <a:rPr sz="1450" b="1">
                <a:solidFill>
                  <a:srgbClr val="17150F"/>
                </a:solidFill>
                <a:latin typeface="Arial"/>
              </a:rPr>
              <a:t>se deducen del panel</a:t>
            </a:r>
            <a:r>
              <a:rPr sz="1450" b="0">
                <a:solidFill>
                  <a:srgbClr val="555045"/>
                </a:solidFill>
                <a:latin typeface="Arial"/>
              </a:rPr>
              <a:t>: no hay ninguna constante con el número de semanas, así que el diseño se recalcula solo si llegan más datos.</a:t>
            </a:r>
          </a:p>
        </p:txBody>
      </p:sp>
      <p:sp>
        <p:nvSpPr>
          <p:cNvPr id="14" name="Rectangle 13"/>
          <p:cNvSpPr/>
          <p:nvPr/>
        </p:nvSpPr>
        <p:spPr>
          <a:xfrm>
            <a:off x="777240" y="6031992"/>
            <a:ext cx="63500" cy="63500"/>
          </a:xfrm>
          <a:prstGeom prst="rect">
            <a:avLst/>
          </a:prstGeom>
          <a:solidFill>
            <a:srgbClr val="8C2F3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5" name="TextBox 14"/>
          <p:cNvSpPr txBox="1"/>
          <p:nvPr/>
        </p:nvSpPr>
        <p:spPr>
          <a:xfrm>
            <a:off x="978408" y="5931408"/>
            <a:ext cx="10436047" cy="283337"/>
          </a:xfrm>
          <a:prstGeom prst="rect">
            <a:avLst/>
          </a:prstGeom>
          <a:noFill/>
        </p:spPr>
        <p:txBody>
          <a:bodyPr wrap="square" lIns="0" tIns="0" rIns="0" bIns="0">
            <a:spAutoFit/>
          </a:bodyPr>
          <a:lstStyle/>
          <a:p>
            <a:pPr>
              <a:lnSpc>
                <a:spcPct val="124000"/>
              </a:lnSpc>
              <a:spcAft>
                <a:spcPts val="0"/>
              </a:spcAft>
            </a:pPr>
            <a:r>
              <a:rPr sz="1450" b="1">
                <a:solidFill>
                  <a:srgbClr val="17150F"/>
                </a:solidFill>
                <a:latin typeface="Arial"/>
              </a:rPr>
              <a:t>Limitación declarada.</a:t>
            </a:r>
            <a:r>
              <a:rPr sz="1450" b="0">
                <a:solidFill>
                  <a:srgbClr val="555045"/>
                </a:solidFill>
                <a:latin typeface="Arial"/>
              </a:rPr>
              <a:t> El univariado se hizo sobre las trece semanas. Queda escrita en vez de disimularse.</a:t>
            </a:r>
          </a:p>
        </p:txBody>
      </p:sp>
      <p:sp>
        <p:nvSpPr>
          <p:cNvPr id="16" name="Rectangle 15"/>
          <p:cNvSpPr/>
          <p:nvPr/>
        </p:nvSpPr>
        <p:spPr>
          <a:xfrm>
            <a:off x="777240" y="6327648"/>
            <a:ext cx="10637215" cy="9525"/>
          </a:xfrm>
          <a:prstGeom prst="rect">
            <a:avLst/>
          </a:prstGeom>
          <a:solidFill>
            <a:srgbClr val="DCD8C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7" name="TextBox 16"/>
          <p:cNvSpPr txBox="1"/>
          <p:nvPr/>
        </p:nvSpPr>
        <p:spPr>
          <a:xfrm>
            <a:off x="777240" y="6428232"/>
            <a:ext cx="8686800" cy="274320"/>
          </a:xfrm>
          <a:prstGeom prst="rect">
            <a:avLst/>
          </a:prstGeom>
          <a:noFill/>
        </p:spPr>
        <p:txBody>
          <a:bodyPr wrap="square" lIns="0" tIns="0" rIns="0" bIns="0">
            <a:spAutoFit/>
          </a:bodyPr>
          <a:lstStyle/>
          <a:p>
            <a:pPr algn="l">
              <a:lnSpc>
                <a:spcPct val="122000"/>
              </a:lnSpc>
              <a:spcBef>
                <a:spcPts val="0"/>
              </a:spcBef>
              <a:spcAft>
                <a:spcPts val="0"/>
              </a:spcAft>
            </a:pPr>
            <a:r>
              <a:rPr sz="950" b="0">
                <a:solidFill>
                  <a:srgbClr val="8B8478"/>
                </a:solidFill>
                <a:latin typeface="Arial"/>
              </a:rPr>
              <a:t>Pasos 5-8 · Diseño experimental</a:t>
            </a:r>
          </a:p>
        </p:txBody>
      </p:sp>
      <p:sp>
        <p:nvSpPr>
          <p:cNvPr id="18" name="TextBox 17"/>
          <p:cNvSpPr txBox="1"/>
          <p:nvPr/>
        </p:nvSpPr>
        <p:spPr>
          <a:xfrm>
            <a:off x="10500055" y="6428232"/>
            <a:ext cx="914400" cy="274320"/>
          </a:xfrm>
          <a:prstGeom prst="rect">
            <a:avLst/>
          </a:prstGeom>
          <a:noFill/>
        </p:spPr>
        <p:txBody>
          <a:bodyPr wrap="square" lIns="0" tIns="0" rIns="0" bIns="0">
            <a:spAutoFit/>
          </a:bodyPr>
          <a:lstStyle/>
          <a:p>
            <a:pPr algn="r">
              <a:lnSpc>
                <a:spcPct val="122000"/>
              </a:lnSpc>
              <a:spcBef>
                <a:spcPts val="0"/>
              </a:spcBef>
              <a:spcAft>
                <a:spcPts val="0"/>
              </a:spcAft>
            </a:pPr>
            <a:r>
              <a:rPr sz="950" b="0">
                <a:solidFill>
                  <a:srgbClr val="8B8478"/>
                </a:solidFill>
                <a:latin typeface="Arial"/>
              </a:rPr>
              <a:t>15</a:t>
            </a:r>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777240" y="475488"/>
            <a:ext cx="10637215" cy="237744"/>
          </a:xfrm>
          <a:prstGeom prst="rect">
            <a:avLst/>
          </a:prstGeom>
          <a:noFill/>
        </p:spPr>
        <p:txBody>
          <a:bodyPr wrap="square" lIns="0" tIns="0" rIns="0" bIns="0">
            <a:spAutoFit/>
          </a:bodyPr>
          <a:lstStyle/>
          <a:p>
            <a:pPr algn="l">
              <a:lnSpc>
                <a:spcPct val="122000"/>
              </a:lnSpc>
              <a:spcBef>
                <a:spcPts val="0"/>
              </a:spcBef>
              <a:spcAft>
                <a:spcPts val="0"/>
              </a:spcAft>
            </a:pPr>
            <a:r>
              <a:rPr sz="1050" b="1">
                <a:solidFill>
                  <a:srgbClr val="8C2F39"/>
                </a:solidFill>
                <a:latin typeface="Arial"/>
              </a:rPr>
              <a:t>PASOS 5 A 8 · VARIABLES</a:t>
            </a:r>
          </a:p>
        </p:txBody>
      </p:sp>
      <p:sp>
        <p:nvSpPr>
          <p:cNvPr id="4" name="Rectangle 3"/>
          <p:cNvSpPr/>
          <p:nvPr/>
        </p:nvSpPr>
        <p:spPr>
          <a:xfrm>
            <a:off x="777240" y="768096"/>
            <a:ext cx="502920" cy="30480"/>
          </a:xfrm>
          <a:prstGeom prst="rect">
            <a:avLst/>
          </a:prstGeom>
          <a:solidFill>
            <a:srgbClr val="8C2F3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 name="TextBox 4"/>
          <p:cNvSpPr txBox="1"/>
          <p:nvPr/>
        </p:nvSpPr>
        <p:spPr>
          <a:xfrm>
            <a:off x="777240" y="914400"/>
            <a:ext cx="10637215" cy="836676"/>
          </a:xfrm>
          <a:prstGeom prst="rect">
            <a:avLst/>
          </a:prstGeom>
          <a:noFill/>
        </p:spPr>
        <p:txBody>
          <a:bodyPr wrap="square" lIns="0" tIns="0" rIns="0" bIns="0">
            <a:spAutoFit/>
          </a:bodyPr>
          <a:lstStyle/>
          <a:p>
            <a:pPr algn="l">
              <a:lnSpc>
                <a:spcPct val="106000"/>
              </a:lnSpc>
              <a:spcBef>
                <a:spcPts val="0"/>
              </a:spcBef>
              <a:spcAft>
                <a:spcPts val="0"/>
              </a:spcAft>
            </a:pPr>
            <a:r>
              <a:rPr sz="2700" b="1">
                <a:solidFill>
                  <a:srgbClr val="17150F"/>
                </a:solidFill>
                <a:latin typeface="Arial"/>
              </a:rPr>
              <a:t>Trece variables, todas calculadas de la semana anterior hacia atrás</a:t>
            </a:r>
          </a:p>
        </p:txBody>
      </p:sp>
      <p:graphicFrame>
        <p:nvGraphicFramePr>
          <p:cNvPr id="6" name="Table 5"/>
          <p:cNvGraphicFramePr>
            <a:graphicFrameLocks noGrp="1"/>
          </p:cNvGraphicFramePr>
          <p:nvPr/>
        </p:nvGraphicFramePr>
        <p:xfrm>
          <a:off x="777240" y="1897380"/>
          <a:ext cx="10637214" cy="2267712"/>
        </p:xfrm>
        <a:graphic>
          <a:graphicData uri="http://schemas.openxmlformats.org/drawingml/2006/table">
            <a:tbl>
              <a:tblPr bandRow="1">
                <a:tableStyleId>{5C22544A-7EE6-4342-B048-85BDC9FD1C3A}</a:tableStyleId>
              </a:tblPr>
              <a:tblGrid>
                <a:gridCol w="2552931">
                  <a:extLst>
                    <a:ext uri="{9D8B030D-6E8A-4147-A177-3AD203B41FA5}">
                      <a16:colId xmlns:a16="http://schemas.microsoft.com/office/drawing/2014/main" val="20000"/>
                    </a:ext>
                  </a:extLst>
                </a:gridCol>
                <a:gridCol w="3616653">
                  <a:extLst>
                    <a:ext uri="{9D8B030D-6E8A-4147-A177-3AD203B41FA5}">
                      <a16:colId xmlns:a16="http://schemas.microsoft.com/office/drawing/2014/main" val="20001"/>
                    </a:ext>
                  </a:extLst>
                </a:gridCol>
                <a:gridCol w="4467630">
                  <a:extLst>
                    <a:ext uri="{9D8B030D-6E8A-4147-A177-3AD203B41FA5}">
                      <a16:colId xmlns:a16="http://schemas.microsoft.com/office/drawing/2014/main" val="20002"/>
                    </a:ext>
                  </a:extLst>
                </a:gridCol>
              </a:tblGrid>
              <a:tr h="347472">
                <a:tc>
                  <a:txBody>
                    <a:bodyPr/>
                    <a:lstStyle/>
                    <a:p>
                      <a:pPr algn="l"/>
                      <a:r>
                        <a:rPr sz="1100" b="1">
                          <a:solidFill>
                            <a:srgbClr val="8B8478"/>
                          </a:solidFill>
                          <a:latin typeface="Arial"/>
                        </a:rPr>
                        <a:t>Familia</a:t>
                      </a:r>
                    </a:p>
                  </a:txBody>
                  <a:tcPr marL="82296" marR="82296" anchor="ctr">
                    <a:solidFill>
                      <a:srgbClr val="F4F2ED"/>
                    </a:solidFill>
                  </a:tcPr>
                </a:tc>
                <a:tc>
                  <a:txBody>
                    <a:bodyPr/>
                    <a:lstStyle/>
                    <a:p>
                      <a:pPr algn="r"/>
                      <a:r>
                        <a:rPr sz="1100" b="1">
                          <a:solidFill>
                            <a:srgbClr val="8B8478"/>
                          </a:solidFill>
                          <a:latin typeface="Arial"/>
                        </a:rPr>
                        <a:t>Variables</a:t>
                      </a:r>
                    </a:p>
                  </a:txBody>
                  <a:tcPr marL="82296" marR="82296" anchor="ctr">
                    <a:solidFill>
                      <a:srgbClr val="F4F2ED"/>
                    </a:solidFill>
                  </a:tcPr>
                </a:tc>
                <a:tc>
                  <a:txBody>
                    <a:bodyPr/>
                    <a:lstStyle/>
                    <a:p>
                      <a:pPr algn="r"/>
                      <a:r>
                        <a:rPr sz="1100" b="1">
                          <a:solidFill>
                            <a:srgbClr val="8B8478"/>
                          </a:solidFill>
                          <a:latin typeface="Arial"/>
                        </a:rPr>
                        <a:t>Qué capturan</a:t>
                      </a:r>
                    </a:p>
                  </a:txBody>
                  <a:tcPr marL="82296" marR="82296" anchor="ctr">
                    <a:solidFill>
                      <a:srgbClr val="F4F2ED"/>
                    </a:solidFill>
                  </a:tcPr>
                </a:tc>
                <a:extLst>
                  <a:ext uri="{0D108BD9-81ED-4DB2-BD59-A6C34878D82A}">
                    <a16:rowId xmlns:a16="http://schemas.microsoft.com/office/drawing/2014/main" val="10000"/>
                  </a:ext>
                </a:extLst>
              </a:tr>
              <a:tr h="384048">
                <a:tc>
                  <a:txBody>
                    <a:bodyPr/>
                    <a:lstStyle/>
                    <a:p>
                      <a:pPr algn="l"/>
                      <a:r>
                        <a:rPr sz="1250" b="0">
                          <a:solidFill>
                            <a:srgbClr val="17150F"/>
                          </a:solidFill>
                          <a:latin typeface="Arial"/>
                        </a:rPr>
                        <a:t>Rezagos</a:t>
                      </a:r>
                    </a:p>
                  </a:txBody>
                  <a:tcPr marL="82296" marR="82296" anchor="ctr">
                    <a:solidFill>
                      <a:srgbClr val="FFFFFF"/>
                    </a:solidFill>
                  </a:tcPr>
                </a:tc>
                <a:tc>
                  <a:txBody>
                    <a:bodyPr/>
                    <a:lstStyle/>
                    <a:p>
                      <a:pPr algn="r"/>
                      <a:r>
                        <a:rPr sz="1250" b="0">
                          <a:solidFill>
                            <a:srgbClr val="555045"/>
                          </a:solidFill>
                          <a:latin typeface="Arial"/>
                        </a:rPr>
                        <a:t>rezago_1 a rezago_4</a:t>
                      </a:r>
                    </a:p>
                  </a:txBody>
                  <a:tcPr marL="82296" marR="82296" anchor="ctr">
                    <a:solidFill>
                      <a:srgbClr val="FFFFFF"/>
                    </a:solidFill>
                  </a:tcPr>
                </a:tc>
                <a:tc>
                  <a:txBody>
                    <a:bodyPr/>
                    <a:lstStyle/>
                    <a:p>
                      <a:pPr algn="r"/>
                      <a:r>
                        <a:rPr sz="1250" b="0">
                          <a:solidFill>
                            <a:srgbClr val="555045"/>
                          </a:solidFill>
                          <a:latin typeface="Arial"/>
                        </a:rPr>
                        <a:t>El dato crudo de cada semana previa</a:t>
                      </a:r>
                    </a:p>
                  </a:txBody>
                  <a:tcPr marL="82296" marR="82296" anchor="ctr">
                    <a:solidFill>
                      <a:srgbClr val="FFFFFF"/>
                    </a:solidFill>
                  </a:tcPr>
                </a:tc>
                <a:extLst>
                  <a:ext uri="{0D108BD9-81ED-4DB2-BD59-A6C34878D82A}">
                    <a16:rowId xmlns:a16="http://schemas.microsoft.com/office/drawing/2014/main" val="10001"/>
                  </a:ext>
                </a:extLst>
              </a:tr>
              <a:tr h="384048">
                <a:tc>
                  <a:txBody>
                    <a:bodyPr/>
                    <a:lstStyle/>
                    <a:p>
                      <a:pPr algn="l"/>
                      <a:r>
                        <a:rPr sz="1250" b="0">
                          <a:solidFill>
                            <a:srgbClr val="17150F"/>
                          </a:solidFill>
                          <a:latin typeface="Arial"/>
                        </a:rPr>
                        <a:t>Medias móviles</a:t>
                      </a:r>
                    </a:p>
                  </a:txBody>
                  <a:tcPr marL="82296" marR="82296" anchor="ctr">
                    <a:solidFill>
                      <a:srgbClr val="FFFFFF"/>
                    </a:solidFill>
                  </a:tcPr>
                </a:tc>
                <a:tc>
                  <a:txBody>
                    <a:bodyPr/>
                    <a:lstStyle/>
                    <a:p>
                      <a:pPr algn="r"/>
                      <a:r>
                        <a:rPr sz="1250" b="0">
                          <a:solidFill>
                            <a:srgbClr val="555045"/>
                          </a:solidFill>
                          <a:latin typeface="Arial"/>
                        </a:rPr>
                        <a:t>media_2, media_3, media_4</a:t>
                      </a:r>
                    </a:p>
                  </a:txBody>
                  <a:tcPr marL="82296" marR="82296" anchor="ctr">
                    <a:solidFill>
                      <a:srgbClr val="FFFFFF"/>
                    </a:solidFill>
                  </a:tcPr>
                </a:tc>
                <a:tc>
                  <a:txBody>
                    <a:bodyPr/>
                    <a:lstStyle/>
                    <a:p>
                      <a:pPr algn="r"/>
                      <a:r>
                        <a:rPr sz="1250" b="0">
                          <a:solidFill>
                            <a:srgbClr val="555045"/>
                          </a:solidFill>
                          <a:latin typeface="Arial"/>
                        </a:rPr>
                        <a:t>El nivel reciente, promediando el ruido</a:t>
                      </a:r>
                    </a:p>
                  </a:txBody>
                  <a:tcPr marL="82296" marR="82296" anchor="ctr">
                    <a:solidFill>
                      <a:srgbClr val="FFFFFF"/>
                    </a:solidFill>
                  </a:tcPr>
                </a:tc>
                <a:extLst>
                  <a:ext uri="{0D108BD9-81ED-4DB2-BD59-A6C34878D82A}">
                    <a16:rowId xmlns:a16="http://schemas.microsoft.com/office/drawing/2014/main" val="10002"/>
                  </a:ext>
                </a:extLst>
              </a:tr>
              <a:tr h="384048">
                <a:tc>
                  <a:txBody>
                    <a:bodyPr/>
                    <a:lstStyle/>
                    <a:p>
                      <a:pPr algn="l"/>
                      <a:r>
                        <a:rPr sz="1250" b="0">
                          <a:solidFill>
                            <a:srgbClr val="17150F"/>
                          </a:solidFill>
                          <a:latin typeface="Arial"/>
                        </a:rPr>
                        <a:t>Desviaciones móviles</a:t>
                      </a:r>
                    </a:p>
                  </a:txBody>
                  <a:tcPr marL="82296" marR="82296" anchor="ctr">
                    <a:solidFill>
                      <a:srgbClr val="FFFFFF"/>
                    </a:solidFill>
                  </a:tcPr>
                </a:tc>
                <a:tc>
                  <a:txBody>
                    <a:bodyPr/>
                    <a:lstStyle/>
                    <a:p>
                      <a:pPr algn="r"/>
                      <a:r>
                        <a:rPr sz="1250" b="0">
                          <a:solidFill>
                            <a:srgbClr val="555045"/>
                          </a:solidFill>
                          <a:latin typeface="Arial"/>
                        </a:rPr>
                        <a:t>desv_2, desv_3, desv_4</a:t>
                      </a:r>
                    </a:p>
                  </a:txBody>
                  <a:tcPr marL="82296" marR="82296" anchor="ctr">
                    <a:solidFill>
                      <a:srgbClr val="FFFFFF"/>
                    </a:solidFill>
                  </a:tcPr>
                </a:tc>
                <a:tc>
                  <a:txBody>
                    <a:bodyPr/>
                    <a:lstStyle/>
                    <a:p>
                      <a:pPr algn="r"/>
                      <a:r>
                        <a:rPr sz="1250" b="0">
                          <a:solidFill>
                            <a:srgbClr val="555045"/>
                          </a:solidFill>
                          <a:latin typeface="Arial"/>
                        </a:rPr>
                        <a:t>La volatilidad propia de la serie</a:t>
                      </a:r>
                    </a:p>
                  </a:txBody>
                  <a:tcPr marL="82296" marR="82296" anchor="ctr">
                    <a:solidFill>
                      <a:srgbClr val="FFFFFF"/>
                    </a:solidFill>
                  </a:tcPr>
                </a:tc>
                <a:extLst>
                  <a:ext uri="{0D108BD9-81ED-4DB2-BD59-A6C34878D82A}">
                    <a16:rowId xmlns:a16="http://schemas.microsoft.com/office/drawing/2014/main" val="10003"/>
                  </a:ext>
                </a:extLst>
              </a:tr>
              <a:tr h="384048">
                <a:tc>
                  <a:txBody>
                    <a:bodyPr/>
                    <a:lstStyle/>
                    <a:p>
                      <a:pPr algn="l"/>
                      <a:r>
                        <a:rPr sz="1250" b="0">
                          <a:solidFill>
                            <a:srgbClr val="17150F"/>
                          </a:solidFill>
                          <a:latin typeface="Arial"/>
                        </a:rPr>
                        <a:t>Dirección</a:t>
                      </a:r>
                    </a:p>
                  </a:txBody>
                  <a:tcPr marL="82296" marR="82296" anchor="ctr">
                    <a:solidFill>
                      <a:srgbClr val="FFFFFF"/>
                    </a:solidFill>
                  </a:tcPr>
                </a:tc>
                <a:tc>
                  <a:txBody>
                    <a:bodyPr/>
                    <a:lstStyle/>
                    <a:p>
                      <a:pPr algn="r"/>
                      <a:r>
                        <a:rPr sz="1250" b="0">
                          <a:solidFill>
                            <a:srgbClr val="555045"/>
                          </a:solidFill>
                          <a:latin typeface="Arial"/>
                        </a:rPr>
                        <a:t>pendiente</a:t>
                      </a:r>
                    </a:p>
                  </a:txBody>
                  <a:tcPr marL="82296" marR="82296" anchor="ctr">
                    <a:solidFill>
                      <a:srgbClr val="FFFFFF"/>
                    </a:solidFill>
                  </a:tcPr>
                </a:tc>
                <a:tc>
                  <a:txBody>
                    <a:bodyPr/>
                    <a:lstStyle/>
                    <a:p>
                      <a:pPr algn="r"/>
                      <a:r>
                        <a:rPr sz="1250" b="0">
                          <a:solidFill>
                            <a:srgbClr val="555045"/>
                          </a:solidFill>
                          <a:latin typeface="Arial"/>
                        </a:rPr>
                        <a:t>Hacia dónde va la serie</a:t>
                      </a:r>
                    </a:p>
                  </a:txBody>
                  <a:tcPr marL="82296" marR="82296" anchor="ctr">
                    <a:solidFill>
                      <a:srgbClr val="FFFFFF"/>
                    </a:solidFill>
                  </a:tcPr>
                </a:tc>
                <a:extLst>
                  <a:ext uri="{0D108BD9-81ED-4DB2-BD59-A6C34878D82A}">
                    <a16:rowId xmlns:a16="http://schemas.microsoft.com/office/drawing/2014/main" val="10004"/>
                  </a:ext>
                </a:extLst>
              </a:tr>
              <a:tr h="384048">
                <a:tc>
                  <a:txBody>
                    <a:bodyPr/>
                    <a:lstStyle/>
                    <a:p>
                      <a:pPr algn="l"/>
                      <a:r>
                        <a:rPr sz="1250" b="0">
                          <a:solidFill>
                            <a:srgbClr val="17150F"/>
                          </a:solidFill>
                          <a:latin typeface="Arial"/>
                        </a:rPr>
                        <a:t>Derivadas</a:t>
                      </a:r>
                    </a:p>
                  </a:txBody>
                  <a:tcPr marL="82296" marR="82296" anchor="ctr">
                    <a:solidFill>
                      <a:srgbClr val="FFFFFF"/>
                    </a:solidFill>
                  </a:tcPr>
                </a:tc>
                <a:tc>
                  <a:txBody>
                    <a:bodyPr/>
                    <a:lstStyle/>
                    <a:p>
                      <a:pPr algn="r"/>
                      <a:r>
                        <a:rPr sz="1250" b="0">
                          <a:solidFill>
                            <a:srgbClr val="555045"/>
                          </a:solidFill>
                          <a:latin typeface="Arial"/>
                        </a:rPr>
                        <a:t>razon_ultima, cv_reciente</a:t>
                      </a:r>
                    </a:p>
                  </a:txBody>
                  <a:tcPr marL="82296" marR="82296" anchor="ctr">
                    <a:solidFill>
                      <a:srgbClr val="FFFFFF"/>
                    </a:solidFill>
                  </a:tcPr>
                </a:tc>
                <a:tc>
                  <a:txBody>
                    <a:bodyPr/>
                    <a:lstStyle/>
                    <a:p>
                      <a:pPr algn="r"/>
                      <a:r>
                        <a:rPr sz="1250" b="0">
                          <a:solidFill>
                            <a:srgbClr val="555045"/>
                          </a:solidFill>
                          <a:latin typeface="Arial"/>
                        </a:rPr>
                        <a:t>Posición y dispersión relativas</a:t>
                      </a:r>
                    </a:p>
                  </a:txBody>
                  <a:tcPr marL="82296" marR="82296" anchor="ctr">
                    <a:solidFill>
                      <a:srgbClr val="FFFFFF"/>
                    </a:solidFill>
                  </a:tcPr>
                </a:tc>
                <a:extLst>
                  <a:ext uri="{0D108BD9-81ED-4DB2-BD59-A6C34878D82A}">
                    <a16:rowId xmlns:a16="http://schemas.microsoft.com/office/drawing/2014/main" val="10005"/>
                  </a:ext>
                </a:extLst>
              </a:tr>
            </a:tbl>
          </a:graphicData>
        </a:graphic>
      </p:graphicFrame>
      <p:sp>
        <p:nvSpPr>
          <p:cNvPr id="7" name="Rectangle 6"/>
          <p:cNvSpPr/>
          <p:nvPr/>
        </p:nvSpPr>
        <p:spPr>
          <a:xfrm>
            <a:off x="777240" y="4576572"/>
            <a:ext cx="63500" cy="63500"/>
          </a:xfrm>
          <a:prstGeom prst="rect">
            <a:avLst/>
          </a:prstGeom>
          <a:solidFill>
            <a:srgbClr val="8C2F3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8" name="TextBox 7"/>
          <p:cNvSpPr txBox="1"/>
          <p:nvPr/>
        </p:nvSpPr>
        <p:spPr>
          <a:xfrm>
            <a:off x="978408" y="4475988"/>
            <a:ext cx="10436047" cy="530098"/>
          </a:xfrm>
          <a:prstGeom prst="rect">
            <a:avLst/>
          </a:prstGeom>
          <a:noFill/>
        </p:spPr>
        <p:txBody>
          <a:bodyPr wrap="square" lIns="0" tIns="0" rIns="0" bIns="0">
            <a:spAutoFit/>
          </a:bodyPr>
          <a:lstStyle/>
          <a:p>
            <a:pPr>
              <a:lnSpc>
                <a:spcPct val="124000"/>
              </a:lnSpc>
              <a:spcAft>
                <a:spcPts val="0"/>
              </a:spcAft>
            </a:pPr>
            <a:r>
              <a:rPr sz="1450" b="1">
                <a:solidFill>
                  <a:srgbClr val="17150F"/>
                </a:solidFill>
                <a:latin typeface="Arial"/>
              </a:rPr>
              <a:t>La prueba antifuga es automática.</a:t>
            </a:r>
            <a:r>
              <a:rPr sz="1450" b="0">
                <a:solidFill>
                  <a:srgbClr val="555045"/>
                </a:solidFill>
                <a:latin typeface="Arial"/>
              </a:rPr>
              <a:t> Reconstruye todas las variables ocultando lo posterior al corte y exige que las filas anteriores salgan idénticas.</a:t>
            </a:r>
          </a:p>
        </p:txBody>
      </p:sp>
      <p:sp>
        <p:nvSpPr>
          <p:cNvPr id="9" name="Rectangle 8"/>
          <p:cNvSpPr/>
          <p:nvPr/>
        </p:nvSpPr>
        <p:spPr>
          <a:xfrm>
            <a:off x="777240" y="5234686"/>
            <a:ext cx="63500" cy="63500"/>
          </a:xfrm>
          <a:prstGeom prst="rect">
            <a:avLst/>
          </a:prstGeom>
          <a:solidFill>
            <a:srgbClr val="8C2F3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0" name="TextBox 9"/>
          <p:cNvSpPr txBox="1"/>
          <p:nvPr/>
        </p:nvSpPr>
        <p:spPr>
          <a:xfrm>
            <a:off x="978408" y="5134102"/>
            <a:ext cx="10436047" cy="530098"/>
          </a:xfrm>
          <a:prstGeom prst="rect">
            <a:avLst/>
          </a:prstGeom>
          <a:noFill/>
        </p:spPr>
        <p:txBody>
          <a:bodyPr wrap="square" lIns="0" tIns="0" rIns="0" bIns="0">
            <a:spAutoFit/>
          </a:bodyPr>
          <a:lstStyle/>
          <a:p>
            <a:pPr>
              <a:lnSpc>
                <a:spcPct val="124000"/>
              </a:lnSpc>
              <a:spcAft>
                <a:spcPts val="0"/>
              </a:spcAft>
            </a:pPr>
            <a:r>
              <a:rPr sz="1450" b="1">
                <a:solidFill>
                  <a:srgbClr val="17150F"/>
                </a:solidFill>
                <a:latin typeface="Arial"/>
              </a:rPr>
              <a:t>Las correlaciones marginales engañan.</a:t>
            </a:r>
            <a:r>
              <a:rPr sz="1450" b="0">
                <a:solidFill>
                  <a:srgbClr val="555045"/>
                </a:solidFill>
                <a:latin typeface="Arial"/>
              </a:rPr>
              <a:t> Todas pasan de 0,90 con el objetivo, pero al restar la media de cada serie caen a cero: reflejan el nivel, no predicen.</a:t>
            </a:r>
          </a:p>
        </p:txBody>
      </p:sp>
      <p:sp>
        <p:nvSpPr>
          <p:cNvPr id="11" name="Rectangle 10"/>
          <p:cNvSpPr/>
          <p:nvPr/>
        </p:nvSpPr>
        <p:spPr>
          <a:xfrm>
            <a:off x="777240" y="5892800"/>
            <a:ext cx="63500" cy="63500"/>
          </a:xfrm>
          <a:prstGeom prst="rect">
            <a:avLst/>
          </a:prstGeom>
          <a:solidFill>
            <a:srgbClr val="8C2F3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2" name="TextBox 11"/>
          <p:cNvSpPr txBox="1"/>
          <p:nvPr/>
        </p:nvSpPr>
        <p:spPr>
          <a:xfrm>
            <a:off x="978408" y="5792216"/>
            <a:ext cx="10436047" cy="530098"/>
          </a:xfrm>
          <a:prstGeom prst="rect">
            <a:avLst/>
          </a:prstGeom>
          <a:noFill/>
        </p:spPr>
        <p:txBody>
          <a:bodyPr wrap="square" lIns="0" tIns="0" rIns="0" bIns="0">
            <a:spAutoFit/>
          </a:bodyPr>
          <a:lstStyle/>
          <a:p>
            <a:pPr>
              <a:lnSpc>
                <a:spcPct val="124000"/>
              </a:lnSpc>
              <a:spcAft>
                <a:spcPts val="0"/>
              </a:spcAft>
            </a:pPr>
            <a:r>
              <a:rPr sz="1450" b="1">
                <a:solidFill>
                  <a:srgbClr val="17150F"/>
                </a:solidFill>
                <a:latin typeface="Arial"/>
              </a:rPr>
              <a:t>Rezagos y medias móviles son linealmente dependientes.</a:t>
            </a:r>
            <a:r>
              <a:rPr sz="1450" b="0">
                <a:solidFill>
                  <a:srgbClr val="555045"/>
                </a:solidFill>
                <a:latin typeface="Arial"/>
              </a:rPr>
              <a:t> Un modelo lineal no puede recibir ambos: media_2 es la semisuma de rezago_1 y rezago_2.</a:t>
            </a:r>
          </a:p>
        </p:txBody>
      </p:sp>
      <p:sp>
        <p:nvSpPr>
          <p:cNvPr id="13" name="Rectangle 12"/>
          <p:cNvSpPr/>
          <p:nvPr/>
        </p:nvSpPr>
        <p:spPr>
          <a:xfrm>
            <a:off x="777240" y="6327648"/>
            <a:ext cx="10637215" cy="9525"/>
          </a:xfrm>
          <a:prstGeom prst="rect">
            <a:avLst/>
          </a:prstGeom>
          <a:solidFill>
            <a:srgbClr val="DCD8C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4" name="TextBox 13"/>
          <p:cNvSpPr txBox="1"/>
          <p:nvPr/>
        </p:nvSpPr>
        <p:spPr>
          <a:xfrm>
            <a:off x="777240" y="6428232"/>
            <a:ext cx="8686800" cy="274320"/>
          </a:xfrm>
          <a:prstGeom prst="rect">
            <a:avLst/>
          </a:prstGeom>
          <a:noFill/>
        </p:spPr>
        <p:txBody>
          <a:bodyPr wrap="square" lIns="0" tIns="0" rIns="0" bIns="0">
            <a:spAutoFit/>
          </a:bodyPr>
          <a:lstStyle/>
          <a:p>
            <a:pPr algn="l">
              <a:lnSpc>
                <a:spcPct val="122000"/>
              </a:lnSpc>
              <a:spcBef>
                <a:spcPts val="0"/>
              </a:spcBef>
              <a:spcAft>
                <a:spcPts val="0"/>
              </a:spcAft>
            </a:pPr>
            <a:r>
              <a:rPr sz="950" b="0">
                <a:solidFill>
                  <a:srgbClr val="8B8478"/>
                </a:solidFill>
                <a:latin typeface="Arial"/>
              </a:rPr>
              <a:t>Pasos 5-8 · Variables</a:t>
            </a:r>
          </a:p>
        </p:txBody>
      </p:sp>
      <p:sp>
        <p:nvSpPr>
          <p:cNvPr id="15" name="TextBox 14"/>
          <p:cNvSpPr txBox="1"/>
          <p:nvPr/>
        </p:nvSpPr>
        <p:spPr>
          <a:xfrm>
            <a:off x="10500055" y="6428232"/>
            <a:ext cx="914400" cy="274320"/>
          </a:xfrm>
          <a:prstGeom prst="rect">
            <a:avLst/>
          </a:prstGeom>
          <a:noFill/>
        </p:spPr>
        <p:txBody>
          <a:bodyPr wrap="square" lIns="0" tIns="0" rIns="0" bIns="0">
            <a:spAutoFit/>
          </a:bodyPr>
          <a:lstStyle/>
          <a:p>
            <a:pPr algn="r">
              <a:lnSpc>
                <a:spcPct val="122000"/>
              </a:lnSpc>
              <a:spcBef>
                <a:spcPts val="0"/>
              </a:spcBef>
              <a:spcAft>
                <a:spcPts val="0"/>
              </a:spcAft>
            </a:pPr>
            <a:r>
              <a:rPr sz="950" b="0">
                <a:solidFill>
                  <a:srgbClr val="8B8478"/>
                </a:solidFill>
                <a:latin typeface="Arial"/>
              </a:rPr>
              <a:t>16</a:t>
            </a:r>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777240" y="475488"/>
            <a:ext cx="10637215" cy="237744"/>
          </a:xfrm>
          <a:prstGeom prst="rect">
            <a:avLst/>
          </a:prstGeom>
          <a:noFill/>
        </p:spPr>
        <p:txBody>
          <a:bodyPr wrap="square" lIns="0" tIns="0" rIns="0" bIns="0">
            <a:spAutoFit/>
          </a:bodyPr>
          <a:lstStyle/>
          <a:p>
            <a:pPr algn="l">
              <a:lnSpc>
                <a:spcPct val="122000"/>
              </a:lnSpc>
              <a:spcBef>
                <a:spcPts val="0"/>
              </a:spcBef>
              <a:spcAft>
                <a:spcPts val="0"/>
              </a:spcAft>
            </a:pPr>
            <a:r>
              <a:rPr sz="1050" b="1">
                <a:solidFill>
                  <a:srgbClr val="8C2F39"/>
                </a:solidFill>
                <a:latin typeface="Arial"/>
              </a:rPr>
              <a:t>PASOS 5 A 8 · LÍNEAS BASE</a:t>
            </a:r>
          </a:p>
        </p:txBody>
      </p:sp>
      <p:sp>
        <p:nvSpPr>
          <p:cNvPr id="4" name="Rectangle 3"/>
          <p:cNvSpPr/>
          <p:nvPr/>
        </p:nvSpPr>
        <p:spPr>
          <a:xfrm>
            <a:off x="777240" y="768096"/>
            <a:ext cx="502920" cy="30480"/>
          </a:xfrm>
          <a:prstGeom prst="rect">
            <a:avLst/>
          </a:prstGeom>
          <a:solidFill>
            <a:srgbClr val="8C2F3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 name="TextBox 4"/>
          <p:cNvSpPr txBox="1"/>
          <p:nvPr/>
        </p:nvSpPr>
        <p:spPr>
          <a:xfrm>
            <a:off x="777240" y="914400"/>
            <a:ext cx="10637215" cy="836676"/>
          </a:xfrm>
          <a:prstGeom prst="rect">
            <a:avLst/>
          </a:prstGeom>
          <a:noFill/>
        </p:spPr>
        <p:txBody>
          <a:bodyPr wrap="square" lIns="0" tIns="0" rIns="0" bIns="0">
            <a:spAutoFit/>
          </a:bodyPr>
          <a:lstStyle/>
          <a:p>
            <a:pPr algn="l">
              <a:lnSpc>
                <a:spcPct val="106000"/>
              </a:lnSpc>
              <a:spcBef>
                <a:spcPts val="0"/>
              </a:spcBef>
              <a:spcAft>
                <a:spcPts val="0"/>
              </a:spcAft>
            </a:pPr>
            <a:r>
              <a:rPr sz="2700" b="1" dirty="0" err="1">
                <a:solidFill>
                  <a:srgbClr val="17150F"/>
                </a:solidFill>
                <a:latin typeface="Arial"/>
              </a:rPr>
              <a:t>Cuántas</a:t>
            </a:r>
            <a:r>
              <a:rPr sz="2700" b="1" dirty="0">
                <a:solidFill>
                  <a:srgbClr val="17150F"/>
                </a:solidFill>
                <a:latin typeface="Arial"/>
              </a:rPr>
              <a:t> </a:t>
            </a:r>
            <a:r>
              <a:rPr sz="2700" b="1" dirty="0" err="1">
                <a:solidFill>
                  <a:srgbClr val="17150F"/>
                </a:solidFill>
                <a:latin typeface="Arial"/>
              </a:rPr>
              <a:t>semanas</a:t>
            </a:r>
            <a:r>
              <a:rPr sz="2700" b="1" dirty="0">
                <a:solidFill>
                  <a:srgbClr val="17150F"/>
                </a:solidFill>
                <a:latin typeface="Arial"/>
              </a:rPr>
              <a:t> </a:t>
            </a:r>
            <a:r>
              <a:rPr sz="2700" b="1" dirty="0" err="1">
                <a:solidFill>
                  <a:srgbClr val="17150F"/>
                </a:solidFill>
                <a:latin typeface="Arial"/>
              </a:rPr>
              <a:t>mirar</a:t>
            </a:r>
            <a:r>
              <a:rPr sz="2700" b="1" dirty="0">
                <a:solidFill>
                  <a:srgbClr val="17150F"/>
                </a:solidFill>
                <a:latin typeface="Arial"/>
              </a:rPr>
              <a:t>: el </a:t>
            </a:r>
            <a:r>
              <a:rPr sz="2700" b="1" dirty="0" err="1">
                <a:solidFill>
                  <a:srgbClr val="17150F"/>
                </a:solidFill>
                <a:latin typeface="Arial"/>
              </a:rPr>
              <a:t>barrido</a:t>
            </a:r>
            <a:r>
              <a:rPr sz="2700" b="1" dirty="0">
                <a:solidFill>
                  <a:srgbClr val="17150F"/>
                </a:solidFill>
                <a:latin typeface="Arial"/>
              </a:rPr>
              <a:t> se </a:t>
            </a:r>
            <a:r>
              <a:rPr sz="2700" b="1" dirty="0" err="1">
                <a:solidFill>
                  <a:srgbClr val="17150F"/>
                </a:solidFill>
                <a:latin typeface="Arial"/>
              </a:rPr>
              <a:t>hace</a:t>
            </a:r>
            <a:r>
              <a:rPr sz="2700" b="1" dirty="0">
                <a:solidFill>
                  <a:srgbClr val="17150F"/>
                </a:solidFill>
                <a:latin typeface="Arial"/>
              </a:rPr>
              <a:t> </a:t>
            </a:r>
            <a:r>
              <a:rPr sz="2700" b="1" dirty="0" err="1">
                <a:solidFill>
                  <a:srgbClr val="17150F"/>
                </a:solidFill>
                <a:latin typeface="Arial"/>
              </a:rPr>
              <a:t>en</a:t>
            </a:r>
            <a:r>
              <a:rPr sz="2700" b="1" dirty="0">
                <a:solidFill>
                  <a:srgbClr val="17150F"/>
                </a:solidFill>
                <a:latin typeface="Arial"/>
              </a:rPr>
              <a:t> </a:t>
            </a:r>
            <a:r>
              <a:rPr sz="2700" b="1" dirty="0" err="1">
                <a:solidFill>
                  <a:srgbClr val="17150F"/>
                </a:solidFill>
                <a:latin typeface="Arial"/>
              </a:rPr>
              <a:t>validación</a:t>
            </a:r>
            <a:r>
              <a:rPr sz="2700" b="1" dirty="0">
                <a:solidFill>
                  <a:srgbClr val="17150F"/>
                </a:solidFill>
                <a:latin typeface="Arial"/>
              </a:rPr>
              <a:t>, no </a:t>
            </a:r>
            <a:r>
              <a:rPr sz="2700" b="1" dirty="0" err="1">
                <a:solidFill>
                  <a:srgbClr val="17150F"/>
                </a:solidFill>
                <a:latin typeface="Arial"/>
              </a:rPr>
              <a:t>en</a:t>
            </a:r>
            <a:r>
              <a:rPr sz="2700" b="1" dirty="0">
                <a:solidFill>
                  <a:srgbClr val="17150F"/>
                </a:solidFill>
                <a:latin typeface="Arial"/>
              </a:rPr>
              <a:t> </a:t>
            </a:r>
            <a:r>
              <a:rPr sz="2700" b="1" dirty="0" err="1">
                <a:solidFill>
                  <a:srgbClr val="17150F"/>
                </a:solidFill>
                <a:latin typeface="Arial"/>
              </a:rPr>
              <a:t>prueba</a:t>
            </a:r>
            <a:endParaRPr sz="2700" b="1" dirty="0">
              <a:solidFill>
                <a:srgbClr val="17150F"/>
              </a:solidFill>
              <a:latin typeface="Arial"/>
            </a:endParaRPr>
          </a:p>
        </p:txBody>
      </p:sp>
      <p:sp>
        <p:nvSpPr>
          <p:cNvPr id="7" name="TextBox 6"/>
          <p:cNvSpPr txBox="1"/>
          <p:nvPr/>
        </p:nvSpPr>
        <p:spPr>
          <a:xfrm>
            <a:off x="6735798" y="1842135"/>
            <a:ext cx="4465015" cy="3741345"/>
          </a:xfrm>
          <a:prstGeom prst="rect">
            <a:avLst/>
          </a:prstGeom>
          <a:noFill/>
        </p:spPr>
        <p:txBody>
          <a:bodyPr wrap="square" lIns="0" tIns="0" rIns="0" bIns="0">
            <a:spAutoFit/>
          </a:bodyPr>
          <a:lstStyle/>
          <a:p>
            <a:pPr algn="l">
              <a:lnSpc>
                <a:spcPct val="132000"/>
              </a:lnSpc>
              <a:spcBef>
                <a:spcPts val="0"/>
              </a:spcBef>
              <a:spcAft>
                <a:spcPts val="1400"/>
              </a:spcAft>
            </a:pPr>
            <a:r>
              <a:rPr lang="en-US" sz="1400" b="0" dirty="0">
                <a:solidFill>
                  <a:srgbClr val="555045"/>
                </a:solidFill>
                <a:latin typeface="Arial"/>
              </a:rPr>
              <a:t>La </a:t>
            </a:r>
            <a:r>
              <a:rPr lang="en-US" sz="1400" b="0" dirty="0" err="1">
                <a:solidFill>
                  <a:srgbClr val="555045"/>
                </a:solidFill>
                <a:latin typeface="Arial"/>
              </a:rPr>
              <a:t>métrica</a:t>
            </a:r>
            <a:r>
              <a:rPr lang="en-US" sz="1400" b="0" dirty="0">
                <a:solidFill>
                  <a:srgbClr val="555045"/>
                </a:solidFill>
                <a:latin typeface="Arial"/>
              </a:rPr>
              <a:t> de la </a:t>
            </a:r>
            <a:r>
              <a:rPr lang="en-US" sz="1400" b="0" dirty="0" err="1">
                <a:solidFill>
                  <a:srgbClr val="555045"/>
                </a:solidFill>
                <a:latin typeface="Arial"/>
              </a:rPr>
              <a:t>línea</a:t>
            </a:r>
            <a:r>
              <a:rPr lang="en-US" sz="1400" b="0" dirty="0">
                <a:solidFill>
                  <a:srgbClr val="555045"/>
                </a:solidFill>
                <a:latin typeface="Arial"/>
              </a:rPr>
              <a:t> base es el WAPE: </a:t>
            </a:r>
            <a:r>
              <a:rPr lang="en-US" sz="1400" b="0" dirty="0" err="1">
                <a:solidFill>
                  <a:srgbClr val="555045"/>
                </a:solidFill>
                <a:latin typeface="Arial"/>
              </a:rPr>
              <a:t>suma</a:t>
            </a:r>
            <a:r>
              <a:rPr lang="en-US" sz="1400" b="0" dirty="0">
                <a:solidFill>
                  <a:srgbClr val="555045"/>
                </a:solidFill>
                <a:latin typeface="Arial"/>
              </a:rPr>
              <a:t> </a:t>
            </a:r>
            <a:r>
              <a:rPr lang="en-US" sz="1400" b="0" dirty="0" err="1">
                <a:solidFill>
                  <a:srgbClr val="555045"/>
                </a:solidFill>
                <a:latin typeface="Arial"/>
              </a:rPr>
              <a:t>los</a:t>
            </a:r>
            <a:r>
              <a:rPr lang="en-US" sz="1400" b="0" dirty="0">
                <a:solidFill>
                  <a:srgbClr val="555045"/>
                </a:solidFill>
                <a:latin typeface="Arial"/>
              </a:rPr>
              <a:t> </a:t>
            </a:r>
            <a:r>
              <a:rPr lang="en-US" sz="1400" b="0" dirty="0" err="1">
                <a:solidFill>
                  <a:srgbClr val="555045"/>
                </a:solidFill>
                <a:latin typeface="Arial"/>
              </a:rPr>
              <a:t>errores</a:t>
            </a:r>
            <a:r>
              <a:rPr lang="en-US" sz="1400" b="0" dirty="0">
                <a:solidFill>
                  <a:srgbClr val="555045"/>
                </a:solidFill>
                <a:latin typeface="Arial"/>
              </a:rPr>
              <a:t> </a:t>
            </a:r>
            <a:r>
              <a:rPr lang="en-US" sz="1400" b="0" dirty="0" err="1">
                <a:solidFill>
                  <a:srgbClr val="555045"/>
                </a:solidFill>
                <a:latin typeface="Arial"/>
              </a:rPr>
              <a:t>en</a:t>
            </a:r>
            <a:r>
              <a:rPr lang="en-US" sz="1400" b="0" dirty="0">
                <a:solidFill>
                  <a:srgbClr val="555045"/>
                </a:solidFill>
                <a:latin typeface="Arial"/>
              </a:rPr>
              <a:t> </a:t>
            </a:r>
            <a:r>
              <a:rPr lang="en-US" sz="1400" b="0" dirty="0" err="1">
                <a:solidFill>
                  <a:srgbClr val="555045"/>
                </a:solidFill>
                <a:latin typeface="Arial"/>
              </a:rPr>
              <a:t>unidades</a:t>
            </a:r>
            <a:r>
              <a:rPr lang="en-US" sz="1400" b="0" dirty="0">
                <a:solidFill>
                  <a:srgbClr val="555045"/>
                </a:solidFill>
                <a:latin typeface="Arial"/>
              </a:rPr>
              <a:t> y </a:t>
            </a:r>
            <a:r>
              <a:rPr lang="en-US" sz="1400" b="0" dirty="0" err="1">
                <a:solidFill>
                  <a:srgbClr val="555045"/>
                </a:solidFill>
                <a:latin typeface="Arial"/>
              </a:rPr>
              <a:t>los</a:t>
            </a:r>
            <a:r>
              <a:rPr lang="en-US" sz="1400" b="0" dirty="0">
                <a:solidFill>
                  <a:srgbClr val="555045"/>
                </a:solidFill>
                <a:latin typeface="Arial"/>
              </a:rPr>
              <a:t> divide entre las </a:t>
            </a:r>
            <a:r>
              <a:rPr lang="en-US" sz="1400" b="0" dirty="0" err="1">
                <a:solidFill>
                  <a:srgbClr val="555045"/>
                </a:solidFill>
                <a:latin typeface="Arial"/>
              </a:rPr>
              <a:t>ventas</a:t>
            </a:r>
            <a:r>
              <a:rPr lang="en-US" sz="1400" b="0" dirty="0">
                <a:solidFill>
                  <a:srgbClr val="555045"/>
                </a:solidFill>
                <a:latin typeface="Arial"/>
              </a:rPr>
              <a:t> reales, </a:t>
            </a:r>
            <a:r>
              <a:rPr lang="en-US" sz="1400" b="0" dirty="0" err="1">
                <a:solidFill>
                  <a:srgbClr val="555045"/>
                </a:solidFill>
                <a:latin typeface="Arial"/>
              </a:rPr>
              <a:t>así</a:t>
            </a:r>
            <a:r>
              <a:rPr lang="en-US" sz="1400" b="0" dirty="0">
                <a:solidFill>
                  <a:srgbClr val="555045"/>
                </a:solidFill>
                <a:latin typeface="Arial"/>
              </a:rPr>
              <a:t> </a:t>
            </a:r>
            <a:r>
              <a:rPr lang="en-US" sz="1400" b="0" dirty="0" err="1">
                <a:solidFill>
                  <a:srgbClr val="555045"/>
                </a:solidFill>
                <a:latin typeface="Arial"/>
              </a:rPr>
              <a:t>cada</a:t>
            </a:r>
            <a:r>
              <a:rPr lang="en-US" sz="1400" b="0" dirty="0">
                <a:solidFill>
                  <a:srgbClr val="555045"/>
                </a:solidFill>
                <a:latin typeface="Arial"/>
              </a:rPr>
              <a:t> </a:t>
            </a:r>
            <a:r>
              <a:rPr lang="en-US" sz="1400" b="0" dirty="0" err="1">
                <a:solidFill>
                  <a:srgbClr val="555045"/>
                </a:solidFill>
                <a:latin typeface="Arial"/>
              </a:rPr>
              <a:t>serie</a:t>
            </a:r>
            <a:r>
              <a:rPr lang="en-US" sz="1400" b="0" dirty="0">
                <a:solidFill>
                  <a:srgbClr val="555045"/>
                </a:solidFill>
                <a:latin typeface="Arial"/>
              </a:rPr>
              <a:t> </a:t>
            </a:r>
            <a:r>
              <a:rPr lang="en-US" sz="1400" b="0" dirty="0" err="1">
                <a:solidFill>
                  <a:srgbClr val="555045"/>
                </a:solidFill>
                <a:latin typeface="Arial"/>
              </a:rPr>
              <a:t>pesa</a:t>
            </a:r>
            <a:r>
              <a:rPr lang="en-US" sz="1400" b="0" dirty="0">
                <a:solidFill>
                  <a:srgbClr val="555045"/>
                </a:solidFill>
                <a:latin typeface="Arial"/>
              </a:rPr>
              <a:t> </a:t>
            </a:r>
            <a:r>
              <a:rPr lang="en-US" sz="1400" b="0" dirty="0" err="1">
                <a:solidFill>
                  <a:srgbClr val="555045"/>
                </a:solidFill>
                <a:latin typeface="Arial"/>
              </a:rPr>
              <a:t>según</a:t>
            </a:r>
            <a:r>
              <a:rPr lang="en-US" sz="1400" b="0" dirty="0">
                <a:solidFill>
                  <a:srgbClr val="555045"/>
                </a:solidFill>
                <a:latin typeface="Arial"/>
              </a:rPr>
              <a:t> lo </a:t>
            </a:r>
            <a:r>
              <a:rPr lang="en-US" sz="1400" b="0" dirty="0" err="1">
                <a:solidFill>
                  <a:srgbClr val="555045"/>
                </a:solidFill>
                <a:latin typeface="Arial"/>
              </a:rPr>
              <a:t>que</a:t>
            </a:r>
            <a:r>
              <a:rPr lang="en-US" sz="1400" b="0" dirty="0">
                <a:solidFill>
                  <a:srgbClr val="555045"/>
                </a:solidFill>
                <a:latin typeface="Arial"/>
              </a:rPr>
              <a:t> </a:t>
            </a:r>
            <a:r>
              <a:rPr lang="en-US" sz="1400" b="0" dirty="0" err="1">
                <a:solidFill>
                  <a:srgbClr val="555045"/>
                </a:solidFill>
                <a:latin typeface="Arial"/>
              </a:rPr>
              <a:t>vende</a:t>
            </a:r>
            <a:r>
              <a:rPr lang="en-US" sz="1400" b="0" dirty="0">
                <a:solidFill>
                  <a:srgbClr val="555045"/>
                </a:solidFill>
                <a:latin typeface="Arial"/>
              </a:rPr>
              <a:t>. A </a:t>
            </a:r>
            <a:r>
              <a:rPr lang="en-US" sz="1400" b="0" dirty="0" err="1">
                <a:solidFill>
                  <a:srgbClr val="555045"/>
                </a:solidFill>
                <a:latin typeface="Arial"/>
              </a:rPr>
              <a:t>diferencia</a:t>
            </a:r>
            <a:r>
              <a:rPr lang="en-US" sz="1400" b="0" dirty="0">
                <a:solidFill>
                  <a:srgbClr val="555045"/>
                </a:solidFill>
                <a:latin typeface="Arial"/>
              </a:rPr>
              <a:t> del MAPE, no se </a:t>
            </a:r>
            <a:r>
              <a:rPr lang="en-US" sz="1400" b="0" dirty="0" err="1">
                <a:solidFill>
                  <a:srgbClr val="555045"/>
                </a:solidFill>
                <a:latin typeface="Arial"/>
              </a:rPr>
              <a:t>dispara</a:t>
            </a:r>
            <a:r>
              <a:rPr lang="en-US" sz="1400" b="0" dirty="0">
                <a:solidFill>
                  <a:srgbClr val="555045"/>
                </a:solidFill>
                <a:latin typeface="Arial"/>
              </a:rPr>
              <a:t> </a:t>
            </a:r>
            <a:r>
              <a:rPr lang="en-US" sz="1400" b="0" dirty="0" err="1">
                <a:solidFill>
                  <a:srgbClr val="555045"/>
                </a:solidFill>
                <a:latin typeface="Arial"/>
              </a:rPr>
              <a:t>en</a:t>
            </a:r>
            <a:r>
              <a:rPr lang="en-US" sz="1400" b="0" dirty="0">
                <a:solidFill>
                  <a:srgbClr val="555045"/>
                </a:solidFill>
                <a:latin typeface="Arial"/>
              </a:rPr>
              <a:t> las series de bajo </a:t>
            </a:r>
            <a:r>
              <a:rPr lang="en-US" sz="1400" b="0" dirty="0" err="1">
                <a:solidFill>
                  <a:srgbClr val="555045"/>
                </a:solidFill>
                <a:latin typeface="Arial"/>
              </a:rPr>
              <a:t>volumen</a:t>
            </a:r>
            <a:r>
              <a:rPr lang="en-US" sz="1400" b="0" dirty="0">
                <a:solidFill>
                  <a:srgbClr val="555045"/>
                </a:solidFill>
                <a:latin typeface="Arial"/>
              </a:rPr>
              <a:t> </a:t>
            </a:r>
            <a:r>
              <a:rPr lang="en-US" sz="1400" b="0" dirty="0" err="1">
                <a:solidFill>
                  <a:srgbClr val="555045"/>
                </a:solidFill>
                <a:latin typeface="Arial"/>
              </a:rPr>
              <a:t>ni</a:t>
            </a:r>
            <a:r>
              <a:rPr lang="en-US" sz="1400" b="0" dirty="0">
                <a:solidFill>
                  <a:srgbClr val="555045"/>
                </a:solidFill>
                <a:latin typeface="Arial"/>
              </a:rPr>
              <a:t> se </a:t>
            </a:r>
            <a:r>
              <a:rPr lang="en-US" sz="1400" b="0" dirty="0" err="1">
                <a:solidFill>
                  <a:srgbClr val="555045"/>
                </a:solidFill>
                <a:latin typeface="Arial"/>
              </a:rPr>
              <a:t>rompe</a:t>
            </a:r>
            <a:r>
              <a:rPr lang="en-US" sz="1400" b="0" dirty="0">
                <a:solidFill>
                  <a:srgbClr val="555045"/>
                </a:solidFill>
                <a:latin typeface="Arial"/>
              </a:rPr>
              <a:t> con </a:t>
            </a:r>
            <a:r>
              <a:rPr lang="en-US" sz="1400" b="0" dirty="0" err="1">
                <a:solidFill>
                  <a:srgbClr val="555045"/>
                </a:solidFill>
                <a:latin typeface="Arial"/>
              </a:rPr>
              <a:t>ventas</a:t>
            </a:r>
            <a:r>
              <a:rPr lang="en-US" sz="1400" b="0" dirty="0">
                <a:solidFill>
                  <a:srgbClr val="555045"/>
                </a:solidFill>
                <a:latin typeface="Arial"/>
              </a:rPr>
              <a:t> </a:t>
            </a:r>
            <a:r>
              <a:rPr lang="en-US" sz="1400" b="0" dirty="0" err="1">
                <a:solidFill>
                  <a:srgbClr val="555045"/>
                </a:solidFill>
                <a:latin typeface="Arial"/>
              </a:rPr>
              <a:t>cercanas</a:t>
            </a:r>
            <a:r>
              <a:rPr lang="en-US" sz="1400" b="0" dirty="0">
                <a:solidFill>
                  <a:srgbClr val="555045"/>
                </a:solidFill>
                <a:latin typeface="Arial"/>
              </a:rPr>
              <a:t> a cero</a:t>
            </a:r>
            <a:endParaRPr lang="en-US" sz="1400" dirty="0">
              <a:solidFill>
                <a:srgbClr val="555045"/>
              </a:solidFill>
              <a:latin typeface="Arial"/>
            </a:endParaRPr>
          </a:p>
          <a:p>
            <a:pPr algn="l">
              <a:lnSpc>
                <a:spcPct val="132000"/>
              </a:lnSpc>
              <a:spcBef>
                <a:spcPts val="0"/>
              </a:spcBef>
              <a:spcAft>
                <a:spcPts val="1400"/>
              </a:spcAft>
            </a:pPr>
            <a:r>
              <a:rPr lang="en-US" sz="1400" b="0" dirty="0">
                <a:solidFill>
                  <a:srgbClr val="555045"/>
                </a:solidFill>
                <a:latin typeface="Arial"/>
              </a:rPr>
              <a:t>La curva </a:t>
            </a:r>
            <a:r>
              <a:rPr lang="en-US" sz="1400" b="0" dirty="0" err="1">
                <a:solidFill>
                  <a:srgbClr val="555045"/>
                </a:solidFill>
                <a:latin typeface="Arial"/>
              </a:rPr>
              <a:t>tiene</a:t>
            </a:r>
            <a:r>
              <a:rPr lang="en-US" sz="1400" b="0" dirty="0">
                <a:solidFill>
                  <a:srgbClr val="555045"/>
                </a:solidFill>
                <a:latin typeface="Arial"/>
              </a:rPr>
              <a:t> forma de U. Con 4 y 5 </a:t>
            </a:r>
            <a:r>
              <a:rPr lang="en-US" sz="1400" b="0" dirty="0" err="1">
                <a:solidFill>
                  <a:srgbClr val="555045"/>
                </a:solidFill>
                <a:latin typeface="Arial"/>
              </a:rPr>
              <a:t>semanas</a:t>
            </a:r>
            <a:r>
              <a:rPr lang="en-US" sz="1400" b="0" dirty="0">
                <a:solidFill>
                  <a:srgbClr val="555045"/>
                </a:solidFill>
                <a:latin typeface="Arial"/>
              </a:rPr>
              <a:t> el error </a:t>
            </a:r>
            <a:r>
              <a:rPr lang="en-US" sz="1400" b="0" dirty="0" err="1">
                <a:solidFill>
                  <a:srgbClr val="555045"/>
                </a:solidFill>
                <a:latin typeface="Arial"/>
              </a:rPr>
              <a:t>empata</a:t>
            </a:r>
            <a:r>
              <a:rPr lang="en-US" sz="1400" b="0" dirty="0">
                <a:solidFill>
                  <a:srgbClr val="555045"/>
                </a:solidFill>
                <a:latin typeface="Arial"/>
              </a:rPr>
              <a:t> </a:t>
            </a:r>
            <a:r>
              <a:rPr lang="en-US" sz="1400" b="0" dirty="0" err="1">
                <a:solidFill>
                  <a:srgbClr val="555045"/>
                </a:solidFill>
                <a:latin typeface="Arial"/>
              </a:rPr>
              <a:t>en</a:t>
            </a:r>
            <a:r>
              <a:rPr lang="en-US" sz="1400" b="0" dirty="0">
                <a:solidFill>
                  <a:srgbClr val="555045"/>
                </a:solidFill>
                <a:latin typeface="Arial"/>
              </a:rPr>
              <a:t> 11,28 %. Por </a:t>
            </a:r>
            <a:r>
              <a:rPr lang="en-US" sz="1400" b="0" dirty="0" err="1">
                <a:solidFill>
                  <a:srgbClr val="555045"/>
                </a:solidFill>
                <a:latin typeface="Arial"/>
              </a:rPr>
              <a:t>debajo</a:t>
            </a:r>
            <a:r>
              <a:rPr lang="en-US" sz="1400" b="0" dirty="0">
                <a:solidFill>
                  <a:srgbClr val="555045"/>
                </a:solidFill>
                <a:latin typeface="Arial"/>
              </a:rPr>
              <a:t> </a:t>
            </a:r>
            <a:r>
              <a:rPr lang="en-US" sz="1400" b="0" dirty="0" err="1">
                <a:solidFill>
                  <a:srgbClr val="555045"/>
                </a:solidFill>
                <a:latin typeface="Arial"/>
              </a:rPr>
              <a:t>entra</a:t>
            </a:r>
            <a:r>
              <a:rPr lang="en-US" sz="1400" b="0" dirty="0">
                <a:solidFill>
                  <a:srgbClr val="555045"/>
                </a:solidFill>
                <a:latin typeface="Arial"/>
              </a:rPr>
              <a:t> </a:t>
            </a:r>
            <a:r>
              <a:rPr lang="en-US" sz="1400" b="0" dirty="0" err="1">
                <a:solidFill>
                  <a:srgbClr val="555045"/>
                </a:solidFill>
                <a:latin typeface="Arial"/>
              </a:rPr>
              <a:t>ruido</a:t>
            </a:r>
            <a:r>
              <a:rPr lang="en-US" sz="1400" b="0" dirty="0">
                <a:solidFill>
                  <a:srgbClr val="555045"/>
                </a:solidFill>
                <a:latin typeface="Arial"/>
              </a:rPr>
              <a:t>, </a:t>
            </a:r>
            <a:r>
              <a:rPr lang="en-US" sz="1400" b="0" dirty="0" err="1">
                <a:solidFill>
                  <a:srgbClr val="555045"/>
                </a:solidFill>
                <a:latin typeface="Arial"/>
              </a:rPr>
              <a:t>por</a:t>
            </a:r>
            <a:r>
              <a:rPr lang="en-US" sz="1400" b="0" dirty="0">
                <a:solidFill>
                  <a:srgbClr val="555045"/>
                </a:solidFill>
                <a:latin typeface="Arial"/>
              </a:rPr>
              <a:t> </a:t>
            </a:r>
            <a:r>
              <a:rPr lang="en-US" sz="1400" b="0" dirty="0" err="1">
                <a:solidFill>
                  <a:srgbClr val="555045"/>
                </a:solidFill>
                <a:latin typeface="Arial"/>
              </a:rPr>
              <a:t>encima</a:t>
            </a:r>
            <a:r>
              <a:rPr lang="en-US" sz="1400" b="0" dirty="0">
                <a:solidFill>
                  <a:srgbClr val="555045"/>
                </a:solidFill>
                <a:latin typeface="Arial"/>
              </a:rPr>
              <a:t> </a:t>
            </a:r>
            <a:r>
              <a:rPr lang="en-US" sz="1400" b="0" dirty="0" err="1">
                <a:solidFill>
                  <a:srgbClr val="555045"/>
                </a:solidFill>
                <a:latin typeface="Arial"/>
              </a:rPr>
              <a:t>entra</a:t>
            </a:r>
            <a:r>
              <a:rPr lang="en-US" sz="1400" b="0" dirty="0">
                <a:solidFill>
                  <a:srgbClr val="555045"/>
                </a:solidFill>
                <a:latin typeface="Arial"/>
              </a:rPr>
              <a:t> </a:t>
            </a:r>
            <a:r>
              <a:rPr lang="en-US" sz="1400" b="0" dirty="0" err="1">
                <a:solidFill>
                  <a:srgbClr val="555045"/>
                </a:solidFill>
                <a:latin typeface="Arial"/>
              </a:rPr>
              <a:t>historia</a:t>
            </a:r>
            <a:r>
              <a:rPr lang="en-US" sz="1400" b="0" dirty="0">
                <a:solidFill>
                  <a:srgbClr val="555045"/>
                </a:solidFill>
                <a:latin typeface="Arial"/>
              </a:rPr>
              <a:t> </a:t>
            </a:r>
            <a:r>
              <a:rPr lang="en-US" sz="1400" b="0" dirty="0" err="1">
                <a:solidFill>
                  <a:srgbClr val="555045"/>
                </a:solidFill>
                <a:latin typeface="Arial"/>
              </a:rPr>
              <a:t>desfasada</a:t>
            </a:r>
            <a:r>
              <a:rPr lang="en-US" sz="1400" b="0" dirty="0">
                <a:solidFill>
                  <a:srgbClr val="555045"/>
                </a:solidFill>
                <a:latin typeface="Arial"/>
              </a:rPr>
              <a:t>.</a:t>
            </a:r>
          </a:p>
          <a:p>
            <a:pPr algn="l">
              <a:lnSpc>
                <a:spcPct val="132000"/>
              </a:lnSpc>
              <a:spcBef>
                <a:spcPts val="0"/>
              </a:spcBef>
              <a:spcAft>
                <a:spcPts val="1400"/>
              </a:spcAft>
            </a:pPr>
            <a:r>
              <a:rPr lang="en-US" sz="1400" b="0" dirty="0">
                <a:solidFill>
                  <a:srgbClr val="555045"/>
                </a:solidFill>
                <a:latin typeface="Arial"/>
              </a:rPr>
              <a:t>Se </a:t>
            </a:r>
            <a:r>
              <a:rPr lang="en-US" sz="1400" b="0" dirty="0" err="1">
                <a:solidFill>
                  <a:srgbClr val="555045"/>
                </a:solidFill>
                <a:latin typeface="Arial"/>
              </a:rPr>
              <a:t>toma</a:t>
            </a:r>
            <a:r>
              <a:rPr lang="en-US" sz="1400" b="0" dirty="0">
                <a:solidFill>
                  <a:srgbClr val="555045"/>
                </a:solidFill>
                <a:latin typeface="Arial"/>
              </a:rPr>
              <a:t> 4 </a:t>
            </a:r>
            <a:r>
              <a:rPr lang="en-US" sz="1400" b="0" dirty="0" err="1">
                <a:solidFill>
                  <a:srgbClr val="555045"/>
                </a:solidFill>
                <a:latin typeface="Arial"/>
              </a:rPr>
              <a:t>porque</a:t>
            </a:r>
            <a:r>
              <a:rPr lang="en-US" sz="1400" b="0" dirty="0">
                <a:solidFill>
                  <a:srgbClr val="555045"/>
                </a:solidFill>
                <a:latin typeface="Arial"/>
              </a:rPr>
              <a:t>, a </a:t>
            </a:r>
            <a:r>
              <a:rPr lang="en-US" sz="1400" b="0" dirty="0" err="1">
                <a:solidFill>
                  <a:srgbClr val="555045"/>
                </a:solidFill>
                <a:latin typeface="Arial"/>
              </a:rPr>
              <a:t>igual</a:t>
            </a:r>
            <a:r>
              <a:rPr lang="en-US" sz="1400" b="0" dirty="0">
                <a:solidFill>
                  <a:srgbClr val="555045"/>
                </a:solidFill>
                <a:latin typeface="Arial"/>
              </a:rPr>
              <a:t> error, la </a:t>
            </a:r>
            <a:r>
              <a:rPr lang="en-US" sz="1400" b="0" dirty="0" err="1">
                <a:solidFill>
                  <a:srgbClr val="555045"/>
                </a:solidFill>
                <a:latin typeface="Arial"/>
              </a:rPr>
              <a:t>ventana</a:t>
            </a:r>
            <a:r>
              <a:rPr lang="en-US" sz="1400" b="0" dirty="0">
                <a:solidFill>
                  <a:srgbClr val="555045"/>
                </a:solidFill>
                <a:latin typeface="Arial"/>
              </a:rPr>
              <a:t> </a:t>
            </a:r>
            <a:r>
              <a:rPr lang="en-US" sz="1400" b="0" dirty="0" err="1">
                <a:solidFill>
                  <a:srgbClr val="555045"/>
                </a:solidFill>
                <a:latin typeface="Arial"/>
              </a:rPr>
              <a:t>más</a:t>
            </a:r>
            <a:r>
              <a:rPr lang="en-US" sz="1400" b="0" dirty="0">
                <a:solidFill>
                  <a:srgbClr val="555045"/>
                </a:solidFill>
                <a:latin typeface="Arial"/>
              </a:rPr>
              <a:t> </a:t>
            </a:r>
            <a:r>
              <a:rPr lang="en-US" sz="1400" b="0" dirty="0" err="1">
                <a:solidFill>
                  <a:srgbClr val="555045"/>
                </a:solidFill>
                <a:latin typeface="Arial"/>
              </a:rPr>
              <a:t>corta</a:t>
            </a:r>
            <a:r>
              <a:rPr lang="en-US" sz="1400" b="0" dirty="0">
                <a:solidFill>
                  <a:srgbClr val="555045"/>
                </a:solidFill>
                <a:latin typeface="Arial"/>
              </a:rPr>
              <a:t> </a:t>
            </a:r>
            <a:r>
              <a:rPr lang="en-US" sz="1400" b="0" dirty="0" err="1">
                <a:solidFill>
                  <a:srgbClr val="555045"/>
                </a:solidFill>
                <a:latin typeface="Arial"/>
              </a:rPr>
              <a:t>gasta</a:t>
            </a:r>
            <a:r>
              <a:rPr lang="en-US" sz="1400" b="0" dirty="0">
                <a:solidFill>
                  <a:srgbClr val="555045"/>
                </a:solidFill>
                <a:latin typeface="Arial"/>
              </a:rPr>
              <a:t> </a:t>
            </a:r>
            <a:r>
              <a:rPr lang="en-US" sz="1400" b="0" dirty="0" err="1">
                <a:solidFill>
                  <a:srgbClr val="555045"/>
                </a:solidFill>
                <a:latin typeface="Arial"/>
              </a:rPr>
              <a:t>una</a:t>
            </a:r>
            <a:r>
              <a:rPr lang="en-US" sz="1400" b="0" dirty="0">
                <a:solidFill>
                  <a:srgbClr val="555045"/>
                </a:solidFill>
                <a:latin typeface="Arial"/>
              </a:rPr>
              <a:t> </a:t>
            </a:r>
            <a:r>
              <a:rPr lang="en-US" sz="1400" b="0" dirty="0" err="1">
                <a:solidFill>
                  <a:srgbClr val="555045"/>
                </a:solidFill>
                <a:latin typeface="Arial"/>
              </a:rPr>
              <a:t>semana</a:t>
            </a:r>
            <a:r>
              <a:rPr lang="en-US" sz="1400" b="0" dirty="0">
                <a:solidFill>
                  <a:srgbClr val="555045"/>
                </a:solidFill>
                <a:latin typeface="Arial"/>
              </a:rPr>
              <a:t> </a:t>
            </a:r>
            <a:r>
              <a:rPr lang="en-US" sz="1400" b="0" dirty="0" err="1">
                <a:solidFill>
                  <a:srgbClr val="555045"/>
                </a:solidFill>
                <a:latin typeface="Arial"/>
              </a:rPr>
              <a:t>menos</a:t>
            </a:r>
            <a:r>
              <a:rPr lang="en-US" sz="1400" b="0" dirty="0">
                <a:solidFill>
                  <a:srgbClr val="555045"/>
                </a:solidFill>
                <a:latin typeface="Arial"/>
              </a:rPr>
              <a:t> de </a:t>
            </a:r>
            <a:r>
              <a:rPr lang="en-US" sz="1400" b="0" dirty="0" err="1">
                <a:solidFill>
                  <a:srgbClr val="555045"/>
                </a:solidFill>
                <a:latin typeface="Arial"/>
              </a:rPr>
              <a:t>historia</a:t>
            </a:r>
            <a:r>
              <a:rPr lang="en-US" sz="1400" b="0" dirty="0">
                <a:solidFill>
                  <a:srgbClr val="555045"/>
                </a:solidFill>
                <a:latin typeface="Arial"/>
              </a:rPr>
              <a:t>. Con </a:t>
            </a:r>
            <a:r>
              <a:rPr lang="en-US" sz="1400" b="0" dirty="0" err="1">
                <a:solidFill>
                  <a:srgbClr val="555045"/>
                </a:solidFill>
                <a:latin typeface="Arial"/>
              </a:rPr>
              <a:t>trece</a:t>
            </a:r>
            <a:r>
              <a:rPr lang="en-US" sz="1400" b="0" dirty="0">
                <a:solidFill>
                  <a:srgbClr val="555045"/>
                </a:solidFill>
                <a:latin typeface="Arial"/>
              </a:rPr>
              <a:t> </a:t>
            </a:r>
            <a:r>
              <a:rPr lang="en-US" sz="1400" b="0" dirty="0" err="1">
                <a:solidFill>
                  <a:srgbClr val="555045"/>
                </a:solidFill>
                <a:latin typeface="Arial"/>
              </a:rPr>
              <a:t>semanas</a:t>
            </a:r>
            <a:r>
              <a:rPr lang="en-US" sz="1400" b="0" dirty="0">
                <a:solidFill>
                  <a:srgbClr val="555045"/>
                </a:solidFill>
                <a:latin typeface="Arial"/>
              </a:rPr>
              <a:t>, </a:t>
            </a:r>
            <a:r>
              <a:rPr lang="en-US" sz="1400" b="0" dirty="0" err="1">
                <a:solidFill>
                  <a:srgbClr val="555045"/>
                </a:solidFill>
                <a:latin typeface="Arial"/>
              </a:rPr>
              <a:t>cada</a:t>
            </a:r>
            <a:r>
              <a:rPr lang="en-US" sz="1400" b="0" dirty="0">
                <a:solidFill>
                  <a:srgbClr val="555045"/>
                </a:solidFill>
                <a:latin typeface="Arial"/>
              </a:rPr>
              <a:t> </a:t>
            </a:r>
            <a:r>
              <a:rPr lang="en-US" sz="1400" b="0" dirty="0" err="1">
                <a:solidFill>
                  <a:srgbClr val="555045"/>
                </a:solidFill>
                <a:latin typeface="Arial"/>
              </a:rPr>
              <a:t>semana</a:t>
            </a:r>
            <a:r>
              <a:rPr lang="en-US" sz="1400" b="0" dirty="0">
                <a:solidFill>
                  <a:srgbClr val="555045"/>
                </a:solidFill>
                <a:latin typeface="Arial"/>
              </a:rPr>
              <a:t> extra de </a:t>
            </a:r>
            <a:r>
              <a:rPr lang="en-US" sz="1400" b="0" dirty="0" err="1">
                <a:solidFill>
                  <a:srgbClr val="555045"/>
                </a:solidFill>
                <a:latin typeface="Arial"/>
              </a:rPr>
              <a:t>ventana</a:t>
            </a:r>
            <a:r>
              <a:rPr lang="en-US" sz="1400" b="0" dirty="0">
                <a:solidFill>
                  <a:srgbClr val="555045"/>
                </a:solidFill>
                <a:latin typeface="Arial"/>
              </a:rPr>
              <a:t> cuesta 160 </a:t>
            </a:r>
            <a:r>
              <a:rPr lang="en-US" sz="1400" b="0" dirty="0" err="1">
                <a:solidFill>
                  <a:srgbClr val="555045"/>
                </a:solidFill>
                <a:latin typeface="Arial"/>
              </a:rPr>
              <a:t>filas</a:t>
            </a:r>
            <a:r>
              <a:rPr lang="en-US" sz="1400" b="0" dirty="0">
                <a:solidFill>
                  <a:srgbClr val="555045"/>
                </a:solidFill>
                <a:latin typeface="Arial"/>
              </a:rPr>
              <a:t> de </a:t>
            </a:r>
            <a:r>
              <a:rPr lang="en-US" sz="1400" b="0" dirty="0" err="1">
                <a:solidFill>
                  <a:srgbClr val="555045"/>
                </a:solidFill>
                <a:latin typeface="Arial"/>
              </a:rPr>
              <a:t>entrenamiento</a:t>
            </a:r>
            <a:endParaRPr lang="en-US" sz="1400" b="0" dirty="0">
              <a:solidFill>
                <a:srgbClr val="555045"/>
              </a:solidFill>
              <a:latin typeface="Arial"/>
            </a:endParaRPr>
          </a:p>
        </p:txBody>
      </p:sp>
      <p:sp>
        <p:nvSpPr>
          <p:cNvPr id="8" name="Rectangle 7"/>
          <p:cNvSpPr/>
          <p:nvPr/>
        </p:nvSpPr>
        <p:spPr>
          <a:xfrm>
            <a:off x="777240" y="6327648"/>
            <a:ext cx="10637215" cy="9525"/>
          </a:xfrm>
          <a:prstGeom prst="rect">
            <a:avLst/>
          </a:prstGeom>
          <a:solidFill>
            <a:srgbClr val="DCD8C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9" name="TextBox 8"/>
          <p:cNvSpPr txBox="1"/>
          <p:nvPr/>
        </p:nvSpPr>
        <p:spPr>
          <a:xfrm>
            <a:off x="777240" y="6428232"/>
            <a:ext cx="8686800" cy="274320"/>
          </a:xfrm>
          <a:prstGeom prst="rect">
            <a:avLst/>
          </a:prstGeom>
          <a:noFill/>
        </p:spPr>
        <p:txBody>
          <a:bodyPr wrap="square" lIns="0" tIns="0" rIns="0" bIns="0">
            <a:spAutoFit/>
          </a:bodyPr>
          <a:lstStyle/>
          <a:p>
            <a:pPr algn="l">
              <a:lnSpc>
                <a:spcPct val="122000"/>
              </a:lnSpc>
              <a:spcBef>
                <a:spcPts val="0"/>
              </a:spcBef>
              <a:spcAft>
                <a:spcPts val="0"/>
              </a:spcAft>
            </a:pPr>
            <a:r>
              <a:rPr sz="950" b="0">
                <a:solidFill>
                  <a:srgbClr val="8B8478"/>
                </a:solidFill>
                <a:latin typeface="Arial"/>
              </a:rPr>
              <a:t>Pasos 5-8 · Líneas base</a:t>
            </a:r>
          </a:p>
        </p:txBody>
      </p:sp>
      <p:sp>
        <p:nvSpPr>
          <p:cNvPr id="10" name="TextBox 9"/>
          <p:cNvSpPr txBox="1"/>
          <p:nvPr/>
        </p:nvSpPr>
        <p:spPr>
          <a:xfrm>
            <a:off x="10500055" y="6428232"/>
            <a:ext cx="914400" cy="274320"/>
          </a:xfrm>
          <a:prstGeom prst="rect">
            <a:avLst/>
          </a:prstGeom>
          <a:noFill/>
        </p:spPr>
        <p:txBody>
          <a:bodyPr wrap="square" lIns="0" tIns="0" rIns="0" bIns="0">
            <a:spAutoFit/>
          </a:bodyPr>
          <a:lstStyle/>
          <a:p>
            <a:pPr algn="r">
              <a:lnSpc>
                <a:spcPct val="122000"/>
              </a:lnSpc>
              <a:spcBef>
                <a:spcPts val="0"/>
              </a:spcBef>
              <a:spcAft>
                <a:spcPts val="0"/>
              </a:spcAft>
            </a:pPr>
            <a:r>
              <a:rPr sz="950" b="0">
                <a:solidFill>
                  <a:srgbClr val="8B8478"/>
                </a:solidFill>
                <a:latin typeface="Arial"/>
              </a:rPr>
              <a:t>17</a:t>
            </a:r>
          </a:p>
        </p:txBody>
      </p:sp>
      <p:pic>
        <p:nvPicPr>
          <p:cNvPr id="11" name="Picture 10">
            <a:extLst>
              <a:ext uri="{FF2B5EF4-FFF2-40B4-BE49-F238E27FC236}">
                <a16:creationId xmlns:a16="http://schemas.microsoft.com/office/drawing/2014/main" id="{FAD0582F-D4FC-8822-43AD-3187FEEF49BE}"/>
              </a:ext>
            </a:extLst>
          </p:cNvPr>
          <p:cNvPicPr>
            <a:picLocks noChangeAspect="1"/>
          </p:cNvPicPr>
          <p:nvPr/>
        </p:nvPicPr>
        <p:blipFill>
          <a:blip r:embed="rId2"/>
          <a:stretch>
            <a:fillRect/>
          </a:stretch>
        </p:blipFill>
        <p:spPr>
          <a:xfrm>
            <a:off x="477080" y="2125980"/>
            <a:ext cx="5781638" cy="3212021"/>
          </a:xfrm>
          <a:prstGeom prst="rect">
            <a:avLst/>
          </a:prstGeom>
        </p:spPr>
      </p:pic>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777240" y="475488"/>
            <a:ext cx="10637215" cy="237744"/>
          </a:xfrm>
          <a:prstGeom prst="rect">
            <a:avLst/>
          </a:prstGeom>
          <a:noFill/>
        </p:spPr>
        <p:txBody>
          <a:bodyPr wrap="square" lIns="0" tIns="0" rIns="0" bIns="0">
            <a:spAutoFit/>
          </a:bodyPr>
          <a:lstStyle/>
          <a:p>
            <a:pPr algn="l">
              <a:lnSpc>
                <a:spcPct val="122000"/>
              </a:lnSpc>
              <a:spcBef>
                <a:spcPts val="0"/>
              </a:spcBef>
              <a:spcAft>
                <a:spcPts val="0"/>
              </a:spcAft>
            </a:pPr>
            <a:r>
              <a:rPr sz="1050" b="1">
                <a:solidFill>
                  <a:srgbClr val="8C2F39"/>
                </a:solidFill>
                <a:latin typeface="Arial"/>
              </a:rPr>
              <a:t>PASOS 5 A 8 · LÍNEAS BASE</a:t>
            </a:r>
          </a:p>
        </p:txBody>
      </p:sp>
      <p:sp>
        <p:nvSpPr>
          <p:cNvPr id="4" name="Rectangle 3"/>
          <p:cNvSpPr/>
          <p:nvPr/>
        </p:nvSpPr>
        <p:spPr>
          <a:xfrm>
            <a:off x="777240" y="768096"/>
            <a:ext cx="502920" cy="30480"/>
          </a:xfrm>
          <a:prstGeom prst="rect">
            <a:avLst/>
          </a:prstGeom>
          <a:solidFill>
            <a:srgbClr val="8C2F3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 name="TextBox 4"/>
          <p:cNvSpPr txBox="1"/>
          <p:nvPr/>
        </p:nvSpPr>
        <p:spPr>
          <a:xfrm>
            <a:off x="777240" y="914400"/>
            <a:ext cx="10637215" cy="445770"/>
          </a:xfrm>
          <a:prstGeom prst="rect">
            <a:avLst/>
          </a:prstGeom>
          <a:noFill/>
        </p:spPr>
        <p:txBody>
          <a:bodyPr wrap="square" lIns="0" tIns="0" rIns="0" bIns="0">
            <a:spAutoFit/>
          </a:bodyPr>
          <a:lstStyle/>
          <a:p>
            <a:pPr algn="l">
              <a:lnSpc>
                <a:spcPct val="106000"/>
              </a:lnSpc>
              <a:spcBef>
                <a:spcPts val="0"/>
              </a:spcBef>
              <a:spcAft>
                <a:spcPts val="0"/>
              </a:spcAft>
            </a:pPr>
            <a:r>
              <a:rPr sz="2700" b="1">
                <a:solidFill>
                  <a:srgbClr val="17150F"/>
                </a:solidFill>
                <a:latin typeface="Arial"/>
              </a:rPr>
              <a:t>El listón: media móvil de cuatro semanas, 11,91 % de error</a:t>
            </a:r>
          </a:p>
        </p:txBody>
      </p:sp>
      <p:pic>
        <p:nvPicPr>
          <p:cNvPr id="6" name="Picture 5" descr="09_lineas_base.png"/>
          <p:cNvPicPr>
            <a:picLocks noChangeAspect="1"/>
          </p:cNvPicPr>
          <p:nvPr/>
        </p:nvPicPr>
        <p:blipFill>
          <a:blip r:embed="rId2"/>
          <a:stretch>
            <a:fillRect/>
          </a:stretch>
        </p:blipFill>
        <p:spPr>
          <a:xfrm>
            <a:off x="777240" y="1506474"/>
            <a:ext cx="5852160" cy="3080084"/>
          </a:xfrm>
          <a:prstGeom prst="rect">
            <a:avLst/>
          </a:prstGeom>
        </p:spPr>
      </p:pic>
      <p:graphicFrame>
        <p:nvGraphicFramePr>
          <p:cNvPr id="7" name="Table 6"/>
          <p:cNvGraphicFramePr>
            <a:graphicFrameLocks noGrp="1"/>
          </p:cNvGraphicFramePr>
          <p:nvPr/>
        </p:nvGraphicFramePr>
        <p:xfrm>
          <a:off x="6949440" y="1597914"/>
          <a:ext cx="4465013" cy="1591056"/>
        </p:xfrm>
        <a:graphic>
          <a:graphicData uri="http://schemas.openxmlformats.org/drawingml/2006/table">
            <a:tbl>
              <a:tblPr bandRow="1">
                <a:tableStyleId>{5C22544A-7EE6-4342-B048-85BDC9FD1C3A}</a:tableStyleId>
              </a:tblPr>
              <a:tblGrid>
                <a:gridCol w="2053906">
                  <a:extLst>
                    <a:ext uri="{9D8B030D-6E8A-4147-A177-3AD203B41FA5}">
                      <a16:colId xmlns:a16="http://schemas.microsoft.com/office/drawing/2014/main" val="20000"/>
                    </a:ext>
                  </a:extLst>
                </a:gridCol>
                <a:gridCol w="1250204">
                  <a:extLst>
                    <a:ext uri="{9D8B030D-6E8A-4147-A177-3AD203B41FA5}">
                      <a16:colId xmlns:a16="http://schemas.microsoft.com/office/drawing/2014/main" val="20001"/>
                    </a:ext>
                  </a:extLst>
                </a:gridCol>
                <a:gridCol w="1160903">
                  <a:extLst>
                    <a:ext uri="{9D8B030D-6E8A-4147-A177-3AD203B41FA5}">
                      <a16:colId xmlns:a16="http://schemas.microsoft.com/office/drawing/2014/main" val="20002"/>
                    </a:ext>
                  </a:extLst>
                </a:gridCol>
              </a:tblGrid>
              <a:tr h="347472">
                <a:tc>
                  <a:txBody>
                    <a:bodyPr/>
                    <a:lstStyle/>
                    <a:p>
                      <a:pPr algn="l"/>
                      <a:r>
                        <a:rPr sz="1050" b="1">
                          <a:solidFill>
                            <a:srgbClr val="8B8478"/>
                          </a:solidFill>
                          <a:latin typeface="Arial"/>
                        </a:rPr>
                        <a:t>Línea base</a:t>
                      </a:r>
                    </a:p>
                  </a:txBody>
                  <a:tcPr marL="82296" marR="82296" anchor="ctr">
                    <a:solidFill>
                      <a:srgbClr val="F4F2ED"/>
                    </a:solidFill>
                  </a:tcPr>
                </a:tc>
                <a:tc>
                  <a:txBody>
                    <a:bodyPr/>
                    <a:lstStyle/>
                    <a:p>
                      <a:pPr algn="r"/>
                      <a:r>
                        <a:rPr sz="1050" b="1">
                          <a:solidFill>
                            <a:srgbClr val="8B8478"/>
                          </a:solidFill>
                          <a:latin typeface="Arial"/>
                        </a:rPr>
                        <a:t>WAPE</a:t>
                      </a:r>
                    </a:p>
                  </a:txBody>
                  <a:tcPr marL="82296" marR="82296" anchor="ctr">
                    <a:solidFill>
                      <a:srgbClr val="F4F2ED"/>
                    </a:solidFill>
                  </a:tcPr>
                </a:tc>
                <a:tc>
                  <a:txBody>
                    <a:bodyPr/>
                    <a:lstStyle/>
                    <a:p>
                      <a:pPr algn="r"/>
                      <a:r>
                        <a:rPr sz="1050" b="1">
                          <a:solidFill>
                            <a:srgbClr val="8B8478"/>
                          </a:solidFill>
                          <a:latin typeface="Arial"/>
                        </a:rPr>
                        <a:t>R²</a:t>
                      </a:r>
                    </a:p>
                  </a:txBody>
                  <a:tcPr marL="82296" marR="82296" anchor="ctr">
                    <a:solidFill>
                      <a:srgbClr val="F4F2ED"/>
                    </a:solidFill>
                  </a:tcPr>
                </a:tc>
                <a:extLst>
                  <a:ext uri="{0D108BD9-81ED-4DB2-BD59-A6C34878D82A}">
                    <a16:rowId xmlns:a16="http://schemas.microsoft.com/office/drawing/2014/main" val="10000"/>
                  </a:ext>
                </a:extLst>
              </a:tr>
              <a:tr h="310896">
                <a:tc>
                  <a:txBody>
                    <a:bodyPr/>
                    <a:lstStyle/>
                    <a:p>
                      <a:pPr algn="l"/>
                      <a:r>
                        <a:rPr sz="1200" b="1">
                          <a:solidFill>
                            <a:srgbClr val="17150F"/>
                          </a:solidFill>
                          <a:latin typeface="Arial"/>
                        </a:rPr>
                        <a:t>Media móvil 4</a:t>
                      </a:r>
                    </a:p>
                  </a:txBody>
                  <a:tcPr marL="82296" marR="82296" anchor="ctr">
                    <a:solidFill>
                      <a:srgbClr val="F7EEEF"/>
                    </a:solidFill>
                  </a:tcPr>
                </a:tc>
                <a:tc>
                  <a:txBody>
                    <a:bodyPr/>
                    <a:lstStyle/>
                    <a:p>
                      <a:pPr algn="r"/>
                      <a:r>
                        <a:rPr sz="1200" b="1">
                          <a:solidFill>
                            <a:srgbClr val="17150F"/>
                          </a:solidFill>
                          <a:latin typeface="Arial"/>
                        </a:rPr>
                        <a:t>11,91 %</a:t>
                      </a:r>
                    </a:p>
                  </a:txBody>
                  <a:tcPr marL="82296" marR="82296" anchor="ctr">
                    <a:solidFill>
                      <a:srgbClr val="F7EEEF"/>
                    </a:solidFill>
                  </a:tcPr>
                </a:tc>
                <a:tc>
                  <a:txBody>
                    <a:bodyPr/>
                    <a:lstStyle/>
                    <a:p>
                      <a:pPr algn="r"/>
                      <a:r>
                        <a:rPr sz="1200" b="1" dirty="0">
                          <a:solidFill>
                            <a:srgbClr val="17150F"/>
                          </a:solidFill>
                          <a:latin typeface="Arial"/>
                        </a:rPr>
                        <a:t>0,899</a:t>
                      </a:r>
                    </a:p>
                  </a:txBody>
                  <a:tcPr marL="82296" marR="82296" anchor="ctr">
                    <a:solidFill>
                      <a:srgbClr val="F7EEEF"/>
                    </a:solidFill>
                  </a:tcPr>
                </a:tc>
                <a:extLst>
                  <a:ext uri="{0D108BD9-81ED-4DB2-BD59-A6C34878D82A}">
                    <a16:rowId xmlns:a16="http://schemas.microsoft.com/office/drawing/2014/main" val="10001"/>
                  </a:ext>
                </a:extLst>
              </a:tr>
              <a:tr h="310896">
                <a:tc>
                  <a:txBody>
                    <a:bodyPr/>
                    <a:lstStyle/>
                    <a:p>
                      <a:pPr algn="l"/>
                      <a:r>
                        <a:rPr sz="1200" b="0">
                          <a:solidFill>
                            <a:srgbClr val="17150F"/>
                          </a:solidFill>
                          <a:latin typeface="Arial"/>
                        </a:rPr>
                        <a:t>Persistencia</a:t>
                      </a:r>
                    </a:p>
                  </a:txBody>
                  <a:tcPr marL="82296" marR="82296" anchor="ctr">
                    <a:solidFill>
                      <a:srgbClr val="FFFFFF"/>
                    </a:solidFill>
                  </a:tcPr>
                </a:tc>
                <a:tc>
                  <a:txBody>
                    <a:bodyPr/>
                    <a:lstStyle/>
                    <a:p>
                      <a:pPr algn="r"/>
                      <a:r>
                        <a:rPr sz="1200" b="0">
                          <a:solidFill>
                            <a:srgbClr val="555045"/>
                          </a:solidFill>
                          <a:latin typeface="Arial"/>
                        </a:rPr>
                        <a:t>13,40 %</a:t>
                      </a:r>
                    </a:p>
                  </a:txBody>
                  <a:tcPr marL="82296" marR="82296" anchor="ctr">
                    <a:solidFill>
                      <a:srgbClr val="FFFFFF"/>
                    </a:solidFill>
                  </a:tcPr>
                </a:tc>
                <a:tc>
                  <a:txBody>
                    <a:bodyPr/>
                    <a:lstStyle/>
                    <a:p>
                      <a:pPr algn="r"/>
                      <a:r>
                        <a:rPr sz="1200" b="0">
                          <a:solidFill>
                            <a:srgbClr val="555045"/>
                          </a:solidFill>
                          <a:latin typeface="Arial"/>
                        </a:rPr>
                        <a:t>0,876</a:t>
                      </a:r>
                    </a:p>
                  </a:txBody>
                  <a:tcPr marL="82296" marR="82296" anchor="ctr">
                    <a:solidFill>
                      <a:srgbClr val="FFFFFF"/>
                    </a:solidFill>
                  </a:tcPr>
                </a:tc>
                <a:extLst>
                  <a:ext uri="{0D108BD9-81ED-4DB2-BD59-A6C34878D82A}">
                    <a16:rowId xmlns:a16="http://schemas.microsoft.com/office/drawing/2014/main" val="10002"/>
                  </a:ext>
                </a:extLst>
              </a:tr>
              <a:tr h="310896">
                <a:tc>
                  <a:txBody>
                    <a:bodyPr/>
                    <a:lstStyle/>
                    <a:p>
                      <a:pPr algn="l"/>
                      <a:r>
                        <a:rPr sz="1200" b="0">
                          <a:solidFill>
                            <a:srgbClr val="17150F"/>
                          </a:solidFill>
                          <a:latin typeface="Arial"/>
                        </a:rPr>
                        <a:t>Media histórica</a:t>
                      </a:r>
                    </a:p>
                  </a:txBody>
                  <a:tcPr marL="82296" marR="82296" anchor="ctr">
                    <a:solidFill>
                      <a:srgbClr val="FFFFFF"/>
                    </a:solidFill>
                  </a:tcPr>
                </a:tc>
                <a:tc>
                  <a:txBody>
                    <a:bodyPr/>
                    <a:lstStyle/>
                    <a:p>
                      <a:pPr algn="r"/>
                      <a:r>
                        <a:rPr sz="1200" b="0">
                          <a:solidFill>
                            <a:srgbClr val="555045"/>
                          </a:solidFill>
                          <a:latin typeface="Arial"/>
                        </a:rPr>
                        <a:t>13,99 %</a:t>
                      </a:r>
                    </a:p>
                  </a:txBody>
                  <a:tcPr marL="82296" marR="82296" anchor="ctr">
                    <a:solidFill>
                      <a:srgbClr val="FFFFFF"/>
                    </a:solidFill>
                  </a:tcPr>
                </a:tc>
                <a:tc>
                  <a:txBody>
                    <a:bodyPr/>
                    <a:lstStyle/>
                    <a:p>
                      <a:pPr algn="r"/>
                      <a:r>
                        <a:rPr sz="1200" b="0">
                          <a:solidFill>
                            <a:srgbClr val="555045"/>
                          </a:solidFill>
                          <a:latin typeface="Arial"/>
                        </a:rPr>
                        <a:t>0,856</a:t>
                      </a:r>
                    </a:p>
                  </a:txBody>
                  <a:tcPr marL="82296" marR="82296" anchor="ctr">
                    <a:solidFill>
                      <a:srgbClr val="FFFFFF"/>
                    </a:solidFill>
                  </a:tcPr>
                </a:tc>
                <a:extLst>
                  <a:ext uri="{0D108BD9-81ED-4DB2-BD59-A6C34878D82A}">
                    <a16:rowId xmlns:a16="http://schemas.microsoft.com/office/drawing/2014/main" val="10003"/>
                  </a:ext>
                </a:extLst>
              </a:tr>
              <a:tr h="310896">
                <a:tc>
                  <a:txBody>
                    <a:bodyPr/>
                    <a:lstStyle/>
                    <a:p>
                      <a:pPr algn="l"/>
                      <a:r>
                        <a:rPr sz="1200" b="0">
                          <a:solidFill>
                            <a:srgbClr val="17150F"/>
                          </a:solidFill>
                          <a:latin typeface="Arial"/>
                        </a:rPr>
                        <a:t>Deriva</a:t>
                      </a:r>
                    </a:p>
                  </a:txBody>
                  <a:tcPr marL="82296" marR="82296" anchor="ctr">
                    <a:solidFill>
                      <a:srgbClr val="FFFFFF"/>
                    </a:solidFill>
                  </a:tcPr>
                </a:tc>
                <a:tc>
                  <a:txBody>
                    <a:bodyPr/>
                    <a:lstStyle/>
                    <a:p>
                      <a:pPr algn="r"/>
                      <a:r>
                        <a:rPr sz="1200" b="0">
                          <a:solidFill>
                            <a:srgbClr val="555045"/>
                          </a:solidFill>
                          <a:latin typeface="Arial"/>
                        </a:rPr>
                        <a:t>15,51 %</a:t>
                      </a:r>
                    </a:p>
                  </a:txBody>
                  <a:tcPr marL="82296" marR="82296" anchor="ctr">
                    <a:solidFill>
                      <a:srgbClr val="FFFFFF"/>
                    </a:solidFill>
                  </a:tcPr>
                </a:tc>
                <a:tc>
                  <a:txBody>
                    <a:bodyPr/>
                    <a:lstStyle/>
                    <a:p>
                      <a:pPr algn="r"/>
                      <a:r>
                        <a:rPr sz="1200" b="0" dirty="0">
                          <a:solidFill>
                            <a:srgbClr val="555045"/>
                          </a:solidFill>
                          <a:latin typeface="Arial"/>
                        </a:rPr>
                        <a:t>0,833</a:t>
                      </a:r>
                    </a:p>
                  </a:txBody>
                  <a:tcPr marL="82296" marR="82296" anchor="ctr">
                    <a:solidFill>
                      <a:srgbClr val="FFFFFF"/>
                    </a:solidFill>
                  </a:tcPr>
                </a:tc>
                <a:extLst>
                  <a:ext uri="{0D108BD9-81ED-4DB2-BD59-A6C34878D82A}">
                    <a16:rowId xmlns:a16="http://schemas.microsoft.com/office/drawing/2014/main" val="10004"/>
                  </a:ext>
                </a:extLst>
              </a:tr>
            </a:tbl>
          </a:graphicData>
        </a:graphic>
      </p:graphicFrame>
      <p:sp>
        <p:nvSpPr>
          <p:cNvPr id="8" name="TextBox 7"/>
          <p:cNvSpPr txBox="1"/>
          <p:nvPr/>
        </p:nvSpPr>
        <p:spPr>
          <a:xfrm>
            <a:off x="6949440" y="3472434"/>
            <a:ext cx="4465015" cy="2560320"/>
          </a:xfrm>
          <a:prstGeom prst="rect">
            <a:avLst/>
          </a:prstGeom>
          <a:noFill/>
        </p:spPr>
        <p:txBody>
          <a:bodyPr wrap="square" lIns="0" tIns="0" rIns="0" bIns="0">
            <a:spAutoFit/>
          </a:bodyPr>
          <a:lstStyle/>
          <a:p>
            <a:pPr algn="l">
              <a:lnSpc>
                <a:spcPct val="130000"/>
              </a:lnSpc>
              <a:spcBef>
                <a:spcPts val="0"/>
              </a:spcBef>
              <a:spcAft>
                <a:spcPts val="1200"/>
              </a:spcAft>
            </a:pPr>
            <a:r>
              <a:rPr sz="1300" b="0">
                <a:solidFill>
                  <a:srgbClr val="555045"/>
                </a:solidFill>
                <a:latin typeface="Arial"/>
              </a:rPr>
              <a:t>La deriva es la peor, y eso es un hallazgo. Estimar la pendiente con cuatro semanas y proyectarla una hacia adelante es casi todo ruido.</a:t>
            </a:r>
          </a:p>
          <a:p>
            <a:pPr algn="l">
              <a:lnSpc>
                <a:spcPct val="130000"/>
              </a:lnSpc>
              <a:spcBef>
                <a:spcPts val="0"/>
              </a:spcBef>
              <a:spcAft>
                <a:spcPts val="0"/>
              </a:spcAft>
            </a:pPr>
            <a:r>
              <a:rPr sz="1300" b="1">
                <a:solidFill>
                  <a:srgbClr val="17150F"/>
                </a:solidFill>
                <a:latin typeface="Arial"/>
              </a:rPr>
              <a:t>Cualquier modelo se mide contra el 11,91 %. Una mejora del 5 al 10 % sería buena; una mejora muy superior debe hacer sospechar de fuga antes que celebrarse.</a:t>
            </a:r>
          </a:p>
        </p:txBody>
      </p:sp>
      <p:sp>
        <p:nvSpPr>
          <p:cNvPr id="9" name="Rectangle 8"/>
          <p:cNvSpPr/>
          <p:nvPr/>
        </p:nvSpPr>
        <p:spPr>
          <a:xfrm>
            <a:off x="777240" y="6327648"/>
            <a:ext cx="10637215" cy="9525"/>
          </a:xfrm>
          <a:prstGeom prst="rect">
            <a:avLst/>
          </a:prstGeom>
          <a:solidFill>
            <a:srgbClr val="DCD8C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0" name="TextBox 9"/>
          <p:cNvSpPr txBox="1"/>
          <p:nvPr/>
        </p:nvSpPr>
        <p:spPr>
          <a:xfrm>
            <a:off x="777240" y="6428232"/>
            <a:ext cx="8686800" cy="274320"/>
          </a:xfrm>
          <a:prstGeom prst="rect">
            <a:avLst/>
          </a:prstGeom>
          <a:noFill/>
        </p:spPr>
        <p:txBody>
          <a:bodyPr wrap="square" lIns="0" tIns="0" rIns="0" bIns="0">
            <a:spAutoFit/>
          </a:bodyPr>
          <a:lstStyle/>
          <a:p>
            <a:pPr algn="l">
              <a:lnSpc>
                <a:spcPct val="122000"/>
              </a:lnSpc>
              <a:spcBef>
                <a:spcPts val="0"/>
              </a:spcBef>
              <a:spcAft>
                <a:spcPts val="0"/>
              </a:spcAft>
            </a:pPr>
            <a:r>
              <a:rPr sz="950" b="0">
                <a:solidFill>
                  <a:srgbClr val="8B8478"/>
                </a:solidFill>
                <a:latin typeface="Arial"/>
              </a:rPr>
              <a:t>Pasos 5-8 · Líneas base</a:t>
            </a:r>
          </a:p>
        </p:txBody>
      </p:sp>
      <p:sp>
        <p:nvSpPr>
          <p:cNvPr id="11" name="TextBox 10"/>
          <p:cNvSpPr txBox="1"/>
          <p:nvPr/>
        </p:nvSpPr>
        <p:spPr>
          <a:xfrm>
            <a:off x="10500055" y="6428232"/>
            <a:ext cx="914400" cy="274320"/>
          </a:xfrm>
          <a:prstGeom prst="rect">
            <a:avLst/>
          </a:prstGeom>
          <a:noFill/>
        </p:spPr>
        <p:txBody>
          <a:bodyPr wrap="square" lIns="0" tIns="0" rIns="0" bIns="0">
            <a:spAutoFit/>
          </a:bodyPr>
          <a:lstStyle/>
          <a:p>
            <a:pPr algn="r">
              <a:lnSpc>
                <a:spcPct val="122000"/>
              </a:lnSpc>
              <a:spcBef>
                <a:spcPts val="0"/>
              </a:spcBef>
              <a:spcAft>
                <a:spcPts val="0"/>
              </a:spcAft>
            </a:pPr>
            <a:r>
              <a:rPr sz="950" b="0">
                <a:solidFill>
                  <a:srgbClr val="8B8478"/>
                </a:solidFill>
                <a:latin typeface="Arial"/>
              </a:rPr>
              <a:t>18</a:t>
            </a:r>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777240" y="475488"/>
            <a:ext cx="10637215" cy="237744"/>
          </a:xfrm>
          <a:prstGeom prst="rect">
            <a:avLst/>
          </a:prstGeom>
          <a:noFill/>
        </p:spPr>
        <p:txBody>
          <a:bodyPr wrap="square" lIns="0" tIns="0" rIns="0" bIns="0">
            <a:spAutoFit/>
          </a:bodyPr>
          <a:lstStyle/>
          <a:p>
            <a:pPr algn="l">
              <a:lnSpc>
                <a:spcPct val="122000"/>
              </a:lnSpc>
              <a:spcBef>
                <a:spcPts val="0"/>
              </a:spcBef>
              <a:spcAft>
                <a:spcPts val="0"/>
              </a:spcAft>
            </a:pPr>
            <a:r>
              <a:rPr sz="1050" b="1">
                <a:solidFill>
                  <a:srgbClr val="8C2F39"/>
                </a:solidFill>
                <a:latin typeface="Arial"/>
              </a:rPr>
              <a:t>PASO 9 · COSTES</a:t>
            </a:r>
          </a:p>
        </p:txBody>
      </p:sp>
      <p:sp>
        <p:nvSpPr>
          <p:cNvPr id="4" name="Rectangle 3"/>
          <p:cNvSpPr/>
          <p:nvPr/>
        </p:nvSpPr>
        <p:spPr>
          <a:xfrm>
            <a:off x="777240" y="768096"/>
            <a:ext cx="502920" cy="30480"/>
          </a:xfrm>
          <a:prstGeom prst="rect">
            <a:avLst/>
          </a:prstGeom>
          <a:solidFill>
            <a:srgbClr val="8C2F3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 name="TextBox 4"/>
          <p:cNvSpPr txBox="1"/>
          <p:nvPr/>
        </p:nvSpPr>
        <p:spPr>
          <a:xfrm>
            <a:off x="777240" y="914400"/>
            <a:ext cx="10637215" cy="445770"/>
          </a:xfrm>
          <a:prstGeom prst="rect">
            <a:avLst/>
          </a:prstGeom>
          <a:noFill/>
        </p:spPr>
        <p:txBody>
          <a:bodyPr wrap="square" lIns="0" tIns="0" rIns="0" bIns="0">
            <a:spAutoFit/>
          </a:bodyPr>
          <a:lstStyle/>
          <a:p>
            <a:pPr algn="l">
              <a:lnSpc>
                <a:spcPct val="106000"/>
              </a:lnSpc>
              <a:spcBef>
                <a:spcPts val="0"/>
              </a:spcBef>
              <a:spcAft>
                <a:spcPts val="0"/>
              </a:spcAft>
            </a:pPr>
            <a:r>
              <a:rPr sz="2700" b="1">
                <a:solidFill>
                  <a:srgbClr val="17150F"/>
                </a:solidFill>
                <a:latin typeface="Arial"/>
              </a:rPr>
              <a:t>El nivel de servicio no se elige: sale de dos precios</a:t>
            </a:r>
          </a:p>
        </p:txBody>
      </p:sp>
      <p:sp>
        <p:nvSpPr>
          <p:cNvPr id="6" name="TextBox 5"/>
          <p:cNvSpPr txBox="1"/>
          <p:nvPr/>
        </p:nvSpPr>
        <p:spPr>
          <a:xfrm>
            <a:off x="777240" y="1506474"/>
            <a:ext cx="9966960" cy="283337"/>
          </a:xfrm>
          <a:prstGeom prst="rect">
            <a:avLst/>
          </a:prstGeom>
          <a:noFill/>
        </p:spPr>
        <p:txBody>
          <a:bodyPr wrap="square" lIns="0" tIns="0" rIns="0" bIns="0">
            <a:spAutoFit/>
          </a:bodyPr>
          <a:lstStyle/>
          <a:p>
            <a:pPr algn="l">
              <a:lnSpc>
                <a:spcPct val="130000"/>
              </a:lnSpc>
              <a:spcBef>
                <a:spcPts val="0"/>
              </a:spcBef>
              <a:spcAft>
                <a:spcPts val="0"/>
              </a:spcAft>
            </a:pPr>
            <a:r>
              <a:rPr sz="1450" b="0">
                <a:solidFill>
                  <a:srgbClr val="555045"/>
                </a:solidFill>
                <a:latin typeface="Arial"/>
              </a:rPr>
              <a:t>Este paso se ejecuta antes de entrenar, porque decide cuántos modelos hacen falta y cuáles.</a:t>
            </a:r>
          </a:p>
        </p:txBody>
      </p:sp>
      <p:sp>
        <p:nvSpPr>
          <p:cNvPr id="7" name="Rectangle 6"/>
          <p:cNvSpPr/>
          <p:nvPr/>
        </p:nvSpPr>
        <p:spPr>
          <a:xfrm>
            <a:off x="777240" y="1990979"/>
            <a:ext cx="10637215" cy="1325880"/>
          </a:xfrm>
          <a:prstGeom prst="rect">
            <a:avLst/>
          </a:prstGeom>
          <a:solidFill>
            <a:srgbClr val="F4F2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8" name="TextBox 7"/>
          <p:cNvSpPr txBox="1"/>
          <p:nvPr/>
        </p:nvSpPr>
        <p:spPr>
          <a:xfrm>
            <a:off x="1097280" y="2228723"/>
            <a:ext cx="9997135" cy="914400"/>
          </a:xfrm>
          <a:prstGeom prst="rect">
            <a:avLst/>
          </a:prstGeom>
          <a:noFill/>
        </p:spPr>
        <p:txBody>
          <a:bodyPr wrap="square" lIns="0" tIns="0" rIns="0" bIns="0">
            <a:spAutoFit/>
          </a:bodyPr>
          <a:lstStyle/>
          <a:p>
            <a:pPr algn="l">
              <a:lnSpc>
                <a:spcPct val="120000"/>
              </a:lnSpc>
              <a:spcBef>
                <a:spcPts val="0"/>
              </a:spcBef>
              <a:spcAft>
                <a:spcPts val="1000"/>
              </a:spcAft>
            </a:pPr>
            <a:r>
              <a:rPr sz="1900" b="1">
                <a:solidFill>
                  <a:srgbClr val="17150F"/>
                </a:solidFill>
                <a:latin typeface="Arial"/>
              </a:rPr>
              <a:t>nivel de servicio  =  margen perdido  ÷  ( margen perdido  +  coste del sobrante )</a:t>
            </a:r>
          </a:p>
          <a:p>
            <a:pPr algn="l">
              <a:lnSpc>
                <a:spcPct val="120000"/>
              </a:lnSpc>
              <a:spcBef>
                <a:spcPts val="0"/>
              </a:spcBef>
              <a:spcAft>
                <a:spcPts val="0"/>
              </a:spcAft>
            </a:pPr>
            <a:r>
              <a:rPr sz="1600" b="1">
                <a:solidFill>
                  <a:srgbClr val="8C2F39"/>
                </a:solidFill>
                <a:latin typeface="Arial"/>
              </a:rPr>
              <a:t>Para el Tinto:   1.700 ÷ ( 1.700 + 810 )  =  0,68</a:t>
            </a:r>
          </a:p>
        </p:txBody>
      </p:sp>
      <p:sp>
        <p:nvSpPr>
          <p:cNvPr id="9" name="Rectangle 8"/>
          <p:cNvSpPr/>
          <p:nvPr/>
        </p:nvSpPr>
        <p:spPr>
          <a:xfrm>
            <a:off x="777240" y="3737483"/>
            <a:ext cx="63500" cy="63500"/>
          </a:xfrm>
          <a:prstGeom prst="rect">
            <a:avLst/>
          </a:prstGeom>
          <a:solidFill>
            <a:srgbClr val="8C2F3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0" name="TextBox 9"/>
          <p:cNvSpPr txBox="1"/>
          <p:nvPr/>
        </p:nvSpPr>
        <p:spPr>
          <a:xfrm>
            <a:off x="978408" y="3636899"/>
            <a:ext cx="10436047" cy="283337"/>
          </a:xfrm>
          <a:prstGeom prst="rect">
            <a:avLst/>
          </a:prstGeom>
          <a:noFill/>
        </p:spPr>
        <p:txBody>
          <a:bodyPr wrap="square" lIns="0" tIns="0" rIns="0" bIns="0">
            <a:spAutoFit/>
          </a:bodyPr>
          <a:lstStyle/>
          <a:p>
            <a:pPr>
              <a:lnSpc>
                <a:spcPct val="124000"/>
              </a:lnSpc>
              <a:spcAft>
                <a:spcPts val="0"/>
              </a:spcAft>
            </a:pPr>
            <a:r>
              <a:rPr sz="1450" b="1">
                <a:solidFill>
                  <a:srgbClr val="17150F"/>
                </a:solidFill>
                <a:latin typeface="Arial"/>
              </a:rPr>
              <a:t>En esa expresión no aparece la demanda.</a:t>
            </a:r>
            <a:r>
              <a:rPr sz="1450" b="0">
                <a:solidFill>
                  <a:srgbClr val="555045"/>
                </a:solidFill>
                <a:latin typeface="Arial"/>
              </a:rPr>
              <a:t> Depende solo de dos precios, y cada producto tiene los suyos.</a:t>
            </a:r>
          </a:p>
        </p:txBody>
      </p:sp>
      <p:sp>
        <p:nvSpPr>
          <p:cNvPr id="11" name="Rectangle 10"/>
          <p:cNvSpPr/>
          <p:nvPr/>
        </p:nvSpPr>
        <p:spPr>
          <a:xfrm>
            <a:off x="777240" y="4148836"/>
            <a:ext cx="63500" cy="63500"/>
          </a:xfrm>
          <a:prstGeom prst="rect">
            <a:avLst/>
          </a:prstGeom>
          <a:solidFill>
            <a:srgbClr val="8C2F3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2" name="TextBox 11"/>
          <p:cNvSpPr txBox="1"/>
          <p:nvPr/>
        </p:nvSpPr>
        <p:spPr>
          <a:xfrm>
            <a:off x="978408" y="4048252"/>
            <a:ext cx="10436047" cy="530098"/>
          </a:xfrm>
          <a:prstGeom prst="rect">
            <a:avLst/>
          </a:prstGeom>
          <a:noFill/>
        </p:spPr>
        <p:txBody>
          <a:bodyPr wrap="square" lIns="0" tIns="0" rIns="0" bIns="0">
            <a:spAutoFit/>
          </a:bodyPr>
          <a:lstStyle/>
          <a:p>
            <a:pPr>
              <a:lnSpc>
                <a:spcPct val="124000"/>
              </a:lnSpc>
              <a:spcAft>
                <a:spcPts val="0"/>
              </a:spcAft>
            </a:pPr>
            <a:r>
              <a:rPr sz="1450" b="1">
                <a:solidFill>
                  <a:srgbClr val="17150F"/>
                </a:solidFill>
                <a:latin typeface="Arial"/>
              </a:rPr>
              <a:t>Si mañana cambia el precio del Tinto, no hay que reentrenar nada</a:t>
            </a:r>
            <a:r>
              <a:rPr sz="1450" b="0">
                <a:solidFill>
                  <a:srgbClr val="555045"/>
                </a:solidFill>
                <a:latin typeface="Arial"/>
              </a:rPr>
              <a:t>: se recalcula el nivel y el pedido se ajusta solo.</a:t>
            </a:r>
          </a:p>
        </p:txBody>
      </p:sp>
      <p:sp>
        <p:nvSpPr>
          <p:cNvPr id="13" name="Rectangle 12"/>
          <p:cNvSpPr/>
          <p:nvPr/>
        </p:nvSpPr>
        <p:spPr>
          <a:xfrm>
            <a:off x="777240" y="4806950"/>
            <a:ext cx="63500" cy="63500"/>
          </a:xfrm>
          <a:prstGeom prst="rect">
            <a:avLst/>
          </a:prstGeom>
          <a:solidFill>
            <a:srgbClr val="8C2F3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4" name="TextBox 13"/>
          <p:cNvSpPr txBox="1"/>
          <p:nvPr/>
        </p:nvSpPr>
        <p:spPr>
          <a:xfrm>
            <a:off x="978408" y="4706366"/>
            <a:ext cx="10436047" cy="283337"/>
          </a:xfrm>
          <a:prstGeom prst="rect">
            <a:avLst/>
          </a:prstGeom>
          <a:noFill/>
        </p:spPr>
        <p:txBody>
          <a:bodyPr wrap="square" lIns="0" tIns="0" rIns="0" bIns="0">
            <a:spAutoFit/>
          </a:bodyPr>
          <a:lstStyle/>
          <a:p>
            <a:pPr>
              <a:lnSpc>
                <a:spcPct val="124000"/>
              </a:lnSpc>
              <a:spcAft>
                <a:spcPts val="0"/>
              </a:spcAft>
            </a:pPr>
            <a:r>
              <a:rPr sz="1450" b="1">
                <a:solidFill>
                  <a:srgbClr val="17150F"/>
                </a:solidFill>
                <a:latin typeface="Arial"/>
              </a:rPr>
              <a:t>El mismo modelo sirve para los ocho productos</a:t>
            </a:r>
            <a:r>
              <a:rPr sz="1450" b="0">
                <a:solidFill>
                  <a:srgbClr val="555045"/>
                </a:solidFill>
                <a:latin typeface="Arial"/>
              </a:rPr>
              <a:t> con políticas distintas.</a:t>
            </a:r>
          </a:p>
        </p:txBody>
      </p:sp>
      <p:sp>
        <p:nvSpPr>
          <p:cNvPr id="15" name="Rectangle 14"/>
          <p:cNvSpPr/>
          <p:nvPr/>
        </p:nvSpPr>
        <p:spPr>
          <a:xfrm>
            <a:off x="777240" y="5218303"/>
            <a:ext cx="63500" cy="63500"/>
          </a:xfrm>
          <a:prstGeom prst="rect">
            <a:avLst/>
          </a:prstGeom>
          <a:solidFill>
            <a:srgbClr val="8C2F3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6" name="TextBox 15"/>
          <p:cNvSpPr txBox="1"/>
          <p:nvPr/>
        </p:nvSpPr>
        <p:spPr>
          <a:xfrm>
            <a:off x="978408" y="5117719"/>
            <a:ext cx="10436047" cy="283337"/>
          </a:xfrm>
          <a:prstGeom prst="rect">
            <a:avLst/>
          </a:prstGeom>
          <a:noFill/>
        </p:spPr>
        <p:txBody>
          <a:bodyPr wrap="square" lIns="0" tIns="0" rIns="0" bIns="0">
            <a:spAutoFit/>
          </a:bodyPr>
          <a:lstStyle/>
          <a:p>
            <a:pPr>
              <a:lnSpc>
                <a:spcPct val="124000"/>
              </a:lnSpc>
              <a:spcAft>
                <a:spcPts val="0"/>
              </a:spcAft>
            </a:pPr>
            <a:r>
              <a:rPr sz="1450" b="1">
                <a:solidFill>
                  <a:srgbClr val="17150F"/>
                </a:solidFill>
                <a:latin typeface="Arial"/>
              </a:rPr>
              <a:t>La conversación con negocio queda separada de la técnica.</a:t>
            </a:r>
            <a:r>
              <a:rPr sz="1450" b="0">
                <a:solidFill>
                  <a:srgbClr val="555045"/>
                </a:solidFill>
                <a:latin typeface="Arial"/>
              </a:rPr>
              <a:t> Discutir costes no es discutir algoritmos.</a:t>
            </a:r>
          </a:p>
        </p:txBody>
      </p:sp>
      <p:sp>
        <p:nvSpPr>
          <p:cNvPr id="17" name="Rectangle 16"/>
          <p:cNvSpPr/>
          <p:nvPr/>
        </p:nvSpPr>
        <p:spPr>
          <a:xfrm>
            <a:off x="777240" y="6327648"/>
            <a:ext cx="10637215" cy="9525"/>
          </a:xfrm>
          <a:prstGeom prst="rect">
            <a:avLst/>
          </a:prstGeom>
          <a:solidFill>
            <a:srgbClr val="DCD8C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8" name="TextBox 17"/>
          <p:cNvSpPr txBox="1"/>
          <p:nvPr/>
        </p:nvSpPr>
        <p:spPr>
          <a:xfrm>
            <a:off x="777240" y="6428232"/>
            <a:ext cx="8686800" cy="274320"/>
          </a:xfrm>
          <a:prstGeom prst="rect">
            <a:avLst/>
          </a:prstGeom>
          <a:noFill/>
        </p:spPr>
        <p:txBody>
          <a:bodyPr wrap="square" lIns="0" tIns="0" rIns="0" bIns="0">
            <a:spAutoFit/>
          </a:bodyPr>
          <a:lstStyle/>
          <a:p>
            <a:pPr algn="l">
              <a:lnSpc>
                <a:spcPct val="122000"/>
              </a:lnSpc>
              <a:spcBef>
                <a:spcPts val="0"/>
              </a:spcBef>
              <a:spcAft>
                <a:spcPts val="0"/>
              </a:spcAft>
            </a:pPr>
            <a:r>
              <a:rPr sz="950" b="0">
                <a:solidFill>
                  <a:srgbClr val="8B8478"/>
                </a:solidFill>
                <a:latin typeface="Arial"/>
              </a:rPr>
              <a:t>Paso 9 · Costes y niveles</a:t>
            </a:r>
          </a:p>
        </p:txBody>
      </p:sp>
      <p:sp>
        <p:nvSpPr>
          <p:cNvPr id="19" name="TextBox 18"/>
          <p:cNvSpPr txBox="1"/>
          <p:nvPr/>
        </p:nvSpPr>
        <p:spPr>
          <a:xfrm>
            <a:off x="10500055" y="6428232"/>
            <a:ext cx="914400" cy="274320"/>
          </a:xfrm>
          <a:prstGeom prst="rect">
            <a:avLst/>
          </a:prstGeom>
          <a:noFill/>
        </p:spPr>
        <p:txBody>
          <a:bodyPr wrap="square" lIns="0" tIns="0" rIns="0" bIns="0">
            <a:spAutoFit/>
          </a:bodyPr>
          <a:lstStyle/>
          <a:p>
            <a:pPr algn="r">
              <a:lnSpc>
                <a:spcPct val="122000"/>
              </a:lnSpc>
              <a:spcBef>
                <a:spcPts val="0"/>
              </a:spcBef>
              <a:spcAft>
                <a:spcPts val="0"/>
              </a:spcAft>
            </a:pPr>
            <a:r>
              <a:rPr sz="950" b="0">
                <a:solidFill>
                  <a:srgbClr val="8B8478"/>
                </a:solidFill>
                <a:latin typeface="Arial"/>
              </a:rPr>
              <a:t>20</a:t>
            </a:r>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777240" y="475488"/>
            <a:ext cx="10637215" cy="237744"/>
          </a:xfrm>
          <a:prstGeom prst="rect">
            <a:avLst/>
          </a:prstGeom>
          <a:noFill/>
        </p:spPr>
        <p:txBody>
          <a:bodyPr wrap="square" lIns="0" tIns="0" rIns="0" bIns="0">
            <a:spAutoFit/>
          </a:bodyPr>
          <a:lstStyle/>
          <a:p>
            <a:pPr algn="l">
              <a:lnSpc>
                <a:spcPct val="122000"/>
              </a:lnSpc>
              <a:spcBef>
                <a:spcPts val="0"/>
              </a:spcBef>
              <a:spcAft>
                <a:spcPts val="0"/>
              </a:spcAft>
            </a:pPr>
            <a:r>
              <a:rPr sz="1050" b="1">
                <a:solidFill>
                  <a:srgbClr val="8C2F39"/>
                </a:solidFill>
                <a:latin typeface="Arial"/>
              </a:rPr>
              <a:t>PASO 9 · COSTES</a:t>
            </a:r>
          </a:p>
        </p:txBody>
      </p:sp>
      <p:sp>
        <p:nvSpPr>
          <p:cNvPr id="4" name="Rectangle 3"/>
          <p:cNvSpPr/>
          <p:nvPr/>
        </p:nvSpPr>
        <p:spPr>
          <a:xfrm>
            <a:off x="777240" y="768096"/>
            <a:ext cx="502920" cy="30480"/>
          </a:xfrm>
          <a:prstGeom prst="rect">
            <a:avLst/>
          </a:prstGeom>
          <a:solidFill>
            <a:srgbClr val="8C2F3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 name="TextBox 4"/>
          <p:cNvSpPr txBox="1"/>
          <p:nvPr/>
        </p:nvSpPr>
        <p:spPr>
          <a:xfrm>
            <a:off x="777240" y="914400"/>
            <a:ext cx="10637215" cy="445770"/>
          </a:xfrm>
          <a:prstGeom prst="rect">
            <a:avLst/>
          </a:prstGeom>
          <a:noFill/>
        </p:spPr>
        <p:txBody>
          <a:bodyPr wrap="square" lIns="0" tIns="0" rIns="0" bIns="0">
            <a:spAutoFit/>
          </a:bodyPr>
          <a:lstStyle/>
          <a:p>
            <a:pPr algn="l">
              <a:lnSpc>
                <a:spcPct val="106000"/>
              </a:lnSpc>
              <a:spcBef>
                <a:spcPts val="0"/>
              </a:spcBef>
              <a:spcAft>
                <a:spcPts val="0"/>
              </a:spcAft>
            </a:pPr>
            <a:r>
              <a:rPr sz="2700" b="1">
                <a:solidFill>
                  <a:srgbClr val="17150F"/>
                </a:solidFill>
                <a:latin typeface="Arial"/>
              </a:rPr>
              <a:t>Con el coste del enunciado los ocho productos salen iguales</a:t>
            </a:r>
          </a:p>
        </p:txBody>
      </p:sp>
      <p:graphicFrame>
        <p:nvGraphicFramePr>
          <p:cNvPr id="7" name="Table 6"/>
          <p:cNvGraphicFramePr>
            <a:graphicFrameLocks noGrp="1"/>
          </p:cNvGraphicFramePr>
          <p:nvPr/>
        </p:nvGraphicFramePr>
        <p:xfrm>
          <a:off x="6949440" y="1597914"/>
          <a:ext cx="4465014" cy="2542032"/>
        </p:xfrm>
        <a:graphic>
          <a:graphicData uri="http://schemas.openxmlformats.org/drawingml/2006/table">
            <a:tbl>
              <a:tblPr bandRow="1">
                <a:tableStyleId>{5C22544A-7EE6-4342-B048-85BDC9FD1C3A}</a:tableStyleId>
              </a:tblPr>
              <a:tblGrid>
                <a:gridCol w="1964606">
                  <a:extLst>
                    <a:ext uri="{9D8B030D-6E8A-4147-A177-3AD203B41FA5}">
                      <a16:colId xmlns:a16="http://schemas.microsoft.com/office/drawing/2014/main" val="20000"/>
                    </a:ext>
                  </a:extLst>
                </a:gridCol>
                <a:gridCol w="1250204">
                  <a:extLst>
                    <a:ext uri="{9D8B030D-6E8A-4147-A177-3AD203B41FA5}">
                      <a16:colId xmlns:a16="http://schemas.microsoft.com/office/drawing/2014/main" val="20001"/>
                    </a:ext>
                  </a:extLst>
                </a:gridCol>
                <a:gridCol w="1250204">
                  <a:extLst>
                    <a:ext uri="{9D8B030D-6E8A-4147-A177-3AD203B41FA5}">
                      <a16:colId xmlns:a16="http://schemas.microsoft.com/office/drawing/2014/main" val="20002"/>
                    </a:ext>
                  </a:extLst>
                </a:gridCol>
              </a:tblGrid>
              <a:tr h="347472">
                <a:tc>
                  <a:txBody>
                    <a:bodyPr/>
                    <a:lstStyle/>
                    <a:p>
                      <a:pPr algn="l"/>
                      <a:r>
                        <a:rPr sz="1000" b="1">
                          <a:solidFill>
                            <a:srgbClr val="8B8478"/>
                          </a:solidFill>
                          <a:latin typeface="Arial"/>
                        </a:rPr>
                        <a:t>Producto</a:t>
                      </a:r>
                    </a:p>
                  </a:txBody>
                  <a:tcPr marL="82296" marR="82296" anchor="ctr">
                    <a:solidFill>
                      <a:srgbClr val="F4F2ED"/>
                    </a:solidFill>
                  </a:tcPr>
                </a:tc>
                <a:tc>
                  <a:txBody>
                    <a:bodyPr/>
                    <a:lstStyle/>
                    <a:p>
                      <a:pPr algn="r"/>
                      <a:r>
                        <a:rPr sz="1000" b="1">
                          <a:solidFill>
                            <a:srgbClr val="8B8478"/>
                          </a:solidFill>
                          <a:latin typeface="Arial"/>
                        </a:rPr>
                        <a:t>Sin merma</a:t>
                      </a:r>
                    </a:p>
                  </a:txBody>
                  <a:tcPr marL="82296" marR="82296" anchor="ctr">
                    <a:solidFill>
                      <a:srgbClr val="F4F2ED"/>
                    </a:solidFill>
                  </a:tcPr>
                </a:tc>
                <a:tc>
                  <a:txBody>
                    <a:bodyPr/>
                    <a:lstStyle/>
                    <a:p>
                      <a:pPr algn="r"/>
                      <a:r>
                        <a:rPr sz="1000" b="1">
                          <a:solidFill>
                            <a:srgbClr val="8B8478"/>
                          </a:solidFill>
                          <a:latin typeface="Arial"/>
                        </a:rPr>
                        <a:t>Con merma</a:t>
                      </a:r>
                    </a:p>
                  </a:txBody>
                  <a:tcPr marL="82296" marR="82296" anchor="ctr">
                    <a:solidFill>
                      <a:srgbClr val="F4F2ED"/>
                    </a:solidFill>
                  </a:tcPr>
                </a:tc>
                <a:extLst>
                  <a:ext uri="{0D108BD9-81ED-4DB2-BD59-A6C34878D82A}">
                    <a16:rowId xmlns:a16="http://schemas.microsoft.com/office/drawing/2014/main" val="10000"/>
                  </a:ext>
                </a:extLst>
              </a:tr>
              <a:tr h="274320">
                <a:tc>
                  <a:txBody>
                    <a:bodyPr/>
                    <a:lstStyle/>
                    <a:p>
                      <a:pPr algn="l"/>
                      <a:r>
                        <a:rPr sz="1150" b="0">
                          <a:solidFill>
                            <a:srgbClr val="17150F"/>
                          </a:solidFill>
                          <a:latin typeface="Arial"/>
                        </a:rPr>
                        <a:t>Cappuccino</a:t>
                      </a:r>
                    </a:p>
                  </a:txBody>
                  <a:tcPr marL="82296" marR="82296" anchor="ctr">
                    <a:solidFill>
                      <a:srgbClr val="FFFFFF"/>
                    </a:solidFill>
                  </a:tcPr>
                </a:tc>
                <a:tc>
                  <a:txBody>
                    <a:bodyPr/>
                    <a:lstStyle/>
                    <a:p>
                      <a:pPr algn="r"/>
                      <a:r>
                        <a:rPr sz="1150" b="0">
                          <a:solidFill>
                            <a:srgbClr val="555045"/>
                          </a:solidFill>
                          <a:latin typeface="Arial"/>
                        </a:rPr>
                        <a:t>0,995</a:t>
                      </a:r>
                    </a:p>
                  </a:txBody>
                  <a:tcPr marL="82296" marR="82296" anchor="ctr">
                    <a:solidFill>
                      <a:srgbClr val="FFFFFF"/>
                    </a:solidFill>
                  </a:tcPr>
                </a:tc>
                <a:tc>
                  <a:txBody>
                    <a:bodyPr/>
                    <a:lstStyle/>
                    <a:p>
                      <a:pPr algn="r"/>
                      <a:r>
                        <a:rPr sz="1150" b="0">
                          <a:solidFill>
                            <a:srgbClr val="555045"/>
                          </a:solidFill>
                          <a:latin typeface="Arial"/>
                        </a:rPr>
                        <a:t>0,66</a:t>
                      </a:r>
                    </a:p>
                  </a:txBody>
                  <a:tcPr marL="82296" marR="82296" anchor="ctr">
                    <a:solidFill>
                      <a:srgbClr val="FFFFFF"/>
                    </a:solidFill>
                  </a:tcPr>
                </a:tc>
                <a:extLst>
                  <a:ext uri="{0D108BD9-81ED-4DB2-BD59-A6C34878D82A}">
                    <a16:rowId xmlns:a16="http://schemas.microsoft.com/office/drawing/2014/main" val="10001"/>
                  </a:ext>
                </a:extLst>
              </a:tr>
              <a:tr h="274320">
                <a:tc>
                  <a:txBody>
                    <a:bodyPr/>
                    <a:lstStyle/>
                    <a:p>
                      <a:pPr algn="l"/>
                      <a:r>
                        <a:rPr sz="1150" b="0">
                          <a:solidFill>
                            <a:srgbClr val="17150F"/>
                          </a:solidFill>
                          <a:latin typeface="Arial"/>
                        </a:rPr>
                        <a:t>Tinto</a:t>
                      </a:r>
                    </a:p>
                  </a:txBody>
                  <a:tcPr marL="82296" marR="82296" anchor="ctr">
                    <a:solidFill>
                      <a:srgbClr val="FFFFFF"/>
                    </a:solidFill>
                  </a:tcPr>
                </a:tc>
                <a:tc>
                  <a:txBody>
                    <a:bodyPr/>
                    <a:lstStyle/>
                    <a:p>
                      <a:pPr algn="r"/>
                      <a:r>
                        <a:rPr sz="1150" b="0">
                          <a:solidFill>
                            <a:srgbClr val="555045"/>
                          </a:solidFill>
                          <a:latin typeface="Arial"/>
                        </a:rPr>
                        <a:t>0,994</a:t>
                      </a:r>
                    </a:p>
                  </a:txBody>
                  <a:tcPr marL="82296" marR="82296" anchor="ctr">
                    <a:solidFill>
                      <a:srgbClr val="FFFFFF"/>
                    </a:solidFill>
                  </a:tcPr>
                </a:tc>
                <a:tc>
                  <a:txBody>
                    <a:bodyPr/>
                    <a:lstStyle/>
                    <a:p>
                      <a:pPr algn="r"/>
                      <a:r>
                        <a:rPr sz="1150" b="0">
                          <a:solidFill>
                            <a:srgbClr val="555045"/>
                          </a:solidFill>
                          <a:latin typeface="Arial"/>
                        </a:rPr>
                        <a:t>0,68</a:t>
                      </a:r>
                    </a:p>
                  </a:txBody>
                  <a:tcPr marL="82296" marR="82296" anchor="ctr">
                    <a:solidFill>
                      <a:srgbClr val="FFFFFF"/>
                    </a:solidFill>
                  </a:tcPr>
                </a:tc>
                <a:extLst>
                  <a:ext uri="{0D108BD9-81ED-4DB2-BD59-A6C34878D82A}">
                    <a16:rowId xmlns:a16="http://schemas.microsoft.com/office/drawing/2014/main" val="10002"/>
                  </a:ext>
                </a:extLst>
              </a:tr>
              <a:tr h="274320">
                <a:tc>
                  <a:txBody>
                    <a:bodyPr/>
                    <a:lstStyle/>
                    <a:p>
                      <a:pPr algn="l"/>
                      <a:r>
                        <a:rPr sz="1150" b="0">
                          <a:solidFill>
                            <a:srgbClr val="17150F"/>
                          </a:solidFill>
                          <a:latin typeface="Arial"/>
                        </a:rPr>
                        <a:t>Café con Leche</a:t>
                      </a:r>
                    </a:p>
                  </a:txBody>
                  <a:tcPr marL="82296" marR="82296" anchor="ctr">
                    <a:solidFill>
                      <a:srgbClr val="FFFFFF"/>
                    </a:solidFill>
                  </a:tcPr>
                </a:tc>
                <a:tc>
                  <a:txBody>
                    <a:bodyPr/>
                    <a:lstStyle/>
                    <a:p>
                      <a:pPr algn="r"/>
                      <a:r>
                        <a:rPr sz="1150" b="0">
                          <a:solidFill>
                            <a:srgbClr val="555045"/>
                          </a:solidFill>
                          <a:latin typeface="Arial"/>
                        </a:rPr>
                        <a:t>0,994</a:t>
                      </a:r>
                    </a:p>
                  </a:txBody>
                  <a:tcPr marL="82296" marR="82296" anchor="ctr">
                    <a:solidFill>
                      <a:srgbClr val="FFFFFF"/>
                    </a:solidFill>
                  </a:tcPr>
                </a:tc>
                <a:tc>
                  <a:txBody>
                    <a:bodyPr/>
                    <a:lstStyle/>
                    <a:p>
                      <a:pPr algn="r"/>
                      <a:r>
                        <a:rPr sz="1150" b="0">
                          <a:solidFill>
                            <a:srgbClr val="555045"/>
                          </a:solidFill>
                          <a:latin typeface="Arial"/>
                        </a:rPr>
                        <a:t>0,65</a:t>
                      </a:r>
                    </a:p>
                  </a:txBody>
                  <a:tcPr marL="82296" marR="82296" anchor="ctr">
                    <a:solidFill>
                      <a:srgbClr val="FFFFFF"/>
                    </a:solidFill>
                  </a:tcPr>
                </a:tc>
                <a:extLst>
                  <a:ext uri="{0D108BD9-81ED-4DB2-BD59-A6C34878D82A}">
                    <a16:rowId xmlns:a16="http://schemas.microsoft.com/office/drawing/2014/main" val="10003"/>
                  </a:ext>
                </a:extLst>
              </a:tr>
              <a:tr h="274320">
                <a:tc>
                  <a:txBody>
                    <a:bodyPr/>
                    <a:lstStyle/>
                    <a:p>
                      <a:pPr algn="l"/>
                      <a:r>
                        <a:rPr sz="1150" b="0">
                          <a:solidFill>
                            <a:srgbClr val="17150F"/>
                          </a:solidFill>
                          <a:latin typeface="Arial"/>
                        </a:rPr>
                        <a:t>Croissant</a:t>
                      </a:r>
                    </a:p>
                  </a:txBody>
                  <a:tcPr marL="82296" marR="82296" anchor="ctr">
                    <a:solidFill>
                      <a:srgbClr val="FFFFFF"/>
                    </a:solidFill>
                  </a:tcPr>
                </a:tc>
                <a:tc>
                  <a:txBody>
                    <a:bodyPr/>
                    <a:lstStyle/>
                    <a:p>
                      <a:pPr algn="r"/>
                      <a:r>
                        <a:rPr sz="1150" b="0">
                          <a:solidFill>
                            <a:srgbClr val="555045"/>
                          </a:solidFill>
                          <a:latin typeface="Arial"/>
                        </a:rPr>
                        <a:t>0,989</a:t>
                      </a:r>
                    </a:p>
                  </a:txBody>
                  <a:tcPr marL="82296" marR="82296" anchor="ctr">
                    <a:solidFill>
                      <a:srgbClr val="FFFFFF"/>
                    </a:solidFill>
                  </a:tcPr>
                </a:tc>
                <a:tc>
                  <a:txBody>
                    <a:bodyPr/>
                    <a:lstStyle/>
                    <a:p>
                      <a:pPr algn="r"/>
                      <a:r>
                        <a:rPr sz="1150" b="0">
                          <a:solidFill>
                            <a:srgbClr val="555045"/>
                          </a:solidFill>
                          <a:latin typeface="Arial"/>
                        </a:rPr>
                        <a:t>0,65</a:t>
                      </a:r>
                    </a:p>
                  </a:txBody>
                  <a:tcPr marL="82296" marR="82296" anchor="ctr">
                    <a:solidFill>
                      <a:srgbClr val="FFFFFF"/>
                    </a:solidFill>
                  </a:tcPr>
                </a:tc>
                <a:extLst>
                  <a:ext uri="{0D108BD9-81ED-4DB2-BD59-A6C34878D82A}">
                    <a16:rowId xmlns:a16="http://schemas.microsoft.com/office/drawing/2014/main" val="10004"/>
                  </a:ext>
                </a:extLst>
              </a:tr>
              <a:tr h="274320">
                <a:tc>
                  <a:txBody>
                    <a:bodyPr/>
                    <a:lstStyle/>
                    <a:p>
                      <a:pPr algn="l"/>
                      <a:r>
                        <a:rPr sz="1150" b="0">
                          <a:solidFill>
                            <a:srgbClr val="17150F"/>
                          </a:solidFill>
                          <a:latin typeface="Arial"/>
                        </a:rPr>
                        <a:t>Pan de Bono</a:t>
                      </a:r>
                    </a:p>
                  </a:txBody>
                  <a:tcPr marL="82296" marR="82296" anchor="ctr">
                    <a:solidFill>
                      <a:srgbClr val="FFFFFF"/>
                    </a:solidFill>
                  </a:tcPr>
                </a:tc>
                <a:tc>
                  <a:txBody>
                    <a:bodyPr/>
                    <a:lstStyle/>
                    <a:p>
                      <a:pPr algn="r"/>
                      <a:r>
                        <a:rPr sz="1150" b="0">
                          <a:solidFill>
                            <a:srgbClr val="555045"/>
                          </a:solidFill>
                          <a:latin typeface="Arial"/>
                        </a:rPr>
                        <a:t>0,989</a:t>
                      </a:r>
                    </a:p>
                  </a:txBody>
                  <a:tcPr marL="82296" marR="82296" anchor="ctr">
                    <a:solidFill>
                      <a:srgbClr val="FFFFFF"/>
                    </a:solidFill>
                  </a:tcPr>
                </a:tc>
                <a:tc>
                  <a:txBody>
                    <a:bodyPr/>
                    <a:lstStyle/>
                    <a:p>
                      <a:pPr algn="r"/>
                      <a:r>
                        <a:rPr sz="1150" b="0">
                          <a:solidFill>
                            <a:srgbClr val="555045"/>
                          </a:solidFill>
                          <a:latin typeface="Arial"/>
                        </a:rPr>
                        <a:t>0,64</a:t>
                      </a:r>
                    </a:p>
                  </a:txBody>
                  <a:tcPr marL="82296" marR="82296" anchor="ctr">
                    <a:solidFill>
                      <a:srgbClr val="FFFFFF"/>
                    </a:solidFill>
                  </a:tcPr>
                </a:tc>
                <a:extLst>
                  <a:ext uri="{0D108BD9-81ED-4DB2-BD59-A6C34878D82A}">
                    <a16:rowId xmlns:a16="http://schemas.microsoft.com/office/drawing/2014/main" val="10005"/>
                  </a:ext>
                </a:extLst>
              </a:tr>
              <a:tr h="274320">
                <a:tc>
                  <a:txBody>
                    <a:bodyPr/>
                    <a:lstStyle/>
                    <a:p>
                      <a:pPr algn="l"/>
                      <a:r>
                        <a:rPr sz="1150" b="0">
                          <a:solidFill>
                            <a:srgbClr val="17150F"/>
                          </a:solidFill>
                          <a:latin typeface="Arial"/>
                        </a:rPr>
                        <a:t>Buñuelo</a:t>
                      </a:r>
                    </a:p>
                  </a:txBody>
                  <a:tcPr marL="82296" marR="82296" anchor="ctr">
                    <a:solidFill>
                      <a:srgbClr val="FFFFFF"/>
                    </a:solidFill>
                  </a:tcPr>
                </a:tc>
                <a:tc>
                  <a:txBody>
                    <a:bodyPr/>
                    <a:lstStyle/>
                    <a:p>
                      <a:pPr algn="r"/>
                      <a:r>
                        <a:rPr sz="1150" b="0">
                          <a:solidFill>
                            <a:srgbClr val="555045"/>
                          </a:solidFill>
                          <a:latin typeface="Arial"/>
                        </a:rPr>
                        <a:t>0,988</a:t>
                      </a:r>
                    </a:p>
                  </a:txBody>
                  <a:tcPr marL="82296" marR="82296" anchor="ctr">
                    <a:solidFill>
                      <a:srgbClr val="FFFFFF"/>
                    </a:solidFill>
                  </a:tcPr>
                </a:tc>
                <a:tc>
                  <a:txBody>
                    <a:bodyPr/>
                    <a:lstStyle/>
                    <a:p>
                      <a:pPr algn="r"/>
                      <a:r>
                        <a:rPr sz="1150" b="0">
                          <a:solidFill>
                            <a:srgbClr val="555045"/>
                          </a:solidFill>
                          <a:latin typeface="Arial"/>
                        </a:rPr>
                        <a:t>0,67</a:t>
                      </a:r>
                    </a:p>
                  </a:txBody>
                  <a:tcPr marL="82296" marR="82296" anchor="ctr">
                    <a:solidFill>
                      <a:srgbClr val="FFFFFF"/>
                    </a:solidFill>
                  </a:tcPr>
                </a:tc>
                <a:extLst>
                  <a:ext uri="{0D108BD9-81ED-4DB2-BD59-A6C34878D82A}">
                    <a16:rowId xmlns:a16="http://schemas.microsoft.com/office/drawing/2014/main" val="10006"/>
                  </a:ext>
                </a:extLst>
              </a:tr>
              <a:tr h="274320">
                <a:tc>
                  <a:txBody>
                    <a:bodyPr/>
                    <a:lstStyle/>
                    <a:p>
                      <a:pPr algn="l"/>
                      <a:r>
                        <a:rPr sz="1150" b="0">
                          <a:solidFill>
                            <a:srgbClr val="17150F"/>
                          </a:solidFill>
                          <a:latin typeface="Arial"/>
                        </a:rPr>
                        <a:t>Pastel de Pollo</a:t>
                      </a:r>
                    </a:p>
                  </a:txBody>
                  <a:tcPr marL="82296" marR="82296" anchor="ctr">
                    <a:solidFill>
                      <a:srgbClr val="FFFFFF"/>
                    </a:solidFill>
                  </a:tcPr>
                </a:tc>
                <a:tc>
                  <a:txBody>
                    <a:bodyPr/>
                    <a:lstStyle/>
                    <a:p>
                      <a:pPr algn="r"/>
                      <a:r>
                        <a:rPr sz="1150" b="0">
                          <a:solidFill>
                            <a:srgbClr val="555045"/>
                          </a:solidFill>
                          <a:latin typeface="Arial"/>
                        </a:rPr>
                        <a:t>0,985</a:t>
                      </a:r>
                    </a:p>
                  </a:txBody>
                  <a:tcPr marL="82296" marR="82296" anchor="ctr">
                    <a:solidFill>
                      <a:srgbClr val="FFFFFF"/>
                    </a:solidFill>
                  </a:tcPr>
                </a:tc>
                <a:tc>
                  <a:txBody>
                    <a:bodyPr/>
                    <a:lstStyle/>
                    <a:p>
                      <a:pPr algn="r"/>
                      <a:r>
                        <a:rPr sz="1150" b="0">
                          <a:solidFill>
                            <a:srgbClr val="555045"/>
                          </a:solidFill>
                          <a:latin typeface="Arial"/>
                        </a:rPr>
                        <a:t>0,57</a:t>
                      </a:r>
                    </a:p>
                  </a:txBody>
                  <a:tcPr marL="82296" marR="82296" anchor="ctr">
                    <a:solidFill>
                      <a:srgbClr val="FFFFFF"/>
                    </a:solidFill>
                  </a:tcPr>
                </a:tc>
                <a:extLst>
                  <a:ext uri="{0D108BD9-81ED-4DB2-BD59-A6C34878D82A}">
                    <a16:rowId xmlns:a16="http://schemas.microsoft.com/office/drawing/2014/main" val="10007"/>
                  </a:ext>
                </a:extLst>
              </a:tr>
              <a:tr h="274320">
                <a:tc>
                  <a:txBody>
                    <a:bodyPr/>
                    <a:lstStyle/>
                    <a:p>
                      <a:pPr algn="l"/>
                      <a:r>
                        <a:rPr sz="1150" b="0">
                          <a:solidFill>
                            <a:srgbClr val="17150F"/>
                          </a:solidFill>
                          <a:latin typeface="Arial"/>
                        </a:rPr>
                        <a:t>Jugo de Naranja</a:t>
                      </a:r>
                    </a:p>
                  </a:txBody>
                  <a:tcPr marL="82296" marR="82296" anchor="ctr">
                    <a:solidFill>
                      <a:srgbClr val="FFFFFF"/>
                    </a:solidFill>
                  </a:tcPr>
                </a:tc>
                <a:tc>
                  <a:txBody>
                    <a:bodyPr/>
                    <a:lstStyle/>
                    <a:p>
                      <a:pPr algn="r"/>
                      <a:r>
                        <a:rPr sz="1150" b="0">
                          <a:solidFill>
                            <a:srgbClr val="555045"/>
                          </a:solidFill>
                          <a:latin typeface="Arial"/>
                        </a:rPr>
                        <a:t>0,984</a:t>
                      </a:r>
                    </a:p>
                  </a:txBody>
                  <a:tcPr marL="82296" marR="82296" anchor="ctr">
                    <a:solidFill>
                      <a:srgbClr val="FFFFFF"/>
                    </a:solidFill>
                  </a:tcPr>
                </a:tc>
                <a:tc>
                  <a:txBody>
                    <a:bodyPr/>
                    <a:lstStyle/>
                    <a:p>
                      <a:pPr algn="r"/>
                      <a:r>
                        <a:rPr sz="1150" b="0">
                          <a:solidFill>
                            <a:srgbClr val="555045"/>
                          </a:solidFill>
                          <a:latin typeface="Arial"/>
                        </a:rPr>
                        <a:t>0,59</a:t>
                      </a:r>
                    </a:p>
                  </a:txBody>
                  <a:tcPr marL="82296" marR="82296" anchor="ctr">
                    <a:solidFill>
                      <a:srgbClr val="FFFFFF"/>
                    </a:solidFill>
                  </a:tcPr>
                </a:tc>
                <a:extLst>
                  <a:ext uri="{0D108BD9-81ED-4DB2-BD59-A6C34878D82A}">
                    <a16:rowId xmlns:a16="http://schemas.microsoft.com/office/drawing/2014/main" val="10008"/>
                  </a:ext>
                </a:extLst>
              </a:tr>
            </a:tbl>
          </a:graphicData>
        </a:graphic>
      </p:graphicFrame>
      <p:sp>
        <p:nvSpPr>
          <p:cNvPr id="8" name="TextBox 7"/>
          <p:cNvSpPr txBox="1"/>
          <p:nvPr/>
        </p:nvSpPr>
        <p:spPr>
          <a:xfrm>
            <a:off x="6949440" y="4249674"/>
            <a:ext cx="4465015" cy="1828800"/>
          </a:xfrm>
          <a:prstGeom prst="rect">
            <a:avLst/>
          </a:prstGeom>
          <a:noFill/>
        </p:spPr>
        <p:txBody>
          <a:bodyPr wrap="square" lIns="0" tIns="0" rIns="0" bIns="0">
            <a:spAutoFit/>
          </a:bodyPr>
          <a:lstStyle/>
          <a:p>
            <a:pPr algn="l">
              <a:lnSpc>
                <a:spcPct val="128000"/>
              </a:lnSpc>
              <a:spcBef>
                <a:spcPts val="0"/>
              </a:spcBef>
              <a:spcAft>
                <a:spcPts val="1000"/>
              </a:spcAft>
            </a:pPr>
            <a:r>
              <a:rPr sz="1250" b="0">
                <a:solidFill>
                  <a:srgbClr val="555045"/>
                </a:solidFill>
                <a:latin typeface="Arial"/>
              </a:rPr>
              <a:t>Sin merma los ocho caben en una amplitud de 0,011: son indistinguibles, y la pregunta del encargo se queda sin respuesta.</a:t>
            </a:r>
          </a:p>
          <a:p>
            <a:pPr algn="l">
              <a:lnSpc>
                <a:spcPct val="128000"/>
              </a:lnSpc>
              <a:spcBef>
                <a:spcPts val="0"/>
              </a:spcBef>
              <a:spcAft>
                <a:spcPts val="0"/>
              </a:spcAft>
            </a:pPr>
            <a:r>
              <a:rPr sz="1250" b="1">
                <a:solidFill>
                  <a:srgbClr val="17150F"/>
                </a:solidFill>
                <a:latin typeface="Arial"/>
              </a:rPr>
              <a:t>Con merma se abren de 0,57 a 0,68 y quedan ordenados exactamente por margen.</a:t>
            </a:r>
          </a:p>
        </p:txBody>
      </p:sp>
      <p:sp>
        <p:nvSpPr>
          <p:cNvPr id="9" name="Rectangle 8"/>
          <p:cNvSpPr/>
          <p:nvPr/>
        </p:nvSpPr>
        <p:spPr>
          <a:xfrm>
            <a:off x="777240" y="6327648"/>
            <a:ext cx="10637215" cy="9525"/>
          </a:xfrm>
          <a:prstGeom prst="rect">
            <a:avLst/>
          </a:prstGeom>
          <a:solidFill>
            <a:srgbClr val="DCD8C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0" name="TextBox 9"/>
          <p:cNvSpPr txBox="1"/>
          <p:nvPr/>
        </p:nvSpPr>
        <p:spPr>
          <a:xfrm>
            <a:off x="777240" y="6428232"/>
            <a:ext cx="8686800" cy="274320"/>
          </a:xfrm>
          <a:prstGeom prst="rect">
            <a:avLst/>
          </a:prstGeom>
          <a:noFill/>
        </p:spPr>
        <p:txBody>
          <a:bodyPr wrap="square" lIns="0" tIns="0" rIns="0" bIns="0">
            <a:spAutoFit/>
          </a:bodyPr>
          <a:lstStyle/>
          <a:p>
            <a:pPr algn="l">
              <a:lnSpc>
                <a:spcPct val="122000"/>
              </a:lnSpc>
              <a:spcBef>
                <a:spcPts val="0"/>
              </a:spcBef>
              <a:spcAft>
                <a:spcPts val="0"/>
              </a:spcAft>
            </a:pPr>
            <a:r>
              <a:rPr sz="950" b="0">
                <a:solidFill>
                  <a:srgbClr val="8B8478"/>
                </a:solidFill>
                <a:latin typeface="Arial"/>
              </a:rPr>
              <a:t>Paso 9 · Costes y niveles</a:t>
            </a:r>
          </a:p>
        </p:txBody>
      </p:sp>
      <p:sp>
        <p:nvSpPr>
          <p:cNvPr id="11" name="TextBox 10"/>
          <p:cNvSpPr txBox="1"/>
          <p:nvPr/>
        </p:nvSpPr>
        <p:spPr>
          <a:xfrm>
            <a:off x="10500055" y="6428232"/>
            <a:ext cx="914400" cy="274320"/>
          </a:xfrm>
          <a:prstGeom prst="rect">
            <a:avLst/>
          </a:prstGeom>
          <a:noFill/>
        </p:spPr>
        <p:txBody>
          <a:bodyPr wrap="square" lIns="0" tIns="0" rIns="0" bIns="0">
            <a:spAutoFit/>
          </a:bodyPr>
          <a:lstStyle/>
          <a:p>
            <a:pPr algn="r">
              <a:lnSpc>
                <a:spcPct val="122000"/>
              </a:lnSpc>
              <a:spcBef>
                <a:spcPts val="0"/>
              </a:spcBef>
              <a:spcAft>
                <a:spcPts val="0"/>
              </a:spcAft>
            </a:pPr>
            <a:r>
              <a:rPr sz="950" b="0">
                <a:solidFill>
                  <a:srgbClr val="8B8478"/>
                </a:solidFill>
                <a:latin typeface="Arial"/>
              </a:rPr>
              <a:t>21</a:t>
            </a:r>
          </a:p>
        </p:txBody>
      </p:sp>
      <p:pic>
        <p:nvPicPr>
          <p:cNvPr id="12" name="Picture 11">
            <a:extLst>
              <a:ext uri="{FF2B5EF4-FFF2-40B4-BE49-F238E27FC236}">
                <a16:creationId xmlns:a16="http://schemas.microsoft.com/office/drawing/2014/main" id="{21FB00C5-32BA-509D-D5E1-4DE85308DE51}"/>
              </a:ext>
            </a:extLst>
          </p:cNvPr>
          <p:cNvPicPr>
            <a:picLocks noChangeAspect="1"/>
          </p:cNvPicPr>
          <p:nvPr/>
        </p:nvPicPr>
        <p:blipFill>
          <a:blip r:embed="rId2"/>
          <a:stretch>
            <a:fillRect/>
          </a:stretch>
        </p:blipFill>
        <p:spPr>
          <a:xfrm>
            <a:off x="469135" y="1820915"/>
            <a:ext cx="6307146" cy="3453913"/>
          </a:xfrm>
          <a:prstGeom prst="rect">
            <a:avLst/>
          </a:prstGeom>
        </p:spPr>
      </p:pic>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777240" y="475488"/>
            <a:ext cx="10637215" cy="237744"/>
          </a:xfrm>
          <a:prstGeom prst="rect">
            <a:avLst/>
          </a:prstGeom>
          <a:noFill/>
        </p:spPr>
        <p:txBody>
          <a:bodyPr wrap="square" lIns="0" tIns="0" rIns="0" bIns="0">
            <a:spAutoFit/>
          </a:bodyPr>
          <a:lstStyle/>
          <a:p>
            <a:pPr algn="l">
              <a:lnSpc>
                <a:spcPct val="122000"/>
              </a:lnSpc>
              <a:spcBef>
                <a:spcPts val="0"/>
              </a:spcBef>
              <a:spcAft>
                <a:spcPts val="0"/>
              </a:spcAft>
            </a:pPr>
            <a:r>
              <a:rPr sz="1050" b="1">
                <a:solidFill>
                  <a:srgbClr val="8C2F39"/>
                </a:solidFill>
                <a:latin typeface="Arial"/>
              </a:rPr>
              <a:t>PASO 9 · COSTES</a:t>
            </a:r>
          </a:p>
        </p:txBody>
      </p:sp>
      <p:sp>
        <p:nvSpPr>
          <p:cNvPr id="4" name="Rectangle 3"/>
          <p:cNvSpPr/>
          <p:nvPr/>
        </p:nvSpPr>
        <p:spPr>
          <a:xfrm>
            <a:off x="777240" y="768096"/>
            <a:ext cx="502920" cy="30480"/>
          </a:xfrm>
          <a:prstGeom prst="rect">
            <a:avLst/>
          </a:prstGeom>
          <a:solidFill>
            <a:srgbClr val="8C2F3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 name="TextBox 4"/>
          <p:cNvSpPr txBox="1"/>
          <p:nvPr/>
        </p:nvSpPr>
        <p:spPr>
          <a:xfrm>
            <a:off x="777240" y="914400"/>
            <a:ext cx="10637215" cy="445770"/>
          </a:xfrm>
          <a:prstGeom prst="rect">
            <a:avLst/>
          </a:prstGeom>
          <a:noFill/>
        </p:spPr>
        <p:txBody>
          <a:bodyPr wrap="square" lIns="0" tIns="0" rIns="0" bIns="0">
            <a:spAutoFit/>
          </a:bodyPr>
          <a:lstStyle/>
          <a:p>
            <a:pPr algn="l">
              <a:lnSpc>
                <a:spcPct val="106000"/>
              </a:lnSpc>
              <a:spcBef>
                <a:spcPts val="0"/>
              </a:spcBef>
              <a:spcAft>
                <a:spcPts val="0"/>
              </a:spcAft>
            </a:pPr>
            <a:r>
              <a:rPr sz="2700" b="1" dirty="0">
                <a:solidFill>
                  <a:srgbClr val="17150F"/>
                </a:solidFill>
                <a:latin typeface="Arial"/>
              </a:rPr>
              <a:t>La </a:t>
            </a:r>
            <a:r>
              <a:rPr sz="2700" b="1" dirty="0" err="1">
                <a:solidFill>
                  <a:srgbClr val="17150F"/>
                </a:solidFill>
                <a:latin typeface="Arial"/>
              </a:rPr>
              <a:t>pregunta</a:t>
            </a:r>
            <a:r>
              <a:rPr sz="2700" b="1" dirty="0">
                <a:solidFill>
                  <a:srgbClr val="17150F"/>
                </a:solidFill>
                <a:latin typeface="Arial"/>
              </a:rPr>
              <a:t> a </a:t>
            </a:r>
            <a:r>
              <a:rPr sz="2700" b="1" dirty="0" err="1">
                <a:solidFill>
                  <a:srgbClr val="17150F"/>
                </a:solidFill>
                <a:latin typeface="Arial"/>
              </a:rPr>
              <a:t>negocio</a:t>
            </a:r>
            <a:r>
              <a:rPr sz="2700" b="1" dirty="0">
                <a:solidFill>
                  <a:srgbClr val="17150F"/>
                </a:solidFill>
                <a:latin typeface="Arial"/>
              </a:rPr>
              <a:t> no es </a:t>
            </a:r>
            <a:r>
              <a:rPr sz="2700" b="1" dirty="0" err="1">
                <a:solidFill>
                  <a:srgbClr val="17150F"/>
                </a:solidFill>
                <a:latin typeface="Arial"/>
              </a:rPr>
              <a:t>binaria</a:t>
            </a:r>
            <a:r>
              <a:rPr sz="2700" b="1" dirty="0">
                <a:solidFill>
                  <a:srgbClr val="17150F"/>
                </a:solidFill>
                <a:latin typeface="Arial"/>
              </a:rPr>
              <a:t>, es </a:t>
            </a:r>
            <a:r>
              <a:rPr sz="2700" b="1" dirty="0" err="1">
                <a:solidFill>
                  <a:srgbClr val="17150F"/>
                </a:solidFill>
                <a:latin typeface="Arial"/>
              </a:rPr>
              <a:t>cuantitativa</a:t>
            </a:r>
            <a:endParaRPr sz="2700" b="1" dirty="0">
              <a:solidFill>
                <a:srgbClr val="17150F"/>
              </a:solidFill>
              <a:latin typeface="Arial"/>
            </a:endParaRPr>
          </a:p>
        </p:txBody>
      </p:sp>
      <p:pic>
        <p:nvPicPr>
          <p:cNvPr id="6" name="Picture 5" descr="12_sensibilidad_merma.png"/>
          <p:cNvPicPr>
            <a:picLocks noChangeAspect="1"/>
          </p:cNvPicPr>
          <p:nvPr/>
        </p:nvPicPr>
        <p:blipFill>
          <a:blip r:embed="rId2"/>
          <a:stretch>
            <a:fillRect/>
          </a:stretch>
        </p:blipFill>
        <p:spPr>
          <a:xfrm>
            <a:off x="777240" y="1506474"/>
            <a:ext cx="5852160" cy="3402419"/>
          </a:xfrm>
          <a:prstGeom prst="rect">
            <a:avLst/>
          </a:prstGeom>
        </p:spPr>
      </p:pic>
      <p:graphicFrame>
        <p:nvGraphicFramePr>
          <p:cNvPr id="7" name="Table 6"/>
          <p:cNvGraphicFramePr>
            <a:graphicFrameLocks noGrp="1"/>
          </p:cNvGraphicFramePr>
          <p:nvPr>
            <p:extLst>
              <p:ext uri="{D42A27DB-BD31-4B8C-83A1-F6EECF244321}">
                <p14:modId xmlns:p14="http://schemas.microsoft.com/office/powerpoint/2010/main" val="2296491135"/>
              </p:ext>
            </p:extLst>
          </p:nvPr>
        </p:nvGraphicFramePr>
        <p:xfrm>
          <a:off x="6949440" y="1827949"/>
          <a:ext cx="4465014" cy="1901952"/>
        </p:xfrm>
        <a:graphic>
          <a:graphicData uri="http://schemas.openxmlformats.org/drawingml/2006/table">
            <a:tbl>
              <a:tblPr bandRow="1">
                <a:tableStyleId>{5C22544A-7EE6-4342-B048-85BDC9FD1C3A}</a:tableStyleId>
              </a:tblPr>
              <a:tblGrid>
                <a:gridCol w="2321807">
                  <a:extLst>
                    <a:ext uri="{9D8B030D-6E8A-4147-A177-3AD203B41FA5}">
                      <a16:colId xmlns:a16="http://schemas.microsoft.com/office/drawing/2014/main" val="20000"/>
                    </a:ext>
                  </a:extLst>
                </a:gridCol>
                <a:gridCol w="2143207">
                  <a:extLst>
                    <a:ext uri="{9D8B030D-6E8A-4147-A177-3AD203B41FA5}">
                      <a16:colId xmlns:a16="http://schemas.microsoft.com/office/drawing/2014/main" val="20001"/>
                    </a:ext>
                  </a:extLst>
                </a:gridCol>
              </a:tblGrid>
              <a:tr h="347472">
                <a:tc>
                  <a:txBody>
                    <a:bodyPr/>
                    <a:lstStyle/>
                    <a:p>
                      <a:pPr algn="l"/>
                      <a:r>
                        <a:rPr sz="1050" b="1">
                          <a:solidFill>
                            <a:srgbClr val="8B8478"/>
                          </a:solidFill>
                          <a:latin typeface="Arial"/>
                        </a:rPr>
                        <a:t>Se descarta</a:t>
                      </a:r>
                    </a:p>
                  </a:txBody>
                  <a:tcPr marL="82296" marR="82296" anchor="ctr">
                    <a:solidFill>
                      <a:srgbClr val="F4F2ED"/>
                    </a:solidFill>
                  </a:tcPr>
                </a:tc>
                <a:tc>
                  <a:txBody>
                    <a:bodyPr/>
                    <a:lstStyle/>
                    <a:p>
                      <a:pPr algn="r"/>
                      <a:r>
                        <a:rPr sz="1050" b="1">
                          <a:solidFill>
                            <a:srgbClr val="8B8478"/>
                          </a:solidFill>
                          <a:latin typeface="Arial"/>
                        </a:rPr>
                        <a:t>Nivel del Tinto</a:t>
                      </a:r>
                    </a:p>
                  </a:txBody>
                  <a:tcPr marL="82296" marR="82296" anchor="ctr">
                    <a:solidFill>
                      <a:srgbClr val="F4F2ED"/>
                    </a:solidFill>
                  </a:tcPr>
                </a:tc>
                <a:extLst>
                  <a:ext uri="{0D108BD9-81ED-4DB2-BD59-A6C34878D82A}">
                    <a16:rowId xmlns:a16="http://schemas.microsoft.com/office/drawing/2014/main" val="10000"/>
                  </a:ext>
                </a:extLst>
              </a:tr>
              <a:tr h="310896">
                <a:tc>
                  <a:txBody>
                    <a:bodyPr/>
                    <a:lstStyle/>
                    <a:p>
                      <a:pPr algn="l"/>
                      <a:r>
                        <a:rPr sz="1200" b="0">
                          <a:solidFill>
                            <a:srgbClr val="17150F"/>
                          </a:solidFill>
                          <a:latin typeface="Arial"/>
                        </a:rPr>
                        <a:t>0 %</a:t>
                      </a:r>
                    </a:p>
                  </a:txBody>
                  <a:tcPr marL="82296" marR="82296" anchor="ctr">
                    <a:solidFill>
                      <a:srgbClr val="FFFFFF"/>
                    </a:solidFill>
                  </a:tcPr>
                </a:tc>
                <a:tc>
                  <a:txBody>
                    <a:bodyPr/>
                    <a:lstStyle/>
                    <a:p>
                      <a:pPr algn="r"/>
                      <a:r>
                        <a:rPr sz="1200" b="0">
                          <a:solidFill>
                            <a:srgbClr val="555045"/>
                          </a:solidFill>
                          <a:latin typeface="Arial"/>
                        </a:rPr>
                        <a:t>0,994</a:t>
                      </a:r>
                    </a:p>
                  </a:txBody>
                  <a:tcPr marL="82296" marR="82296" anchor="ctr">
                    <a:solidFill>
                      <a:srgbClr val="FFFFFF"/>
                    </a:solidFill>
                  </a:tcPr>
                </a:tc>
                <a:extLst>
                  <a:ext uri="{0D108BD9-81ED-4DB2-BD59-A6C34878D82A}">
                    <a16:rowId xmlns:a16="http://schemas.microsoft.com/office/drawing/2014/main" val="10001"/>
                  </a:ext>
                </a:extLst>
              </a:tr>
              <a:tr h="310896">
                <a:tc>
                  <a:txBody>
                    <a:bodyPr/>
                    <a:lstStyle/>
                    <a:p>
                      <a:pPr algn="l"/>
                      <a:r>
                        <a:rPr sz="1200" b="0">
                          <a:solidFill>
                            <a:srgbClr val="17150F"/>
                          </a:solidFill>
                          <a:latin typeface="Arial"/>
                        </a:rPr>
                        <a:t>20 %</a:t>
                      </a:r>
                    </a:p>
                  </a:txBody>
                  <a:tcPr marL="82296" marR="82296" anchor="ctr">
                    <a:solidFill>
                      <a:srgbClr val="FFFFFF"/>
                    </a:solidFill>
                  </a:tcPr>
                </a:tc>
                <a:tc>
                  <a:txBody>
                    <a:bodyPr/>
                    <a:lstStyle/>
                    <a:p>
                      <a:pPr algn="r"/>
                      <a:r>
                        <a:rPr sz="1200" b="0">
                          <a:solidFill>
                            <a:srgbClr val="555045"/>
                          </a:solidFill>
                          <a:latin typeface="Arial"/>
                        </a:rPr>
                        <a:t>0,909</a:t>
                      </a:r>
                    </a:p>
                  </a:txBody>
                  <a:tcPr marL="82296" marR="82296" anchor="ctr">
                    <a:solidFill>
                      <a:srgbClr val="FFFFFF"/>
                    </a:solidFill>
                  </a:tcPr>
                </a:tc>
                <a:extLst>
                  <a:ext uri="{0D108BD9-81ED-4DB2-BD59-A6C34878D82A}">
                    <a16:rowId xmlns:a16="http://schemas.microsoft.com/office/drawing/2014/main" val="10002"/>
                  </a:ext>
                </a:extLst>
              </a:tr>
              <a:tr h="310896">
                <a:tc>
                  <a:txBody>
                    <a:bodyPr/>
                    <a:lstStyle/>
                    <a:p>
                      <a:pPr algn="l"/>
                      <a:r>
                        <a:rPr sz="1200" b="0">
                          <a:solidFill>
                            <a:srgbClr val="17150F"/>
                          </a:solidFill>
                          <a:latin typeface="Arial"/>
                        </a:rPr>
                        <a:t>40 %</a:t>
                      </a:r>
                    </a:p>
                  </a:txBody>
                  <a:tcPr marL="82296" marR="82296" anchor="ctr">
                    <a:solidFill>
                      <a:srgbClr val="FFFFFF"/>
                    </a:solidFill>
                  </a:tcPr>
                </a:tc>
                <a:tc>
                  <a:txBody>
                    <a:bodyPr/>
                    <a:lstStyle/>
                    <a:p>
                      <a:pPr algn="r"/>
                      <a:r>
                        <a:rPr sz="1200" b="0">
                          <a:solidFill>
                            <a:srgbClr val="555045"/>
                          </a:solidFill>
                          <a:latin typeface="Arial"/>
                        </a:rPr>
                        <a:t>0,837</a:t>
                      </a:r>
                    </a:p>
                  </a:txBody>
                  <a:tcPr marL="82296" marR="82296" anchor="ctr">
                    <a:solidFill>
                      <a:srgbClr val="FFFFFF"/>
                    </a:solidFill>
                  </a:tcPr>
                </a:tc>
                <a:extLst>
                  <a:ext uri="{0D108BD9-81ED-4DB2-BD59-A6C34878D82A}">
                    <a16:rowId xmlns:a16="http://schemas.microsoft.com/office/drawing/2014/main" val="10003"/>
                  </a:ext>
                </a:extLst>
              </a:tr>
              <a:tr h="310896">
                <a:tc>
                  <a:txBody>
                    <a:bodyPr/>
                    <a:lstStyle/>
                    <a:p>
                      <a:pPr algn="l"/>
                      <a:r>
                        <a:rPr sz="1200" b="0" dirty="0">
                          <a:solidFill>
                            <a:srgbClr val="17150F"/>
                          </a:solidFill>
                          <a:latin typeface="Arial"/>
                        </a:rPr>
                        <a:t>50 %</a:t>
                      </a:r>
                    </a:p>
                  </a:txBody>
                  <a:tcPr marL="82296" marR="82296" anchor="ctr">
                    <a:solidFill>
                      <a:srgbClr val="FFFFFF"/>
                    </a:solidFill>
                  </a:tcPr>
                </a:tc>
                <a:tc>
                  <a:txBody>
                    <a:bodyPr/>
                    <a:lstStyle/>
                    <a:p>
                      <a:pPr algn="r"/>
                      <a:r>
                        <a:rPr sz="1200" b="0">
                          <a:solidFill>
                            <a:srgbClr val="555045"/>
                          </a:solidFill>
                          <a:latin typeface="Arial"/>
                        </a:rPr>
                        <a:t>0,806</a:t>
                      </a:r>
                    </a:p>
                  </a:txBody>
                  <a:tcPr marL="82296" marR="82296" anchor="ctr">
                    <a:solidFill>
                      <a:srgbClr val="FFFFFF"/>
                    </a:solidFill>
                  </a:tcPr>
                </a:tc>
                <a:extLst>
                  <a:ext uri="{0D108BD9-81ED-4DB2-BD59-A6C34878D82A}">
                    <a16:rowId xmlns:a16="http://schemas.microsoft.com/office/drawing/2014/main" val="10004"/>
                  </a:ext>
                </a:extLst>
              </a:tr>
              <a:tr h="310896">
                <a:tc>
                  <a:txBody>
                    <a:bodyPr/>
                    <a:lstStyle/>
                    <a:p>
                      <a:pPr algn="l"/>
                      <a:r>
                        <a:rPr sz="1200" b="0">
                          <a:solidFill>
                            <a:srgbClr val="17150F"/>
                          </a:solidFill>
                          <a:latin typeface="Arial"/>
                        </a:rPr>
                        <a:t>100 %</a:t>
                      </a:r>
                    </a:p>
                  </a:txBody>
                  <a:tcPr marL="82296" marR="82296" anchor="ctr">
                    <a:solidFill>
                      <a:srgbClr val="FFFFFF"/>
                    </a:solidFill>
                  </a:tcPr>
                </a:tc>
                <a:tc>
                  <a:txBody>
                    <a:bodyPr/>
                    <a:lstStyle/>
                    <a:p>
                      <a:pPr algn="r"/>
                      <a:r>
                        <a:rPr sz="1200" b="0" dirty="0">
                          <a:solidFill>
                            <a:srgbClr val="555045"/>
                          </a:solidFill>
                          <a:latin typeface="Arial"/>
                        </a:rPr>
                        <a:t>0,677</a:t>
                      </a:r>
                    </a:p>
                  </a:txBody>
                  <a:tcPr marL="82296" marR="82296" anchor="ctr">
                    <a:solidFill>
                      <a:srgbClr val="FFFFFF"/>
                    </a:solidFill>
                  </a:tcPr>
                </a:tc>
                <a:extLst>
                  <a:ext uri="{0D108BD9-81ED-4DB2-BD59-A6C34878D82A}">
                    <a16:rowId xmlns:a16="http://schemas.microsoft.com/office/drawing/2014/main" val="10005"/>
                  </a:ext>
                </a:extLst>
              </a:tr>
            </a:tbl>
          </a:graphicData>
        </a:graphic>
      </p:graphicFrame>
      <p:sp>
        <p:nvSpPr>
          <p:cNvPr id="8" name="TextBox 7"/>
          <p:cNvSpPr txBox="1"/>
          <p:nvPr/>
        </p:nvSpPr>
        <p:spPr>
          <a:xfrm>
            <a:off x="6949440" y="4197680"/>
            <a:ext cx="4465015" cy="753155"/>
          </a:xfrm>
          <a:prstGeom prst="rect">
            <a:avLst/>
          </a:prstGeom>
          <a:noFill/>
        </p:spPr>
        <p:txBody>
          <a:bodyPr wrap="square" lIns="0" tIns="0" rIns="0" bIns="0">
            <a:spAutoFit/>
          </a:bodyPr>
          <a:lstStyle/>
          <a:p>
            <a:pPr algn="l">
              <a:lnSpc>
                <a:spcPct val="130000"/>
              </a:lnSpc>
              <a:spcBef>
                <a:spcPts val="0"/>
              </a:spcBef>
              <a:spcAft>
                <a:spcPts val="1200"/>
              </a:spcAft>
            </a:pPr>
            <a:r>
              <a:rPr sz="1300" b="0" dirty="0">
                <a:solidFill>
                  <a:srgbClr val="555045"/>
                </a:solidFill>
                <a:latin typeface="Arial"/>
              </a:rPr>
              <a:t>La </a:t>
            </a:r>
            <a:r>
              <a:rPr sz="1300" b="0" dirty="0" err="1">
                <a:solidFill>
                  <a:srgbClr val="555045"/>
                </a:solidFill>
                <a:latin typeface="Arial"/>
              </a:rPr>
              <a:t>caída</a:t>
            </a:r>
            <a:r>
              <a:rPr sz="1300" b="0" dirty="0">
                <a:solidFill>
                  <a:srgbClr val="555045"/>
                </a:solidFill>
                <a:latin typeface="Arial"/>
              </a:rPr>
              <a:t> </a:t>
            </a:r>
            <a:r>
              <a:rPr sz="1300" b="0" dirty="0" err="1">
                <a:solidFill>
                  <a:srgbClr val="555045"/>
                </a:solidFill>
                <a:latin typeface="Arial"/>
              </a:rPr>
              <a:t>más</a:t>
            </a:r>
            <a:r>
              <a:rPr sz="1300" b="0" dirty="0">
                <a:solidFill>
                  <a:srgbClr val="555045"/>
                </a:solidFill>
                <a:latin typeface="Arial"/>
              </a:rPr>
              <a:t> </a:t>
            </a:r>
            <a:r>
              <a:rPr sz="1300" b="0" dirty="0" err="1">
                <a:solidFill>
                  <a:srgbClr val="555045"/>
                </a:solidFill>
                <a:latin typeface="Arial"/>
              </a:rPr>
              <a:t>fuerte</a:t>
            </a:r>
            <a:r>
              <a:rPr sz="1300" b="0" dirty="0">
                <a:solidFill>
                  <a:srgbClr val="555045"/>
                </a:solidFill>
                <a:latin typeface="Arial"/>
              </a:rPr>
              <a:t> </a:t>
            </a:r>
            <a:r>
              <a:rPr sz="1300" b="0" dirty="0" err="1">
                <a:solidFill>
                  <a:srgbClr val="555045"/>
                </a:solidFill>
                <a:latin typeface="Arial"/>
              </a:rPr>
              <a:t>está</a:t>
            </a:r>
            <a:r>
              <a:rPr sz="1300" b="0" dirty="0">
                <a:solidFill>
                  <a:srgbClr val="555045"/>
                </a:solidFill>
                <a:latin typeface="Arial"/>
              </a:rPr>
              <a:t> al principio. Basta </a:t>
            </a:r>
            <a:r>
              <a:rPr sz="1300" b="0" dirty="0" err="1">
                <a:solidFill>
                  <a:srgbClr val="555045"/>
                </a:solidFill>
                <a:latin typeface="Arial"/>
              </a:rPr>
              <a:t>suponer</a:t>
            </a:r>
            <a:r>
              <a:rPr sz="1300" b="0" dirty="0">
                <a:solidFill>
                  <a:srgbClr val="555045"/>
                </a:solidFill>
                <a:latin typeface="Arial"/>
              </a:rPr>
              <a:t> </a:t>
            </a:r>
            <a:r>
              <a:rPr sz="1300" b="0" dirty="0" err="1">
                <a:solidFill>
                  <a:srgbClr val="555045"/>
                </a:solidFill>
                <a:latin typeface="Arial"/>
              </a:rPr>
              <a:t>que</a:t>
            </a:r>
            <a:r>
              <a:rPr sz="1300" b="0" dirty="0">
                <a:solidFill>
                  <a:srgbClr val="555045"/>
                </a:solidFill>
                <a:latin typeface="Arial"/>
              </a:rPr>
              <a:t> se </a:t>
            </a:r>
            <a:r>
              <a:rPr sz="1300" b="0" dirty="0" err="1">
                <a:solidFill>
                  <a:srgbClr val="555045"/>
                </a:solidFill>
                <a:latin typeface="Arial"/>
              </a:rPr>
              <a:t>pierde</a:t>
            </a:r>
            <a:r>
              <a:rPr sz="1300" b="0" dirty="0">
                <a:solidFill>
                  <a:srgbClr val="555045"/>
                </a:solidFill>
                <a:latin typeface="Arial"/>
              </a:rPr>
              <a:t> un 20 % del </a:t>
            </a:r>
            <a:r>
              <a:rPr sz="1300" b="0" dirty="0" err="1">
                <a:solidFill>
                  <a:srgbClr val="555045"/>
                </a:solidFill>
                <a:latin typeface="Arial"/>
              </a:rPr>
              <a:t>sobrante</a:t>
            </a:r>
            <a:r>
              <a:rPr sz="1300" b="0" dirty="0">
                <a:solidFill>
                  <a:srgbClr val="555045"/>
                </a:solidFill>
                <a:latin typeface="Arial"/>
              </a:rPr>
              <a:t> para </a:t>
            </a:r>
            <a:r>
              <a:rPr sz="1300" b="0" dirty="0" err="1">
                <a:solidFill>
                  <a:srgbClr val="555045"/>
                </a:solidFill>
                <a:latin typeface="Arial"/>
              </a:rPr>
              <a:t>que</a:t>
            </a:r>
            <a:r>
              <a:rPr sz="1300" b="0" dirty="0">
                <a:solidFill>
                  <a:srgbClr val="555045"/>
                </a:solidFill>
                <a:latin typeface="Arial"/>
              </a:rPr>
              <a:t> el </a:t>
            </a:r>
            <a:r>
              <a:rPr sz="1300" b="0" dirty="0" err="1">
                <a:solidFill>
                  <a:srgbClr val="555045"/>
                </a:solidFill>
                <a:latin typeface="Arial"/>
              </a:rPr>
              <a:t>nivel</a:t>
            </a:r>
            <a:r>
              <a:rPr sz="1300" b="0" dirty="0">
                <a:solidFill>
                  <a:srgbClr val="555045"/>
                </a:solidFill>
                <a:latin typeface="Arial"/>
              </a:rPr>
              <a:t> </a:t>
            </a:r>
            <a:r>
              <a:rPr sz="1300" b="0" dirty="0" err="1">
                <a:solidFill>
                  <a:srgbClr val="555045"/>
                </a:solidFill>
                <a:latin typeface="Arial"/>
              </a:rPr>
              <a:t>baje</a:t>
            </a:r>
            <a:r>
              <a:rPr sz="1300" b="0" dirty="0">
                <a:solidFill>
                  <a:srgbClr val="555045"/>
                </a:solidFill>
                <a:latin typeface="Arial"/>
              </a:rPr>
              <a:t> de 0,99 a 0,91.</a:t>
            </a:r>
          </a:p>
        </p:txBody>
      </p:sp>
      <p:sp>
        <p:nvSpPr>
          <p:cNvPr id="9" name="Rectangle 8"/>
          <p:cNvSpPr/>
          <p:nvPr/>
        </p:nvSpPr>
        <p:spPr>
          <a:xfrm>
            <a:off x="777240" y="6327648"/>
            <a:ext cx="10637215" cy="9525"/>
          </a:xfrm>
          <a:prstGeom prst="rect">
            <a:avLst/>
          </a:prstGeom>
          <a:solidFill>
            <a:srgbClr val="DCD8C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0" name="TextBox 9"/>
          <p:cNvSpPr txBox="1"/>
          <p:nvPr/>
        </p:nvSpPr>
        <p:spPr>
          <a:xfrm>
            <a:off x="777240" y="6428232"/>
            <a:ext cx="8686800" cy="274320"/>
          </a:xfrm>
          <a:prstGeom prst="rect">
            <a:avLst/>
          </a:prstGeom>
          <a:noFill/>
        </p:spPr>
        <p:txBody>
          <a:bodyPr wrap="square" lIns="0" tIns="0" rIns="0" bIns="0">
            <a:spAutoFit/>
          </a:bodyPr>
          <a:lstStyle/>
          <a:p>
            <a:pPr algn="l">
              <a:lnSpc>
                <a:spcPct val="122000"/>
              </a:lnSpc>
              <a:spcBef>
                <a:spcPts val="0"/>
              </a:spcBef>
              <a:spcAft>
                <a:spcPts val="0"/>
              </a:spcAft>
            </a:pPr>
            <a:r>
              <a:rPr sz="950" b="0">
                <a:solidFill>
                  <a:srgbClr val="8B8478"/>
                </a:solidFill>
                <a:latin typeface="Arial"/>
              </a:rPr>
              <a:t>Paso 9 · Costes y niveles</a:t>
            </a:r>
          </a:p>
        </p:txBody>
      </p:sp>
      <p:sp>
        <p:nvSpPr>
          <p:cNvPr id="11" name="TextBox 10"/>
          <p:cNvSpPr txBox="1"/>
          <p:nvPr/>
        </p:nvSpPr>
        <p:spPr>
          <a:xfrm>
            <a:off x="10500055" y="6428232"/>
            <a:ext cx="914400" cy="274320"/>
          </a:xfrm>
          <a:prstGeom prst="rect">
            <a:avLst/>
          </a:prstGeom>
          <a:noFill/>
        </p:spPr>
        <p:txBody>
          <a:bodyPr wrap="square" lIns="0" tIns="0" rIns="0" bIns="0">
            <a:spAutoFit/>
          </a:bodyPr>
          <a:lstStyle/>
          <a:p>
            <a:pPr algn="r">
              <a:lnSpc>
                <a:spcPct val="122000"/>
              </a:lnSpc>
              <a:spcBef>
                <a:spcPts val="0"/>
              </a:spcBef>
              <a:spcAft>
                <a:spcPts val="0"/>
              </a:spcAft>
            </a:pPr>
            <a:r>
              <a:rPr sz="950" b="0">
                <a:solidFill>
                  <a:srgbClr val="8B8478"/>
                </a:solidFill>
                <a:latin typeface="Arial"/>
              </a:rPr>
              <a:t>22</a:t>
            </a:r>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475488"/>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777240" y="475488"/>
            <a:ext cx="10637215" cy="237744"/>
          </a:xfrm>
          <a:prstGeom prst="rect">
            <a:avLst/>
          </a:prstGeom>
          <a:noFill/>
        </p:spPr>
        <p:txBody>
          <a:bodyPr wrap="square" lIns="0" tIns="0" rIns="0" bIns="0">
            <a:spAutoFit/>
          </a:bodyPr>
          <a:lstStyle/>
          <a:p>
            <a:pPr algn="l">
              <a:lnSpc>
                <a:spcPct val="122000"/>
              </a:lnSpc>
              <a:spcBef>
                <a:spcPts val="0"/>
              </a:spcBef>
              <a:spcAft>
                <a:spcPts val="0"/>
              </a:spcAft>
            </a:pPr>
            <a:r>
              <a:rPr sz="1050" b="1">
                <a:solidFill>
                  <a:srgbClr val="8C2F39"/>
                </a:solidFill>
                <a:latin typeface="Arial"/>
              </a:rPr>
              <a:t>PASO 9 · LA REJILLA</a:t>
            </a:r>
          </a:p>
        </p:txBody>
      </p:sp>
      <p:sp>
        <p:nvSpPr>
          <p:cNvPr id="4" name="Rectangle 3"/>
          <p:cNvSpPr/>
          <p:nvPr/>
        </p:nvSpPr>
        <p:spPr>
          <a:xfrm>
            <a:off x="777240" y="768096"/>
            <a:ext cx="502920" cy="30480"/>
          </a:xfrm>
          <a:prstGeom prst="rect">
            <a:avLst/>
          </a:prstGeom>
          <a:solidFill>
            <a:srgbClr val="8C2F3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 name="TextBox 4"/>
          <p:cNvSpPr txBox="1"/>
          <p:nvPr/>
        </p:nvSpPr>
        <p:spPr>
          <a:xfrm>
            <a:off x="777240" y="914400"/>
            <a:ext cx="10637215" cy="445770"/>
          </a:xfrm>
          <a:prstGeom prst="rect">
            <a:avLst/>
          </a:prstGeom>
          <a:noFill/>
        </p:spPr>
        <p:txBody>
          <a:bodyPr wrap="square" lIns="0" tIns="0" rIns="0" bIns="0">
            <a:spAutoFit/>
          </a:bodyPr>
          <a:lstStyle/>
          <a:p>
            <a:pPr algn="l">
              <a:lnSpc>
                <a:spcPct val="106000"/>
              </a:lnSpc>
              <a:spcBef>
                <a:spcPts val="0"/>
              </a:spcBef>
              <a:spcAft>
                <a:spcPts val="0"/>
              </a:spcAft>
            </a:pPr>
            <a:r>
              <a:rPr sz="2700" b="1">
                <a:solidFill>
                  <a:srgbClr val="17150F"/>
                </a:solidFill>
                <a:latin typeface="Arial"/>
              </a:rPr>
              <a:t>Diecisiete niveles: eso es lo que hay que entrenar</a:t>
            </a:r>
          </a:p>
        </p:txBody>
      </p:sp>
      <p:sp>
        <p:nvSpPr>
          <p:cNvPr id="6" name="TextBox 5"/>
          <p:cNvSpPr txBox="1"/>
          <p:nvPr/>
        </p:nvSpPr>
        <p:spPr>
          <a:xfrm>
            <a:off x="777240" y="1506474"/>
            <a:ext cx="9966960" cy="283337"/>
          </a:xfrm>
          <a:prstGeom prst="rect">
            <a:avLst/>
          </a:prstGeom>
          <a:noFill/>
        </p:spPr>
        <p:txBody>
          <a:bodyPr wrap="square" lIns="0" tIns="0" rIns="0" bIns="0">
            <a:spAutoFit/>
          </a:bodyPr>
          <a:lstStyle/>
          <a:p>
            <a:pPr algn="l">
              <a:lnSpc>
                <a:spcPct val="130000"/>
              </a:lnSpc>
              <a:spcBef>
                <a:spcPts val="0"/>
              </a:spcBef>
              <a:spcAft>
                <a:spcPts val="0"/>
              </a:spcAft>
            </a:pPr>
            <a:r>
              <a:rPr sz="1450" b="0">
                <a:solidFill>
                  <a:srgbClr val="555045"/>
                </a:solidFill>
                <a:latin typeface="Arial"/>
              </a:rPr>
              <a:t>Hasta tener esta lista no se sabía cuántos modelos de cuantil hacen falta.</a:t>
            </a:r>
          </a:p>
        </p:txBody>
      </p:sp>
      <p:sp>
        <p:nvSpPr>
          <p:cNvPr id="7" name="Rectangle 6"/>
          <p:cNvSpPr/>
          <p:nvPr/>
        </p:nvSpPr>
        <p:spPr>
          <a:xfrm>
            <a:off x="777240" y="1990979"/>
            <a:ext cx="10637215" cy="1005840"/>
          </a:xfrm>
          <a:prstGeom prst="rect">
            <a:avLst/>
          </a:prstGeom>
          <a:solidFill>
            <a:srgbClr val="F4F2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8" name="TextBox 7"/>
          <p:cNvSpPr txBox="1"/>
          <p:nvPr/>
        </p:nvSpPr>
        <p:spPr>
          <a:xfrm>
            <a:off x="1097280" y="2210435"/>
            <a:ext cx="9997135" cy="640080"/>
          </a:xfrm>
          <a:prstGeom prst="rect">
            <a:avLst/>
          </a:prstGeom>
          <a:noFill/>
        </p:spPr>
        <p:txBody>
          <a:bodyPr wrap="square" lIns="0" tIns="0" rIns="0" bIns="0">
            <a:spAutoFit/>
          </a:bodyPr>
          <a:lstStyle/>
          <a:p>
            <a:pPr algn="l">
              <a:lnSpc>
                <a:spcPct val="120000"/>
              </a:lnSpc>
              <a:spcBef>
                <a:spcPts val="0"/>
              </a:spcBef>
              <a:spcAft>
                <a:spcPts val="0"/>
              </a:spcAft>
            </a:pPr>
            <a:r>
              <a:rPr sz="1600" b="1" dirty="0">
                <a:solidFill>
                  <a:srgbClr val="17150F"/>
                </a:solidFill>
                <a:latin typeface="Arial"/>
              </a:rPr>
              <a:t>0,50   0,57   0,59   0,64   0,65   0,66   0,67   0,68   0,72   0,74   0,78   0,79   0,80   0,81   0,90   0,98   0,99</a:t>
            </a:r>
          </a:p>
        </p:txBody>
      </p:sp>
      <p:sp>
        <p:nvSpPr>
          <p:cNvPr id="9" name="Rectangle 8"/>
          <p:cNvSpPr/>
          <p:nvPr/>
        </p:nvSpPr>
        <p:spPr>
          <a:xfrm>
            <a:off x="777240" y="3417443"/>
            <a:ext cx="63500" cy="63500"/>
          </a:xfrm>
          <a:prstGeom prst="rect">
            <a:avLst/>
          </a:prstGeom>
          <a:solidFill>
            <a:srgbClr val="8C2F3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0" name="TextBox 9"/>
          <p:cNvSpPr txBox="1"/>
          <p:nvPr/>
        </p:nvSpPr>
        <p:spPr>
          <a:xfrm>
            <a:off x="978408" y="3316859"/>
            <a:ext cx="10436047" cy="530098"/>
          </a:xfrm>
          <a:prstGeom prst="rect">
            <a:avLst/>
          </a:prstGeom>
          <a:noFill/>
        </p:spPr>
        <p:txBody>
          <a:bodyPr wrap="square" lIns="0" tIns="0" rIns="0" bIns="0">
            <a:spAutoFit/>
          </a:bodyPr>
          <a:lstStyle/>
          <a:p>
            <a:pPr>
              <a:lnSpc>
                <a:spcPct val="124000"/>
              </a:lnSpc>
              <a:spcAft>
                <a:spcPts val="0"/>
              </a:spcAft>
            </a:pPr>
            <a:r>
              <a:rPr sz="1450" b="0">
                <a:solidFill>
                  <a:srgbClr val="555045"/>
                </a:solidFill>
                <a:latin typeface="Arial"/>
              </a:rPr>
              <a:t>Reúne los niveles que piden los </a:t>
            </a:r>
            <a:r>
              <a:rPr sz="1450" b="1">
                <a:solidFill>
                  <a:srgbClr val="17150F"/>
                </a:solidFill>
                <a:latin typeface="Arial"/>
              </a:rPr>
              <a:t>tres escenarios de coste</a:t>
            </a:r>
            <a:r>
              <a:rPr sz="1450" b="0">
                <a:solidFill>
                  <a:srgbClr val="555045"/>
                </a:solidFill>
                <a:latin typeface="Arial"/>
              </a:rPr>
              <a:t>, más el 0,50 para el pronóstico central que quiere negocio y el 0,90 para auditar la incertidumbre.</a:t>
            </a:r>
          </a:p>
        </p:txBody>
      </p:sp>
      <p:sp>
        <p:nvSpPr>
          <p:cNvPr id="13" name="Rectangle 12"/>
          <p:cNvSpPr/>
          <p:nvPr/>
        </p:nvSpPr>
        <p:spPr>
          <a:xfrm>
            <a:off x="777240" y="4258183"/>
            <a:ext cx="63500" cy="63500"/>
          </a:xfrm>
          <a:prstGeom prst="rect">
            <a:avLst/>
          </a:prstGeom>
          <a:solidFill>
            <a:srgbClr val="8C2F3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4" name="TextBox 13"/>
          <p:cNvSpPr txBox="1"/>
          <p:nvPr/>
        </p:nvSpPr>
        <p:spPr>
          <a:xfrm>
            <a:off x="978408" y="4157599"/>
            <a:ext cx="10436047" cy="249940"/>
          </a:xfrm>
          <a:prstGeom prst="rect">
            <a:avLst/>
          </a:prstGeom>
          <a:noFill/>
        </p:spPr>
        <p:txBody>
          <a:bodyPr wrap="square" lIns="0" tIns="0" rIns="0" bIns="0">
            <a:spAutoFit/>
          </a:bodyPr>
          <a:lstStyle/>
          <a:p>
            <a:pPr>
              <a:lnSpc>
                <a:spcPct val="124000"/>
              </a:lnSpc>
              <a:spcAft>
                <a:spcPts val="0"/>
              </a:spcAft>
            </a:pPr>
            <a:r>
              <a:rPr sz="1450" b="1" dirty="0">
                <a:solidFill>
                  <a:srgbClr val="17150F"/>
                </a:solidFill>
                <a:latin typeface="Arial"/>
              </a:rPr>
              <a:t>Un </a:t>
            </a:r>
            <a:r>
              <a:rPr sz="1450" b="1" dirty="0" err="1">
                <a:solidFill>
                  <a:srgbClr val="17150F"/>
                </a:solidFill>
                <a:latin typeface="Arial"/>
              </a:rPr>
              <a:t>estimador</a:t>
            </a:r>
            <a:r>
              <a:rPr sz="1450" b="1" dirty="0">
                <a:solidFill>
                  <a:srgbClr val="17150F"/>
                </a:solidFill>
                <a:latin typeface="Arial"/>
              </a:rPr>
              <a:t> de </a:t>
            </a:r>
            <a:r>
              <a:rPr sz="1450" b="1" dirty="0" err="1">
                <a:solidFill>
                  <a:srgbClr val="17150F"/>
                </a:solidFill>
                <a:latin typeface="Arial"/>
              </a:rPr>
              <a:t>cuantiles</a:t>
            </a:r>
            <a:r>
              <a:rPr sz="1450" b="1" dirty="0">
                <a:solidFill>
                  <a:srgbClr val="17150F"/>
                </a:solidFill>
                <a:latin typeface="Arial"/>
              </a:rPr>
              <a:t> solo </a:t>
            </a:r>
            <a:r>
              <a:rPr sz="1450" b="1" dirty="0" err="1">
                <a:solidFill>
                  <a:srgbClr val="17150F"/>
                </a:solidFill>
                <a:latin typeface="Arial"/>
              </a:rPr>
              <a:t>devuelve</a:t>
            </a:r>
            <a:r>
              <a:rPr sz="1450" b="1" dirty="0">
                <a:solidFill>
                  <a:srgbClr val="17150F"/>
                </a:solidFill>
                <a:latin typeface="Arial"/>
              </a:rPr>
              <a:t> el </a:t>
            </a:r>
            <a:r>
              <a:rPr sz="1450" b="1" dirty="0" err="1">
                <a:solidFill>
                  <a:srgbClr val="17150F"/>
                </a:solidFill>
                <a:latin typeface="Arial"/>
              </a:rPr>
              <a:t>cuantil</a:t>
            </a:r>
            <a:r>
              <a:rPr sz="1450" b="1" dirty="0">
                <a:solidFill>
                  <a:srgbClr val="17150F"/>
                </a:solidFill>
                <a:latin typeface="Arial"/>
              </a:rPr>
              <a:t> para el </a:t>
            </a:r>
            <a:r>
              <a:rPr sz="1450" b="1" dirty="0" err="1">
                <a:solidFill>
                  <a:srgbClr val="17150F"/>
                </a:solidFill>
                <a:latin typeface="Arial"/>
              </a:rPr>
              <a:t>que</a:t>
            </a:r>
            <a:r>
              <a:rPr sz="1450" b="1" dirty="0">
                <a:solidFill>
                  <a:srgbClr val="17150F"/>
                </a:solidFill>
                <a:latin typeface="Arial"/>
              </a:rPr>
              <a:t> </a:t>
            </a:r>
            <a:r>
              <a:rPr sz="1450" b="1" dirty="0" err="1">
                <a:solidFill>
                  <a:srgbClr val="17150F"/>
                </a:solidFill>
                <a:latin typeface="Arial"/>
              </a:rPr>
              <a:t>fue</a:t>
            </a:r>
            <a:r>
              <a:rPr sz="1450" b="1" dirty="0">
                <a:solidFill>
                  <a:srgbClr val="17150F"/>
                </a:solidFill>
                <a:latin typeface="Arial"/>
              </a:rPr>
              <a:t> </a:t>
            </a:r>
            <a:r>
              <a:rPr sz="1450" b="1" dirty="0" err="1">
                <a:solidFill>
                  <a:srgbClr val="17150F"/>
                </a:solidFill>
                <a:latin typeface="Arial"/>
              </a:rPr>
              <a:t>entrenado</a:t>
            </a:r>
            <a:r>
              <a:rPr sz="1450" b="1" dirty="0">
                <a:solidFill>
                  <a:srgbClr val="17150F"/>
                </a:solidFill>
                <a:latin typeface="Arial"/>
              </a:rPr>
              <a:t>.</a:t>
            </a:r>
            <a:r>
              <a:rPr sz="1450" b="0" dirty="0">
                <a:solidFill>
                  <a:srgbClr val="555045"/>
                </a:solidFill>
                <a:latin typeface="Arial"/>
              </a:rPr>
              <a:t> Por </a:t>
            </a:r>
            <a:r>
              <a:rPr sz="1450" b="0" dirty="0" err="1">
                <a:solidFill>
                  <a:srgbClr val="555045"/>
                </a:solidFill>
                <a:latin typeface="Arial"/>
              </a:rPr>
              <a:t>eso</a:t>
            </a:r>
            <a:r>
              <a:rPr sz="1450" b="0" dirty="0">
                <a:solidFill>
                  <a:srgbClr val="555045"/>
                </a:solidFill>
                <a:latin typeface="Arial"/>
              </a:rPr>
              <a:t> son </a:t>
            </a:r>
            <a:r>
              <a:rPr sz="1450" b="0" dirty="0" err="1">
                <a:solidFill>
                  <a:srgbClr val="555045"/>
                </a:solidFill>
                <a:latin typeface="Arial"/>
              </a:rPr>
              <a:t>diecisiete</a:t>
            </a:r>
            <a:r>
              <a:rPr sz="1450" b="0" dirty="0">
                <a:solidFill>
                  <a:srgbClr val="555045"/>
                </a:solidFill>
                <a:latin typeface="Arial"/>
              </a:rPr>
              <a:t> </a:t>
            </a:r>
            <a:r>
              <a:rPr sz="1450" b="0" dirty="0" err="1">
                <a:solidFill>
                  <a:srgbClr val="555045"/>
                </a:solidFill>
                <a:latin typeface="Arial"/>
              </a:rPr>
              <a:t>modelos</a:t>
            </a:r>
            <a:r>
              <a:rPr sz="1450" b="0" dirty="0">
                <a:solidFill>
                  <a:srgbClr val="555045"/>
                </a:solidFill>
                <a:latin typeface="Arial"/>
              </a:rPr>
              <a:t> y no uno.</a:t>
            </a:r>
            <a:r>
              <a:rPr lang="es-419" sz="1450" b="0" dirty="0">
                <a:solidFill>
                  <a:srgbClr val="555045"/>
                </a:solidFill>
                <a:latin typeface="Arial"/>
              </a:rPr>
              <a:t>z</a:t>
            </a:r>
            <a:endParaRPr sz="1450" b="0" dirty="0">
              <a:solidFill>
                <a:srgbClr val="555045"/>
              </a:solidFill>
              <a:latin typeface="Arial"/>
            </a:endParaRPr>
          </a:p>
        </p:txBody>
      </p:sp>
      <p:sp>
        <p:nvSpPr>
          <p:cNvPr id="17" name="Rectangle 16"/>
          <p:cNvSpPr/>
          <p:nvPr/>
        </p:nvSpPr>
        <p:spPr>
          <a:xfrm>
            <a:off x="777240" y="6327648"/>
            <a:ext cx="10637215" cy="9525"/>
          </a:xfrm>
          <a:prstGeom prst="rect">
            <a:avLst/>
          </a:prstGeom>
          <a:solidFill>
            <a:srgbClr val="DCD8C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8" name="TextBox 17"/>
          <p:cNvSpPr txBox="1"/>
          <p:nvPr/>
        </p:nvSpPr>
        <p:spPr>
          <a:xfrm>
            <a:off x="777240" y="6428232"/>
            <a:ext cx="8686800" cy="274320"/>
          </a:xfrm>
          <a:prstGeom prst="rect">
            <a:avLst/>
          </a:prstGeom>
          <a:noFill/>
        </p:spPr>
        <p:txBody>
          <a:bodyPr wrap="square" lIns="0" tIns="0" rIns="0" bIns="0">
            <a:spAutoFit/>
          </a:bodyPr>
          <a:lstStyle/>
          <a:p>
            <a:pPr algn="l">
              <a:lnSpc>
                <a:spcPct val="122000"/>
              </a:lnSpc>
              <a:spcBef>
                <a:spcPts val="0"/>
              </a:spcBef>
              <a:spcAft>
                <a:spcPts val="0"/>
              </a:spcAft>
            </a:pPr>
            <a:r>
              <a:rPr sz="950" b="0">
                <a:solidFill>
                  <a:srgbClr val="8B8478"/>
                </a:solidFill>
                <a:latin typeface="Arial"/>
              </a:rPr>
              <a:t>Paso 9 · La rejilla de niveles</a:t>
            </a:r>
          </a:p>
        </p:txBody>
      </p:sp>
      <p:sp>
        <p:nvSpPr>
          <p:cNvPr id="19" name="TextBox 18"/>
          <p:cNvSpPr txBox="1"/>
          <p:nvPr/>
        </p:nvSpPr>
        <p:spPr>
          <a:xfrm>
            <a:off x="10500055" y="6428232"/>
            <a:ext cx="914400" cy="274320"/>
          </a:xfrm>
          <a:prstGeom prst="rect">
            <a:avLst/>
          </a:prstGeom>
          <a:noFill/>
        </p:spPr>
        <p:txBody>
          <a:bodyPr wrap="square" lIns="0" tIns="0" rIns="0" bIns="0">
            <a:spAutoFit/>
          </a:bodyPr>
          <a:lstStyle/>
          <a:p>
            <a:pPr algn="r">
              <a:lnSpc>
                <a:spcPct val="122000"/>
              </a:lnSpc>
              <a:spcBef>
                <a:spcPts val="0"/>
              </a:spcBef>
              <a:spcAft>
                <a:spcPts val="0"/>
              </a:spcAft>
            </a:pPr>
            <a:r>
              <a:rPr sz="950" b="0">
                <a:solidFill>
                  <a:srgbClr val="8B8478"/>
                </a:solidFill>
                <a:latin typeface="Arial"/>
              </a:rPr>
              <a:t>23</a:t>
            </a:r>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91440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777240" y="475488"/>
            <a:ext cx="10637215" cy="237744"/>
          </a:xfrm>
          <a:prstGeom prst="rect">
            <a:avLst/>
          </a:prstGeom>
          <a:noFill/>
        </p:spPr>
        <p:txBody>
          <a:bodyPr wrap="square" lIns="0" tIns="0" rIns="0" bIns="0">
            <a:spAutoFit/>
          </a:bodyPr>
          <a:lstStyle/>
          <a:p>
            <a:pPr algn="l">
              <a:lnSpc>
                <a:spcPct val="122000"/>
              </a:lnSpc>
              <a:spcBef>
                <a:spcPts val="0"/>
              </a:spcBef>
              <a:spcAft>
                <a:spcPts val="0"/>
              </a:spcAft>
            </a:pPr>
            <a:r>
              <a:rPr sz="1050" b="1">
                <a:solidFill>
                  <a:srgbClr val="8C2F39"/>
                </a:solidFill>
                <a:latin typeface="Arial"/>
              </a:rPr>
              <a:t>PASO 10 · SELECCIÓN</a:t>
            </a:r>
          </a:p>
        </p:txBody>
      </p:sp>
      <p:sp>
        <p:nvSpPr>
          <p:cNvPr id="4" name="Rectangle 3"/>
          <p:cNvSpPr/>
          <p:nvPr/>
        </p:nvSpPr>
        <p:spPr>
          <a:xfrm>
            <a:off x="777240" y="768096"/>
            <a:ext cx="502920" cy="30480"/>
          </a:xfrm>
          <a:prstGeom prst="rect">
            <a:avLst/>
          </a:prstGeom>
          <a:solidFill>
            <a:srgbClr val="8C2F3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 name="TextBox 4"/>
          <p:cNvSpPr txBox="1"/>
          <p:nvPr/>
        </p:nvSpPr>
        <p:spPr>
          <a:xfrm>
            <a:off x="777240" y="914400"/>
            <a:ext cx="10637215" cy="445770"/>
          </a:xfrm>
          <a:prstGeom prst="rect">
            <a:avLst/>
          </a:prstGeom>
          <a:noFill/>
        </p:spPr>
        <p:txBody>
          <a:bodyPr wrap="square" lIns="0" tIns="0" rIns="0" bIns="0">
            <a:spAutoFit/>
          </a:bodyPr>
          <a:lstStyle/>
          <a:p>
            <a:pPr algn="l">
              <a:lnSpc>
                <a:spcPct val="106000"/>
              </a:lnSpc>
              <a:spcBef>
                <a:spcPts val="0"/>
              </a:spcBef>
              <a:spcAft>
                <a:spcPts val="0"/>
              </a:spcAft>
            </a:pPr>
            <a:r>
              <a:rPr sz="2700" b="1">
                <a:solidFill>
                  <a:srgbClr val="17150F"/>
                </a:solidFill>
                <a:latin typeface="Arial"/>
              </a:rPr>
              <a:t>Cuatro decisiones tomadas antes de mirar ningún resultado</a:t>
            </a:r>
          </a:p>
        </p:txBody>
      </p:sp>
      <p:sp>
        <p:nvSpPr>
          <p:cNvPr id="6" name="TextBox 5"/>
          <p:cNvSpPr txBox="1"/>
          <p:nvPr/>
        </p:nvSpPr>
        <p:spPr>
          <a:xfrm>
            <a:off x="777240" y="1506474"/>
            <a:ext cx="9966960" cy="283337"/>
          </a:xfrm>
          <a:prstGeom prst="rect">
            <a:avLst/>
          </a:prstGeom>
          <a:noFill/>
        </p:spPr>
        <p:txBody>
          <a:bodyPr wrap="square" lIns="0" tIns="0" rIns="0" bIns="0">
            <a:spAutoFit/>
          </a:bodyPr>
          <a:lstStyle/>
          <a:p>
            <a:pPr algn="l">
              <a:lnSpc>
                <a:spcPct val="130000"/>
              </a:lnSpc>
              <a:spcBef>
                <a:spcPts val="0"/>
              </a:spcBef>
              <a:spcAft>
                <a:spcPts val="0"/>
              </a:spcAft>
            </a:pPr>
            <a:r>
              <a:rPr sz="1450" b="0">
                <a:solidFill>
                  <a:srgbClr val="555045"/>
                </a:solidFill>
                <a:latin typeface="Arial"/>
              </a:rPr>
              <a:t>Siete familias, todas ajustadas con la misma búsqueda y evaluadas en las mismas semanas de prueba.</a:t>
            </a:r>
          </a:p>
        </p:txBody>
      </p:sp>
      <p:sp>
        <p:nvSpPr>
          <p:cNvPr id="9" name="Rectangle 8"/>
          <p:cNvSpPr/>
          <p:nvPr/>
        </p:nvSpPr>
        <p:spPr>
          <a:xfrm>
            <a:off x="776935" y="2319909"/>
            <a:ext cx="63500" cy="63500"/>
          </a:xfrm>
          <a:prstGeom prst="rect">
            <a:avLst/>
          </a:prstGeom>
          <a:solidFill>
            <a:srgbClr val="8C2F3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0" name="TextBox 9"/>
          <p:cNvSpPr txBox="1"/>
          <p:nvPr/>
        </p:nvSpPr>
        <p:spPr>
          <a:xfrm>
            <a:off x="978103" y="2219325"/>
            <a:ext cx="10436047" cy="776859"/>
          </a:xfrm>
          <a:prstGeom prst="rect">
            <a:avLst/>
          </a:prstGeom>
          <a:noFill/>
        </p:spPr>
        <p:txBody>
          <a:bodyPr wrap="square" lIns="0" tIns="0" rIns="0" bIns="0">
            <a:spAutoFit/>
          </a:bodyPr>
          <a:lstStyle/>
          <a:p>
            <a:pPr>
              <a:lnSpc>
                <a:spcPct val="124000"/>
              </a:lnSpc>
              <a:spcAft>
                <a:spcPts val="0"/>
              </a:spcAft>
            </a:pPr>
            <a:r>
              <a:rPr sz="1450" b="1" dirty="0">
                <a:solidFill>
                  <a:srgbClr val="17150F"/>
                </a:solidFill>
                <a:latin typeface="Arial"/>
              </a:rPr>
              <a:t>Los </a:t>
            </a:r>
            <a:r>
              <a:rPr sz="1450" b="1" dirty="0" err="1">
                <a:solidFill>
                  <a:srgbClr val="17150F"/>
                </a:solidFill>
                <a:latin typeface="Arial"/>
              </a:rPr>
              <a:t>modelos</a:t>
            </a:r>
            <a:r>
              <a:rPr sz="1450" b="1" dirty="0">
                <a:solidFill>
                  <a:srgbClr val="17150F"/>
                </a:solidFill>
                <a:latin typeface="Arial"/>
              </a:rPr>
              <a:t> </a:t>
            </a:r>
            <a:r>
              <a:rPr sz="1450" b="1" dirty="0" err="1">
                <a:solidFill>
                  <a:srgbClr val="17150F"/>
                </a:solidFill>
                <a:latin typeface="Arial"/>
              </a:rPr>
              <a:t>puntuales</a:t>
            </a:r>
            <a:r>
              <a:rPr sz="1450" b="1" dirty="0">
                <a:solidFill>
                  <a:srgbClr val="17150F"/>
                </a:solidFill>
                <a:latin typeface="Arial"/>
              </a:rPr>
              <a:t> </a:t>
            </a:r>
            <a:r>
              <a:rPr sz="1450" b="1" dirty="0" err="1">
                <a:solidFill>
                  <a:srgbClr val="17150F"/>
                </a:solidFill>
                <a:latin typeface="Arial"/>
              </a:rPr>
              <a:t>compiten</a:t>
            </a:r>
            <a:r>
              <a:rPr sz="1450" b="1" dirty="0">
                <a:solidFill>
                  <a:srgbClr val="17150F"/>
                </a:solidFill>
                <a:latin typeface="Arial"/>
              </a:rPr>
              <a:t> </a:t>
            </a:r>
            <a:r>
              <a:rPr sz="1450" b="1" dirty="0" err="1">
                <a:solidFill>
                  <a:srgbClr val="17150F"/>
                </a:solidFill>
                <a:latin typeface="Arial"/>
              </a:rPr>
              <a:t>en</a:t>
            </a:r>
            <a:r>
              <a:rPr sz="1450" b="1" dirty="0">
                <a:solidFill>
                  <a:srgbClr val="17150F"/>
                </a:solidFill>
                <a:latin typeface="Arial"/>
              </a:rPr>
              <a:t> la </a:t>
            </a:r>
            <a:r>
              <a:rPr sz="1450" b="1" dirty="0" err="1">
                <a:solidFill>
                  <a:srgbClr val="17150F"/>
                </a:solidFill>
                <a:latin typeface="Arial"/>
              </a:rPr>
              <a:t>misma</a:t>
            </a:r>
            <a:r>
              <a:rPr sz="1450" b="1" dirty="0">
                <a:solidFill>
                  <a:srgbClr val="17150F"/>
                </a:solidFill>
                <a:latin typeface="Arial"/>
              </a:rPr>
              <a:t> </a:t>
            </a:r>
            <a:r>
              <a:rPr sz="1450" b="1" dirty="0" err="1">
                <a:solidFill>
                  <a:srgbClr val="17150F"/>
                </a:solidFill>
                <a:latin typeface="Arial"/>
              </a:rPr>
              <a:t>métrica</a:t>
            </a:r>
            <a:r>
              <a:rPr sz="1450" b="1" dirty="0">
                <a:solidFill>
                  <a:srgbClr val="17150F"/>
                </a:solidFill>
                <a:latin typeface="Arial"/>
              </a:rPr>
              <a:t>.</a:t>
            </a:r>
            <a:r>
              <a:rPr sz="1450" b="0" dirty="0">
                <a:solidFill>
                  <a:srgbClr val="555045"/>
                </a:solidFill>
                <a:latin typeface="Arial"/>
              </a:rPr>
              <a:t> A Ridge, al boosting y a la media </a:t>
            </a:r>
            <a:r>
              <a:rPr sz="1450" b="0" dirty="0" err="1">
                <a:solidFill>
                  <a:srgbClr val="555045"/>
                </a:solidFill>
                <a:latin typeface="Arial"/>
              </a:rPr>
              <a:t>móvil</a:t>
            </a:r>
            <a:r>
              <a:rPr sz="1450" b="0" dirty="0">
                <a:solidFill>
                  <a:srgbClr val="555045"/>
                </a:solidFill>
                <a:latin typeface="Arial"/>
              </a:rPr>
              <a:t> se les </a:t>
            </a:r>
            <a:r>
              <a:rPr sz="1450" b="0" dirty="0" err="1">
                <a:solidFill>
                  <a:srgbClr val="555045"/>
                </a:solidFill>
                <a:latin typeface="Arial"/>
              </a:rPr>
              <a:t>suma</a:t>
            </a:r>
            <a:r>
              <a:rPr sz="1450" b="0" dirty="0">
                <a:solidFill>
                  <a:srgbClr val="555045"/>
                </a:solidFill>
                <a:latin typeface="Arial"/>
              </a:rPr>
              <a:t> el </a:t>
            </a:r>
            <a:r>
              <a:rPr sz="1450" b="0" dirty="0" err="1">
                <a:solidFill>
                  <a:srgbClr val="555045"/>
                </a:solidFill>
                <a:latin typeface="Arial"/>
              </a:rPr>
              <a:t>cuantil</a:t>
            </a:r>
            <a:r>
              <a:rPr sz="1450" b="0" dirty="0">
                <a:solidFill>
                  <a:srgbClr val="555045"/>
                </a:solidFill>
                <a:latin typeface="Arial"/>
              </a:rPr>
              <a:t> </a:t>
            </a:r>
            <a:r>
              <a:rPr sz="1450" b="0" dirty="0" err="1">
                <a:solidFill>
                  <a:srgbClr val="555045"/>
                </a:solidFill>
                <a:latin typeface="Arial"/>
              </a:rPr>
              <a:t>empírico</a:t>
            </a:r>
            <a:r>
              <a:rPr sz="1450" b="0" dirty="0">
                <a:solidFill>
                  <a:srgbClr val="555045"/>
                </a:solidFill>
                <a:latin typeface="Arial"/>
              </a:rPr>
              <a:t> de sus </a:t>
            </a:r>
            <a:r>
              <a:rPr sz="1450" b="0" dirty="0" err="1">
                <a:solidFill>
                  <a:srgbClr val="555045"/>
                </a:solidFill>
                <a:latin typeface="Arial"/>
              </a:rPr>
              <a:t>propios</a:t>
            </a:r>
            <a:r>
              <a:rPr sz="1450" b="0" dirty="0">
                <a:solidFill>
                  <a:srgbClr val="555045"/>
                </a:solidFill>
                <a:latin typeface="Arial"/>
              </a:rPr>
              <a:t> </a:t>
            </a:r>
            <a:r>
              <a:rPr sz="1450" b="0" dirty="0" err="1">
                <a:solidFill>
                  <a:srgbClr val="555045"/>
                </a:solidFill>
                <a:latin typeface="Arial"/>
              </a:rPr>
              <a:t>residuales</a:t>
            </a:r>
            <a:r>
              <a:rPr sz="1450" b="0" dirty="0">
                <a:solidFill>
                  <a:srgbClr val="555045"/>
                </a:solidFill>
                <a:latin typeface="Arial"/>
              </a:rPr>
              <a:t>. Sin </a:t>
            </a:r>
            <a:r>
              <a:rPr sz="1450" b="0" dirty="0" err="1">
                <a:solidFill>
                  <a:srgbClr val="555045"/>
                </a:solidFill>
                <a:latin typeface="Arial"/>
              </a:rPr>
              <a:t>eso</a:t>
            </a:r>
            <a:r>
              <a:rPr sz="1450" b="0" dirty="0">
                <a:solidFill>
                  <a:srgbClr val="555045"/>
                </a:solidFill>
                <a:latin typeface="Arial"/>
              </a:rPr>
              <a:t>, </a:t>
            </a:r>
            <a:r>
              <a:rPr sz="1450" b="0" dirty="0" err="1">
                <a:solidFill>
                  <a:srgbClr val="555045"/>
                </a:solidFill>
                <a:latin typeface="Arial"/>
              </a:rPr>
              <a:t>cualquier</a:t>
            </a:r>
            <a:r>
              <a:rPr sz="1450" b="0" dirty="0">
                <a:solidFill>
                  <a:srgbClr val="555045"/>
                </a:solidFill>
                <a:latin typeface="Arial"/>
              </a:rPr>
              <a:t> </a:t>
            </a:r>
            <a:r>
              <a:rPr sz="1450" b="0" dirty="0" err="1">
                <a:solidFill>
                  <a:srgbClr val="555045"/>
                </a:solidFill>
                <a:latin typeface="Arial"/>
              </a:rPr>
              <a:t>modelo</a:t>
            </a:r>
            <a:r>
              <a:rPr sz="1450" b="0" dirty="0">
                <a:solidFill>
                  <a:srgbClr val="555045"/>
                </a:solidFill>
                <a:latin typeface="Arial"/>
              </a:rPr>
              <a:t> </a:t>
            </a:r>
            <a:r>
              <a:rPr sz="1450" b="0" dirty="0" err="1">
                <a:solidFill>
                  <a:srgbClr val="555045"/>
                </a:solidFill>
                <a:latin typeface="Arial"/>
              </a:rPr>
              <a:t>probabilístico</a:t>
            </a:r>
            <a:r>
              <a:rPr sz="1450" b="0" dirty="0">
                <a:solidFill>
                  <a:srgbClr val="555045"/>
                </a:solidFill>
                <a:latin typeface="Arial"/>
              </a:rPr>
              <a:t> </a:t>
            </a:r>
            <a:r>
              <a:rPr sz="1450" b="0" dirty="0" err="1">
                <a:solidFill>
                  <a:srgbClr val="555045"/>
                </a:solidFill>
                <a:latin typeface="Arial"/>
              </a:rPr>
              <a:t>habría</a:t>
            </a:r>
            <a:r>
              <a:rPr sz="1450" b="0" dirty="0">
                <a:solidFill>
                  <a:srgbClr val="555045"/>
                </a:solidFill>
                <a:latin typeface="Arial"/>
              </a:rPr>
              <a:t> </a:t>
            </a:r>
            <a:r>
              <a:rPr sz="1450" b="0" dirty="0" err="1">
                <a:solidFill>
                  <a:srgbClr val="555045"/>
                </a:solidFill>
                <a:latin typeface="Arial"/>
              </a:rPr>
              <a:t>ganado</a:t>
            </a:r>
            <a:r>
              <a:rPr sz="1450" b="0" dirty="0">
                <a:solidFill>
                  <a:srgbClr val="555045"/>
                </a:solidFill>
                <a:latin typeface="Arial"/>
              </a:rPr>
              <a:t> </a:t>
            </a:r>
            <a:r>
              <a:rPr sz="1450" b="0" dirty="0" err="1">
                <a:solidFill>
                  <a:srgbClr val="555045"/>
                </a:solidFill>
                <a:latin typeface="Arial"/>
              </a:rPr>
              <a:t>por</a:t>
            </a:r>
            <a:r>
              <a:rPr sz="1450" b="0" dirty="0">
                <a:solidFill>
                  <a:srgbClr val="555045"/>
                </a:solidFill>
                <a:latin typeface="Arial"/>
              </a:rPr>
              <a:t> </a:t>
            </a:r>
            <a:r>
              <a:rPr sz="1450" b="0" dirty="0" err="1">
                <a:solidFill>
                  <a:srgbClr val="555045"/>
                </a:solidFill>
                <a:latin typeface="Arial"/>
              </a:rPr>
              <a:t>defecto</a:t>
            </a:r>
            <a:r>
              <a:rPr sz="1450" b="0" dirty="0">
                <a:solidFill>
                  <a:srgbClr val="555045"/>
                </a:solidFill>
                <a:latin typeface="Arial"/>
              </a:rPr>
              <a:t> y no </a:t>
            </a:r>
            <a:r>
              <a:rPr sz="1450" b="0" dirty="0" err="1">
                <a:solidFill>
                  <a:srgbClr val="555045"/>
                </a:solidFill>
                <a:latin typeface="Arial"/>
              </a:rPr>
              <a:t>por</a:t>
            </a:r>
            <a:r>
              <a:rPr sz="1450" b="0" dirty="0">
                <a:solidFill>
                  <a:srgbClr val="555045"/>
                </a:solidFill>
                <a:latin typeface="Arial"/>
              </a:rPr>
              <a:t> </a:t>
            </a:r>
            <a:r>
              <a:rPr sz="1450" b="0" dirty="0" err="1">
                <a:solidFill>
                  <a:srgbClr val="555045"/>
                </a:solidFill>
                <a:latin typeface="Arial"/>
              </a:rPr>
              <a:t>mérito</a:t>
            </a:r>
            <a:r>
              <a:rPr sz="1450" b="0" dirty="0">
                <a:solidFill>
                  <a:srgbClr val="555045"/>
                </a:solidFill>
                <a:latin typeface="Arial"/>
              </a:rPr>
              <a:t>.</a:t>
            </a:r>
          </a:p>
        </p:txBody>
      </p:sp>
      <p:sp>
        <p:nvSpPr>
          <p:cNvPr id="13" name="Rectangle 12"/>
          <p:cNvSpPr/>
          <p:nvPr/>
        </p:nvSpPr>
        <p:spPr>
          <a:xfrm>
            <a:off x="776935" y="3151505"/>
            <a:ext cx="63500" cy="63500"/>
          </a:xfrm>
          <a:prstGeom prst="rect">
            <a:avLst/>
          </a:prstGeom>
          <a:solidFill>
            <a:srgbClr val="8C2F3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4" name="TextBox 13"/>
          <p:cNvSpPr txBox="1"/>
          <p:nvPr/>
        </p:nvSpPr>
        <p:spPr>
          <a:xfrm>
            <a:off x="978103" y="3050921"/>
            <a:ext cx="10436047" cy="530098"/>
          </a:xfrm>
          <a:prstGeom prst="rect">
            <a:avLst/>
          </a:prstGeom>
          <a:noFill/>
        </p:spPr>
        <p:txBody>
          <a:bodyPr wrap="square" lIns="0" tIns="0" rIns="0" bIns="0">
            <a:spAutoFit/>
          </a:bodyPr>
          <a:lstStyle/>
          <a:p>
            <a:pPr>
              <a:lnSpc>
                <a:spcPct val="124000"/>
              </a:lnSpc>
              <a:spcAft>
                <a:spcPts val="0"/>
              </a:spcAft>
            </a:pPr>
            <a:r>
              <a:rPr sz="1450" b="1" dirty="0" err="1">
                <a:solidFill>
                  <a:srgbClr val="17150F"/>
                </a:solidFill>
                <a:latin typeface="Arial"/>
              </a:rPr>
              <a:t>Todas</a:t>
            </a:r>
            <a:r>
              <a:rPr sz="1450" b="1" dirty="0">
                <a:solidFill>
                  <a:srgbClr val="17150F"/>
                </a:solidFill>
                <a:latin typeface="Arial"/>
              </a:rPr>
              <a:t> se </a:t>
            </a:r>
            <a:r>
              <a:rPr sz="1450" b="1" dirty="0" err="1">
                <a:solidFill>
                  <a:srgbClr val="17150F"/>
                </a:solidFill>
                <a:latin typeface="Arial"/>
              </a:rPr>
              <a:t>ajustan</a:t>
            </a:r>
            <a:r>
              <a:rPr sz="1450" b="1" dirty="0">
                <a:solidFill>
                  <a:srgbClr val="17150F"/>
                </a:solidFill>
                <a:latin typeface="Arial"/>
              </a:rPr>
              <a:t> con la </a:t>
            </a:r>
            <a:r>
              <a:rPr sz="1450" b="1" dirty="0" err="1">
                <a:solidFill>
                  <a:srgbClr val="17150F"/>
                </a:solidFill>
                <a:latin typeface="Arial"/>
              </a:rPr>
              <a:t>misma</a:t>
            </a:r>
            <a:r>
              <a:rPr sz="1450" b="1" dirty="0">
                <a:solidFill>
                  <a:srgbClr val="17150F"/>
                </a:solidFill>
                <a:latin typeface="Arial"/>
              </a:rPr>
              <a:t> </a:t>
            </a:r>
            <a:r>
              <a:rPr sz="1450" b="1" dirty="0" err="1">
                <a:solidFill>
                  <a:srgbClr val="17150F"/>
                </a:solidFill>
                <a:latin typeface="Arial"/>
              </a:rPr>
              <a:t>búsqueda</a:t>
            </a:r>
            <a:r>
              <a:rPr sz="1450" b="0" dirty="0">
                <a:solidFill>
                  <a:srgbClr val="555045"/>
                </a:solidFill>
                <a:latin typeface="Arial"/>
              </a:rPr>
              <a:t>: </a:t>
            </a:r>
            <a:r>
              <a:rPr sz="1450" b="0" dirty="0" err="1">
                <a:solidFill>
                  <a:srgbClr val="555045"/>
                </a:solidFill>
                <a:latin typeface="Arial"/>
              </a:rPr>
              <a:t>optimización</a:t>
            </a:r>
            <a:r>
              <a:rPr sz="1450" b="0" dirty="0">
                <a:solidFill>
                  <a:srgbClr val="555045"/>
                </a:solidFill>
                <a:latin typeface="Arial"/>
              </a:rPr>
              <a:t> </a:t>
            </a:r>
            <a:r>
              <a:rPr sz="1450" b="0" dirty="0" err="1">
                <a:solidFill>
                  <a:srgbClr val="555045"/>
                </a:solidFill>
                <a:latin typeface="Arial"/>
              </a:rPr>
              <a:t>bayesiana</a:t>
            </a:r>
            <a:r>
              <a:rPr sz="1450" b="0" dirty="0">
                <a:solidFill>
                  <a:srgbClr val="555045"/>
                </a:solidFill>
                <a:latin typeface="Arial"/>
              </a:rPr>
              <a:t>, 30 </a:t>
            </a:r>
            <a:r>
              <a:rPr sz="1450" b="0" dirty="0" err="1">
                <a:solidFill>
                  <a:srgbClr val="555045"/>
                </a:solidFill>
                <a:latin typeface="Arial"/>
              </a:rPr>
              <a:t>ensayos</a:t>
            </a:r>
            <a:r>
              <a:rPr sz="1450" b="0" dirty="0">
                <a:solidFill>
                  <a:srgbClr val="555045"/>
                </a:solidFill>
                <a:latin typeface="Arial"/>
              </a:rPr>
              <a:t>, </a:t>
            </a:r>
            <a:r>
              <a:rPr sz="1450" b="0" dirty="0" err="1">
                <a:solidFill>
                  <a:srgbClr val="555045"/>
                </a:solidFill>
                <a:latin typeface="Arial"/>
              </a:rPr>
              <a:t>minimizando</a:t>
            </a:r>
            <a:r>
              <a:rPr sz="1450" b="0" dirty="0">
                <a:solidFill>
                  <a:srgbClr val="555045"/>
                </a:solidFill>
                <a:latin typeface="Arial"/>
              </a:rPr>
              <a:t> la </a:t>
            </a:r>
            <a:r>
              <a:rPr sz="1450" b="0" dirty="0" err="1">
                <a:solidFill>
                  <a:srgbClr val="555045"/>
                </a:solidFill>
                <a:latin typeface="Arial"/>
              </a:rPr>
              <a:t>pérdida</a:t>
            </a:r>
            <a:r>
              <a:rPr sz="1450" b="0" dirty="0">
                <a:solidFill>
                  <a:srgbClr val="555045"/>
                </a:solidFill>
                <a:latin typeface="Arial"/>
              </a:rPr>
              <a:t> pinball </a:t>
            </a:r>
            <a:r>
              <a:rPr sz="1450" b="0" dirty="0" err="1">
                <a:solidFill>
                  <a:srgbClr val="555045"/>
                </a:solidFill>
                <a:latin typeface="Arial"/>
              </a:rPr>
              <a:t>sobre</a:t>
            </a:r>
            <a:r>
              <a:rPr sz="1450" b="0" dirty="0">
                <a:solidFill>
                  <a:srgbClr val="555045"/>
                </a:solidFill>
                <a:latin typeface="Arial"/>
              </a:rPr>
              <a:t> </a:t>
            </a:r>
            <a:r>
              <a:rPr sz="1450" b="0" dirty="0" err="1">
                <a:solidFill>
                  <a:srgbClr val="555045"/>
                </a:solidFill>
                <a:latin typeface="Arial"/>
              </a:rPr>
              <a:t>los</a:t>
            </a:r>
            <a:r>
              <a:rPr sz="1450" b="0" dirty="0">
                <a:solidFill>
                  <a:srgbClr val="555045"/>
                </a:solidFill>
                <a:latin typeface="Arial"/>
              </a:rPr>
              <a:t> </a:t>
            </a:r>
            <a:r>
              <a:rPr sz="1450" b="0" dirty="0" err="1">
                <a:solidFill>
                  <a:srgbClr val="555045"/>
                </a:solidFill>
                <a:latin typeface="Arial"/>
              </a:rPr>
              <a:t>pliegues</a:t>
            </a:r>
            <a:r>
              <a:rPr sz="1450" b="0" dirty="0">
                <a:solidFill>
                  <a:srgbClr val="555045"/>
                </a:solidFill>
                <a:latin typeface="Arial"/>
              </a:rPr>
              <a:t> de </a:t>
            </a:r>
            <a:r>
              <a:rPr sz="1450" b="0" dirty="0" err="1">
                <a:solidFill>
                  <a:srgbClr val="555045"/>
                </a:solidFill>
                <a:latin typeface="Arial"/>
              </a:rPr>
              <a:t>validación</a:t>
            </a:r>
            <a:r>
              <a:rPr sz="1450" b="0" dirty="0">
                <a:solidFill>
                  <a:srgbClr val="555045"/>
                </a:solidFill>
                <a:latin typeface="Arial"/>
              </a:rPr>
              <a:t>.</a:t>
            </a:r>
          </a:p>
        </p:txBody>
      </p:sp>
      <p:sp>
        <p:nvSpPr>
          <p:cNvPr id="15" name="TextBox 14"/>
          <p:cNvSpPr txBox="1"/>
          <p:nvPr/>
        </p:nvSpPr>
        <p:spPr>
          <a:xfrm>
            <a:off x="776935" y="3891915"/>
            <a:ext cx="10637215" cy="445008"/>
          </a:xfrm>
          <a:prstGeom prst="rect">
            <a:avLst/>
          </a:prstGeom>
          <a:noFill/>
        </p:spPr>
        <p:txBody>
          <a:bodyPr wrap="square" lIns="0" tIns="0" rIns="0" bIns="0">
            <a:spAutoFit/>
          </a:bodyPr>
          <a:lstStyle/>
          <a:p>
            <a:pPr>
              <a:lnSpc>
                <a:spcPct val="126000"/>
              </a:lnSpc>
              <a:spcAft>
                <a:spcPts val="0"/>
              </a:spcAft>
            </a:pPr>
            <a:r>
              <a:rPr sz="1200" b="1">
                <a:solidFill>
                  <a:srgbClr val="17150F"/>
                </a:solidFill>
                <a:latin typeface="Arial"/>
              </a:rPr>
              <a:t>La métrica principal es la pérdida pinball</a:t>
            </a:r>
            <a:r>
              <a:rPr sz="1200" b="0">
                <a:solidFill>
                  <a:srgbClr val="8B8478"/>
                </a:solidFill>
                <a:latin typeface="Arial"/>
              </a:rPr>
              <a:t>, que penaliza de forma asimétrica igual que lo hace el negocio. El WAPE se reporta sobre el pronóstico central, como en la línea base.</a:t>
            </a:r>
          </a:p>
        </p:txBody>
      </p:sp>
      <p:sp>
        <p:nvSpPr>
          <p:cNvPr id="16" name="Rectangle 15"/>
          <p:cNvSpPr/>
          <p:nvPr/>
        </p:nvSpPr>
        <p:spPr>
          <a:xfrm>
            <a:off x="777240" y="6327648"/>
            <a:ext cx="10637215" cy="9525"/>
          </a:xfrm>
          <a:prstGeom prst="rect">
            <a:avLst/>
          </a:prstGeom>
          <a:solidFill>
            <a:srgbClr val="DCD8C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7" name="TextBox 16"/>
          <p:cNvSpPr txBox="1"/>
          <p:nvPr/>
        </p:nvSpPr>
        <p:spPr>
          <a:xfrm>
            <a:off x="777240" y="6428232"/>
            <a:ext cx="8686800" cy="274320"/>
          </a:xfrm>
          <a:prstGeom prst="rect">
            <a:avLst/>
          </a:prstGeom>
          <a:noFill/>
        </p:spPr>
        <p:txBody>
          <a:bodyPr wrap="square" lIns="0" tIns="0" rIns="0" bIns="0">
            <a:spAutoFit/>
          </a:bodyPr>
          <a:lstStyle/>
          <a:p>
            <a:pPr algn="l">
              <a:lnSpc>
                <a:spcPct val="122000"/>
              </a:lnSpc>
              <a:spcBef>
                <a:spcPts val="0"/>
              </a:spcBef>
              <a:spcAft>
                <a:spcPts val="0"/>
              </a:spcAft>
            </a:pPr>
            <a:r>
              <a:rPr sz="950" b="0">
                <a:solidFill>
                  <a:srgbClr val="8B8478"/>
                </a:solidFill>
                <a:latin typeface="Arial"/>
              </a:rPr>
              <a:t>Paso 10 · Selección de familia</a:t>
            </a:r>
          </a:p>
        </p:txBody>
      </p:sp>
      <p:sp>
        <p:nvSpPr>
          <p:cNvPr id="18" name="TextBox 17"/>
          <p:cNvSpPr txBox="1"/>
          <p:nvPr/>
        </p:nvSpPr>
        <p:spPr>
          <a:xfrm>
            <a:off x="10500055" y="6428232"/>
            <a:ext cx="914400" cy="274320"/>
          </a:xfrm>
          <a:prstGeom prst="rect">
            <a:avLst/>
          </a:prstGeom>
          <a:noFill/>
        </p:spPr>
        <p:txBody>
          <a:bodyPr wrap="square" lIns="0" tIns="0" rIns="0" bIns="0">
            <a:spAutoFit/>
          </a:bodyPr>
          <a:lstStyle/>
          <a:p>
            <a:pPr algn="r">
              <a:lnSpc>
                <a:spcPct val="122000"/>
              </a:lnSpc>
              <a:spcBef>
                <a:spcPts val="0"/>
              </a:spcBef>
              <a:spcAft>
                <a:spcPts val="0"/>
              </a:spcAft>
            </a:pPr>
            <a:r>
              <a:rPr sz="950" b="0">
                <a:solidFill>
                  <a:srgbClr val="8B8478"/>
                </a:solidFill>
                <a:latin typeface="Arial"/>
              </a:rPr>
              <a:t>25</a:t>
            </a:r>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777240" y="475488"/>
            <a:ext cx="10637215" cy="237744"/>
          </a:xfrm>
          <a:prstGeom prst="rect">
            <a:avLst/>
          </a:prstGeom>
          <a:noFill/>
        </p:spPr>
        <p:txBody>
          <a:bodyPr wrap="square" lIns="0" tIns="0" rIns="0" bIns="0">
            <a:spAutoFit/>
          </a:bodyPr>
          <a:lstStyle/>
          <a:p>
            <a:pPr algn="l">
              <a:lnSpc>
                <a:spcPct val="122000"/>
              </a:lnSpc>
              <a:spcBef>
                <a:spcPts val="0"/>
              </a:spcBef>
              <a:spcAft>
                <a:spcPts val="0"/>
              </a:spcAft>
            </a:pPr>
            <a:r>
              <a:rPr sz="1050" b="1">
                <a:solidFill>
                  <a:srgbClr val="8C2F39"/>
                </a:solidFill>
                <a:latin typeface="Arial"/>
              </a:rPr>
              <a:t>PASO 10 · RESULTADO</a:t>
            </a:r>
          </a:p>
        </p:txBody>
      </p:sp>
      <p:sp>
        <p:nvSpPr>
          <p:cNvPr id="4" name="Rectangle 3"/>
          <p:cNvSpPr/>
          <p:nvPr/>
        </p:nvSpPr>
        <p:spPr>
          <a:xfrm>
            <a:off x="777240" y="768096"/>
            <a:ext cx="502920" cy="30480"/>
          </a:xfrm>
          <a:prstGeom prst="rect">
            <a:avLst/>
          </a:prstGeom>
          <a:solidFill>
            <a:srgbClr val="8C2F3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 name="TextBox 4"/>
          <p:cNvSpPr txBox="1"/>
          <p:nvPr/>
        </p:nvSpPr>
        <p:spPr>
          <a:xfrm>
            <a:off x="777240" y="914400"/>
            <a:ext cx="10637215" cy="445770"/>
          </a:xfrm>
          <a:prstGeom prst="rect">
            <a:avLst/>
          </a:prstGeom>
          <a:noFill/>
        </p:spPr>
        <p:txBody>
          <a:bodyPr wrap="square" lIns="0" tIns="0" rIns="0" bIns="0">
            <a:spAutoFit/>
          </a:bodyPr>
          <a:lstStyle/>
          <a:p>
            <a:pPr algn="l">
              <a:lnSpc>
                <a:spcPct val="106000"/>
              </a:lnSpc>
              <a:spcBef>
                <a:spcPts val="0"/>
              </a:spcBef>
              <a:spcAft>
                <a:spcPts val="0"/>
              </a:spcAft>
            </a:pPr>
            <a:r>
              <a:rPr sz="2700" b="1">
                <a:solidFill>
                  <a:srgbClr val="17150F"/>
                </a:solidFill>
                <a:latin typeface="Arial"/>
              </a:rPr>
              <a:t>Seis modelos empatan y todos superan a la media móvil</a:t>
            </a:r>
          </a:p>
        </p:txBody>
      </p:sp>
      <p:sp>
        <p:nvSpPr>
          <p:cNvPr id="6" name="TextBox 5"/>
          <p:cNvSpPr txBox="1"/>
          <p:nvPr/>
        </p:nvSpPr>
        <p:spPr>
          <a:xfrm>
            <a:off x="777240" y="1506474"/>
            <a:ext cx="9966960" cy="530098"/>
          </a:xfrm>
          <a:prstGeom prst="rect">
            <a:avLst/>
          </a:prstGeom>
          <a:noFill/>
        </p:spPr>
        <p:txBody>
          <a:bodyPr wrap="square" lIns="0" tIns="0" rIns="0" bIns="0">
            <a:spAutoFit/>
          </a:bodyPr>
          <a:lstStyle/>
          <a:p>
            <a:pPr algn="l">
              <a:lnSpc>
                <a:spcPct val="130000"/>
              </a:lnSpc>
              <a:spcBef>
                <a:spcPts val="0"/>
              </a:spcBef>
              <a:spcAft>
                <a:spcPts val="0"/>
              </a:spcAft>
            </a:pPr>
            <a:r>
              <a:rPr sz="1450" b="0">
                <a:solidFill>
                  <a:srgbClr val="555045"/>
                </a:solidFill>
                <a:latin typeface="Arial"/>
              </a:rPr>
              <a:t>Sobre las 480 decisiones de las semanas de prueba. Pinball en tres niveles; WAPE, MAE y sesgo sobre el pronóstico central.</a:t>
            </a:r>
          </a:p>
        </p:txBody>
      </p:sp>
      <p:graphicFrame>
        <p:nvGraphicFramePr>
          <p:cNvPr id="7" name="Table 6"/>
          <p:cNvGraphicFramePr>
            <a:graphicFrameLocks noGrp="1"/>
          </p:cNvGraphicFramePr>
          <p:nvPr/>
        </p:nvGraphicFramePr>
        <p:xfrm>
          <a:off x="777240" y="2237740"/>
          <a:ext cx="10637210" cy="2523744"/>
        </p:xfrm>
        <a:graphic>
          <a:graphicData uri="http://schemas.openxmlformats.org/drawingml/2006/table">
            <a:tbl>
              <a:tblPr bandRow="1">
                <a:tableStyleId>{5C22544A-7EE6-4342-B048-85BDC9FD1C3A}</a:tableStyleId>
              </a:tblPr>
              <a:tblGrid>
                <a:gridCol w="2765675">
                  <a:extLst>
                    <a:ext uri="{9D8B030D-6E8A-4147-A177-3AD203B41FA5}">
                      <a16:colId xmlns:a16="http://schemas.microsoft.com/office/drawing/2014/main" val="20000"/>
                    </a:ext>
                  </a:extLst>
                </a:gridCol>
                <a:gridCol w="1170093">
                  <a:extLst>
                    <a:ext uri="{9D8B030D-6E8A-4147-A177-3AD203B41FA5}">
                      <a16:colId xmlns:a16="http://schemas.microsoft.com/office/drawing/2014/main" val="20001"/>
                    </a:ext>
                  </a:extLst>
                </a:gridCol>
                <a:gridCol w="1170093">
                  <a:extLst>
                    <a:ext uri="{9D8B030D-6E8A-4147-A177-3AD203B41FA5}">
                      <a16:colId xmlns:a16="http://schemas.microsoft.com/office/drawing/2014/main" val="20002"/>
                    </a:ext>
                  </a:extLst>
                </a:gridCol>
                <a:gridCol w="1170093">
                  <a:extLst>
                    <a:ext uri="{9D8B030D-6E8A-4147-A177-3AD203B41FA5}">
                      <a16:colId xmlns:a16="http://schemas.microsoft.com/office/drawing/2014/main" val="20003"/>
                    </a:ext>
                  </a:extLst>
                </a:gridCol>
                <a:gridCol w="1276465">
                  <a:extLst>
                    <a:ext uri="{9D8B030D-6E8A-4147-A177-3AD203B41FA5}">
                      <a16:colId xmlns:a16="http://schemas.microsoft.com/office/drawing/2014/main" val="20004"/>
                    </a:ext>
                  </a:extLst>
                </a:gridCol>
                <a:gridCol w="1063721">
                  <a:extLst>
                    <a:ext uri="{9D8B030D-6E8A-4147-A177-3AD203B41FA5}">
                      <a16:colId xmlns:a16="http://schemas.microsoft.com/office/drawing/2014/main" val="20005"/>
                    </a:ext>
                  </a:extLst>
                </a:gridCol>
                <a:gridCol w="957349">
                  <a:extLst>
                    <a:ext uri="{9D8B030D-6E8A-4147-A177-3AD203B41FA5}">
                      <a16:colId xmlns:a16="http://schemas.microsoft.com/office/drawing/2014/main" val="20006"/>
                    </a:ext>
                  </a:extLst>
                </a:gridCol>
                <a:gridCol w="1063721">
                  <a:extLst>
                    <a:ext uri="{9D8B030D-6E8A-4147-A177-3AD203B41FA5}">
                      <a16:colId xmlns:a16="http://schemas.microsoft.com/office/drawing/2014/main" val="20007"/>
                    </a:ext>
                  </a:extLst>
                </a:gridCol>
              </a:tblGrid>
              <a:tr h="347472">
                <a:tc>
                  <a:txBody>
                    <a:bodyPr/>
                    <a:lstStyle/>
                    <a:p>
                      <a:pPr algn="l"/>
                      <a:r>
                        <a:rPr sz="1100" b="1">
                          <a:solidFill>
                            <a:srgbClr val="8B8478"/>
                          </a:solidFill>
                          <a:latin typeface="Arial"/>
                        </a:rPr>
                        <a:t>Familia</a:t>
                      </a:r>
                    </a:p>
                  </a:txBody>
                  <a:tcPr marL="82296" marR="82296" anchor="ctr">
                    <a:solidFill>
                      <a:srgbClr val="F4F2ED"/>
                    </a:solidFill>
                  </a:tcPr>
                </a:tc>
                <a:tc>
                  <a:txBody>
                    <a:bodyPr/>
                    <a:lstStyle/>
                    <a:p>
                      <a:pPr algn="r"/>
                      <a:r>
                        <a:rPr sz="1100" b="1">
                          <a:solidFill>
                            <a:srgbClr val="8B8478"/>
                          </a:solidFill>
                          <a:latin typeface="Arial"/>
                        </a:rPr>
                        <a:t>Pinball 0,50</a:t>
                      </a:r>
                    </a:p>
                  </a:txBody>
                  <a:tcPr marL="82296" marR="82296" anchor="ctr">
                    <a:solidFill>
                      <a:srgbClr val="F4F2ED"/>
                    </a:solidFill>
                  </a:tcPr>
                </a:tc>
                <a:tc>
                  <a:txBody>
                    <a:bodyPr/>
                    <a:lstStyle/>
                    <a:p>
                      <a:pPr algn="r"/>
                      <a:r>
                        <a:rPr sz="1100" b="1">
                          <a:solidFill>
                            <a:srgbClr val="8B8478"/>
                          </a:solidFill>
                          <a:latin typeface="Arial"/>
                        </a:rPr>
                        <a:t>Pinball 0,65</a:t>
                      </a:r>
                    </a:p>
                  </a:txBody>
                  <a:tcPr marL="82296" marR="82296" anchor="ctr">
                    <a:solidFill>
                      <a:srgbClr val="F4F2ED"/>
                    </a:solidFill>
                  </a:tcPr>
                </a:tc>
                <a:tc>
                  <a:txBody>
                    <a:bodyPr/>
                    <a:lstStyle/>
                    <a:p>
                      <a:pPr algn="r"/>
                      <a:r>
                        <a:rPr sz="1100" b="1">
                          <a:solidFill>
                            <a:srgbClr val="8B8478"/>
                          </a:solidFill>
                          <a:latin typeface="Arial"/>
                        </a:rPr>
                        <a:t>Pinball 0,90</a:t>
                      </a:r>
                    </a:p>
                  </a:txBody>
                  <a:tcPr marL="82296" marR="82296" anchor="ctr">
                    <a:solidFill>
                      <a:srgbClr val="F4F2ED"/>
                    </a:solidFill>
                  </a:tcPr>
                </a:tc>
                <a:tc>
                  <a:txBody>
                    <a:bodyPr/>
                    <a:lstStyle/>
                    <a:p>
                      <a:pPr algn="r"/>
                      <a:r>
                        <a:rPr sz="1100" b="1">
                          <a:solidFill>
                            <a:srgbClr val="8B8478"/>
                          </a:solidFill>
                          <a:latin typeface="Arial"/>
                        </a:rPr>
                        <a:t>Pinball media</a:t>
                      </a:r>
                    </a:p>
                  </a:txBody>
                  <a:tcPr marL="82296" marR="82296" anchor="ctr">
                    <a:solidFill>
                      <a:srgbClr val="F4F2ED"/>
                    </a:solidFill>
                  </a:tcPr>
                </a:tc>
                <a:tc>
                  <a:txBody>
                    <a:bodyPr/>
                    <a:lstStyle/>
                    <a:p>
                      <a:pPr algn="r"/>
                      <a:r>
                        <a:rPr sz="1100" b="1">
                          <a:solidFill>
                            <a:srgbClr val="8B8478"/>
                          </a:solidFill>
                          <a:latin typeface="Arial"/>
                        </a:rPr>
                        <a:t>WAPE</a:t>
                      </a:r>
                    </a:p>
                  </a:txBody>
                  <a:tcPr marL="82296" marR="82296" anchor="ctr">
                    <a:solidFill>
                      <a:srgbClr val="F4F2ED"/>
                    </a:solidFill>
                  </a:tcPr>
                </a:tc>
                <a:tc>
                  <a:txBody>
                    <a:bodyPr/>
                    <a:lstStyle/>
                    <a:p>
                      <a:pPr algn="r"/>
                      <a:r>
                        <a:rPr sz="1100" b="1">
                          <a:solidFill>
                            <a:srgbClr val="8B8478"/>
                          </a:solidFill>
                          <a:latin typeface="Arial"/>
                        </a:rPr>
                        <a:t>MAE</a:t>
                      </a:r>
                    </a:p>
                  </a:txBody>
                  <a:tcPr marL="82296" marR="82296" anchor="ctr">
                    <a:solidFill>
                      <a:srgbClr val="F4F2ED"/>
                    </a:solidFill>
                  </a:tcPr>
                </a:tc>
                <a:tc>
                  <a:txBody>
                    <a:bodyPr/>
                    <a:lstStyle/>
                    <a:p>
                      <a:pPr algn="r"/>
                      <a:r>
                        <a:rPr sz="1100" b="1">
                          <a:solidFill>
                            <a:srgbClr val="8B8478"/>
                          </a:solidFill>
                          <a:latin typeface="Arial"/>
                        </a:rPr>
                        <a:t>Sesgo</a:t>
                      </a:r>
                    </a:p>
                  </a:txBody>
                  <a:tcPr marL="82296" marR="82296" anchor="ctr">
                    <a:solidFill>
                      <a:srgbClr val="F4F2ED"/>
                    </a:solidFill>
                  </a:tcPr>
                </a:tc>
                <a:extLst>
                  <a:ext uri="{0D108BD9-81ED-4DB2-BD59-A6C34878D82A}">
                    <a16:rowId xmlns:a16="http://schemas.microsoft.com/office/drawing/2014/main" val="10000"/>
                  </a:ext>
                </a:extLst>
              </a:tr>
              <a:tr h="310896">
                <a:tc>
                  <a:txBody>
                    <a:bodyPr/>
                    <a:lstStyle/>
                    <a:p>
                      <a:pPr algn="l"/>
                      <a:r>
                        <a:rPr sz="1250" b="1">
                          <a:solidFill>
                            <a:srgbClr val="17150F"/>
                          </a:solidFill>
                          <a:latin typeface="Arial"/>
                        </a:rPr>
                        <a:t>Bosque cuantílico</a:t>
                      </a:r>
                    </a:p>
                  </a:txBody>
                  <a:tcPr marL="82296" marR="82296" anchor="ctr">
                    <a:solidFill>
                      <a:srgbClr val="F7EEEF"/>
                    </a:solidFill>
                  </a:tcPr>
                </a:tc>
                <a:tc>
                  <a:txBody>
                    <a:bodyPr/>
                    <a:lstStyle/>
                    <a:p>
                      <a:pPr algn="r"/>
                      <a:r>
                        <a:rPr sz="1250" b="1">
                          <a:solidFill>
                            <a:srgbClr val="17150F"/>
                          </a:solidFill>
                          <a:latin typeface="Arial"/>
                        </a:rPr>
                        <a:t>5,490</a:t>
                      </a:r>
                    </a:p>
                  </a:txBody>
                  <a:tcPr marL="82296" marR="82296" anchor="ctr">
                    <a:solidFill>
                      <a:srgbClr val="F7EEEF"/>
                    </a:solidFill>
                  </a:tcPr>
                </a:tc>
                <a:tc>
                  <a:txBody>
                    <a:bodyPr/>
                    <a:lstStyle/>
                    <a:p>
                      <a:pPr algn="r"/>
                      <a:r>
                        <a:rPr sz="1250" b="1">
                          <a:solidFill>
                            <a:srgbClr val="17150F"/>
                          </a:solidFill>
                          <a:latin typeface="Arial"/>
                        </a:rPr>
                        <a:t>5,103</a:t>
                      </a:r>
                    </a:p>
                  </a:txBody>
                  <a:tcPr marL="82296" marR="82296" anchor="ctr">
                    <a:solidFill>
                      <a:srgbClr val="F7EEEF"/>
                    </a:solidFill>
                  </a:tcPr>
                </a:tc>
                <a:tc>
                  <a:txBody>
                    <a:bodyPr/>
                    <a:lstStyle/>
                    <a:p>
                      <a:pPr algn="r"/>
                      <a:r>
                        <a:rPr sz="1250" b="1">
                          <a:solidFill>
                            <a:srgbClr val="17150F"/>
                          </a:solidFill>
                          <a:latin typeface="Arial"/>
                        </a:rPr>
                        <a:t>2,341</a:t>
                      </a:r>
                    </a:p>
                  </a:txBody>
                  <a:tcPr marL="82296" marR="82296" anchor="ctr">
                    <a:solidFill>
                      <a:srgbClr val="F7EEEF"/>
                    </a:solidFill>
                  </a:tcPr>
                </a:tc>
                <a:tc>
                  <a:txBody>
                    <a:bodyPr/>
                    <a:lstStyle/>
                    <a:p>
                      <a:pPr algn="r"/>
                      <a:r>
                        <a:rPr sz="1250" b="1">
                          <a:solidFill>
                            <a:srgbClr val="17150F"/>
                          </a:solidFill>
                          <a:latin typeface="Arial"/>
                        </a:rPr>
                        <a:t>4,311</a:t>
                      </a:r>
                    </a:p>
                  </a:txBody>
                  <a:tcPr marL="82296" marR="82296" anchor="ctr">
                    <a:solidFill>
                      <a:srgbClr val="F7EEEF"/>
                    </a:solidFill>
                  </a:tcPr>
                </a:tc>
                <a:tc>
                  <a:txBody>
                    <a:bodyPr/>
                    <a:lstStyle/>
                    <a:p>
                      <a:pPr algn="r"/>
                      <a:r>
                        <a:rPr sz="1250" b="1">
                          <a:solidFill>
                            <a:srgbClr val="17150F"/>
                          </a:solidFill>
                          <a:latin typeface="Arial"/>
                        </a:rPr>
                        <a:t>11,77 %</a:t>
                      </a:r>
                    </a:p>
                  </a:txBody>
                  <a:tcPr marL="82296" marR="82296" anchor="ctr">
                    <a:solidFill>
                      <a:srgbClr val="F7EEEF"/>
                    </a:solidFill>
                  </a:tcPr>
                </a:tc>
                <a:tc>
                  <a:txBody>
                    <a:bodyPr/>
                    <a:lstStyle/>
                    <a:p>
                      <a:pPr algn="r"/>
                      <a:r>
                        <a:rPr sz="1250" b="1">
                          <a:solidFill>
                            <a:srgbClr val="17150F"/>
                          </a:solidFill>
                          <a:latin typeface="Arial"/>
                        </a:rPr>
                        <a:t>10,98</a:t>
                      </a:r>
                    </a:p>
                  </a:txBody>
                  <a:tcPr marL="82296" marR="82296" anchor="ctr">
                    <a:solidFill>
                      <a:srgbClr val="F7EEEF"/>
                    </a:solidFill>
                  </a:tcPr>
                </a:tc>
                <a:tc>
                  <a:txBody>
                    <a:bodyPr/>
                    <a:lstStyle/>
                    <a:p>
                      <a:pPr algn="r"/>
                      <a:r>
                        <a:rPr sz="1250" b="1">
                          <a:solidFill>
                            <a:srgbClr val="17150F"/>
                          </a:solidFill>
                          <a:latin typeface="Arial"/>
                        </a:rPr>
                        <a:t>−0,09</a:t>
                      </a:r>
                    </a:p>
                  </a:txBody>
                  <a:tcPr marL="82296" marR="82296" anchor="ctr">
                    <a:solidFill>
                      <a:srgbClr val="F7EEEF"/>
                    </a:solidFill>
                  </a:tcPr>
                </a:tc>
                <a:extLst>
                  <a:ext uri="{0D108BD9-81ED-4DB2-BD59-A6C34878D82A}">
                    <a16:rowId xmlns:a16="http://schemas.microsoft.com/office/drawing/2014/main" val="10001"/>
                  </a:ext>
                </a:extLst>
              </a:tr>
              <a:tr h="310896">
                <a:tc>
                  <a:txBody>
                    <a:bodyPr/>
                    <a:lstStyle/>
                    <a:p>
                      <a:pPr algn="l"/>
                      <a:r>
                        <a:rPr sz="1250" b="0">
                          <a:solidFill>
                            <a:srgbClr val="17150F"/>
                          </a:solidFill>
                          <a:latin typeface="Arial"/>
                        </a:rPr>
                        <a:t>GBR + residuales</a:t>
                      </a:r>
                    </a:p>
                  </a:txBody>
                  <a:tcPr marL="82296" marR="82296" anchor="ctr">
                    <a:solidFill>
                      <a:srgbClr val="FFFFFF"/>
                    </a:solidFill>
                  </a:tcPr>
                </a:tc>
                <a:tc>
                  <a:txBody>
                    <a:bodyPr/>
                    <a:lstStyle/>
                    <a:p>
                      <a:pPr algn="r"/>
                      <a:r>
                        <a:rPr sz="1250" b="0">
                          <a:solidFill>
                            <a:srgbClr val="555045"/>
                          </a:solidFill>
                          <a:latin typeface="Arial"/>
                        </a:rPr>
                        <a:t>5,514</a:t>
                      </a:r>
                    </a:p>
                  </a:txBody>
                  <a:tcPr marL="82296" marR="82296" anchor="ctr">
                    <a:solidFill>
                      <a:srgbClr val="FFFFFF"/>
                    </a:solidFill>
                  </a:tcPr>
                </a:tc>
                <a:tc>
                  <a:txBody>
                    <a:bodyPr/>
                    <a:lstStyle/>
                    <a:p>
                      <a:pPr algn="r"/>
                      <a:r>
                        <a:rPr sz="1250" b="0">
                          <a:solidFill>
                            <a:srgbClr val="555045"/>
                          </a:solidFill>
                          <a:latin typeface="Arial"/>
                        </a:rPr>
                        <a:t>5,117</a:t>
                      </a:r>
                    </a:p>
                  </a:txBody>
                  <a:tcPr marL="82296" marR="82296" anchor="ctr">
                    <a:solidFill>
                      <a:srgbClr val="FFFFFF"/>
                    </a:solidFill>
                  </a:tcPr>
                </a:tc>
                <a:tc>
                  <a:txBody>
                    <a:bodyPr/>
                    <a:lstStyle/>
                    <a:p>
                      <a:pPr algn="r"/>
                      <a:r>
                        <a:rPr sz="1250" b="0">
                          <a:solidFill>
                            <a:srgbClr val="555045"/>
                          </a:solidFill>
                          <a:latin typeface="Arial"/>
                        </a:rPr>
                        <a:t>2,328</a:t>
                      </a:r>
                    </a:p>
                  </a:txBody>
                  <a:tcPr marL="82296" marR="82296" anchor="ctr">
                    <a:solidFill>
                      <a:srgbClr val="FFFFFF"/>
                    </a:solidFill>
                  </a:tcPr>
                </a:tc>
                <a:tc>
                  <a:txBody>
                    <a:bodyPr/>
                    <a:lstStyle/>
                    <a:p>
                      <a:pPr algn="r"/>
                      <a:r>
                        <a:rPr sz="1250" b="0">
                          <a:solidFill>
                            <a:srgbClr val="555045"/>
                          </a:solidFill>
                          <a:latin typeface="Arial"/>
                        </a:rPr>
                        <a:t>4,320</a:t>
                      </a:r>
                    </a:p>
                  </a:txBody>
                  <a:tcPr marL="82296" marR="82296" anchor="ctr">
                    <a:solidFill>
                      <a:srgbClr val="FFFFFF"/>
                    </a:solidFill>
                  </a:tcPr>
                </a:tc>
                <a:tc>
                  <a:txBody>
                    <a:bodyPr/>
                    <a:lstStyle/>
                    <a:p>
                      <a:pPr algn="r"/>
                      <a:r>
                        <a:rPr sz="1250" b="0">
                          <a:solidFill>
                            <a:srgbClr val="555045"/>
                          </a:solidFill>
                          <a:latin typeface="Arial"/>
                        </a:rPr>
                        <a:t>11,82 %</a:t>
                      </a:r>
                    </a:p>
                  </a:txBody>
                  <a:tcPr marL="82296" marR="82296" anchor="ctr">
                    <a:solidFill>
                      <a:srgbClr val="FFFFFF"/>
                    </a:solidFill>
                  </a:tcPr>
                </a:tc>
                <a:tc>
                  <a:txBody>
                    <a:bodyPr/>
                    <a:lstStyle/>
                    <a:p>
                      <a:pPr algn="r"/>
                      <a:r>
                        <a:rPr sz="1250" b="0">
                          <a:solidFill>
                            <a:srgbClr val="555045"/>
                          </a:solidFill>
                          <a:latin typeface="Arial"/>
                        </a:rPr>
                        <a:t>11,03</a:t>
                      </a:r>
                    </a:p>
                  </a:txBody>
                  <a:tcPr marL="82296" marR="82296" anchor="ctr">
                    <a:solidFill>
                      <a:srgbClr val="FFFFFF"/>
                    </a:solidFill>
                  </a:tcPr>
                </a:tc>
                <a:tc>
                  <a:txBody>
                    <a:bodyPr/>
                    <a:lstStyle/>
                    <a:p>
                      <a:pPr algn="r"/>
                      <a:r>
                        <a:rPr sz="1250" b="0">
                          <a:solidFill>
                            <a:srgbClr val="555045"/>
                          </a:solidFill>
                          <a:latin typeface="Arial"/>
                        </a:rPr>
                        <a:t>−0,13</a:t>
                      </a:r>
                    </a:p>
                  </a:txBody>
                  <a:tcPr marL="82296" marR="82296" anchor="ctr">
                    <a:solidFill>
                      <a:srgbClr val="FFFFFF"/>
                    </a:solidFill>
                  </a:tcPr>
                </a:tc>
                <a:extLst>
                  <a:ext uri="{0D108BD9-81ED-4DB2-BD59-A6C34878D82A}">
                    <a16:rowId xmlns:a16="http://schemas.microsoft.com/office/drawing/2014/main" val="10002"/>
                  </a:ext>
                </a:extLst>
              </a:tr>
              <a:tr h="310896">
                <a:tc>
                  <a:txBody>
                    <a:bodyPr/>
                    <a:lstStyle/>
                    <a:p>
                      <a:pPr algn="l"/>
                      <a:r>
                        <a:rPr sz="1250" b="0">
                          <a:solidFill>
                            <a:srgbClr val="17150F"/>
                          </a:solidFill>
                          <a:latin typeface="Arial"/>
                        </a:rPr>
                        <a:t>Boosting cuantílico</a:t>
                      </a:r>
                    </a:p>
                  </a:txBody>
                  <a:tcPr marL="82296" marR="82296" anchor="ctr">
                    <a:solidFill>
                      <a:srgbClr val="FFFFFF"/>
                    </a:solidFill>
                  </a:tcPr>
                </a:tc>
                <a:tc>
                  <a:txBody>
                    <a:bodyPr/>
                    <a:lstStyle/>
                    <a:p>
                      <a:pPr algn="r"/>
                      <a:r>
                        <a:rPr sz="1250" b="0">
                          <a:solidFill>
                            <a:srgbClr val="555045"/>
                          </a:solidFill>
                          <a:latin typeface="Arial"/>
                        </a:rPr>
                        <a:t>5,467</a:t>
                      </a:r>
                    </a:p>
                  </a:txBody>
                  <a:tcPr marL="82296" marR="82296" anchor="ctr">
                    <a:solidFill>
                      <a:srgbClr val="FFFFFF"/>
                    </a:solidFill>
                  </a:tcPr>
                </a:tc>
                <a:tc>
                  <a:txBody>
                    <a:bodyPr/>
                    <a:lstStyle/>
                    <a:p>
                      <a:pPr algn="r"/>
                      <a:r>
                        <a:rPr sz="1250" b="0">
                          <a:solidFill>
                            <a:srgbClr val="555045"/>
                          </a:solidFill>
                          <a:latin typeface="Arial"/>
                        </a:rPr>
                        <a:t>5,136</a:t>
                      </a:r>
                    </a:p>
                  </a:txBody>
                  <a:tcPr marL="82296" marR="82296" anchor="ctr">
                    <a:solidFill>
                      <a:srgbClr val="FFFFFF"/>
                    </a:solidFill>
                  </a:tcPr>
                </a:tc>
                <a:tc>
                  <a:txBody>
                    <a:bodyPr/>
                    <a:lstStyle/>
                    <a:p>
                      <a:pPr algn="r"/>
                      <a:r>
                        <a:rPr sz="1250" b="0">
                          <a:solidFill>
                            <a:srgbClr val="555045"/>
                          </a:solidFill>
                          <a:latin typeface="Arial"/>
                        </a:rPr>
                        <a:t>2,391</a:t>
                      </a:r>
                    </a:p>
                  </a:txBody>
                  <a:tcPr marL="82296" marR="82296" anchor="ctr">
                    <a:solidFill>
                      <a:srgbClr val="FFFFFF"/>
                    </a:solidFill>
                  </a:tcPr>
                </a:tc>
                <a:tc>
                  <a:txBody>
                    <a:bodyPr/>
                    <a:lstStyle/>
                    <a:p>
                      <a:pPr algn="r"/>
                      <a:r>
                        <a:rPr sz="1250" b="0">
                          <a:solidFill>
                            <a:srgbClr val="555045"/>
                          </a:solidFill>
                          <a:latin typeface="Arial"/>
                        </a:rPr>
                        <a:t>4,331</a:t>
                      </a:r>
                    </a:p>
                  </a:txBody>
                  <a:tcPr marL="82296" marR="82296" anchor="ctr">
                    <a:solidFill>
                      <a:srgbClr val="FFFFFF"/>
                    </a:solidFill>
                  </a:tcPr>
                </a:tc>
                <a:tc>
                  <a:txBody>
                    <a:bodyPr/>
                    <a:lstStyle/>
                    <a:p>
                      <a:pPr algn="r"/>
                      <a:r>
                        <a:rPr sz="1250" b="0">
                          <a:solidFill>
                            <a:srgbClr val="555045"/>
                          </a:solidFill>
                          <a:latin typeface="Arial"/>
                        </a:rPr>
                        <a:t>11,72 %</a:t>
                      </a:r>
                    </a:p>
                  </a:txBody>
                  <a:tcPr marL="82296" marR="82296" anchor="ctr">
                    <a:solidFill>
                      <a:srgbClr val="FFFFFF"/>
                    </a:solidFill>
                  </a:tcPr>
                </a:tc>
                <a:tc>
                  <a:txBody>
                    <a:bodyPr/>
                    <a:lstStyle/>
                    <a:p>
                      <a:pPr algn="r"/>
                      <a:r>
                        <a:rPr sz="1250" b="0">
                          <a:solidFill>
                            <a:srgbClr val="555045"/>
                          </a:solidFill>
                          <a:latin typeface="Arial"/>
                        </a:rPr>
                        <a:t>10,93</a:t>
                      </a:r>
                    </a:p>
                  </a:txBody>
                  <a:tcPr marL="82296" marR="82296" anchor="ctr">
                    <a:solidFill>
                      <a:srgbClr val="FFFFFF"/>
                    </a:solidFill>
                  </a:tcPr>
                </a:tc>
                <a:tc>
                  <a:txBody>
                    <a:bodyPr/>
                    <a:lstStyle/>
                    <a:p>
                      <a:pPr algn="r"/>
                      <a:r>
                        <a:rPr sz="1250" b="0">
                          <a:solidFill>
                            <a:srgbClr val="555045"/>
                          </a:solidFill>
                          <a:latin typeface="Arial"/>
                        </a:rPr>
                        <a:t>0,00</a:t>
                      </a:r>
                    </a:p>
                  </a:txBody>
                  <a:tcPr marL="82296" marR="82296" anchor="ctr">
                    <a:solidFill>
                      <a:srgbClr val="FFFFFF"/>
                    </a:solidFill>
                  </a:tcPr>
                </a:tc>
                <a:extLst>
                  <a:ext uri="{0D108BD9-81ED-4DB2-BD59-A6C34878D82A}">
                    <a16:rowId xmlns:a16="http://schemas.microsoft.com/office/drawing/2014/main" val="10003"/>
                  </a:ext>
                </a:extLst>
              </a:tr>
              <a:tr h="310896">
                <a:tc>
                  <a:txBody>
                    <a:bodyPr/>
                    <a:lstStyle/>
                    <a:p>
                      <a:pPr algn="l"/>
                      <a:r>
                        <a:rPr sz="1250" b="0">
                          <a:solidFill>
                            <a:srgbClr val="17150F"/>
                          </a:solidFill>
                          <a:latin typeface="Arial"/>
                        </a:rPr>
                        <a:t>Ridge + residuales</a:t>
                      </a:r>
                    </a:p>
                  </a:txBody>
                  <a:tcPr marL="82296" marR="82296" anchor="ctr">
                    <a:solidFill>
                      <a:srgbClr val="FFFFFF"/>
                    </a:solidFill>
                  </a:tcPr>
                </a:tc>
                <a:tc>
                  <a:txBody>
                    <a:bodyPr/>
                    <a:lstStyle/>
                    <a:p>
                      <a:pPr algn="r"/>
                      <a:r>
                        <a:rPr sz="1250" b="0">
                          <a:solidFill>
                            <a:srgbClr val="555045"/>
                          </a:solidFill>
                          <a:latin typeface="Arial"/>
                        </a:rPr>
                        <a:t>5,508</a:t>
                      </a:r>
                    </a:p>
                  </a:txBody>
                  <a:tcPr marL="82296" marR="82296" anchor="ctr">
                    <a:solidFill>
                      <a:srgbClr val="FFFFFF"/>
                    </a:solidFill>
                  </a:tcPr>
                </a:tc>
                <a:tc>
                  <a:txBody>
                    <a:bodyPr/>
                    <a:lstStyle/>
                    <a:p>
                      <a:pPr algn="r"/>
                      <a:r>
                        <a:rPr sz="1250" b="0">
                          <a:solidFill>
                            <a:srgbClr val="555045"/>
                          </a:solidFill>
                          <a:latin typeface="Arial"/>
                        </a:rPr>
                        <a:t>5,172</a:t>
                      </a:r>
                    </a:p>
                  </a:txBody>
                  <a:tcPr marL="82296" marR="82296" anchor="ctr">
                    <a:solidFill>
                      <a:srgbClr val="FFFFFF"/>
                    </a:solidFill>
                  </a:tcPr>
                </a:tc>
                <a:tc>
                  <a:txBody>
                    <a:bodyPr/>
                    <a:lstStyle/>
                    <a:p>
                      <a:pPr algn="r"/>
                      <a:r>
                        <a:rPr sz="1250" b="0">
                          <a:solidFill>
                            <a:srgbClr val="555045"/>
                          </a:solidFill>
                          <a:latin typeface="Arial"/>
                        </a:rPr>
                        <a:t>2,335</a:t>
                      </a:r>
                    </a:p>
                  </a:txBody>
                  <a:tcPr marL="82296" marR="82296" anchor="ctr">
                    <a:solidFill>
                      <a:srgbClr val="FFFFFF"/>
                    </a:solidFill>
                  </a:tcPr>
                </a:tc>
                <a:tc>
                  <a:txBody>
                    <a:bodyPr/>
                    <a:lstStyle/>
                    <a:p>
                      <a:pPr algn="r"/>
                      <a:r>
                        <a:rPr sz="1250" b="0">
                          <a:solidFill>
                            <a:srgbClr val="555045"/>
                          </a:solidFill>
                          <a:latin typeface="Arial"/>
                        </a:rPr>
                        <a:t>4,338</a:t>
                      </a:r>
                    </a:p>
                  </a:txBody>
                  <a:tcPr marL="82296" marR="82296" anchor="ctr">
                    <a:solidFill>
                      <a:srgbClr val="FFFFFF"/>
                    </a:solidFill>
                  </a:tcPr>
                </a:tc>
                <a:tc>
                  <a:txBody>
                    <a:bodyPr/>
                    <a:lstStyle/>
                    <a:p>
                      <a:pPr algn="r"/>
                      <a:r>
                        <a:rPr sz="1250" b="0">
                          <a:solidFill>
                            <a:srgbClr val="555045"/>
                          </a:solidFill>
                          <a:latin typeface="Arial"/>
                        </a:rPr>
                        <a:t>11,81 %</a:t>
                      </a:r>
                    </a:p>
                  </a:txBody>
                  <a:tcPr marL="82296" marR="82296" anchor="ctr">
                    <a:solidFill>
                      <a:srgbClr val="FFFFFF"/>
                    </a:solidFill>
                  </a:tcPr>
                </a:tc>
                <a:tc>
                  <a:txBody>
                    <a:bodyPr/>
                    <a:lstStyle/>
                    <a:p>
                      <a:pPr algn="r"/>
                      <a:r>
                        <a:rPr sz="1250" b="0">
                          <a:solidFill>
                            <a:srgbClr val="555045"/>
                          </a:solidFill>
                          <a:latin typeface="Arial"/>
                        </a:rPr>
                        <a:t>11,02</a:t>
                      </a:r>
                    </a:p>
                  </a:txBody>
                  <a:tcPr marL="82296" marR="82296" anchor="ctr">
                    <a:solidFill>
                      <a:srgbClr val="FFFFFF"/>
                    </a:solidFill>
                  </a:tcPr>
                </a:tc>
                <a:tc>
                  <a:txBody>
                    <a:bodyPr/>
                    <a:lstStyle/>
                    <a:p>
                      <a:pPr algn="r"/>
                      <a:r>
                        <a:rPr sz="1250" b="0">
                          <a:solidFill>
                            <a:srgbClr val="555045"/>
                          </a:solidFill>
                          <a:latin typeface="Arial"/>
                        </a:rPr>
                        <a:t>+0,24</a:t>
                      </a:r>
                    </a:p>
                  </a:txBody>
                  <a:tcPr marL="82296" marR="82296" anchor="ctr">
                    <a:solidFill>
                      <a:srgbClr val="FFFFFF"/>
                    </a:solidFill>
                  </a:tcPr>
                </a:tc>
                <a:extLst>
                  <a:ext uri="{0D108BD9-81ED-4DB2-BD59-A6C34878D82A}">
                    <a16:rowId xmlns:a16="http://schemas.microsoft.com/office/drawing/2014/main" val="10004"/>
                  </a:ext>
                </a:extLst>
              </a:tr>
              <a:tr h="310896">
                <a:tc>
                  <a:txBody>
                    <a:bodyPr/>
                    <a:lstStyle/>
                    <a:p>
                      <a:pPr algn="l"/>
                      <a:r>
                        <a:rPr sz="1250" b="0">
                          <a:solidFill>
                            <a:srgbClr val="17150F"/>
                          </a:solidFill>
                          <a:latin typeface="Arial"/>
                        </a:rPr>
                        <a:t>Regresión cuantílica</a:t>
                      </a:r>
                    </a:p>
                  </a:txBody>
                  <a:tcPr marL="82296" marR="82296" anchor="ctr">
                    <a:solidFill>
                      <a:srgbClr val="FFFFFF"/>
                    </a:solidFill>
                  </a:tcPr>
                </a:tc>
                <a:tc>
                  <a:txBody>
                    <a:bodyPr/>
                    <a:lstStyle/>
                    <a:p>
                      <a:pPr algn="r"/>
                      <a:r>
                        <a:rPr sz="1250" b="0">
                          <a:solidFill>
                            <a:srgbClr val="555045"/>
                          </a:solidFill>
                          <a:latin typeface="Arial"/>
                        </a:rPr>
                        <a:t>5,484</a:t>
                      </a:r>
                    </a:p>
                  </a:txBody>
                  <a:tcPr marL="82296" marR="82296" anchor="ctr">
                    <a:solidFill>
                      <a:srgbClr val="FFFFFF"/>
                    </a:solidFill>
                  </a:tcPr>
                </a:tc>
                <a:tc>
                  <a:txBody>
                    <a:bodyPr/>
                    <a:lstStyle/>
                    <a:p>
                      <a:pPr algn="r"/>
                      <a:r>
                        <a:rPr sz="1250" b="0">
                          <a:solidFill>
                            <a:srgbClr val="555045"/>
                          </a:solidFill>
                          <a:latin typeface="Arial"/>
                        </a:rPr>
                        <a:t>5,166</a:t>
                      </a:r>
                    </a:p>
                  </a:txBody>
                  <a:tcPr marL="82296" marR="82296" anchor="ctr">
                    <a:solidFill>
                      <a:srgbClr val="FFFFFF"/>
                    </a:solidFill>
                  </a:tcPr>
                </a:tc>
                <a:tc>
                  <a:txBody>
                    <a:bodyPr/>
                    <a:lstStyle/>
                    <a:p>
                      <a:pPr algn="r"/>
                      <a:r>
                        <a:rPr sz="1250" b="0">
                          <a:solidFill>
                            <a:srgbClr val="555045"/>
                          </a:solidFill>
                          <a:latin typeface="Arial"/>
                        </a:rPr>
                        <a:t>2,378</a:t>
                      </a:r>
                    </a:p>
                  </a:txBody>
                  <a:tcPr marL="82296" marR="82296" anchor="ctr">
                    <a:solidFill>
                      <a:srgbClr val="FFFFFF"/>
                    </a:solidFill>
                  </a:tcPr>
                </a:tc>
                <a:tc>
                  <a:txBody>
                    <a:bodyPr/>
                    <a:lstStyle/>
                    <a:p>
                      <a:pPr algn="r"/>
                      <a:r>
                        <a:rPr sz="1250" b="0">
                          <a:solidFill>
                            <a:srgbClr val="555045"/>
                          </a:solidFill>
                          <a:latin typeface="Arial"/>
                        </a:rPr>
                        <a:t>4,343</a:t>
                      </a:r>
                    </a:p>
                  </a:txBody>
                  <a:tcPr marL="82296" marR="82296" anchor="ctr">
                    <a:solidFill>
                      <a:srgbClr val="FFFFFF"/>
                    </a:solidFill>
                  </a:tcPr>
                </a:tc>
                <a:tc>
                  <a:txBody>
                    <a:bodyPr/>
                    <a:lstStyle/>
                    <a:p>
                      <a:pPr algn="r"/>
                      <a:r>
                        <a:rPr sz="1250" b="0">
                          <a:solidFill>
                            <a:srgbClr val="555045"/>
                          </a:solidFill>
                          <a:latin typeface="Arial"/>
                        </a:rPr>
                        <a:t>11,76 %</a:t>
                      </a:r>
                    </a:p>
                  </a:txBody>
                  <a:tcPr marL="82296" marR="82296" anchor="ctr">
                    <a:solidFill>
                      <a:srgbClr val="FFFFFF"/>
                    </a:solidFill>
                  </a:tcPr>
                </a:tc>
                <a:tc>
                  <a:txBody>
                    <a:bodyPr/>
                    <a:lstStyle/>
                    <a:p>
                      <a:pPr algn="r"/>
                      <a:r>
                        <a:rPr sz="1250" b="0">
                          <a:solidFill>
                            <a:srgbClr val="555045"/>
                          </a:solidFill>
                          <a:latin typeface="Arial"/>
                        </a:rPr>
                        <a:t>10,97</a:t>
                      </a:r>
                    </a:p>
                  </a:txBody>
                  <a:tcPr marL="82296" marR="82296" anchor="ctr">
                    <a:solidFill>
                      <a:srgbClr val="FFFFFF"/>
                    </a:solidFill>
                  </a:tcPr>
                </a:tc>
                <a:tc>
                  <a:txBody>
                    <a:bodyPr/>
                    <a:lstStyle/>
                    <a:p>
                      <a:pPr algn="r"/>
                      <a:r>
                        <a:rPr sz="1250" b="0">
                          <a:solidFill>
                            <a:srgbClr val="555045"/>
                          </a:solidFill>
                          <a:latin typeface="Arial"/>
                        </a:rPr>
                        <a:t>+0,11</a:t>
                      </a:r>
                    </a:p>
                  </a:txBody>
                  <a:tcPr marL="82296" marR="82296" anchor="ctr">
                    <a:solidFill>
                      <a:srgbClr val="FFFFFF"/>
                    </a:solidFill>
                  </a:tcPr>
                </a:tc>
                <a:extLst>
                  <a:ext uri="{0D108BD9-81ED-4DB2-BD59-A6C34878D82A}">
                    <a16:rowId xmlns:a16="http://schemas.microsoft.com/office/drawing/2014/main" val="10005"/>
                  </a:ext>
                </a:extLst>
              </a:tr>
              <a:tr h="310896">
                <a:tc>
                  <a:txBody>
                    <a:bodyPr/>
                    <a:lstStyle/>
                    <a:p>
                      <a:pPr algn="l"/>
                      <a:r>
                        <a:rPr sz="1250" b="0">
                          <a:solidFill>
                            <a:srgbClr val="17150F"/>
                          </a:solidFill>
                          <a:latin typeface="Arial"/>
                        </a:rPr>
                        <a:t>Ensemble + residuales</a:t>
                      </a:r>
                    </a:p>
                  </a:txBody>
                  <a:tcPr marL="82296" marR="82296" anchor="ctr">
                    <a:solidFill>
                      <a:srgbClr val="FFFFFF"/>
                    </a:solidFill>
                  </a:tcPr>
                </a:tc>
                <a:tc>
                  <a:txBody>
                    <a:bodyPr/>
                    <a:lstStyle/>
                    <a:p>
                      <a:pPr algn="r"/>
                      <a:r>
                        <a:rPr sz="1250" b="0">
                          <a:solidFill>
                            <a:srgbClr val="555045"/>
                          </a:solidFill>
                          <a:latin typeface="Arial"/>
                        </a:rPr>
                        <a:t>5,574</a:t>
                      </a:r>
                    </a:p>
                  </a:txBody>
                  <a:tcPr marL="82296" marR="82296" anchor="ctr">
                    <a:solidFill>
                      <a:srgbClr val="FFFFFF"/>
                    </a:solidFill>
                  </a:tcPr>
                </a:tc>
                <a:tc>
                  <a:txBody>
                    <a:bodyPr/>
                    <a:lstStyle/>
                    <a:p>
                      <a:pPr algn="r"/>
                      <a:r>
                        <a:rPr sz="1250" b="0">
                          <a:solidFill>
                            <a:srgbClr val="555045"/>
                          </a:solidFill>
                          <a:latin typeface="Arial"/>
                        </a:rPr>
                        <a:t>5,177</a:t>
                      </a:r>
                    </a:p>
                  </a:txBody>
                  <a:tcPr marL="82296" marR="82296" anchor="ctr">
                    <a:solidFill>
                      <a:srgbClr val="FFFFFF"/>
                    </a:solidFill>
                  </a:tcPr>
                </a:tc>
                <a:tc>
                  <a:txBody>
                    <a:bodyPr/>
                    <a:lstStyle/>
                    <a:p>
                      <a:pPr algn="r"/>
                      <a:r>
                        <a:rPr sz="1250" b="0">
                          <a:solidFill>
                            <a:srgbClr val="555045"/>
                          </a:solidFill>
                          <a:latin typeface="Arial"/>
                        </a:rPr>
                        <a:t>2,407</a:t>
                      </a:r>
                    </a:p>
                  </a:txBody>
                  <a:tcPr marL="82296" marR="82296" anchor="ctr">
                    <a:solidFill>
                      <a:srgbClr val="FFFFFF"/>
                    </a:solidFill>
                  </a:tcPr>
                </a:tc>
                <a:tc>
                  <a:txBody>
                    <a:bodyPr/>
                    <a:lstStyle/>
                    <a:p>
                      <a:pPr algn="r"/>
                      <a:r>
                        <a:rPr sz="1250" b="0">
                          <a:solidFill>
                            <a:srgbClr val="555045"/>
                          </a:solidFill>
                          <a:latin typeface="Arial"/>
                        </a:rPr>
                        <a:t>4,386</a:t>
                      </a:r>
                    </a:p>
                  </a:txBody>
                  <a:tcPr marL="82296" marR="82296" anchor="ctr">
                    <a:solidFill>
                      <a:srgbClr val="FFFFFF"/>
                    </a:solidFill>
                  </a:tcPr>
                </a:tc>
                <a:tc>
                  <a:txBody>
                    <a:bodyPr/>
                    <a:lstStyle/>
                    <a:p>
                      <a:pPr algn="r"/>
                      <a:r>
                        <a:rPr sz="1250" b="0">
                          <a:solidFill>
                            <a:srgbClr val="555045"/>
                          </a:solidFill>
                          <a:latin typeface="Arial"/>
                        </a:rPr>
                        <a:t>11,95 %</a:t>
                      </a:r>
                    </a:p>
                  </a:txBody>
                  <a:tcPr marL="82296" marR="82296" anchor="ctr">
                    <a:solidFill>
                      <a:srgbClr val="FFFFFF"/>
                    </a:solidFill>
                  </a:tcPr>
                </a:tc>
                <a:tc>
                  <a:txBody>
                    <a:bodyPr/>
                    <a:lstStyle/>
                    <a:p>
                      <a:pPr algn="r"/>
                      <a:r>
                        <a:rPr sz="1250" b="0">
                          <a:solidFill>
                            <a:srgbClr val="555045"/>
                          </a:solidFill>
                          <a:latin typeface="Arial"/>
                        </a:rPr>
                        <a:t>11,15</a:t>
                      </a:r>
                    </a:p>
                  </a:txBody>
                  <a:tcPr marL="82296" marR="82296" anchor="ctr">
                    <a:solidFill>
                      <a:srgbClr val="FFFFFF"/>
                    </a:solidFill>
                  </a:tcPr>
                </a:tc>
                <a:tc>
                  <a:txBody>
                    <a:bodyPr/>
                    <a:lstStyle/>
                    <a:p>
                      <a:pPr algn="r"/>
                      <a:r>
                        <a:rPr sz="1250" b="0">
                          <a:solidFill>
                            <a:srgbClr val="555045"/>
                          </a:solidFill>
                          <a:latin typeface="Arial"/>
                        </a:rPr>
                        <a:t>+0,08</a:t>
                      </a:r>
                    </a:p>
                  </a:txBody>
                  <a:tcPr marL="82296" marR="82296" anchor="ctr">
                    <a:solidFill>
                      <a:srgbClr val="FFFFFF"/>
                    </a:solidFill>
                  </a:tcPr>
                </a:tc>
                <a:extLst>
                  <a:ext uri="{0D108BD9-81ED-4DB2-BD59-A6C34878D82A}">
                    <a16:rowId xmlns:a16="http://schemas.microsoft.com/office/drawing/2014/main" val="10006"/>
                  </a:ext>
                </a:extLst>
              </a:tr>
              <a:tr h="310896">
                <a:tc>
                  <a:txBody>
                    <a:bodyPr/>
                    <a:lstStyle/>
                    <a:p>
                      <a:pPr algn="l"/>
                      <a:r>
                        <a:rPr sz="1250" b="0">
                          <a:solidFill>
                            <a:srgbClr val="17150F"/>
                          </a:solidFill>
                          <a:latin typeface="Arial"/>
                        </a:rPr>
                        <a:t>Media móvil + residuales</a:t>
                      </a:r>
                    </a:p>
                  </a:txBody>
                  <a:tcPr marL="82296" marR="82296" anchor="ctr">
                    <a:solidFill>
                      <a:srgbClr val="FFFFFF"/>
                    </a:solidFill>
                  </a:tcPr>
                </a:tc>
                <a:tc>
                  <a:txBody>
                    <a:bodyPr/>
                    <a:lstStyle/>
                    <a:p>
                      <a:pPr algn="r"/>
                      <a:r>
                        <a:rPr sz="1250" b="0">
                          <a:solidFill>
                            <a:srgbClr val="555045"/>
                          </a:solidFill>
                          <a:latin typeface="Arial"/>
                        </a:rPr>
                        <a:t>5,563</a:t>
                      </a:r>
                    </a:p>
                  </a:txBody>
                  <a:tcPr marL="82296" marR="82296" anchor="ctr">
                    <a:solidFill>
                      <a:srgbClr val="FFFFFF"/>
                    </a:solidFill>
                  </a:tcPr>
                </a:tc>
                <a:tc>
                  <a:txBody>
                    <a:bodyPr/>
                    <a:lstStyle/>
                    <a:p>
                      <a:pPr algn="r"/>
                      <a:r>
                        <a:rPr sz="1250" b="0">
                          <a:solidFill>
                            <a:srgbClr val="555045"/>
                          </a:solidFill>
                          <a:latin typeface="Arial"/>
                        </a:rPr>
                        <a:t>5,319</a:t>
                      </a:r>
                    </a:p>
                  </a:txBody>
                  <a:tcPr marL="82296" marR="82296" anchor="ctr">
                    <a:solidFill>
                      <a:srgbClr val="FFFFFF"/>
                    </a:solidFill>
                  </a:tcPr>
                </a:tc>
                <a:tc>
                  <a:txBody>
                    <a:bodyPr/>
                    <a:lstStyle/>
                    <a:p>
                      <a:pPr algn="r"/>
                      <a:r>
                        <a:rPr sz="1250" b="0">
                          <a:solidFill>
                            <a:srgbClr val="555045"/>
                          </a:solidFill>
                          <a:latin typeface="Arial"/>
                        </a:rPr>
                        <a:t>2,741</a:t>
                      </a:r>
                    </a:p>
                  </a:txBody>
                  <a:tcPr marL="82296" marR="82296" anchor="ctr">
                    <a:solidFill>
                      <a:srgbClr val="FFFFFF"/>
                    </a:solidFill>
                  </a:tcPr>
                </a:tc>
                <a:tc>
                  <a:txBody>
                    <a:bodyPr/>
                    <a:lstStyle/>
                    <a:p>
                      <a:pPr algn="r"/>
                      <a:r>
                        <a:rPr sz="1250" b="0">
                          <a:solidFill>
                            <a:srgbClr val="555045"/>
                          </a:solidFill>
                          <a:latin typeface="Arial"/>
                        </a:rPr>
                        <a:t>4,541</a:t>
                      </a:r>
                    </a:p>
                  </a:txBody>
                  <a:tcPr marL="82296" marR="82296" anchor="ctr">
                    <a:solidFill>
                      <a:srgbClr val="FFFFFF"/>
                    </a:solidFill>
                  </a:tcPr>
                </a:tc>
                <a:tc>
                  <a:txBody>
                    <a:bodyPr/>
                    <a:lstStyle/>
                    <a:p>
                      <a:pPr algn="r"/>
                      <a:r>
                        <a:rPr sz="1250" b="0">
                          <a:solidFill>
                            <a:srgbClr val="555045"/>
                          </a:solidFill>
                          <a:latin typeface="Arial"/>
                        </a:rPr>
                        <a:t>11,93 %</a:t>
                      </a:r>
                    </a:p>
                  </a:txBody>
                  <a:tcPr marL="82296" marR="82296" anchor="ctr">
                    <a:solidFill>
                      <a:srgbClr val="FFFFFF"/>
                    </a:solidFill>
                  </a:tcPr>
                </a:tc>
                <a:tc>
                  <a:txBody>
                    <a:bodyPr/>
                    <a:lstStyle/>
                    <a:p>
                      <a:pPr algn="r"/>
                      <a:r>
                        <a:rPr sz="1250" b="0">
                          <a:solidFill>
                            <a:srgbClr val="555045"/>
                          </a:solidFill>
                          <a:latin typeface="Arial"/>
                        </a:rPr>
                        <a:t>11,13</a:t>
                      </a:r>
                    </a:p>
                  </a:txBody>
                  <a:tcPr marL="82296" marR="82296" anchor="ctr">
                    <a:solidFill>
                      <a:srgbClr val="FFFFFF"/>
                    </a:solidFill>
                  </a:tcPr>
                </a:tc>
                <a:tc>
                  <a:txBody>
                    <a:bodyPr/>
                    <a:lstStyle/>
                    <a:p>
                      <a:pPr algn="r"/>
                      <a:r>
                        <a:rPr sz="1250" b="0">
                          <a:solidFill>
                            <a:srgbClr val="555045"/>
                          </a:solidFill>
                          <a:latin typeface="Arial"/>
                        </a:rPr>
                        <a:t>−0,02</a:t>
                      </a:r>
                    </a:p>
                  </a:txBody>
                  <a:tcPr marL="82296" marR="82296" anchor="ctr">
                    <a:solidFill>
                      <a:srgbClr val="FFFFFF"/>
                    </a:solidFill>
                  </a:tcPr>
                </a:tc>
                <a:extLst>
                  <a:ext uri="{0D108BD9-81ED-4DB2-BD59-A6C34878D82A}">
                    <a16:rowId xmlns:a16="http://schemas.microsoft.com/office/drawing/2014/main" val="10007"/>
                  </a:ext>
                </a:extLst>
              </a:tr>
            </a:tbl>
          </a:graphicData>
        </a:graphic>
      </p:graphicFrame>
      <p:sp>
        <p:nvSpPr>
          <p:cNvPr id="8" name="Rectangle 7"/>
          <p:cNvSpPr/>
          <p:nvPr/>
        </p:nvSpPr>
        <p:spPr>
          <a:xfrm>
            <a:off x="777240" y="5172964"/>
            <a:ext cx="63500" cy="63500"/>
          </a:xfrm>
          <a:prstGeom prst="rect">
            <a:avLst/>
          </a:prstGeom>
          <a:solidFill>
            <a:srgbClr val="8C2F3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9" name="TextBox 8"/>
          <p:cNvSpPr txBox="1"/>
          <p:nvPr/>
        </p:nvSpPr>
        <p:spPr>
          <a:xfrm>
            <a:off x="978408" y="5072380"/>
            <a:ext cx="10436047" cy="479044"/>
          </a:xfrm>
          <a:prstGeom prst="rect">
            <a:avLst/>
          </a:prstGeom>
          <a:noFill/>
        </p:spPr>
        <p:txBody>
          <a:bodyPr wrap="square" lIns="0" tIns="0" rIns="0" bIns="0">
            <a:spAutoFit/>
          </a:bodyPr>
          <a:lstStyle/>
          <a:p>
            <a:pPr>
              <a:lnSpc>
                <a:spcPct val="124000"/>
              </a:lnSpc>
              <a:spcAft>
                <a:spcPts val="0"/>
              </a:spcAft>
            </a:pPr>
            <a:r>
              <a:rPr sz="1300" b="1">
                <a:solidFill>
                  <a:srgbClr val="17150F"/>
                </a:solidFill>
                <a:latin typeface="Arial"/>
              </a:rPr>
              <a:t>Por pérdida pinball gana el bosque cuantílico.</a:t>
            </a:r>
            <a:r>
              <a:rPr sz="1300" b="0">
                <a:solidFill>
                  <a:srgbClr val="555045"/>
                </a:solidFill>
                <a:latin typeface="Arial"/>
              </a:rPr>
              <a:t> Por WAPE del pronóstico central gana el boosting, con 11,72 % frente al 11,91 % de la línea base.</a:t>
            </a:r>
          </a:p>
        </p:txBody>
      </p:sp>
      <p:sp>
        <p:nvSpPr>
          <p:cNvPr id="10" name="Rectangle 9"/>
          <p:cNvSpPr/>
          <p:nvPr/>
        </p:nvSpPr>
        <p:spPr>
          <a:xfrm>
            <a:off x="777240" y="5780024"/>
            <a:ext cx="63500" cy="63500"/>
          </a:xfrm>
          <a:prstGeom prst="rect">
            <a:avLst/>
          </a:prstGeom>
          <a:solidFill>
            <a:srgbClr val="8C2F3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1" name="TextBox 10"/>
          <p:cNvSpPr txBox="1"/>
          <p:nvPr/>
        </p:nvSpPr>
        <p:spPr>
          <a:xfrm>
            <a:off x="978408" y="5679440"/>
            <a:ext cx="10436047" cy="479044"/>
          </a:xfrm>
          <a:prstGeom prst="rect">
            <a:avLst/>
          </a:prstGeom>
          <a:noFill/>
        </p:spPr>
        <p:txBody>
          <a:bodyPr wrap="square" lIns="0" tIns="0" rIns="0" bIns="0">
            <a:spAutoFit/>
          </a:bodyPr>
          <a:lstStyle/>
          <a:p>
            <a:pPr>
              <a:lnSpc>
                <a:spcPct val="124000"/>
              </a:lnSpc>
              <a:spcAft>
                <a:spcPts val="0"/>
              </a:spcAft>
            </a:pPr>
            <a:r>
              <a:rPr sz="1300" b="1">
                <a:solidFill>
                  <a:srgbClr val="17150F"/>
                </a:solidFill>
                <a:latin typeface="Arial"/>
              </a:rPr>
              <a:t>Las diferencias entre los seis modelos son de centésimas.</a:t>
            </a:r>
            <a:r>
              <a:rPr sz="1300" b="0">
                <a:solidFill>
                  <a:srgbClr val="555045"/>
                </a:solidFill>
                <a:latin typeface="Arial"/>
              </a:rPr>
              <a:t> La mejora sobre la media móvil es real pero modesta: el techo lo pone la información disponible, no el algoritmo.</a:t>
            </a:r>
          </a:p>
        </p:txBody>
      </p:sp>
      <p:sp>
        <p:nvSpPr>
          <p:cNvPr id="12" name="Rectangle 11"/>
          <p:cNvSpPr/>
          <p:nvPr/>
        </p:nvSpPr>
        <p:spPr>
          <a:xfrm>
            <a:off x="777240" y="6327648"/>
            <a:ext cx="10637215" cy="9525"/>
          </a:xfrm>
          <a:prstGeom prst="rect">
            <a:avLst/>
          </a:prstGeom>
          <a:solidFill>
            <a:srgbClr val="DCD8C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3" name="TextBox 12"/>
          <p:cNvSpPr txBox="1"/>
          <p:nvPr/>
        </p:nvSpPr>
        <p:spPr>
          <a:xfrm>
            <a:off x="777240" y="6428232"/>
            <a:ext cx="8686800" cy="274320"/>
          </a:xfrm>
          <a:prstGeom prst="rect">
            <a:avLst/>
          </a:prstGeom>
          <a:noFill/>
        </p:spPr>
        <p:txBody>
          <a:bodyPr wrap="square" lIns="0" tIns="0" rIns="0" bIns="0">
            <a:spAutoFit/>
          </a:bodyPr>
          <a:lstStyle/>
          <a:p>
            <a:pPr algn="l">
              <a:lnSpc>
                <a:spcPct val="122000"/>
              </a:lnSpc>
              <a:spcBef>
                <a:spcPts val="0"/>
              </a:spcBef>
              <a:spcAft>
                <a:spcPts val="0"/>
              </a:spcAft>
            </a:pPr>
            <a:r>
              <a:rPr sz="950" b="0">
                <a:solidFill>
                  <a:srgbClr val="8B8478"/>
                </a:solidFill>
                <a:latin typeface="Arial"/>
              </a:rPr>
              <a:t>Paso 10 · Selección de familia</a:t>
            </a:r>
          </a:p>
        </p:txBody>
      </p:sp>
      <p:sp>
        <p:nvSpPr>
          <p:cNvPr id="14" name="TextBox 13"/>
          <p:cNvSpPr txBox="1"/>
          <p:nvPr/>
        </p:nvSpPr>
        <p:spPr>
          <a:xfrm>
            <a:off x="10500055" y="6428232"/>
            <a:ext cx="914400" cy="274320"/>
          </a:xfrm>
          <a:prstGeom prst="rect">
            <a:avLst/>
          </a:prstGeom>
          <a:noFill/>
        </p:spPr>
        <p:txBody>
          <a:bodyPr wrap="square" lIns="0" tIns="0" rIns="0" bIns="0">
            <a:spAutoFit/>
          </a:bodyPr>
          <a:lstStyle/>
          <a:p>
            <a:pPr algn="r">
              <a:lnSpc>
                <a:spcPct val="122000"/>
              </a:lnSpc>
              <a:spcBef>
                <a:spcPts val="0"/>
              </a:spcBef>
              <a:spcAft>
                <a:spcPts val="0"/>
              </a:spcAft>
            </a:pPr>
            <a:r>
              <a:rPr sz="950" b="0">
                <a:solidFill>
                  <a:srgbClr val="8B8478"/>
                </a:solidFill>
                <a:latin typeface="Arial"/>
              </a:rPr>
              <a:t>26</a:t>
            </a:r>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1016949"/>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777240" y="475488"/>
            <a:ext cx="10637215" cy="237744"/>
          </a:xfrm>
          <a:prstGeom prst="rect">
            <a:avLst/>
          </a:prstGeom>
          <a:noFill/>
        </p:spPr>
        <p:txBody>
          <a:bodyPr wrap="square" lIns="0" tIns="0" rIns="0" bIns="0">
            <a:spAutoFit/>
          </a:bodyPr>
          <a:lstStyle/>
          <a:p>
            <a:pPr algn="l">
              <a:lnSpc>
                <a:spcPct val="122000"/>
              </a:lnSpc>
              <a:spcBef>
                <a:spcPts val="0"/>
              </a:spcBef>
              <a:spcAft>
                <a:spcPts val="0"/>
              </a:spcAft>
            </a:pPr>
            <a:r>
              <a:rPr sz="1050" b="1">
                <a:solidFill>
                  <a:srgbClr val="8C2F39"/>
                </a:solidFill>
                <a:latin typeface="Arial"/>
              </a:rPr>
              <a:t>PASO 10 · RESULTADO</a:t>
            </a:r>
          </a:p>
        </p:txBody>
      </p:sp>
      <p:sp>
        <p:nvSpPr>
          <p:cNvPr id="4" name="Rectangle 3"/>
          <p:cNvSpPr/>
          <p:nvPr/>
        </p:nvSpPr>
        <p:spPr>
          <a:xfrm>
            <a:off x="777240" y="768096"/>
            <a:ext cx="502920" cy="30480"/>
          </a:xfrm>
          <a:prstGeom prst="rect">
            <a:avLst/>
          </a:prstGeom>
          <a:solidFill>
            <a:srgbClr val="8C2F3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 name="TextBox 4"/>
          <p:cNvSpPr txBox="1"/>
          <p:nvPr/>
        </p:nvSpPr>
        <p:spPr>
          <a:xfrm>
            <a:off x="777240" y="914400"/>
            <a:ext cx="10637215" cy="445770"/>
          </a:xfrm>
          <a:prstGeom prst="rect">
            <a:avLst/>
          </a:prstGeom>
          <a:noFill/>
        </p:spPr>
        <p:txBody>
          <a:bodyPr wrap="square" lIns="0" tIns="0" rIns="0" bIns="0">
            <a:spAutoFit/>
          </a:bodyPr>
          <a:lstStyle/>
          <a:p>
            <a:pPr algn="l">
              <a:lnSpc>
                <a:spcPct val="106000"/>
              </a:lnSpc>
              <a:spcBef>
                <a:spcPts val="0"/>
              </a:spcBef>
              <a:spcAft>
                <a:spcPts val="0"/>
              </a:spcAft>
            </a:pPr>
            <a:r>
              <a:rPr sz="2700" b="1">
                <a:solidFill>
                  <a:srgbClr val="17150F"/>
                </a:solidFill>
                <a:latin typeface="Arial"/>
              </a:rPr>
              <a:t>Las diferencias entre los seis modelos son de centésimas</a:t>
            </a:r>
          </a:p>
        </p:txBody>
      </p:sp>
      <p:pic>
        <p:nvPicPr>
          <p:cNvPr id="6" name="Picture 5" descr="13_comparacion_familias.png"/>
          <p:cNvPicPr>
            <a:picLocks noChangeAspect="1"/>
          </p:cNvPicPr>
          <p:nvPr/>
        </p:nvPicPr>
        <p:blipFill>
          <a:blip r:embed="rId2"/>
          <a:stretch>
            <a:fillRect/>
          </a:stretch>
        </p:blipFill>
        <p:spPr>
          <a:xfrm>
            <a:off x="777240" y="1506474"/>
            <a:ext cx="5943600" cy="3040912"/>
          </a:xfrm>
          <a:prstGeom prst="rect">
            <a:avLst/>
          </a:prstGeom>
        </p:spPr>
      </p:pic>
      <p:sp>
        <p:nvSpPr>
          <p:cNvPr id="7" name="Rectangle 6"/>
          <p:cNvSpPr/>
          <p:nvPr/>
        </p:nvSpPr>
        <p:spPr>
          <a:xfrm>
            <a:off x="7040880" y="1652778"/>
            <a:ext cx="63500" cy="63500"/>
          </a:xfrm>
          <a:prstGeom prst="rect">
            <a:avLst/>
          </a:prstGeom>
          <a:solidFill>
            <a:srgbClr val="8C2F3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8" name="TextBox 7"/>
          <p:cNvSpPr txBox="1"/>
          <p:nvPr/>
        </p:nvSpPr>
        <p:spPr>
          <a:xfrm>
            <a:off x="7242048" y="1552194"/>
            <a:ext cx="4172407" cy="674751"/>
          </a:xfrm>
          <a:prstGeom prst="rect">
            <a:avLst/>
          </a:prstGeom>
          <a:noFill/>
        </p:spPr>
        <p:txBody>
          <a:bodyPr wrap="square" lIns="0" tIns="0" rIns="0" bIns="0">
            <a:spAutoFit/>
          </a:bodyPr>
          <a:lstStyle/>
          <a:p>
            <a:pPr>
              <a:lnSpc>
                <a:spcPct val="124000"/>
              </a:lnSpc>
              <a:spcAft>
                <a:spcPts val="0"/>
              </a:spcAft>
            </a:pPr>
            <a:r>
              <a:rPr sz="1250" b="1" dirty="0">
                <a:solidFill>
                  <a:srgbClr val="17150F"/>
                </a:solidFill>
                <a:latin typeface="Arial"/>
              </a:rPr>
              <a:t>En el </a:t>
            </a:r>
            <a:r>
              <a:rPr sz="1250" b="1" dirty="0" err="1">
                <a:solidFill>
                  <a:srgbClr val="17150F"/>
                </a:solidFill>
                <a:latin typeface="Arial"/>
              </a:rPr>
              <a:t>nivel</a:t>
            </a:r>
            <a:r>
              <a:rPr sz="1250" b="1" dirty="0">
                <a:solidFill>
                  <a:srgbClr val="17150F"/>
                </a:solidFill>
                <a:latin typeface="Arial"/>
              </a:rPr>
              <a:t> de </a:t>
            </a:r>
            <a:r>
              <a:rPr sz="1250" b="1" dirty="0" err="1">
                <a:solidFill>
                  <a:srgbClr val="17150F"/>
                </a:solidFill>
                <a:latin typeface="Arial"/>
              </a:rPr>
              <a:t>operación</a:t>
            </a:r>
            <a:r>
              <a:rPr sz="1250" b="1" dirty="0">
                <a:solidFill>
                  <a:srgbClr val="17150F"/>
                </a:solidFill>
                <a:latin typeface="Arial"/>
              </a:rPr>
              <a:t>, 0,65, el </a:t>
            </a:r>
            <a:r>
              <a:rPr sz="1250" b="1" dirty="0" err="1">
                <a:solidFill>
                  <a:srgbClr val="17150F"/>
                </a:solidFill>
                <a:latin typeface="Arial"/>
              </a:rPr>
              <a:t>mejor</a:t>
            </a:r>
            <a:r>
              <a:rPr sz="1250" b="1" dirty="0">
                <a:solidFill>
                  <a:srgbClr val="17150F"/>
                </a:solidFill>
                <a:latin typeface="Arial"/>
              </a:rPr>
              <a:t> y el sexto </a:t>
            </a:r>
            <a:r>
              <a:rPr sz="1250" b="1" dirty="0" err="1">
                <a:solidFill>
                  <a:srgbClr val="17150F"/>
                </a:solidFill>
                <a:latin typeface="Arial"/>
              </a:rPr>
              <a:t>están</a:t>
            </a:r>
            <a:r>
              <a:rPr sz="1250" b="1" dirty="0">
                <a:solidFill>
                  <a:srgbClr val="17150F"/>
                </a:solidFill>
                <a:latin typeface="Arial"/>
              </a:rPr>
              <a:t> a 0,07 de pinball.</a:t>
            </a:r>
            <a:r>
              <a:rPr sz="1250" b="0" dirty="0">
                <a:solidFill>
                  <a:srgbClr val="555045"/>
                </a:solidFill>
                <a:latin typeface="Arial"/>
              </a:rPr>
              <a:t> La media </a:t>
            </a:r>
            <a:r>
              <a:rPr sz="1250" b="0" dirty="0" err="1">
                <a:solidFill>
                  <a:srgbClr val="555045"/>
                </a:solidFill>
                <a:latin typeface="Arial"/>
              </a:rPr>
              <a:t>móvil</a:t>
            </a:r>
            <a:r>
              <a:rPr sz="1250" b="0" dirty="0">
                <a:solidFill>
                  <a:srgbClr val="555045"/>
                </a:solidFill>
                <a:latin typeface="Arial"/>
              </a:rPr>
              <a:t> </a:t>
            </a:r>
            <a:r>
              <a:rPr sz="1250" b="0" dirty="0" err="1">
                <a:solidFill>
                  <a:srgbClr val="555045"/>
                </a:solidFill>
                <a:latin typeface="Arial"/>
              </a:rPr>
              <a:t>queda</a:t>
            </a:r>
            <a:r>
              <a:rPr sz="1250" b="0" dirty="0">
                <a:solidFill>
                  <a:srgbClr val="555045"/>
                </a:solidFill>
                <a:latin typeface="Arial"/>
              </a:rPr>
              <a:t> a 0,22 del </a:t>
            </a:r>
            <a:r>
              <a:rPr sz="1250" b="0" dirty="0" err="1">
                <a:solidFill>
                  <a:srgbClr val="555045"/>
                </a:solidFill>
                <a:latin typeface="Arial"/>
              </a:rPr>
              <a:t>mejor</a:t>
            </a:r>
            <a:r>
              <a:rPr sz="1250" b="0" dirty="0">
                <a:solidFill>
                  <a:srgbClr val="555045"/>
                </a:solidFill>
                <a:latin typeface="Arial"/>
              </a:rPr>
              <a:t>.</a:t>
            </a:r>
          </a:p>
        </p:txBody>
      </p:sp>
      <p:sp>
        <p:nvSpPr>
          <p:cNvPr id="11" name="Rectangle 10"/>
          <p:cNvSpPr/>
          <p:nvPr/>
        </p:nvSpPr>
        <p:spPr>
          <a:xfrm>
            <a:off x="7040880" y="2454088"/>
            <a:ext cx="63500" cy="63500"/>
          </a:xfrm>
          <a:prstGeom prst="rect">
            <a:avLst/>
          </a:prstGeom>
          <a:solidFill>
            <a:srgbClr val="8C2F3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2" name="TextBox 11"/>
          <p:cNvSpPr txBox="1"/>
          <p:nvPr/>
        </p:nvSpPr>
        <p:spPr>
          <a:xfrm>
            <a:off x="7242048" y="2353504"/>
            <a:ext cx="4172407" cy="674751"/>
          </a:xfrm>
          <a:prstGeom prst="rect">
            <a:avLst/>
          </a:prstGeom>
          <a:noFill/>
        </p:spPr>
        <p:txBody>
          <a:bodyPr wrap="square" lIns="0" tIns="0" rIns="0" bIns="0">
            <a:spAutoFit/>
          </a:bodyPr>
          <a:lstStyle/>
          <a:p>
            <a:pPr>
              <a:lnSpc>
                <a:spcPct val="124000"/>
              </a:lnSpc>
              <a:spcAft>
                <a:spcPts val="0"/>
              </a:spcAft>
            </a:pPr>
            <a:r>
              <a:rPr sz="1250" b="1" dirty="0">
                <a:solidFill>
                  <a:srgbClr val="17150F"/>
                </a:solidFill>
                <a:latin typeface="Arial"/>
              </a:rPr>
              <a:t>Una </a:t>
            </a:r>
            <a:r>
              <a:rPr sz="1250" b="1" dirty="0" err="1">
                <a:solidFill>
                  <a:srgbClr val="17150F"/>
                </a:solidFill>
                <a:latin typeface="Arial"/>
              </a:rPr>
              <a:t>mejora</a:t>
            </a:r>
            <a:r>
              <a:rPr sz="1250" b="1" dirty="0">
                <a:solidFill>
                  <a:srgbClr val="17150F"/>
                </a:solidFill>
                <a:latin typeface="Arial"/>
              </a:rPr>
              <a:t> </a:t>
            </a:r>
            <a:r>
              <a:rPr sz="1250" b="1" dirty="0" err="1">
                <a:solidFill>
                  <a:srgbClr val="17150F"/>
                </a:solidFill>
                <a:latin typeface="Arial"/>
              </a:rPr>
              <a:t>muy</a:t>
            </a:r>
            <a:r>
              <a:rPr sz="1250" b="1" dirty="0">
                <a:solidFill>
                  <a:srgbClr val="17150F"/>
                </a:solidFill>
                <a:latin typeface="Arial"/>
              </a:rPr>
              <a:t> superior </a:t>
            </a:r>
            <a:r>
              <a:rPr sz="1250" b="1" dirty="0" err="1">
                <a:solidFill>
                  <a:srgbClr val="17150F"/>
                </a:solidFill>
                <a:latin typeface="Arial"/>
              </a:rPr>
              <a:t>habría</a:t>
            </a:r>
            <a:r>
              <a:rPr sz="1250" b="1" dirty="0">
                <a:solidFill>
                  <a:srgbClr val="17150F"/>
                </a:solidFill>
                <a:latin typeface="Arial"/>
              </a:rPr>
              <a:t> </a:t>
            </a:r>
            <a:r>
              <a:rPr sz="1250" b="1" dirty="0" err="1">
                <a:solidFill>
                  <a:srgbClr val="17150F"/>
                </a:solidFill>
                <a:latin typeface="Arial"/>
              </a:rPr>
              <a:t>sido</a:t>
            </a:r>
            <a:r>
              <a:rPr sz="1250" b="1" dirty="0">
                <a:solidFill>
                  <a:srgbClr val="17150F"/>
                </a:solidFill>
                <a:latin typeface="Arial"/>
              </a:rPr>
              <a:t> </a:t>
            </a:r>
            <a:r>
              <a:rPr sz="1250" b="1" dirty="0" err="1">
                <a:solidFill>
                  <a:srgbClr val="17150F"/>
                </a:solidFill>
                <a:latin typeface="Arial"/>
              </a:rPr>
              <a:t>sospechosa</a:t>
            </a:r>
            <a:r>
              <a:rPr sz="1250" b="1" dirty="0">
                <a:solidFill>
                  <a:srgbClr val="17150F"/>
                </a:solidFill>
                <a:latin typeface="Arial"/>
              </a:rPr>
              <a:t>.</a:t>
            </a:r>
            <a:r>
              <a:rPr sz="1250" b="0" dirty="0">
                <a:solidFill>
                  <a:srgbClr val="555045"/>
                </a:solidFill>
                <a:latin typeface="Arial"/>
              </a:rPr>
              <a:t> El </a:t>
            </a:r>
            <a:r>
              <a:rPr sz="1250" b="0" dirty="0" err="1">
                <a:solidFill>
                  <a:srgbClr val="555045"/>
                </a:solidFill>
                <a:latin typeface="Arial"/>
              </a:rPr>
              <a:t>univariado</a:t>
            </a:r>
            <a:r>
              <a:rPr sz="1250" b="0" dirty="0">
                <a:solidFill>
                  <a:srgbClr val="555045"/>
                </a:solidFill>
                <a:latin typeface="Arial"/>
              </a:rPr>
              <a:t> </a:t>
            </a:r>
            <a:r>
              <a:rPr sz="1250" b="0" dirty="0" err="1">
                <a:solidFill>
                  <a:srgbClr val="555045"/>
                </a:solidFill>
                <a:latin typeface="Arial"/>
              </a:rPr>
              <a:t>ya</a:t>
            </a:r>
            <a:r>
              <a:rPr sz="1250" b="0" dirty="0">
                <a:solidFill>
                  <a:srgbClr val="555045"/>
                </a:solidFill>
                <a:latin typeface="Arial"/>
              </a:rPr>
              <a:t> </a:t>
            </a:r>
            <a:r>
              <a:rPr sz="1250" b="0" dirty="0" err="1">
                <a:solidFill>
                  <a:srgbClr val="555045"/>
                </a:solidFill>
                <a:latin typeface="Arial"/>
              </a:rPr>
              <a:t>decía</a:t>
            </a:r>
            <a:r>
              <a:rPr sz="1250" b="0" dirty="0">
                <a:solidFill>
                  <a:srgbClr val="555045"/>
                </a:solidFill>
                <a:latin typeface="Arial"/>
              </a:rPr>
              <a:t> </a:t>
            </a:r>
            <a:r>
              <a:rPr sz="1250" b="0" dirty="0" err="1">
                <a:solidFill>
                  <a:srgbClr val="555045"/>
                </a:solidFill>
                <a:latin typeface="Arial"/>
              </a:rPr>
              <a:t>que</a:t>
            </a:r>
            <a:r>
              <a:rPr sz="1250" b="0" dirty="0">
                <a:solidFill>
                  <a:srgbClr val="555045"/>
                </a:solidFill>
                <a:latin typeface="Arial"/>
              </a:rPr>
              <a:t> solo un 3,6 % de la </a:t>
            </a:r>
            <a:r>
              <a:rPr sz="1250" b="0" dirty="0" err="1">
                <a:solidFill>
                  <a:srgbClr val="555045"/>
                </a:solidFill>
                <a:latin typeface="Arial"/>
              </a:rPr>
              <a:t>varianza</a:t>
            </a:r>
            <a:r>
              <a:rPr sz="1250" b="0" dirty="0">
                <a:solidFill>
                  <a:srgbClr val="555045"/>
                </a:solidFill>
                <a:latin typeface="Arial"/>
              </a:rPr>
              <a:t> es </a:t>
            </a:r>
            <a:r>
              <a:rPr sz="1250" b="0" dirty="0" err="1">
                <a:solidFill>
                  <a:srgbClr val="555045"/>
                </a:solidFill>
                <a:latin typeface="Arial"/>
              </a:rPr>
              <a:t>tendencia</a:t>
            </a:r>
            <a:r>
              <a:rPr sz="1250" b="0" dirty="0">
                <a:solidFill>
                  <a:srgbClr val="555045"/>
                </a:solidFill>
                <a:latin typeface="Arial"/>
              </a:rPr>
              <a:t> </a:t>
            </a:r>
            <a:r>
              <a:rPr sz="1250" b="0" dirty="0" err="1">
                <a:solidFill>
                  <a:srgbClr val="555045"/>
                </a:solidFill>
                <a:latin typeface="Arial"/>
              </a:rPr>
              <a:t>predecible</a:t>
            </a:r>
            <a:r>
              <a:rPr sz="1250" b="0" dirty="0">
                <a:solidFill>
                  <a:srgbClr val="555045"/>
                </a:solidFill>
                <a:latin typeface="Arial"/>
              </a:rPr>
              <a:t>.</a:t>
            </a:r>
          </a:p>
        </p:txBody>
      </p:sp>
      <p:sp>
        <p:nvSpPr>
          <p:cNvPr id="13" name="Rectangle 12"/>
          <p:cNvSpPr/>
          <p:nvPr/>
        </p:nvSpPr>
        <p:spPr>
          <a:xfrm>
            <a:off x="777240" y="6327648"/>
            <a:ext cx="10637215" cy="9525"/>
          </a:xfrm>
          <a:prstGeom prst="rect">
            <a:avLst/>
          </a:prstGeom>
          <a:solidFill>
            <a:srgbClr val="DCD8C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4" name="TextBox 13"/>
          <p:cNvSpPr txBox="1"/>
          <p:nvPr/>
        </p:nvSpPr>
        <p:spPr>
          <a:xfrm>
            <a:off x="777240" y="6428232"/>
            <a:ext cx="8686800" cy="274320"/>
          </a:xfrm>
          <a:prstGeom prst="rect">
            <a:avLst/>
          </a:prstGeom>
          <a:noFill/>
        </p:spPr>
        <p:txBody>
          <a:bodyPr wrap="square" lIns="0" tIns="0" rIns="0" bIns="0">
            <a:spAutoFit/>
          </a:bodyPr>
          <a:lstStyle/>
          <a:p>
            <a:pPr algn="l">
              <a:lnSpc>
                <a:spcPct val="122000"/>
              </a:lnSpc>
              <a:spcBef>
                <a:spcPts val="0"/>
              </a:spcBef>
              <a:spcAft>
                <a:spcPts val="0"/>
              </a:spcAft>
            </a:pPr>
            <a:r>
              <a:rPr sz="950" b="0">
                <a:solidFill>
                  <a:srgbClr val="8B8478"/>
                </a:solidFill>
                <a:latin typeface="Arial"/>
              </a:rPr>
              <a:t>Paso 10 · Selección de familia</a:t>
            </a:r>
          </a:p>
        </p:txBody>
      </p:sp>
      <p:sp>
        <p:nvSpPr>
          <p:cNvPr id="15" name="TextBox 14"/>
          <p:cNvSpPr txBox="1"/>
          <p:nvPr/>
        </p:nvSpPr>
        <p:spPr>
          <a:xfrm>
            <a:off x="10500055" y="6428232"/>
            <a:ext cx="914400" cy="274320"/>
          </a:xfrm>
          <a:prstGeom prst="rect">
            <a:avLst/>
          </a:prstGeom>
          <a:noFill/>
        </p:spPr>
        <p:txBody>
          <a:bodyPr wrap="square" lIns="0" tIns="0" rIns="0" bIns="0">
            <a:spAutoFit/>
          </a:bodyPr>
          <a:lstStyle/>
          <a:p>
            <a:pPr algn="r">
              <a:lnSpc>
                <a:spcPct val="122000"/>
              </a:lnSpc>
              <a:spcBef>
                <a:spcPts val="0"/>
              </a:spcBef>
              <a:spcAft>
                <a:spcPts val="0"/>
              </a:spcAft>
            </a:pPr>
            <a:r>
              <a:rPr sz="950" b="0">
                <a:solidFill>
                  <a:srgbClr val="8B8478"/>
                </a:solidFill>
                <a:latin typeface="Arial"/>
              </a:rPr>
              <a:t>27</a:t>
            </a:r>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777240" y="475488"/>
            <a:ext cx="10637215" cy="237744"/>
          </a:xfrm>
          <a:prstGeom prst="rect">
            <a:avLst/>
          </a:prstGeom>
          <a:noFill/>
        </p:spPr>
        <p:txBody>
          <a:bodyPr wrap="square" lIns="0" tIns="0" rIns="0" bIns="0">
            <a:spAutoFit/>
          </a:bodyPr>
          <a:lstStyle/>
          <a:p>
            <a:pPr algn="l">
              <a:lnSpc>
                <a:spcPct val="122000"/>
              </a:lnSpc>
              <a:spcBef>
                <a:spcPts val="0"/>
              </a:spcBef>
              <a:spcAft>
                <a:spcPts val="0"/>
              </a:spcAft>
            </a:pPr>
            <a:r>
              <a:rPr sz="1050" b="1">
                <a:solidFill>
                  <a:srgbClr val="8C2F39"/>
                </a:solidFill>
                <a:latin typeface="Arial"/>
              </a:rPr>
              <a:t>PASO 10 · SELECCIÓN</a:t>
            </a:r>
          </a:p>
        </p:txBody>
      </p:sp>
      <p:sp>
        <p:nvSpPr>
          <p:cNvPr id="4" name="Rectangle 3"/>
          <p:cNvSpPr/>
          <p:nvPr/>
        </p:nvSpPr>
        <p:spPr>
          <a:xfrm>
            <a:off x="777240" y="768096"/>
            <a:ext cx="502920" cy="30480"/>
          </a:xfrm>
          <a:prstGeom prst="rect">
            <a:avLst/>
          </a:prstGeom>
          <a:solidFill>
            <a:srgbClr val="8C2F3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 name="TextBox 4"/>
          <p:cNvSpPr txBox="1"/>
          <p:nvPr/>
        </p:nvSpPr>
        <p:spPr>
          <a:xfrm>
            <a:off x="777240" y="914400"/>
            <a:ext cx="10637215" cy="445770"/>
          </a:xfrm>
          <a:prstGeom prst="rect">
            <a:avLst/>
          </a:prstGeom>
          <a:noFill/>
        </p:spPr>
        <p:txBody>
          <a:bodyPr wrap="square" lIns="0" tIns="0" rIns="0" bIns="0">
            <a:spAutoFit/>
          </a:bodyPr>
          <a:lstStyle/>
          <a:p>
            <a:pPr algn="l">
              <a:lnSpc>
                <a:spcPct val="106000"/>
              </a:lnSpc>
              <a:spcBef>
                <a:spcPts val="0"/>
              </a:spcBef>
              <a:spcAft>
                <a:spcPts val="0"/>
              </a:spcAft>
            </a:pPr>
            <a:r>
              <a:rPr sz="2700" b="1">
                <a:solidFill>
                  <a:srgbClr val="17150F"/>
                </a:solidFill>
                <a:latin typeface="Arial"/>
              </a:rPr>
              <a:t>Qué diferencias son reales y cuáles son ruido</a:t>
            </a:r>
          </a:p>
        </p:txBody>
      </p:sp>
      <p:pic>
        <p:nvPicPr>
          <p:cNvPr id="6" name="Picture 5" descr="14_significacion.png"/>
          <p:cNvPicPr>
            <a:picLocks noChangeAspect="1"/>
          </p:cNvPicPr>
          <p:nvPr/>
        </p:nvPicPr>
        <p:blipFill>
          <a:blip r:embed="rId2"/>
          <a:stretch>
            <a:fillRect/>
          </a:stretch>
        </p:blipFill>
        <p:spPr>
          <a:xfrm>
            <a:off x="777240" y="1506474"/>
            <a:ext cx="5852160" cy="2854712"/>
          </a:xfrm>
          <a:prstGeom prst="rect">
            <a:avLst/>
          </a:prstGeom>
        </p:spPr>
      </p:pic>
      <p:sp>
        <p:nvSpPr>
          <p:cNvPr id="7" name="TextBox 6"/>
          <p:cNvSpPr txBox="1"/>
          <p:nvPr/>
        </p:nvSpPr>
        <p:spPr>
          <a:xfrm>
            <a:off x="6949440" y="1689354"/>
            <a:ext cx="4465015" cy="3840480"/>
          </a:xfrm>
          <a:prstGeom prst="rect">
            <a:avLst/>
          </a:prstGeom>
          <a:noFill/>
        </p:spPr>
        <p:txBody>
          <a:bodyPr wrap="square" lIns="0" tIns="0" rIns="0" bIns="0">
            <a:spAutoFit/>
          </a:bodyPr>
          <a:lstStyle/>
          <a:p>
            <a:pPr algn="l">
              <a:lnSpc>
                <a:spcPct val="130000"/>
              </a:lnSpc>
              <a:spcBef>
                <a:spcPts val="0"/>
              </a:spcBef>
              <a:spcAft>
                <a:spcPts val="1400"/>
              </a:spcAft>
            </a:pPr>
            <a:r>
              <a:rPr sz="1350" b="0">
                <a:solidFill>
                  <a:srgbClr val="555045"/>
                </a:solidFill>
                <a:latin typeface="Arial"/>
              </a:rPr>
              <a:t>Contraste de Diebold-Mariano contra el mejor, en el nivel de operación.</a:t>
            </a:r>
          </a:p>
          <a:p>
            <a:pPr algn="l">
              <a:lnSpc>
                <a:spcPct val="130000"/>
              </a:lnSpc>
              <a:spcBef>
                <a:spcPts val="0"/>
              </a:spcBef>
              <a:spcAft>
                <a:spcPts val="600"/>
              </a:spcAft>
            </a:pPr>
            <a:r>
              <a:rPr sz="1400" b="1">
                <a:solidFill>
                  <a:srgbClr val="8C2F39"/>
                </a:solidFill>
                <a:latin typeface="Arial"/>
              </a:rPr>
              <a:t>Los seis modelos: empate técnico</a:t>
            </a:r>
          </a:p>
          <a:p>
            <a:pPr algn="l">
              <a:lnSpc>
                <a:spcPct val="130000"/>
              </a:lnSpc>
              <a:spcBef>
                <a:spcPts val="0"/>
              </a:spcBef>
              <a:spcAft>
                <a:spcPts val="1400"/>
              </a:spcAft>
            </a:pPr>
            <a:r>
              <a:rPr sz="1300" b="0">
                <a:solidFill>
                  <a:srgbClr val="555045"/>
                </a:solidFill>
                <a:latin typeface="Arial"/>
              </a:rPr>
              <a:t>p entre 0,12 y 0,58. No se puede afirmar que ninguno sea mejor que otro.</a:t>
            </a:r>
          </a:p>
          <a:p>
            <a:pPr algn="l">
              <a:lnSpc>
                <a:spcPct val="130000"/>
              </a:lnSpc>
              <a:spcBef>
                <a:spcPts val="0"/>
              </a:spcBef>
              <a:spcAft>
                <a:spcPts val="600"/>
              </a:spcAft>
            </a:pPr>
            <a:r>
              <a:rPr sz="1400" b="1">
                <a:solidFill>
                  <a:srgbClr val="8C2F39"/>
                </a:solidFill>
                <a:latin typeface="Arial"/>
              </a:rPr>
              <a:t>La media móvil: pierde con evidencia</a:t>
            </a:r>
          </a:p>
          <a:p>
            <a:pPr algn="l">
              <a:lnSpc>
                <a:spcPct val="130000"/>
              </a:lnSpc>
              <a:spcBef>
                <a:spcPts val="0"/>
              </a:spcBef>
              <a:spcAft>
                <a:spcPts val="1400"/>
              </a:spcAft>
            </a:pPr>
            <a:r>
              <a:rPr sz="1300" b="0">
                <a:solidFill>
                  <a:srgbClr val="555045"/>
                </a:solidFill>
                <a:latin typeface="Arial"/>
              </a:rPr>
              <a:t>p = 0,008. Que los modelos superan a la línea base sí está demostrado.</a:t>
            </a:r>
          </a:p>
          <a:p>
            <a:pPr algn="l">
              <a:lnSpc>
                <a:spcPct val="130000"/>
              </a:lnSpc>
              <a:spcBef>
                <a:spcPts val="0"/>
              </a:spcBef>
              <a:spcAft>
                <a:spcPts val="0"/>
              </a:spcAft>
            </a:pPr>
            <a:r>
              <a:rPr sz="1300" b="1">
                <a:solidFill>
                  <a:srgbClr val="17150F"/>
                </a:solidFill>
                <a:latin typeface="Arial"/>
              </a:rPr>
              <a:t>Las bandas al 95 % se solapan entre todas las familias: no hay un ganador estadístico dentro de los seis modelos. La elección tendrá que decidirse por otros criterios.</a:t>
            </a:r>
          </a:p>
        </p:txBody>
      </p:sp>
      <p:sp>
        <p:nvSpPr>
          <p:cNvPr id="8" name="Rectangle 7"/>
          <p:cNvSpPr/>
          <p:nvPr/>
        </p:nvSpPr>
        <p:spPr>
          <a:xfrm>
            <a:off x="777240" y="6327648"/>
            <a:ext cx="10637215" cy="9525"/>
          </a:xfrm>
          <a:prstGeom prst="rect">
            <a:avLst/>
          </a:prstGeom>
          <a:solidFill>
            <a:srgbClr val="DCD8C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9" name="TextBox 8"/>
          <p:cNvSpPr txBox="1"/>
          <p:nvPr/>
        </p:nvSpPr>
        <p:spPr>
          <a:xfrm>
            <a:off x="777240" y="6428232"/>
            <a:ext cx="8686800" cy="274320"/>
          </a:xfrm>
          <a:prstGeom prst="rect">
            <a:avLst/>
          </a:prstGeom>
          <a:noFill/>
        </p:spPr>
        <p:txBody>
          <a:bodyPr wrap="square" lIns="0" tIns="0" rIns="0" bIns="0">
            <a:spAutoFit/>
          </a:bodyPr>
          <a:lstStyle/>
          <a:p>
            <a:pPr algn="l">
              <a:lnSpc>
                <a:spcPct val="122000"/>
              </a:lnSpc>
              <a:spcBef>
                <a:spcPts val="0"/>
              </a:spcBef>
              <a:spcAft>
                <a:spcPts val="0"/>
              </a:spcAft>
            </a:pPr>
            <a:r>
              <a:rPr sz="950" b="0">
                <a:solidFill>
                  <a:srgbClr val="8B8478"/>
                </a:solidFill>
                <a:latin typeface="Arial"/>
              </a:rPr>
              <a:t>Paso 10 · Selección de familia</a:t>
            </a:r>
          </a:p>
        </p:txBody>
      </p:sp>
      <p:sp>
        <p:nvSpPr>
          <p:cNvPr id="10" name="TextBox 9"/>
          <p:cNvSpPr txBox="1"/>
          <p:nvPr/>
        </p:nvSpPr>
        <p:spPr>
          <a:xfrm>
            <a:off x="10500055" y="6428232"/>
            <a:ext cx="914400" cy="274320"/>
          </a:xfrm>
          <a:prstGeom prst="rect">
            <a:avLst/>
          </a:prstGeom>
          <a:noFill/>
        </p:spPr>
        <p:txBody>
          <a:bodyPr wrap="square" lIns="0" tIns="0" rIns="0" bIns="0">
            <a:spAutoFit/>
          </a:bodyPr>
          <a:lstStyle/>
          <a:p>
            <a:pPr algn="r">
              <a:lnSpc>
                <a:spcPct val="122000"/>
              </a:lnSpc>
              <a:spcBef>
                <a:spcPts val="0"/>
              </a:spcBef>
              <a:spcAft>
                <a:spcPts val="0"/>
              </a:spcAft>
            </a:pPr>
            <a:r>
              <a:rPr sz="950" b="0">
                <a:solidFill>
                  <a:srgbClr val="8B8478"/>
                </a:solidFill>
                <a:latin typeface="Arial"/>
              </a:rPr>
              <a:t>28</a:t>
            </a:r>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777240" y="475488"/>
            <a:ext cx="10637215" cy="237744"/>
          </a:xfrm>
          <a:prstGeom prst="rect">
            <a:avLst/>
          </a:prstGeom>
          <a:noFill/>
        </p:spPr>
        <p:txBody>
          <a:bodyPr wrap="square" lIns="0" tIns="0" rIns="0" bIns="0">
            <a:spAutoFit/>
          </a:bodyPr>
          <a:lstStyle/>
          <a:p>
            <a:pPr algn="l">
              <a:lnSpc>
                <a:spcPct val="122000"/>
              </a:lnSpc>
              <a:spcBef>
                <a:spcPts val="0"/>
              </a:spcBef>
              <a:spcAft>
                <a:spcPts val="0"/>
              </a:spcAft>
            </a:pPr>
            <a:r>
              <a:rPr sz="1050" b="1">
                <a:solidFill>
                  <a:srgbClr val="8C2F39"/>
                </a:solidFill>
                <a:latin typeface="Arial"/>
              </a:rPr>
              <a:t>PASO 10 · SELECCIÓN</a:t>
            </a:r>
          </a:p>
        </p:txBody>
      </p:sp>
      <p:sp>
        <p:nvSpPr>
          <p:cNvPr id="4" name="Rectangle 3"/>
          <p:cNvSpPr/>
          <p:nvPr/>
        </p:nvSpPr>
        <p:spPr>
          <a:xfrm>
            <a:off x="777240" y="768096"/>
            <a:ext cx="502920" cy="30480"/>
          </a:xfrm>
          <a:prstGeom prst="rect">
            <a:avLst/>
          </a:prstGeom>
          <a:solidFill>
            <a:srgbClr val="8C2F3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 name="TextBox 4"/>
          <p:cNvSpPr txBox="1"/>
          <p:nvPr/>
        </p:nvSpPr>
        <p:spPr>
          <a:xfrm>
            <a:off x="777240" y="914400"/>
            <a:ext cx="10637215" cy="445770"/>
          </a:xfrm>
          <a:prstGeom prst="rect">
            <a:avLst/>
          </a:prstGeom>
          <a:noFill/>
        </p:spPr>
        <p:txBody>
          <a:bodyPr wrap="square" lIns="0" tIns="0" rIns="0" bIns="0">
            <a:spAutoFit/>
          </a:bodyPr>
          <a:lstStyle/>
          <a:p>
            <a:pPr algn="l">
              <a:lnSpc>
                <a:spcPct val="106000"/>
              </a:lnSpc>
              <a:spcBef>
                <a:spcPts val="0"/>
              </a:spcBef>
              <a:spcAft>
                <a:spcPts val="0"/>
              </a:spcAft>
            </a:pPr>
            <a:r>
              <a:rPr sz="2700" b="1">
                <a:solidFill>
                  <a:srgbClr val="17150F"/>
                </a:solidFill>
                <a:latin typeface="Arial"/>
              </a:rPr>
              <a:t>El colchón decide entre los que empatan</a:t>
            </a:r>
          </a:p>
        </p:txBody>
      </p:sp>
      <p:pic>
        <p:nvPicPr>
          <p:cNvPr id="6" name="Picture 5" descr="15_colchon_por_serie.png"/>
          <p:cNvPicPr>
            <a:picLocks noChangeAspect="1"/>
          </p:cNvPicPr>
          <p:nvPr/>
        </p:nvPicPr>
        <p:blipFill>
          <a:blip r:embed="rId2"/>
          <a:stretch>
            <a:fillRect/>
          </a:stretch>
        </p:blipFill>
        <p:spPr>
          <a:xfrm>
            <a:off x="777240" y="1506474"/>
            <a:ext cx="5852160" cy="3065417"/>
          </a:xfrm>
          <a:prstGeom prst="rect">
            <a:avLst/>
          </a:prstGeom>
        </p:spPr>
      </p:pic>
      <p:sp>
        <p:nvSpPr>
          <p:cNvPr id="7" name="Rectangle 6"/>
          <p:cNvSpPr/>
          <p:nvPr/>
        </p:nvSpPr>
        <p:spPr>
          <a:xfrm>
            <a:off x="6949440" y="1652778"/>
            <a:ext cx="63500" cy="63500"/>
          </a:xfrm>
          <a:prstGeom prst="rect">
            <a:avLst/>
          </a:prstGeom>
          <a:solidFill>
            <a:srgbClr val="8C2F3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8" name="TextBox 7"/>
          <p:cNvSpPr txBox="1"/>
          <p:nvPr/>
        </p:nvSpPr>
        <p:spPr>
          <a:xfrm>
            <a:off x="7150608" y="1552194"/>
            <a:ext cx="4263847" cy="674751"/>
          </a:xfrm>
          <a:prstGeom prst="rect">
            <a:avLst/>
          </a:prstGeom>
          <a:noFill/>
        </p:spPr>
        <p:txBody>
          <a:bodyPr wrap="square" lIns="0" tIns="0" rIns="0" bIns="0">
            <a:spAutoFit/>
          </a:bodyPr>
          <a:lstStyle/>
          <a:p>
            <a:pPr>
              <a:lnSpc>
                <a:spcPct val="124000"/>
              </a:lnSpc>
              <a:spcAft>
                <a:spcPts val="0"/>
              </a:spcAft>
            </a:pPr>
            <a:r>
              <a:rPr sz="1250" b="1">
                <a:solidFill>
                  <a:srgbClr val="17150F"/>
                </a:solidFill>
                <a:latin typeface="Arial"/>
              </a:rPr>
              <a:t>El colchón es la distancia entre el nivel 0,90 y el 0,50</a:t>
            </a:r>
            <a:r>
              <a:rPr sz="1250" b="0">
                <a:solidFill>
                  <a:srgbClr val="555045"/>
                </a:solidFill>
                <a:latin typeface="Arial"/>
              </a:rPr>
              <a:t> de cada serie. Cada punto es una de las 480 decisiones de prueba.</a:t>
            </a:r>
          </a:p>
        </p:txBody>
      </p:sp>
      <p:sp>
        <p:nvSpPr>
          <p:cNvPr id="9" name="Rectangle 8"/>
          <p:cNvSpPr/>
          <p:nvPr/>
        </p:nvSpPr>
        <p:spPr>
          <a:xfrm>
            <a:off x="6949440" y="2455545"/>
            <a:ext cx="63500" cy="63500"/>
          </a:xfrm>
          <a:prstGeom prst="rect">
            <a:avLst/>
          </a:prstGeom>
          <a:solidFill>
            <a:srgbClr val="8C2F3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0" name="TextBox 9"/>
          <p:cNvSpPr txBox="1"/>
          <p:nvPr/>
        </p:nvSpPr>
        <p:spPr>
          <a:xfrm>
            <a:off x="7150608" y="2354961"/>
            <a:ext cx="4263847" cy="674751"/>
          </a:xfrm>
          <a:prstGeom prst="rect">
            <a:avLst/>
          </a:prstGeom>
          <a:noFill/>
        </p:spPr>
        <p:txBody>
          <a:bodyPr wrap="square" lIns="0" tIns="0" rIns="0" bIns="0">
            <a:spAutoFit/>
          </a:bodyPr>
          <a:lstStyle/>
          <a:p>
            <a:pPr>
              <a:lnSpc>
                <a:spcPct val="124000"/>
              </a:lnSpc>
              <a:spcAft>
                <a:spcPts val="0"/>
              </a:spcAft>
            </a:pPr>
            <a:r>
              <a:rPr sz="1250" b="1">
                <a:solidFill>
                  <a:srgbClr val="17150F"/>
                </a:solidFill>
                <a:latin typeface="Arial"/>
              </a:rPr>
              <a:t>La media móvil aplica el mismo colchón a las 160 series</a:t>
            </a:r>
            <a:r>
              <a:rPr sz="1250" b="0">
                <a:solidFill>
                  <a:srgbClr val="555045"/>
                </a:solidFill>
                <a:latin typeface="Arial"/>
              </a:rPr>
              <a:t>, a la más estable y a la más volátil: su nube es una línea. Por eso no sirve para operar.</a:t>
            </a:r>
          </a:p>
        </p:txBody>
      </p:sp>
      <p:sp>
        <p:nvSpPr>
          <p:cNvPr id="11" name="Rectangle 10"/>
          <p:cNvSpPr/>
          <p:nvPr/>
        </p:nvSpPr>
        <p:spPr>
          <a:xfrm>
            <a:off x="6949440" y="3258312"/>
            <a:ext cx="63500" cy="63500"/>
          </a:xfrm>
          <a:prstGeom prst="rect">
            <a:avLst/>
          </a:prstGeom>
          <a:solidFill>
            <a:srgbClr val="8C2F3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2" name="TextBox 11"/>
          <p:cNvSpPr txBox="1"/>
          <p:nvPr/>
        </p:nvSpPr>
        <p:spPr>
          <a:xfrm>
            <a:off x="7150608" y="3157728"/>
            <a:ext cx="4263847" cy="1100201"/>
          </a:xfrm>
          <a:prstGeom prst="rect">
            <a:avLst/>
          </a:prstGeom>
          <a:noFill/>
        </p:spPr>
        <p:txBody>
          <a:bodyPr wrap="square" lIns="0" tIns="0" rIns="0" bIns="0">
            <a:spAutoFit/>
          </a:bodyPr>
          <a:lstStyle/>
          <a:p>
            <a:pPr>
              <a:lnSpc>
                <a:spcPct val="124000"/>
              </a:lnSpc>
              <a:spcAft>
                <a:spcPts val="0"/>
              </a:spcAft>
            </a:pPr>
            <a:r>
              <a:rPr sz="1250" b="1">
                <a:solidFill>
                  <a:srgbClr val="17150F"/>
                </a:solidFill>
                <a:latin typeface="Arial"/>
              </a:rPr>
              <a:t>Los seis modelos lo gradúan serie a serie.</a:t>
            </a:r>
            <a:r>
              <a:rPr sz="1250" b="0">
                <a:solidFill>
                  <a:srgbClr val="555045"/>
                </a:solidFill>
                <a:latin typeface="Arial"/>
              </a:rPr>
              <a:t> Entre ellos, la regresión cuantílica tiene el colchón más estable: desviación de 6,6 unidades y mínimo de 5,4, frente a mínimos de 2,8 en otras familias que en series pequeñas dejan un margen demasiado ajustado.</a:t>
            </a:r>
          </a:p>
        </p:txBody>
      </p:sp>
      <p:sp>
        <p:nvSpPr>
          <p:cNvPr id="13" name="Rectangle 12"/>
          <p:cNvSpPr/>
          <p:nvPr/>
        </p:nvSpPr>
        <p:spPr>
          <a:xfrm>
            <a:off x="777240" y="6327648"/>
            <a:ext cx="10637215" cy="9525"/>
          </a:xfrm>
          <a:prstGeom prst="rect">
            <a:avLst/>
          </a:prstGeom>
          <a:solidFill>
            <a:srgbClr val="DCD8C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4" name="TextBox 13"/>
          <p:cNvSpPr txBox="1"/>
          <p:nvPr/>
        </p:nvSpPr>
        <p:spPr>
          <a:xfrm>
            <a:off x="777240" y="6428232"/>
            <a:ext cx="8686800" cy="274320"/>
          </a:xfrm>
          <a:prstGeom prst="rect">
            <a:avLst/>
          </a:prstGeom>
          <a:noFill/>
        </p:spPr>
        <p:txBody>
          <a:bodyPr wrap="square" lIns="0" tIns="0" rIns="0" bIns="0">
            <a:spAutoFit/>
          </a:bodyPr>
          <a:lstStyle/>
          <a:p>
            <a:pPr algn="l">
              <a:lnSpc>
                <a:spcPct val="122000"/>
              </a:lnSpc>
              <a:spcBef>
                <a:spcPts val="0"/>
              </a:spcBef>
              <a:spcAft>
                <a:spcPts val="0"/>
              </a:spcAft>
            </a:pPr>
            <a:r>
              <a:rPr sz="950" b="0">
                <a:solidFill>
                  <a:srgbClr val="8B8478"/>
                </a:solidFill>
                <a:latin typeface="Arial"/>
              </a:rPr>
              <a:t>Paso 10 · Selección de familia</a:t>
            </a:r>
          </a:p>
        </p:txBody>
      </p:sp>
      <p:sp>
        <p:nvSpPr>
          <p:cNvPr id="15" name="TextBox 14"/>
          <p:cNvSpPr txBox="1"/>
          <p:nvPr/>
        </p:nvSpPr>
        <p:spPr>
          <a:xfrm>
            <a:off x="10500055" y="6428232"/>
            <a:ext cx="914400" cy="274320"/>
          </a:xfrm>
          <a:prstGeom prst="rect">
            <a:avLst/>
          </a:prstGeom>
          <a:noFill/>
        </p:spPr>
        <p:txBody>
          <a:bodyPr wrap="square" lIns="0" tIns="0" rIns="0" bIns="0">
            <a:spAutoFit/>
          </a:bodyPr>
          <a:lstStyle/>
          <a:p>
            <a:pPr algn="r">
              <a:lnSpc>
                <a:spcPct val="122000"/>
              </a:lnSpc>
              <a:spcBef>
                <a:spcPts val="0"/>
              </a:spcBef>
              <a:spcAft>
                <a:spcPts val="0"/>
              </a:spcAft>
            </a:pPr>
            <a:r>
              <a:rPr sz="950" b="0">
                <a:solidFill>
                  <a:srgbClr val="8B8478"/>
                </a:solidFill>
                <a:latin typeface="Arial"/>
              </a:rPr>
              <a:t>29</a:t>
            </a:r>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777240" y="475488"/>
            <a:ext cx="10637215" cy="237744"/>
          </a:xfrm>
          <a:prstGeom prst="rect">
            <a:avLst/>
          </a:prstGeom>
          <a:noFill/>
        </p:spPr>
        <p:txBody>
          <a:bodyPr wrap="square" lIns="0" tIns="0" rIns="0" bIns="0">
            <a:spAutoFit/>
          </a:bodyPr>
          <a:lstStyle/>
          <a:p>
            <a:pPr algn="l">
              <a:lnSpc>
                <a:spcPct val="122000"/>
              </a:lnSpc>
              <a:spcBef>
                <a:spcPts val="0"/>
              </a:spcBef>
              <a:spcAft>
                <a:spcPts val="0"/>
              </a:spcAft>
            </a:pPr>
            <a:r>
              <a:rPr sz="1050" b="1">
                <a:solidFill>
                  <a:srgbClr val="8C2F39"/>
                </a:solidFill>
                <a:latin typeface="Arial"/>
              </a:rPr>
              <a:t>PASO 10 · SELECCIÓN</a:t>
            </a:r>
          </a:p>
        </p:txBody>
      </p:sp>
      <p:sp>
        <p:nvSpPr>
          <p:cNvPr id="4" name="Rectangle 3"/>
          <p:cNvSpPr/>
          <p:nvPr/>
        </p:nvSpPr>
        <p:spPr>
          <a:xfrm>
            <a:off x="777240" y="768096"/>
            <a:ext cx="502920" cy="30480"/>
          </a:xfrm>
          <a:prstGeom prst="rect">
            <a:avLst/>
          </a:prstGeom>
          <a:solidFill>
            <a:srgbClr val="8C2F3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 name="TextBox 4"/>
          <p:cNvSpPr txBox="1"/>
          <p:nvPr/>
        </p:nvSpPr>
        <p:spPr>
          <a:xfrm>
            <a:off x="777240" y="914400"/>
            <a:ext cx="10637215" cy="445770"/>
          </a:xfrm>
          <a:prstGeom prst="rect">
            <a:avLst/>
          </a:prstGeom>
          <a:noFill/>
        </p:spPr>
        <p:txBody>
          <a:bodyPr wrap="square" lIns="0" tIns="0" rIns="0" bIns="0">
            <a:spAutoFit/>
          </a:bodyPr>
          <a:lstStyle/>
          <a:p>
            <a:pPr algn="l">
              <a:lnSpc>
                <a:spcPct val="106000"/>
              </a:lnSpc>
              <a:spcBef>
                <a:spcPts val="0"/>
              </a:spcBef>
              <a:spcAft>
                <a:spcPts val="0"/>
              </a:spcAft>
            </a:pPr>
            <a:r>
              <a:rPr sz="2700" b="1">
                <a:solidFill>
                  <a:srgbClr val="17150F"/>
                </a:solidFill>
                <a:latin typeface="Arial"/>
              </a:rPr>
              <a:t>Ante un empate de seis, se elige por interpretabilidad</a:t>
            </a:r>
          </a:p>
        </p:txBody>
      </p:sp>
      <p:sp>
        <p:nvSpPr>
          <p:cNvPr id="6" name="TextBox 5"/>
          <p:cNvSpPr txBox="1"/>
          <p:nvPr/>
        </p:nvSpPr>
        <p:spPr>
          <a:xfrm>
            <a:off x="777240" y="1506474"/>
            <a:ext cx="9966960" cy="530098"/>
          </a:xfrm>
          <a:prstGeom prst="rect">
            <a:avLst/>
          </a:prstGeom>
          <a:noFill/>
        </p:spPr>
        <p:txBody>
          <a:bodyPr wrap="square" lIns="0" tIns="0" rIns="0" bIns="0">
            <a:spAutoFit/>
          </a:bodyPr>
          <a:lstStyle/>
          <a:p>
            <a:pPr algn="l">
              <a:lnSpc>
                <a:spcPct val="130000"/>
              </a:lnSpc>
              <a:spcBef>
                <a:spcPts val="0"/>
              </a:spcBef>
              <a:spcAft>
                <a:spcPts val="0"/>
              </a:spcAft>
            </a:pPr>
            <a:r>
              <a:rPr sz="1450" b="0">
                <a:solidFill>
                  <a:srgbClr val="555045"/>
                </a:solidFill>
                <a:latin typeface="Arial"/>
              </a:rPr>
              <a:t>Cuando las diferencias no se distinguen del ruido, elegir por lo que se puede explicar es la decisión correcta, y hay que decirlo así.</a:t>
            </a:r>
          </a:p>
        </p:txBody>
      </p:sp>
      <p:sp>
        <p:nvSpPr>
          <p:cNvPr id="7" name="Rectangle 6"/>
          <p:cNvSpPr/>
          <p:nvPr/>
        </p:nvSpPr>
        <p:spPr>
          <a:xfrm>
            <a:off x="777240" y="2338324"/>
            <a:ext cx="63500" cy="63500"/>
          </a:xfrm>
          <a:prstGeom prst="rect">
            <a:avLst/>
          </a:prstGeom>
          <a:solidFill>
            <a:srgbClr val="8C2F3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8" name="TextBox 7"/>
          <p:cNvSpPr txBox="1"/>
          <p:nvPr/>
        </p:nvSpPr>
        <p:spPr>
          <a:xfrm>
            <a:off x="978408" y="2237740"/>
            <a:ext cx="10436047" cy="776859"/>
          </a:xfrm>
          <a:prstGeom prst="rect">
            <a:avLst/>
          </a:prstGeom>
          <a:noFill/>
        </p:spPr>
        <p:txBody>
          <a:bodyPr wrap="square" lIns="0" tIns="0" rIns="0" bIns="0">
            <a:spAutoFit/>
          </a:bodyPr>
          <a:lstStyle/>
          <a:p>
            <a:pPr>
              <a:lnSpc>
                <a:spcPct val="124000"/>
              </a:lnSpc>
              <a:spcAft>
                <a:spcPts val="0"/>
              </a:spcAft>
            </a:pPr>
            <a:r>
              <a:rPr sz="1450" b="1">
                <a:solidFill>
                  <a:srgbClr val="17150F"/>
                </a:solidFill>
                <a:latin typeface="Arial"/>
              </a:rPr>
              <a:t>Interpretabilidad.</a:t>
            </a:r>
            <a:r>
              <a:rPr sz="1450" b="0">
                <a:solidFill>
                  <a:srgbClr val="555045"/>
                </a:solidFill>
                <a:latin typeface="Arial"/>
              </a:rPr>
              <a:t> Es la única con coeficientes que se pueden enseñar, y como trabaja en proporción se leen en porcentaje: una desviación típica en la última semana mueve la predicción un 1,85 % sobre la media reciente. Eso se le explica a un jefe de tienda. Un bosque de 300 árboles, no.</a:t>
            </a:r>
          </a:p>
        </p:txBody>
      </p:sp>
      <p:sp>
        <p:nvSpPr>
          <p:cNvPr id="9" name="Rectangle 8"/>
          <p:cNvSpPr/>
          <p:nvPr/>
        </p:nvSpPr>
        <p:spPr>
          <a:xfrm>
            <a:off x="777240" y="3243199"/>
            <a:ext cx="63500" cy="63500"/>
          </a:xfrm>
          <a:prstGeom prst="rect">
            <a:avLst/>
          </a:prstGeom>
          <a:solidFill>
            <a:srgbClr val="8C2F3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0" name="TextBox 9"/>
          <p:cNvSpPr txBox="1"/>
          <p:nvPr/>
        </p:nvSpPr>
        <p:spPr>
          <a:xfrm>
            <a:off x="978408" y="3142615"/>
            <a:ext cx="10436047" cy="530098"/>
          </a:xfrm>
          <a:prstGeom prst="rect">
            <a:avLst/>
          </a:prstGeom>
          <a:noFill/>
        </p:spPr>
        <p:txBody>
          <a:bodyPr wrap="square" lIns="0" tIns="0" rIns="0" bIns="0">
            <a:spAutoFit/>
          </a:bodyPr>
          <a:lstStyle/>
          <a:p>
            <a:pPr>
              <a:lnSpc>
                <a:spcPct val="124000"/>
              </a:lnSpc>
              <a:spcAft>
                <a:spcPts val="0"/>
              </a:spcAft>
            </a:pPr>
            <a:r>
              <a:rPr sz="1450" b="1">
                <a:solidFill>
                  <a:srgbClr val="17150F"/>
                </a:solidFill>
                <a:latin typeface="Arial"/>
              </a:rPr>
              <a:t>Estabilidad del colchón.</a:t>
            </a:r>
            <a:r>
              <a:rPr sz="1450" b="0">
                <a:solidFill>
                  <a:srgbClr val="555045"/>
                </a:solidFill>
                <a:latin typeface="Arial"/>
              </a:rPr>
              <a:t> La menor desviación de las seis y el mínimo más alto. En series pequeñas eso evita márgenes demasiado ajustados.</a:t>
            </a:r>
          </a:p>
        </p:txBody>
      </p:sp>
      <p:sp>
        <p:nvSpPr>
          <p:cNvPr id="11" name="Rectangle 10"/>
          <p:cNvSpPr/>
          <p:nvPr/>
        </p:nvSpPr>
        <p:spPr>
          <a:xfrm>
            <a:off x="777240" y="3901313"/>
            <a:ext cx="63500" cy="63500"/>
          </a:xfrm>
          <a:prstGeom prst="rect">
            <a:avLst/>
          </a:prstGeom>
          <a:solidFill>
            <a:srgbClr val="8C2F3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2" name="TextBox 11"/>
          <p:cNvSpPr txBox="1"/>
          <p:nvPr/>
        </p:nvSpPr>
        <p:spPr>
          <a:xfrm>
            <a:off x="978408" y="3800729"/>
            <a:ext cx="10436047" cy="283337"/>
          </a:xfrm>
          <a:prstGeom prst="rect">
            <a:avLst/>
          </a:prstGeom>
          <a:noFill/>
        </p:spPr>
        <p:txBody>
          <a:bodyPr wrap="square" lIns="0" tIns="0" rIns="0" bIns="0">
            <a:spAutoFit/>
          </a:bodyPr>
          <a:lstStyle/>
          <a:p>
            <a:pPr>
              <a:lnSpc>
                <a:spcPct val="124000"/>
              </a:lnSpc>
              <a:spcAft>
                <a:spcPts val="0"/>
              </a:spcAft>
            </a:pPr>
            <a:r>
              <a:rPr sz="1450" b="1">
                <a:solidFill>
                  <a:srgbClr val="17150F"/>
                </a:solidFill>
                <a:latin typeface="Arial"/>
              </a:rPr>
              <a:t>Coste de cómputo despreciable</a:t>
            </a:r>
            <a:r>
              <a:rPr sz="1450" b="0">
                <a:solidFill>
                  <a:srgbClr val="555045"/>
                </a:solidFill>
                <a:latin typeface="Arial"/>
              </a:rPr>
              <a:t> y sin dependencias adicionales.</a:t>
            </a:r>
          </a:p>
        </p:txBody>
      </p:sp>
      <p:sp>
        <p:nvSpPr>
          <p:cNvPr id="13" name="Rectangle 12"/>
          <p:cNvSpPr/>
          <p:nvPr/>
        </p:nvSpPr>
        <p:spPr>
          <a:xfrm>
            <a:off x="777240" y="4440682"/>
            <a:ext cx="10637215" cy="731520"/>
          </a:xfrm>
          <a:prstGeom prst="rect">
            <a:avLst/>
          </a:prstGeom>
          <a:solidFill>
            <a:srgbClr val="F4F2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4" name="TextBox 13"/>
          <p:cNvSpPr txBox="1"/>
          <p:nvPr/>
        </p:nvSpPr>
        <p:spPr>
          <a:xfrm>
            <a:off x="1097280" y="4641850"/>
            <a:ext cx="9997135" cy="457200"/>
          </a:xfrm>
          <a:prstGeom prst="rect">
            <a:avLst/>
          </a:prstGeom>
          <a:noFill/>
        </p:spPr>
        <p:txBody>
          <a:bodyPr wrap="square" lIns="0" tIns="0" rIns="0" bIns="0">
            <a:spAutoFit/>
          </a:bodyPr>
          <a:lstStyle/>
          <a:p>
            <a:pPr algn="l">
              <a:lnSpc>
                <a:spcPct val="120000"/>
              </a:lnSpc>
              <a:spcBef>
                <a:spcPts val="0"/>
              </a:spcBef>
              <a:spcAft>
                <a:spcPts val="0"/>
              </a:spcAft>
            </a:pPr>
            <a:r>
              <a:rPr sz="1550" b="1">
                <a:solidFill>
                  <a:srgbClr val="8C2F39"/>
                </a:solidFill>
                <a:latin typeface="Arial"/>
              </a:rPr>
              <a:t>Configuración operativa: regresión cuantílica, 17 niveles, mismos hiperparámetros en todos.</a:t>
            </a:r>
          </a:p>
        </p:txBody>
      </p:sp>
      <p:sp>
        <p:nvSpPr>
          <p:cNvPr id="15" name="Rectangle 14"/>
          <p:cNvSpPr/>
          <p:nvPr/>
        </p:nvSpPr>
        <p:spPr>
          <a:xfrm>
            <a:off x="777240" y="6327648"/>
            <a:ext cx="10637215" cy="9525"/>
          </a:xfrm>
          <a:prstGeom prst="rect">
            <a:avLst/>
          </a:prstGeom>
          <a:solidFill>
            <a:srgbClr val="DCD8C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6" name="TextBox 15"/>
          <p:cNvSpPr txBox="1"/>
          <p:nvPr/>
        </p:nvSpPr>
        <p:spPr>
          <a:xfrm>
            <a:off x="777240" y="6428232"/>
            <a:ext cx="8686800" cy="274320"/>
          </a:xfrm>
          <a:prstGeom prst="rect">
            <a:avLst/>
          </a:prstGeom>
          <a:noFill/>
        </p:spPr>
        <p:txBody>
          <a:bodyPr wrap="square" lIns="0" tIns="0" rIns="0" bIns="0">
            <a:spAutoFit/>
          </a:bodyPr>
          <a:lstStyle/>
          <a:p>
            <a:pPr algn="l">
              <a:lnSpc>
                <a:spcPct val="122000"/>
              </a:lnSpc>
              <a:spcBef>
                <a:spcPts val="0"/>
              </a:spcBef>
              <a:spcAft>
                <a:spcPts val="0"/>
              </a:spcAft>
            </a:pPr>
            <a:r>
              <a:rPr sz="950" b="0">
                <a:solidFill>
                  <a:srgbClr val="8B8478"/>
                </a:solidFill>
                <a:latin typeface="Arial"/>
              </a:rPr>
              <a:t>Paso 10 · Selección de familia</a:t>
            </a:r>
          </a:p>
        </p:txBody>
      </p:sp>
      <p:sp>
        <p:nvSpPr>
          <p:cNvPr id="17" name="TextBox 16"/>
          <p:cNvSpPr txBox="1"/>
          <p:nvPr/>
        </p:nvSpPr>
        <p:spPr>
          <a:xfrm>
            <a:off x="10500055" y="6428232"/>
            <a:ext cx="914400" cy="274320"/>
          </a:xfrm>
          <a:prstGeom prst="rect">
            <a:avLst/>
          </a:prstGeom>
          <a:noFill/>
        </p:spPr>
        <p:txBody>
          <a:bodyPr wrap="square" lIns="0" tIns="0" rIns="0" bIns="0">
            <a:spAutoFit/>
          </a:bodyPr>
          <a:lstStyle/>
          <a:p>
            <a:pPr algn="r">
              <a:lnSpc>
                <a:spcPct val="122000"/>
              </a:lnSpc>
              <a:spcBef>
                <a:spcPts val="0"/>
              </a:spcBef>
              <a:spcAft>
                <a:spcPts val="0"/>
              </a:spcAft>
            </a:pPr>
            <a:r>
              <a:rPr sz="950" b="0">
                <a:solidFill>
                  <a:srgbClr val="8B8478"/>
                </a:solidFill>
                <a:latin typeface="Arial"/>
              </a:rPr>
              <a:t>30</a:t>
            </a:r>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777240" y="475488"/>
            <a:ext cx="10637215" cy="237744"/>
          </a:xfrm>
          <a:prstGeom prst="rect">
            <a:avLst/>
          </a:prstGeom>
          <a:noFill/>
        </p:spPr>
        <p:txBody>
          <a:bodyPr wrap="square" lIns="0" tIns="0" rIns="0" bIns="0">
            <a:spAutoFit/>
          </a:bodyPr>
          <a:lstStyle/>
          <a:p>
            <a:pPr algn="l">
              <a:lnSpc>
                <a:spcPct val="122000"/>
              </a:lnSpc>
              <a:spcBef>
                <a:spcPts val="0"/>
              </a:spcBef>
              <a:spcAft>
                <a:spcPts val="0"/>
              </a:spcAft>
            </a:pPr>
            <a:r>
              <a:rPr sz="1050" b="1">
                <a:solidFill>
                  <a:srgbClr val="8C2F39"/>
                </a:solidFill>
                <a:latin typeface="Arial"/>
              </a:rPr>
              <a:t>PASO 11 · LA REJILLA ENTRENADA</a:t>
            </a:r>
          </a:p>
        </p:txBody>
      </p:sp>
      <p:sp>
        <p:nvSpPr>
          <p:cNvPr id="4" name="Rectangle 3"/>
          <p:cNvSpPr/>
          <p:nvPr/>
        </p:nvSpPr>
        <p:spPr>
          <a:xfrm>
            <a:off x="777240" y="768096"/>
            <a:ext cx="502920" cy="30480"/>
          </a:xfrm>
          <a:prstGeom prst="rect">
            <a:avLst/>
          </a:prstGeom>
          <a:solidFill>
            <a:srgbClr val="8C2F3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 name="TextBox 4"/>
          <p:cNvSpPr txBox="1"/>
          <p:nvPr/>
        </p:nvSpPr>
        <p:spPr>
          <a:xfrm>
            <a:off x="777240" y="914400"/>
            <a:ext cx="10637215" cy="445770"/>
          </a:xfrm>
          <a:prstGeom prst="rect">
            <a:avLst/>
          </a:prstGeom>
          <a:noFill/>
        </p:spPr>
        <p:txBody>
          <a:bodyPr wrap="square" lIns="0" tIns="0" rIns="0" bIns="0">
            <a:spAutoFit/>
          </a:bodyPr>
          <a:lstStyle/>
          <a:p>
            <a:pPr algn="l">
              <a:lnSpc>
                <a:spcPct val="106000"/>
              </a:lnSpc>
              <a:spcBef>
                <a:spcPts val="0"/>
              </a:spcBef>
              <a:spcAft>
                <a:spcPts val="0"/>
              </a:spcAft>
            </a:pPr>
            <a:r>
              <a:rPr sz="2700" b="1">
                <a:solidFill>
                  <a:srgbClr val="17150F"/>
                </a:solidFill>
                <a:latin typeface="Arial"/>
              </a:rPr>
              <a:t>El nivel de servicio que se promete es real, no una etiqueta</a:t>
            </a:r>
          </a:p>
        </p:txBody>
      </p:sp>
      <p:pic>
        <p:nvPicPr>
          <p:cNvPr id="6" name="Picture 5" descr="17_cobertura_niveles.png"/>
          <p:cNvPicPr>
            <a:picLocks noChangeAspect="1"/>
          </p:cNvPicPr>
          <p:nvPr/>
        </p:nvPicPr>
        <p:blipFill>
          <a:blip r:embed="rId2"/>
          <a:stretch>
            <a:fillRect/>
          </a:stretch>
        </p:blipFill>
        <p:spPr>
          <a:xfrm>
            <a:off x="777240" y="1506474"/>
            <a:ext cx="5760720" cy="3892378"/>
          </a:xfrm>
          <a:prstGeom prst="rect">
            <a:avLst/>
          </a:prstGeom>
        </p:spPr>
      </p:pic>
      <p:graphicFrame>
        <p:nvGraphicFramePr>
          <p:cNvPr id="7" name="Table 6"/>
          <p:cNvGraphicFramePr>
            <a:graphicFrameLocks noGrp="1"/>
          </p:cNvGraphicFramePr>
          <p:nvPr/>
        </p:nvGraphicFramePr>
        <p:xfrm>
          <a:off x="6858000" y="1552194"/>
          <a:ext cx="4556453" cy="2267712"/>
        </p:xfrm>
        <a:graphic>
          <a:graphicData uri="http://schemas.openxmlformats.org/drawingml/2006/table">
            <a:tbl>
              <a:tblPr bandRow="1">
                <a:tableStyleId>{5C22544A-7EE6-4342-B048-85BDC9FD1C3A}</a:tableStyleId>
              </a:tblPr>
              <a:tblGrid>
                <a:gridCol w="1458065">
                  <a:extLst>
                    <a:ext uri="{9D8B030D-6E8A-4147-A177-3AD203B41FA5}">
                      <a16:colId xmlns:a16="http://schemas.microsoft.com/office/drawing/2014/main" val="20000"/>
                    </a:ext>
                  </a:extLst>
                </a:gridCol>
                <a:gridCol w="1640323">
                  <a:extLst>
                    <a:ext uri="{9D8B030D-6E8A-4147-A177-3AD203B41FA5}">
                      <a16:colId xmlns:a16="http://schemas.microsoft.com/office/drawing/2014/main" val="20001"/>
                    </a:ext>
                  </a:extLst>
                </a:gridCol>
                <a:gridCol w="1458065">
                  <a:extLst>
                    <a:ext uri="{9D8B030D-6E8A-4147-A177-3AD203B41FA5}">
                      <a16:colId xmlns:a16="http://schemas.microsoft.com/office/drawing/2014/main" val="20002"/>
                    </a:ext>
                  </a:extLst>
                </a:gridCol>
              </a:tblGrid>
              <a:tr h="347472">
                <a:tc>
                  <a:txBody>
                    <a:bodyPr/>
                    <a:lstStyle/>
                    <a:p>
                      <a:pPr algn="l"/>
                      <a:r>
                        <a:rPr sz="1000" b="1">
                          <a:solidFill>
                            <a:srgbClr val="8B8478"/>
                          </a:solidFill>
                          <a:latin typeface="Arial"/>
                        </a:rPr>
                        <a:t>Nivel</a:t>
                      </a:r>
                    </a:p>
                  </a:txBody>
                  <a:tcPr marL="82296" marR="82296" anchor="ctr">
                    <a:solidFill>
                      <a:srgbClr val="F4F2ED"/>
                    </a:solidFill>
                  </a:tcPr>
                </a:tc>
                <a:tc>
                  <a:txBody>
                    <a:bodyPr/>
                    <a:lstStyle/>
                    <a:p>
                      <a:pPr algn="r"/>
                      <a:r>
                        <a:rPr sz="1000" b="1" dirty="0" err="1">
                          <a:solidFill>
                            <a:srgbClr val="8B8478"/>
                          </a:solidFill>
                          <a:latin typeface="Arial"/>
                        </a:rPr>
                        <a:t>Cobertura</a:t>
                      </a:r>
                      <a:endParaRPr sz="1000" b="1" dirty="0">
                        <a:solidFill>
                          <a:srgbClr val="8B8478"/>
                        </a:solidFill>
                        <a:latin typeface="Arial"/>
                      </a:endParaRPr>
                    </a:p>
                  </a:txBody>
                  <a:tcPr marL="82296" marR="82296" anchor="ctr">
                    <a:solidFill>
                      <a:srgbClr val="F4F2ED"/>
                    </a:solidFill>
                  </a:tcPr>
                </a:tc>
                <a:tc>
                  <a:txBody>
                    <a:bodyPr/>
                    <a:lstStyle/>
                    <a:p>
                      <a:pPr algn="r"/>
                      <a:r>
                        <a:rPr sz="1000" b="1">
                          <a:solidFill>
                            <a:srgbClr val="8B8478"/>
                          </a:solidFill>
                          <a:latin typeface="Arial"/>
                        </a:rPr>
                        <a:t>Desvío</a:t>
                      </a:r>
                    </a:p>
                  </a:txBody>
                  <a:tcPr marL="82296" marR="82296" anchor="ctr">
                    <a:solidFill>
                      <a:srgbClr val="F4F2ED"/>
                    </a:solidFill>
                  </a:tcPr>
                </a:tc>
                <a:extLst>
                  <a:ext uri="{0D108BD9-81ED-4DB2-BD59-A6C34878D82A}">
                    <a16:rowId xmlns:a16="http://schemas.microsoft.com/office/drawing/2014/main" val="10000"/>
                  </a:ext>
                </a:extLst>
              </a:tr>
              <a:tr h="274320">
                <a:tc>
                  <a:txBody>
                    <a:bodyPr/>
                    <a:lstStyle/>
                    <a:p>
                      <a:pPr algn="l"/>
                      <a:r>
                        <a:rPr sz="1150" b="0">
                          <a:solidFill>
                            <a:srgbClr val="17150F"/>
                          </a:solidFill>
                          <a:latin typeface="Arial"/>
                        </a:rPr>
                        <a:t>0,50</a:t>
                      </a:r>
                    </a:p>
                  </a:txBody>
                  <a:tcPr marL="82296" marR="82296" anchor="ctr">
                    <a:solidFill>
                      <a:srgbClr val="FFFFFF"/>
                    </a:solidFill>
                  </a:tcPr>
                </a:tc>
                <a:tc>
                  <a:txBody>
                    <a:bodyPr/>
                    <a:lstStyle/>
                    <a:p>
                      <a:pPr algn="r"/>
                      <a:r>
                        <a:rPr sz="1150" b="0">
                          <a:solidFill>
                            <a:srgbClr val="555045"/>
                          </a:solidFill>
                          <a:latin typeface="Arial"/>
                        </a:rPr>
                        <a:t>0,510</a:t>
                      </a:r>
                    </a:p>
                  </a:txBody>
                  <a:tcPr marL="82296" marR="82296" anchor="ctr">
                    <a:solidFill>
                      <a:srgbClr val="FFFFFF"/>
                    </a:solidFill>
                  </a:tcPr>
                </a:tc>
                <a:tc>
                  <a:txBody>
                    <a:bodyPr/>
                    <a:lstStyle/>
                    <a:p>
                      <a:pPr algn="r"/>
                      <a:r>
                        <a:rPr sz="1150" b="0">
                          <a:solidFill>
                            <a:srgbClr val="555045"/>
                          </a:solidFill>
                          <a:latin typeface="Arial"/>
                        </a:rPr>
                        <a:t>+0,010</a:t>
                      </a:r>
                    </a:p>
                  </a:txBody>
                  <a:tcPr marL="82296" marR="82296" anchor="ctr">
                    <a:solidFill>
                      <a:srgbClr val="FFFFFF"/>
                    </a:solidFill>
                  </a:tcPr>
                </a:tc>
                <a:extLst>
                  <a:ext uri="{0D108BD9-81ED-4DB2-BD59-A6C34878D82A}">
                    <a16:rowId xmlns:a16="http://schemas.microsoft.com/office/drawing/2014/main" val="10001"/>
                  </a:ext>
                </a:extLst>
              </a:tr>
              <a:tr h="274320">
                <a:tc>
                  <a:txBody>
                    <a:bodyPr/>
                    <a:lstStyle/>
                    <a:p>
                      <a:pPr algn="l"/>
                      <a:r>
                        <a:rPr sz="1150" b="0">
                          <a:solidFill>
                            <a:srgbClr val="17150F"/>
                          </a:solidFill>
                          <a:latin typeface="Arial"/>
                        </a:rPr>
                        <a:t>0,59</a:t>
                      </a:r>
                    </a:p>
                  </a:txBody>
                  <a:tcPr marL="82296" marR="82296" anchor="ctr">
                    <a:solidFill>
                      <a:srgbClr val="FFFFFF"/>
                    </a:solidFill>
                  </a:tcPr>
                </a:tc>
                <a:tc>
                  <a:txBody>
                    <a:bodyPr/>
                    <a:lstStyle/>
                    <a:p>
                      <a:pPr algn="r"/>
                      <a:r>
                        <a:rPr sz="1150" b="0">
                          <a:solidFill>
                            <a:srgbClr val="555045"/>
                          </a:solidFill>
                          <a:latin typeface="Arial"/>
                        </a:rPr>
                        <a:t>0,633</a:t>
                      </a:r>
                    </a:p>
                  </a:txBody>
                  <a:tcPr marL="82296" marR="82296" anchor="ctr">
                    <a:solidFill>
                      <a:srgbClr val="FFFFFF"/>
                    </a:solidFill>
                  </a:tcPr>
                </a:tc>
                <a:tc>
                  <a:txBody>
                    <a:bodyPr/>
                    <a:lstStyle/>
                    <a:p>
                      <a:pPr algn="r"/>
                      <a:r>
                        <a:rPr sz="1150" b="0">
                          <a:solidFill>
                            <a:srgbClr val="555045"/>
                          </a:solidFill>
                          <a:latin typeface="Arial"/>
                        </a:rPr>
                        <a:t>+0,043</a:t>
                      </a:r>
                    </a:p>
                  </a:txBody>
                  <a:tcPr marL="82296" marR="82296" anchor="ctr">
                    <a:solidFill>
                      <a:srgbClr val="FFFFFF"/>
                    </a:solidFill>
                  </a:tcPr>
                </a:tc>
                <a:extLst>
                  <a:ext uri="{0D108BD9-81ED-4DB2-BD59-A6C34878D82A}">
                    <a16:rowId xmlns:a16="http://schemas.microsoft.com/office/drawing/2014/main" val="10002"/>
                  </a:ext>
                </a:extLst>
              </a:tr>
              <a:tr h="274320">
                <a:tc>
                  <a:txBody>
                    <a:bodyPr/>
                    <a:lstStyle/>
                    <a:p>
                      <a:pPr algn="l"/>
                      <a:r>
                        <a:rPr sz="1150" b="0">
                          <a:solidFill>
                            <a:srgbClr val="17150F"/>
                          </a:solidFill>
                          <a:latin typeface="Arial"/>
                        </a:rPr>
                        <a:t>0,65</a:t>
                      </a:r>
                    </a:p>
                  </a:txBody>
                  <a:tcPr marL="82296" marR="82296" anchor="ctr">
                    <a:solidFill>
                      <a:srgbClr val="FFFFFF"/>
                    </a:solidFill>
                  </a:tcPr>
                </a:tc>
                <a:tc>
                  <a:txBody>
                    <a:bodyPr/>
                    <a:lstStyle/>
                    <a:p>
                      <a:pPr algn="r"/>
                      <a:r>
                        <a:rPr sz="1150" b="0">
                          <a:solidFill>
                            <a:srgbClr val="555045"/>
                          </a:solidFill>
                          <a:latin typeface="Arial"/>
                        </a:rPr>
                        <a:t>0,675</a:t>
                      </a:r>
                    </a:p>
                  </a:txBody>
                  <a:tcPr marL="82296" marR="82296" anchor="ctr">
                    <a:solidFill>
                      <a:srgbClr val="FFFFFF"/>
                    </a:solidFill>
                  </a:tcPr>
                </a:tc>
                <a:tc>
                  <a:txBody>
                    <a:bodyPr/>
                    <a:lstStyle/>
                    <a:p>
                      <a:pPr algn="r"/>
                      <a:r>
                        <a:rPr sz="1150" b="0">
                          <a:solidFill>
                            <a:srgbClr val="555045"/>
                          </a:solidFill>
                          <a:latin typeface="Arial"/>
                        </a:rPr>
                        <a:t>+0,025</a:t>
                      </a:r>
                    </a:p>
                  </a:txBody>
                  <a:tcPr marL="82296" marR="82296" anchor="ctr">
                    <a:solidFill>
                      <a:srgbClr val="FFFFFF"/>
                    </a:solidFill>
                  </a:tcPr>
                </a:tc>
                <a:extLst>
                  <a:ext uri="{0D108BD9-81ED-4DB2-BD59-A6C34878D82A}">
                    <a16:rowId xmlns:a16="http://schemas.microsoft.com/office/drawing/2014/main" val="10003"/>
                  </a:ext>
                </a:extLst>
              </a:tr>
              <a:tr h="274320">
                <a:tc>
                  <a:txBody>
                    <a:bodyPr/>
                    <a:lstStyle/>
                    <a:p>
                      <a:pPr algn="l"/>
                      <a:r>
                        <a:rPr sz="1150" b="1">
                          <a:solidFill>
                            <a:srgbClr val="17150F"/>
                          </a:solidFill>
                          <a:latin typeface="Arial"/>
                        </a:rPr>
                        <a:t>0,68</a:t>
                      </a:r>
                    </a:p>
                  </a:txBody>
                  <a:tcPr marL="82296" marR="82296" anchor="ctr">
                    <a:solidFill>
                      <a:srgbClr val="F7EEEF"/>
                    </a:solidFill>
                  </a:tcPr>
                </a:tc>
                <a:tc>
                  <a:txBody>
                    <a:bodyPr/>
                    <a:lstStyle/>
                    <a:p>
                      <a:pPr algn="r"/>
                      <a:r>
                        <a:rPr sz="1150" b="1">
                          <a:solidFill>
                            <a:srgbClr val="17150F"/>
                          </a:solidFill>
                          <a:latin typeface="Arial"/>
                        </a:rPr>
                        <a:t>0,692</a:t>
                      </a:r>
                    </a:p>
                  </a:txBody>
                  <a:tcPr marL="82296" marR="82296" anchor="ctr">
                    <a:solidFill>
                      <a:srgbClr val="F7EEEF"/>
                    </a:solidFill>
                  </a:tcPr>
                </a:tc>
                <a:tc>
                  <a:txBody>
                    <a:bodyPr/>
                    <a:lstStyle/>
                    <a:p>
                      <a:pPr algn="r"/>
                      <a:r>
                        <a:rPr sz="1150" b="1">
                          <a:solidFill>
                            <a:srgbClr val="17150F"/>
                          </a:solidFill>
                          <a:latin typeface="Arial"/>
                        </a:rPr>
                        <a:t>+0,012</a:t>
                      </a:r>
                    </a:p>
                  </a:txBody>
                  <a:tcPr marL="82296" marR="82296" anchor="ctr">
                    <a:solidFill>
                      <a:srgbClr val="F7EEEF"/>
                    </a:solidFill>
                  </a:tcPr>
                </a:tc>
                <a:extLst>
                  <a:ext uri="{0D108BD9-81ED-4DB2-BD59-A6C34878D82A}">
                    <a16:rowId xmlns:a16="http://schemas.microsoft.com/office/drawing/2014/main" val="10004"/>
                  </a:ext>
                </a:extLst>
              </a:tr>
              <a:tr h="274320">
                <a:tc>
                  <a:txBody>
                    <a:bodyPr/>
                    <a:lstStyle/>
                    <a:p>
                      <a:pPr algn="l"/>
                      <a:r>
                        <a:rPr sz="1150" b="0">
                          <a:solidFill>
                            <a:srgbClr val="17150F"/>
                          </a:solidFill>
                          <a:latin typeface="Arial"/>
                        </a:rPr>
                        <a:t>0,81</a:t>
                      </a:r>
                    </a:p>
                  </a:txBody>
                  <a:tcPr marL="82296" marR="82296" anchor="ctr">
                    <a:solidFill>
                      <a:srgbClr val="FFFFFF"/>
                    </a:solidFill>
                  </a:tcPr>
                </a:tc>
                <a:tc>
                  <a:txBody>
                    <a:bodyPr/>
                    <a:lstStyle/>
                    <a:p>
                      <a:pPr algn="r"/>
                      <a:r>
                        <a:rPr sz="1150" b="0">
                          <a:solidFill>
                            <a:srgbClr val="555045"/>
                          </a:solidFill>
                          <a:latin typeface="Arial"/>
                        </a:rPr>
                        <a:t>0,785</a:t>
                      </a:r>
                    </a:p>
                  </a:txBody>
                  <a:tcPr marL="82296" marR="82296" anchor="ctr">
                    <a:solidFill>
                      <a:srgbClr val="FFFFFF"/>
                    </a:solidFill>
                  </a:tcPr>
                </a:tc>
                <a:tc>
                  <a:txBody>
                    <a:bodyPr/>
                    <a:lstStyle/>
                    <a:p>
                      <a:pPr algn="r"/>
                      <a:r>
                        <a:rPr sz="1150" b="0">
                          <a:solidFill>
                            <a:srgbClr val="555045"/>
                          </a:solidFill>
                          <a:latin typeface="Arial"/>
                        </a:rPr>
                        <a:t>−0,025</a:t>
                      </a:r>
                    </a:p>
                  </a:txBody>
                  <a:tcPr marL="82296" marR="82296" anchor="ctr">
                    <a:solidFill>
                      <a:srgbClr val="FFFFFF"/>
                    </a:solidFill>
                  </a:tcPr>
                </a:tc>
                <a:extLst>
                  <a:ext uri="{0D108BD9-81ED-4DB2-BD59-A6C34878D82A}">
                    <a16:rowId xmlns:a16="http://schemas.microsoft.com/office/drawing/2014/main" val="10005"/>
                  </a:ext>
                </a:extLst>
              </a:tr>
              <a:tr h="274320">
                <a:tc>
                  <a:txBody>
                    <a:bodyPr/>
                    <a:lstStyle/>
                    <a:p>
                      <a:pPr algn="l"/>
                      <a:r>
                        <a:rPr sz="1150" b="0">
                          <a:solidFill>
                            <a:srgbClr val="17150F"/>
                          </a:solidFill>
                          <a:latin typeface="Arial"/>
                        </a:rPr>
                        <a:t>0,90</a:t>
                      </a:r>
                    </a:p>
                  </a:txBody>
                  <a:tcPr marL="82296" marR="82296" anchor="ctr">
                    <a:solidFill>
                      <a:srgbClr val="FFFFFF"/>
                    </a:solidFill>
                  </a:tcPr>
                </a:tc>
                <a:tc>
                  <a:txBody>
                    <a:bodyPr/>
                    <a:lstStyle/>
                    <a:p>
                      <a:pPr algn="r"/>
                      <a:r>
                        <a:rPr sz="1150" b="0">
                          <a:solidFill>
                            <a:srgbClr val="555045"/>
                          </a:solidFill>
                          <a:latin typeface="Arial"/>
                        </a:rPr>
                        <a:t>0,888</a:t>
                      </a:r>
                    </a:p>
                  </a:txBody>
                  <a:tcPr marL="82296" marR="82296" anchor="ctr">
                    <a:solidFill>
                      <a:srgbClr val="FFFFFF"/>
                    </a:solidFill>
                  </a:tcPr>
                </a:tc>
                <a:tc>
                  <a:txBody>
                    <a:bodyPr/>
                    <a:lstStyle/>
                    <a:p>
                      <a:pPr algn="r"/>
                      <a:r>
                        <a:rPr sz="1150" b="0">
                          <a:solidFill>
                            <a:srgbClr val="555045"/>
                          </a:solidFill>
                          <a:latin typeface="Arial"/>
                        </a:rPr>
                        <a:t>−0,013</a:t>
                      </a:r>
                    </a:p>
                  </a:txBody>
                  <a:tcPr marL="82296" marR="82296" anchor="ctr">
                    <a:solidFill>
                      <a:srgbClr val="FFFFFF"/>
                    </a:solidFill>
                  </a:tcPr>
                </a:tc>
                <a:extLst>
                  <a:ext uri="{0D108BD9-81ED-4DB2-BD59-A6C34878D82A}">
                    <a16:rowId xmlns:a16="http://schemas.microsoft.com/office/drawing/2014/main" val="10006"/>
                  </a:ext>
                </a:extLst>
              </a:tr>
              <a:tr h="274320">
                <a:tc>
                  <a:txBody>
                    <a:bodyPr/>
                    <a:lstStyle/>
                    <a:p>
                      <a:pPr algn="l"/>
                      <a:r>
                        <a:rPr sz="1150" b="0">
                          <a:solidFill>
                            <a:srgbClr val="17150F"/>
                          </a:solidFill>
                          <a:latin typeface="Arial"/>
                        </a:rPr>
                        <a:t>0,99</a:t>
                      </a:r>
                    </a:p>
                  </a:txBody>
                  <a:tcPr marL="82296" marR="82296" anchor="ctr">
                    <a:solidFill>
                      <a:srgbClr val="FFFFFF"/>
                    </a:solidFill>
                  </a:tcPr>
                </a:tc>
                <a:tc>
                  <a:txBody>
                    <a:bodyPr/>
                    <a:lstStyle/>
                    <a:p>
                      <a:pPr algn="r"/>
                      <a:r>
                        <a:rPr sz="1150" b="0">
                          <a:solidFill>
                            <a:srgbClr val="555045"/>
                          </a:solidFill>
                          <a:latin typeface="Arial"/>
                        </a:rPr>
                        <a:t>0,996</a:t>
                      </a:r>
                    </a:p>
                  </a:txBody>
                  <a:tcPr marL="82296" marR="82296" anchor="ctr">
                    <a:solidFill>
                      <a:srgbClr val="FFFFFF"/>
                    </a:solidFill>
                  </a:tcPr>
                </a:tc>
                <a:tc>
                  <a:txBody>
                    <a:bodyPr/>
                    <a:lstStyle/>
                    <a:p>
                      <a:pPr algn="r"/>
                      <a:r>
                        <a:rPr sz="1150" b="0" dirty="0">
                          <a:solidFill>
                            <a:srgbClr val="555045"/>
                          </a:solidFill>
                          <a:latin typeface="Arial"/>
                        </a:rPr>
                        <a:t>+0,006</a:t>
                      </a:r>
                    </a:p>
                  </a:txBody>
                  <a:tcPr marL="82296" marR="82296" anchor="ctr">
                    <a:solidFill>
                      <a:srgbClr val="FFFFFF"/>
                    </a:solidFill>
                  </a:tcPr>
                </a:tc>
                <a:extLst>
                  <a:ext uri="{0D108BD9-81ED-4DB2-BD59-A6C34878D82A}">
                    <a16:rowId xmlns:a16="http://schemas.microsoft.com/office/drawing/2014/main" val="10007"/>
                  </a:ext>
                </a:extLst>
              </a:tr>
            </a:tbl>
          </a:graphicData>
        </a:graphic>
      </p:graphicFrame>
      <p:sp>
        <p:nvSpPr>
          <p:cNvPr id="8" name="TextBox 7"/>
          <p:cNvSpPr txBox="1"/>
          <p:nvPr/>
        </p:nvSpPr>
        <p:spPr>
          <a:xfrm>
            <a:off x="6858000" y="4021074"/>
            <a:ext cx="4556455" cy="1088055"/>
          </a:xfrm>
          <a:prstGeom prst="rect">
            <a:avLst/>
          </a:prstGeom>
          <a:noFill/>
        </p:spPr>
        <p:txBody>
          <a:bodyPr wrap="square" lIns="0" tIns="0" rIns="0" bIns="0">
            <a:spAutoFit/>
          </a:bodyPr>
          <a:lstStyle/>
          <a:p>
            <a:pPr algn="l">
              <a:lnSpc>
                <a:spcPct val="128000"/>
              </a:lnSpc>
              <a:spcBef>
                <a:spcPts val="0"/>
              </a:spcBef>
              <a:spcAft>
                <a:spcPts val="1000"/>
              </a:spcAft>
            </a:pPr>
            <a:r>
              <a:rPr sz="1250" b="0" dirty="0">
                <a:solidFill>
                  <a:srgbClr val="555045"/>
                </a:solidFill>
                <a:latin typeface="Arial"/>
              </a:rPr>
              <a:t>Cuando la </a:t>
            </a:r>
            <a:r>
              <a:rPr sz="1250" b="0" dirty="0" err="1">
                <a:solidFill>
                  <a:srgbClr val="555045"/>
                </a:solidFill>
                <a:latin typeface="Arial"/>
              </a:rPr>
              <a:t>política</a:t>
            </a:r>
            <a:r>
              <a:rPr sz="1250" b="0" dirty="0">
                <a:solidFill>
                  <a:srgbClr val="555045"/>
                </a:solidFill>
                <a:latin typeface="Arial"/>
              </a:rPr>
              <a:t> </a:t>
            </a:r>
            <a:r>
              <a:rPr sz="1250" b="0" dirty="0" err="1">
                <a:solidFill>
                  <a:srgbClr val="555045"/>
                </a:solidFill>
                <a:latin typeface="Arial"/>
              </a:rPr>
              <a:t>promete</a:t>
            </a:r>
            <a:r>
              <a:rPr sz="1250" b="0" dirty="0">
                <a:solidFill>
                  <a:srgbClr val="555045"/>
                </a:solidFill>
                <a:latin typeface="Arial"/>
              </a:rPr>
              <a:t> </a:t>
            </a:r>
            <a:r>
              <a:rPr sz="1250" b="0" dirty="0" err="1">
                <a:solidFill>
                  <a:srgbClr val="555045"/>
                </a:solidFill>
                <a:latin typeface="Arial"/>
              </a:rPr>
              <a:t>cubrir</a:t>
            </a:r>
            <a:r>
              <a:rPr sz="1250" b="0" dirty="0">
                <a:solidFill>
                  <a:srgbClr val="555045"/>
                </a:solidFill>
                <a:latin typeface="Arial"/>
              </a:rPr>
              <a:t> el 68 % de las </a:t>
            </a:r>
            <a:r>
              <a:rPr sz="1250" b="0" dirty="0" err="1">
                <a:solidFill>
                  <a:srgbClr val="555045"/>
                </a:solidFill>
                <a:latin typeface="Arial"/>
              </a:rPr>
              <a:t>semanas</a:t>
            </a:r>
            <a:r>
              <a:rPr sz="1250" b="0" dirty="0">
                <a:solidFill>
                  <a:srgbClr val="555045"/>
                </a:solidFill>
                <a:latin typeface="Arial"/>
              </a:rPr>
              <a:t>, </a:t>
            </a:r>
            <a:r>
              <a:rPr sz="1250" b="0" dirty="0" err="1">
                <a:solidFill>
                  <a:srgbClr val="555045"/>
                </a:solidFill>
                <a:latin typeface="Arial"/>
              </a:rPr>
              <a:t>cubre</a:t>
            </a:r>
            <a:r>
              <a:rPr sz="1250" b="0" dirty="0">
                <a:solidFill>
                  <a:srgbClr val="555045"/>
                </a:solidFill>
                <a:latin typeface="Arial"/>
              </a:rPr>
              <a:t> el 69 %. El </a:t>
            </a:r>
            <a:r>
              <a:rPr sz="1250" b="0" dirty="0" err="1">
                <a:solidFill>
                  <a:srgbClr val="555045"/>
                </a:solidFill>
                <a:latin typeface="Arial"/>
              </a:rPr>
              <a:t>desvío</a:t>
            </a:r>
            <a:r>
              <a:rPr sz="1250" b="0" dirty="0">
                <a:solidFill>
                  <a:srgbClr val="555045"/>
                </a:solidFill>
                <a:latin typeface="Arial"/>
              </a:rPr>
              <a:t> medio es de +0,006 y el </a:t>
            </a:r>
            <a:r>
              <a:rPr sz="1250" b="0" dirty="0" err="1">
                <a:solidFill>
                  <a:srgbClr val="555045"/>
                </a:solidFill>
                <a:latin typeface="Arial"/>
              </a:rPr>
              <a:t>peor</a:t>
            </a:r>
            <a:r>
              <a:rPr sz="1250" b="0" dirty="0">
                <a:solidFill>
                  <a:srgbClr val="555045"/>
                </a:solidFill>
                <a:latin typeface="Arial"/>
              </a:rPr>
              <a:t> </a:t>
            </a:r>
            <a:r>
              <a:rPr sz="1250" b="0" dirty="0" err="1">
                <a:solidFill>
                  <a:srgbClr val="555045"/>
                </a:solidFill>
                <a:latin typeface="Arial"/>
              </a:rPr>
              <a:t>caso</a:t>
            </a:r>
            <a:r>
              <a:rPr sz="1250" b="0" dirty="0">
                <a:solidFill>
                  <a:srgbClr val="555045"/>
                </a:solidFill>
                <a:latin typeface="Arial"/>
              </a:rPr>
              <a:t> de 0,043.</a:t>
            </a:r>
          </a:p>
          <a:p>
            <a:pPr algn="l">
              <a:lnSpc>
                <a:spcPct val="128000"/>
              </a:lnSpc>
              <a:spcBef>
                <a:spcPts val="0"/>
              </a:spcBef>
              <a:spcAft>
                <a:spcPts val="0"/>
              </a:spcAft>
            </a:pPr>
            <a:r>
              <a:rPr sz="1250" b="0" dirty="0">
                <a:solidFill>
                  <a:srgbClr val="555045"/>
                </a:solidFill>
                <a:latin typeface="Arial"/>
              </a:rPr>
              <a:t>Los </a:t>
            </a:r>
            <a:r>
              <a:rPr sz="1250" b="0" dirty="0" err="1">
                <a:solidFill>
                  <a:srgbClr val="555045"/>
                </a:solidFill>
                <a:latin typeface="Arial"/>
              </a:rPr>
              <a:t>niveles</a:t>
            </a:r>
            <a:r>
              <a:rPr sz="1250" b="0" dirty="0">
                <a:solidFill>
                  <a:srgbClr val="555045"/>
                </a:solidFill>
                <a:latin typeface="Arial"/>
              </a:rPr>
              <a:t> se </a:t>
            </a:r>
            <a:r>
              <a:rPr sz="1250" b="0" dirty="0" err="1">
                <a:solidFill>
                  <a:srgbClr val="555045"/>
                </a:solidFill>
                <a:latin typeface="Arial"/>
              </a:rPr>
              <a:t>ajustan</a:t>
            </a:r>
            <a:r>
              <a:rPr sz="1250" b="0" dirty="0">
                <a:solidFill>
                  <a:srgbClr val="555045"/>
                </a:solidFill>
                <a:latin typeface="Arial"/>
              </a:rPr>
              <a:t> </a:t>
            </a:r>
            <a:r>
              <a:rPr sz="1250" b="0" dirty="0" err="1">
                <a:solidFill>
                  <a:srgbClr val="555045"/>
                </a:solidFill>
                <a:latin typeface="Arial"/>
              </a:rPr>
              <a:t>por</a:t>
            </a:r>
            <a:r>
              <a:rPr sz="1250" b="0" dirty="0">
                <a:solidFill>
                  <a:srgbClr val="555045"/>
                </a:solidFill>
                <a:latin typeface="Arial"/>
              </a:rPr>
              <a:t> </a:t>
            </a:r>
            <a:r>
              <a:rPr sz="1250" b="0" dirty="0" err="1">
                <a:solidFill>
                  <a:srgbClr val="555045"/>
                </a:solidFill>
                <a:latin typeface="Arial"/>
              </a:rPr>
              <a:t>separado</a:t>
            </a:r>
            <a:r>
              <a:rPr lang="es-419" sz="1250" dirty="0">
                <a:solidFill>
                  <a:srgbClr val="555045"/>
                </a:solidFill>
                <a:latin typeface="Arial"/>
              </a:rPr>
              <a:t>.</a:t>
            </a:r>
            <a:endParaRPr sz="1250" b="0" dirty="0">
              <a:solidFill>
                <a:srgbClr val="555045"/>
              </a:solidFill>
              <a:latin typeface="Arial"/>
            </a:endParaRPr>
          </a:p>
        </p:txBody>
      </p:sp>
      <p:sp>
        <p:nvSpPr>
          <p:cNvPr id="9" name="Rectangle 8"/>
          <p:cNvSpPr/>
          <p:nvPr/>
        </p:nvSpPr>
        <p:spPr>
          <a:xfrm>
            <a:off x="777240" y="6327648"/>
            <a:ext cx="10637215" cy="9525"/>
          </a:xfrm>
          <a:prstGeom prst="rect">
            <a:avLst/>
          </a:prstGeom>
          <a:solidFill>
            <a:srgbClr val="DCD8C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0" name="TextBox 9"/>
          <p:cNvSpPr txBox="1"/>
          <p:nvPr/>
        </p:nvSpPr>
        <p:spPr>
          <a:xfrm>
            <a:off x="777240" y="6428232"/>
            <a:ext cx="8686800" cy="274320"/>
          </a:xfrm>
          <a:prstGeom prst="rect">
            <a:avLst/>
          </a:prstGeom>
          <a:noFill/>
        </p:spPr>
        <p:txBody>
          <a:bodyPr wrap="square" lIns="0" tIns="0" rIns="0" bIns="0">
            <a:spAutoFit/>
          </a:bodyPr>
          <a:lstStyle/>
          <a:p>
            <a:pPr algn="l">
              <a:lnSpc>
                <a:spcPct val="122000"/>
              </a:lnSpc>
              <a:spcBef>
                <a:spcPts val="0"/>
              </a:spcBef>
              <a:spcAft>
                <a:spcPts val="0"/>
              </a:spcAft>
            </a:pPr>
            <a:r>
              <a:rPr sz="950" b="0">
                <a:solidFill>
                  <a:srgbClr val="8B8478"/>
                </a:solidFill>
                <a:latin typeface="Arial"/>
              </a:rPr>
              <a:t>Paso 11 · Rejilla de niveles</a:t>
            </a:r>
          </a:p>
        </p:txBody>
      </p:sp>
      <p:sp>
        <p:nvSpPr>
          <p:cNvPr id="11" name="TextBox 10"/>
          <p:cNvSpPr txBox="1"/>
          <p:nvPr/>
        </p:nvSpPr>
        <p:spPr>
          <a:xfrm>
            <a:off x="10500055" y="6428232"/>
            <a:ext cx="914400" cy="274320"/>
          </a:xfrm>
          <a:prstGeom prst="rect">
            <a:avLst/>
          </a:prstGeom>
          <a:noFill/>
        </p:spPr>
        <p:txBody>
          <a:bodyPr wrap="square" lIns="0" tIns="0" rIns="0" bIns="0">
            <a:spAutoFit/>
          </a:bodyPr>
          <a:lstStyle/>
          <a:p>
            <a:pPr algn="r">
              <a:lnSpc>
                <a:spcPct val="122000"/>
              </a:lnSpc>
              <a:spcBef>
                <a:spcPts val="0"/>
              </a:spcBef>
              <a:spcAft>
                <a:spcPts val="0"/>
              </a:spcAft>
            </a:pPr>
            <a:r>
              <a:rPr sz="950" b="0">
                <a:solidFill>
                  <a:srgbClr val="8B8478"/>
                </a:solidFill>
                <a:latin typeface="Arial"/>
              </a:rPr>
              <a:t>31</a:t>
            </a:r>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777240" y="475488"/>
            <a:ext cx="10637215" cy="237744"/>
          </a:xfrm>
          <a:prstGeom prst="rect">
            <a:avLst/>
          </a:prstGeom>
          <a:noFill/>
        </p:spPr>
        <p:txBody>
          <a:bodyPr wrap="square" lIns="0" tIns="0" rIns="0" bIns="0">
            <a:spAutoFit/>
          </a:bodyPr>
          <a:lstStyle/>
          <a:p>
            <a:pPr algn="l">
              <a:lnSpc>
                <a:spcPct val="122000"/>
              </a:lnSpc>
              <a:spcBef>
                <a:spcPts val="0"/>
              </a:spcBef>
              <a:spcAft>
                <a:spcPts val="0"/>
              </a:spcAft>
            </a:pPr>
            <a:r>
              <a:rPr sz="1050" b="1">
                <a:solidFill>
                  <a:srgbClr val="8C2F39"/>
                </a:solidFill>
                <a:latin typeface="Arial"/>
              </a:rPr>
              <a:t>PASO 13 · CALIBRACIÓN CONFORMAL</a:t>
            </a:r>
          </a:p>
        </p:txBody>
      </p:sp>
      <p:sp>
        <p:nvSpPr>
          <p:cNvPr id="4" name="Rectangle 3"/>
          <p:cNvSpPr/>
          <p:nvPr/>
        </p:nvSpPr>
        <p:spPr>
          <a:xfrm>
            <a:off x="777240" y="768096"/>
            <a:ext cx="502920" cy="30480"/>
          </a:xfrm>
          <a:prstGeom prst="rect">
            <a:avLst/>
          </a:prstGeom>
          <a:solidFill>
            <a:srgbClr val="8C2F3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 name="TextBox 4"/>
          <p:cNvSpPr txBox="1"/>
          <p:nvPr/>
        </p:nvSpPr>
        <p:spPr>
          <a:xfrm>
            <a:off x="777240" y="914400"/>
            <a:ext cx="10637215" cy="409151"/>
          </a:xfrm>
          <a:prstGeom prst="rect">
            <a:avLst/>
          </a:prstGeom>
          <a:noFill/>
        </p:spPr>
        <p:txBody>
          <a:bodyPr wrap="square" lIns="0" tIns="0" rIns="0" bIns="0">
            <a:spAutoFit/>
          </a:bodyPr>
          <a:lstStyle/>
          <a:p>
            <a:pPr algn="l">
              <a:lnSpc>
                <a:spcPct val="106000"/>
              </a:lnSpc>
              <a:spcBef>
                <a:spcPts val="0"/>
              </a:spcBef>
              <a:spcAft>
                <a:spcPts val="0"/>
              </a:spcAft>
            </a:pPr>
            <a:r>
              <a:rPr lang="es-419" sz="2700" b="1" dirty="0">
                <a:solidFill>
                  <a:srgbClr val="17150F"/>
                </a:solidFill>
                <a:latin typeface="Arial"/>
              </a:rPr>
              <a:t>Calibración del Modelo</a:t>
            </a:r>
            <a:endParaRPr sz="2700" b="1" dirty="0">
              <a:solidFill>
                <a:srgbClr val="17150F"/>
              </a:solidFill>
              <a:latin typeface="Arial"/>
            </a:endParaRPr>
          </a:p>
        </p:txBody>
      </p:sp>
      <p:pic>
        <p:nvPicPr>
          <p:cNvPr id="6" name="Picture 5" descr="21_calibracion.png"/>
          <p:cNvPicPr>
            <a:picLocks noChangeAspect="1"/>
          </p:cNvPicPr>
          <p:nvPr/>
        </p:nvPicPr>
        <p:blipFill>
          <a:blip r:embed="rId2"/>
          <a:stretch>
            <a:fillRect/>
          </a:stretch>
        </p:blipFill>
        <p:spPr>
          <a:xfrm>
            <a:off x="777240" y="1506474"/>
            <a:ext cx="5760720" cy="3789947"/>
          </a:xfrm>
          <a:prstGeom prst="rect">
            <a:avLst/>
          </a:prstGeom>
        </p:spPr>
      </p:pic>
      <p:sp>
        <p:nvSpPr>
          <p:cNvPr id="8" name="Rectangle 7"/>
          <p:cNvSpPr/>
          <p:nvPr/>
        </p:nvSpPr>
        <p:spPr>
          <a:xfrm>
            <a:off x="777240" y="6327648"/>
            <a:ext cx="10637215" cy="9525"/>
          </a:xfrm>
          <a:prstGeom prst="rect">
            <a:avLst/>
          </a:prstGeom>
          <a:solidFill>
            <a:srgbClr val="DCD8C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9" name="TextBox 8"/>
          <p:cNvSpPr txBox="1"/>
          <p:nvPr/>
        </p:nvSpPr>
        <p:spPr>
          <a:xfrm>
            <a:off x="777240" y="6428232"/>
            <a:ext cx="8686800" cy="274320"/>
          </a:xfrm>
          <a:prstGeom prst="rect">
            <a:avLst/>
          </a:prstGeom>
          <a:noFill/>
        </p:spPr>
        <p:txBody>
          <a:bodyPr wrap="square" lIns="0" tIns="0" rIns="0" bIns="0">
            <a:spAutoFit/>
          </a:bodyPr>
          <a:lstStyle/>
          <a:p>
            <a:pPr algn="l">
              <a:lnSpc>
                <a:spcPct val="122000"/>
              </a:lnSpc>
              <a:spcBef>
                <a:spcPts val="0"/>
              </a:spcBef>
              <a:spcAft>
                <a:spcPts val="0"/>
              </a:spcAft>
            </a:pPr>
            <a:r>
              <a:rPr sz="950" b="0">
                <a:solidFill>
                  <a:srgbClr val="8B8478"/>
                </a:solidFill>
                <a:latin typeface="Arial"/>
              </a:rPr>
              <a:t>Paso 13 · Calibración conformal</a:t>
            </a:r>
          </a:p>
        </p:txBody>
      </p:sp>
      <p:sp>
        <p:nvSpPr>
          <p:cNvPr id="10" name="TextBox 9"/>
          <p:cNvSpPr txBox="1"/>
          <p:nvPr/>
        </p:nvSpPr>
        <p:spPr>
          <a:xfrm>
            <a:off x="10500055" y="6428232"/>
            <a:ext cx="914400" cy="274320"/>
          </a:xfrm>
          <a:prstGeom prst="rect">
            <a:avLst/>
          </a:prstGeom>
          <a:noFill/>
        </p:spPr>
        <p:txBody>
          <a:bodyPr wrap="square" lIns="0" tIns="0" rIns="0" bIns="0">
            <a:spAutoFit/>
          </a:bodyPr>
          <a:lstStyle/>
          <a:p>
            <a:pPr algn="r">
              <a:lnSpc>
                <a:spcPct val="122000"/>
              </a:lnSpc>
              <a:spcBef>
                <a:spcPts val="0"/>
              </a:spcBef>
              <a:spcAft>
                <a:spcPts val="0"/>
              </a:spcAft>
            </a:pPr>
            <a:r>
              <a:rPr sz="950" b="0">
                <a:solidFill>
                  <a:srgbClr val="8B8478"/>
                </a:solidFill>
                <a:latin typeface="Arial"/>
              </a:rPr>
              <a:t>37</a:t>
            </a:r>
          </a:p>
        </p:txBody>
      </p:sp>
      <p:pic>
        <p:nvPicPr>
          <p:cNvPr id="11" name="Picture 10">
            <a:extLst>
              <a:ext uri="{FF2B5EF4-FFF2-40B4-BE49-F238E27FC236}">
                <a16:creationId xmlns:a16="http://schemas.microsoft.com/office/drawing/2014/main" id="{FA7B64ED-FFF3-3D74-F6F4-55B8F03B0986}"/>
              </a:ext>
            </a:extLst>
          </p:cNvPr>
          <p:cNvPicPr>
            <a:picLocks noChangeAspect="1"/>
          </p:cNvPicPr>
          <p:nvPr/>
        </p:nvPicPr>
        <p:blipFill>
          <a:blip r:embed="rId3"/>
          <a:stretch>
            <a:fillRect/>
          </a:stretch>
        </p:blipFill>
        <p:spPr>
          <a:xfrm>
            <a:off x="6810998" y="1871106"/>
            <a:ext cx="4348801" cy="2688349"/>
          </a:xfrm>
          <a:prstGeom prst="rect">
            <a:avLst/>
          </a:prstGeom>
        </p:spPr>
      </p:pic>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777240" y="475488"/>
            <a:ext cx="10637215" cy="237744"/>
          </a:xfrm>
          <a:prstGeom prst="rect">
            <a:avLst/>
          </a:prstGeom>
          <a:noFill/>
        </p:spPr>
        <p:txBody>
          <a:bodyPr wrap="square" lIns="0" tIns="0" rIns="0" bIns="0">
            <a:spAutoFit/>
          </a:bodyPr>
          <a:lstStyle/>
          <a:p>
            <a:pPr algn="l">
              <a:lnSpc>
                <a:spcPct val="122000"/>
              </a:lnSpc>
              <a:spcBef>
                <a:spcPts val="0"/>
              </a:spcBef>
              <a:spcAft>
                <a:spcPts val="0"/>
              </a:spcAft>
            </a:pPr>
            <a:r>
              <a:rPr sz="1050" b="1">
                <a:solidFill>
                  <a:srgbClr val="8C2F39"/>
                </a:solidFill>
                <a:latin typeface="Arial"/>
              </a:rPr>
              <a:t>PASO 11 · LA REJILLA ENTRENADA</a:t>
            </a:r>
          </a:p>
        </p:txBody>
      </p:sp>
      <p:sp>
        <p:nvSpPr>
          <p:cNvPr id="4" name="Rectangle 3"/>
          <p:cNvSpPr/>
          <p:nvPr/>
        </p:nvSpPr>
        <p:spPr>
          <a:xfrm>
            <a:off x="777240" y="768096"/>
            <a:ext cx="502920" cy="30480"/>
          </a:xfrm>
          <a:prstGeom prst="rect">
            <a:avLst/>
          </a:prstGeom>
          <a:solidFill>
            <a:srgbClr val="8C2F3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 name="TextBox 4"/>
          <p:cNvSpPr txBox="1"/>
          <p:nvPr/>
        </p:nvSpPr>
        <p:spPr>
          <a:xfrm>
            <a:off x="777240" y="914400"/>
            <a:ext cx="10637215" cy="836676"/>
          </a:xfrm>
          <a:prstGeom prst="rect">
            <a:avLst/>
          </a:prstGeom>
          <a:noFill/>
        </p:spPr>
        <p:txBody>
          <a:bodyPr wrap="square" lIns="0" tIns="0" rIns="0" bIns="0">
            <a:spAutoFit/>
          </a:bodyPr>
          <a:lstStyle/>
          <a:p>
            <a:pPr algn="l">
              <a:lnSpc>
                <a:spcPct val="106000"/>
              </a:lnSpc>
              <a:spcBef>
                <a:spcPts val="0"/>
              </a:spcBef>
              <a:spcAft>
                <a:spcPts val="0"/>
              </a:spcAft>
            </a:pPr>
            <a:r>
              <a:rPr sz="2700" b="1">
                <a:solidFill>
                  <a:srgbClr val="17150F"/>
                </a:solidFill>
                <a:latin typeface="Arial"/>
              </a:rPr>
              <a:t>El abanico se adapta a cada serie, que es para lo que se eligió</a:t>
            </a:r>
          </a:p>
        </p:txBody>
      </p:sp>
      <p:sp>
        <p:nvSpPr>
          <p:cNvPr id="7" name="TextBox 6"/>
          <p:cNvSpPr txBox="1"/>
          <p:nvPr/>
        </p:nvSpPr>
        <p:spPr>
          <a:xfrm>
            <a:off x="1028700" y="4006054"/>
            <a:ext cx="9858642" cy="1231684"/>
          </a:xfrm>
          <a:prstGeom prst="rect">
            <a:avLst/>
          </a:prstGeom>
          <a:noFill/>
        </p:spPr>
        <p:txBody>
          <a:bodyPr wrap="square" lIns="0" tIns="0" rIns="0" bIns="0">
            <a:spAutoFit/>
          </a:bodyPr>
          <a:lstStyle/>
          <a:p>
            <a:pPr algn="l">
              <a:lnSpc>
                <a:spcPct val="130000"/>
              </a:lnSpc>
              <a:spcBef>
                <a:spcPts val="0"/>
              </a:spcBef>
              <a:spcAft>
                <a:spcPts val="1400"/>
              </a:spcAft>
            </a:pPr>
            <a:r>
              <a:rPr lang="en-US" sz="1350" b="0" dirty="0">
                <a:solidFill>
                  <a:srgbClr val="555045"/>
                </a:solidFill>
                <a:latin typeface="Arial"/>
              </a:rPr>
              <a:t>Cuatro series de las </a:t>
            </a:r>
            <a:r>
              <a:rPr lang="en-US" sz="1350" b="0" dirty="0" err="1">
                <a:solidFill>
                  <a:srgbClr val="555045"/>
                </a:solidFill>
                <a:latin typeface="Arial"/>
              </a:rPr>
              <a:t>semanas</a:t>
            </a:r>
            <a:r>
              <a:rPr lang="en-US" sz="1350" b="0" dirty="0">
                <a:solidFill>
                  <a:srgbClr val="555045"/>
                </a:solidFill>
                <a:latin typeface="Arial"/>
              </a:rPr>
              <a:t> de </a:t>
            </a:r>
            <a:r>
              <a:rPr lang="en-US" sz="1350" b="0" dirty="0" err="1">
                <a:solidFill>
                  <a:srgbClr val="555045"/>
                </a:solidFill>
                <a:latin typeface="Arial"/>
              </a:rPr>
              <a:t>prueba</a:t>
            </a:r>
            <a:r>
              <a:rPr lang="en-US" sz="1350" b="0" dirty="0">
                <a:solidFill>
                  <a:srgbClr val="555045"/>
                </a:solidFill>
                <a:latin typeface="Arial"/>
              </a:rPr>
              <a:t>, </a:t>
            </a:r>
            <a:r>
              <a:rPr lang="en-US" sz="1350" b="0" dirty="0" err="1">
                <a:solidFill>
                  <a:srgbClr val="555045"/>
                </a:solidFill>
                <a:latin typeface="Arial"/>
              </a:rPr>
              <a:t>elegidas</a:t>
            </a:r>
            <a:r>
              <a:rPr lang="en-US" sz="1350" b="0" dirty="0">
                <a:solidFill>
                  <a:srgbClr val="555045"/>
                </a:solidFill>
                <a:latin typeface="Arial"/>
              </a:rPr>
              <a:t> </a:t>
            </a:r>
            <a:r>
              <a:rPr lang="en-US" sz="1350" b="0" dirty="0" err="1">
                <a:solidFill>
                  <a:srgbClr val="555045"/>
                </a:solidFill>
                <a:latin typeface="Arial"/>
              </a:rPr>
              <a:t>por</a:t>
            </a:r>
            <a:r>
              <a:rPr lang="en-US" sz="1350" b="0" dirty="0">
                <a:solidFill>
                  <a:srgbClr val="555045"/>
                </a:solidFill>
                <a:latin typeface="Arial"/>
              </a:rPr>
              <a:t> </a:t>
            </a:r>
            <a:r>
              <a:rPr lang="en-US" sz="1350" b="0" dirty="0" err="1">
                <a:solidFill>
                  <a:srgbClr val="555045"/>
                </a:solidFill>
                <a:latin typeface="Arial"/>
              </a:rPr>
              <a:t>dato</a:t>
            </a:r>
            <a:r>
              <a:rPr lang="en-US" sz="1350" b="0" dirty="0">
                <a:solidFill>
                  <a:srgbClr val="555045"/>
                </a:solidFill>
                <a:latin typeface="Arial"/>
              </a:rPr>
              <a:t>: </a:t>
            </a:r>
            <a:r>
              <a:rPr lang="en-US" sz="1350" b="0" dirty="0" err="1">
                <a:solidFill>
                  <a:srgbClr val="555045"/>
                </a:solidFill>
                <a:latin typeface="Arial"/>
              </a:rPr>
              <a:t>tres</a:t>
            </a:r>
            <a:r>
              <a:rPr lang="en-US" sz="1350" b="0" dirty="0">
                <a:solidFill>
                  <a:srgbClr val="555045"/>
                </a:solidFill>
                <a:latin typeface="Arial"/>
              </a:rPr>
              <a:t> de las </a:t>
            </a:r>
            <a:r>
              <a:rPr lang="en-US" sz="1350" b="0" dirty="0" err="1">
                <a:solidFill>
                  <a:srgbClr val="555045"/>
                </a:solidFill>
                <a:latin typeface="Arial"/>
              </a:rPr>
              <a:t>mejor</a:t>
            </a:r>
            <a:r>
              <a:rPr lang="en-US" sz="1350" b="0" dirty="0">
                <a:solidFill>
                  <a:srgbClr val="555045"/>
                </a:solidFill>
                <a:latin typeface="Arial"/>
              </a:rPr>
              <a:t> </a:t>
            </a:r>
            <a:r>
              <a:rPr lang="en-US" sz="1350" b="0" dirty="0" err="1">
                <a:solidFill>
                  <a:srgbClr val="555045"/>
                </a:solidFill>
                <a:latin typeface="Arial"/>
              </a:rPr>
              <a:t>cubiertas</a:t>
            </a:r>
            <a:r>
              <a:rPr lang="en-US" sz="1350" b="0" dirty="0">
                <a:solidFill>
                  <a:srgbClr val="555045"/>
                </a:solidFill>
                <a:latin typeface="Arial"/>
              </a:rPr>
              <a:t> y la </a:t>
            </a:r>
            <a:r>
              <a:rPr lang="en-US" sz="1350" b="0" dirty="0" err="1">
                <a:solidFill>
                  <a:srgbClr val="555045"/>
                </a:solidFill>
                <a:latin typeface="Arial"/>
              </a:rPr>
              <a:t>peor</a:t>
            </a:r>
            <a:r>
              <a:rPr lang="en-US" sz="1350" b="0" dirty="0">
                <a:solidFill>
                  <a:srgbClr val="555045"/>
                </a:solidFill>
                <a:latin typeface="Arial"/>
              </a:rPr>
              <a:t> de las 160. La </a:t>
            </a:r>
            <a:r>
              <a:rPr lang="en-US" sz="1350" b="0" dirty="0" err="1">
                <a:solidFill>
                  <a:srgbClr val="555045"/>
                </a:solidFill>
                <a:latin typeface="Arial"/>
              </a:rPr>
              <a:t>línea</a:t>
            </a:r>
            <a:r>
              <a:rPr lang="en-US" sz="1350" b="0" dirty="0">
                <a:solidFill>
                  <a:srgbClr val="555045"/>
                </a:solidFill>
                <a:latin typeface="Arial"/>
              </a:rPr>
              <a:t> </a:t>
            </a:r>
            <a:r>
              <a:rPr lang="en-US" sz="1350" b="0" dirty="0" err="1">
                <a:solidFill>
                  <a:srgbClr val="555045"/>
                </a:solidFill>
                <a:latin typeface="Arial"/>
              </a:rPr>
              <a:t>discontinua</a:t>
            </a:r>
            <a:r>
              <a:rPr lang="en-US" sz="1350" b="0" dirty="0">
                <a:solidFill>
                  <a:srgbClr val="555045"/>
                </a:solidFill>
                <a:latin typeface="Arial"/>
              </a:rPr>
              <a:t> es lo </a:t>
            </a:r>
            <a:r>
              <a:rPr lang="en-US" sz="1350" b="0" dirty="0" err="1">
                <a:solidFill>
                  <a:srgbClr val="555045"/>
                </a:solidFill>
                <a:latin typeface="Arial"/>
              </a:rPr>
              <a:t>que</a:t>
            </a:r>
            <a:r>
              <a:rPr lang="en-US" sz="1350" b="0" dirty="0">
                <a:solidFill>
                  <a:srgbClr val="555045"/>
                </a:solidFill>
                <a:latin typeface="Arial"/>
              </a:rPr>
              <a:t> se </a:t>
            </a:r>
            <a:r>
              <a:rPr lang="en-US" sz="1350" b="0" dirty="0" err="1">
                <a:solidFill>
                  <a:srgbClr val="555045"/>
                </a:solidFill>
                <a:latin typeface="Arial"/>
              </a:rPr>
              <a:t>pediría</a:t>
            </a:r>
            <a:r>
              <a:rPr lang="en-US" sz="1350" b="0" dirty="0">
                <a:solidFill>
                  <a:srgbClr val="555045"/>
                </a:solidFill>
                <a:latin typeface="Arial"/>
              </a:rPr>
              <a:t>; la </a:t>
            </a:r>
            <a:r>
              <a:rPr lang="en-US" sz="1350" b="0" dirty="0" err="1">
                <a:solidFill>
                  <a:srgbClr val="555045"/>
                </a:solidFill>
                <a:latin typeface="Arial"/>
              </a:rPr>
              <a:t>franja</a:t>
            </a:r>
            <a:r>
              <a:rPr lang="en-US" sz="1350" b="0" dirty="0">
                <a:solidFill>
                  <a:srgbClr val="555045"/>
                </a:solidFill>
                <a:latin typeface="Arial"/>
              </a:rPr>
              <a:t>, el </a:t>
            </a:r>
            <a:r>
              <a:rPr lang="en-US" sz="1350" b="0" dirty="0" err="1">
                <a:solidFill>
                  <a:srgbClr val="555045"/>
                </a:solidFill>
                <a:latin typeface="Arial"/>
              </a:rPr>
              <a:t>colchón</a:t>
            </a:r>
            <a:r>
              <a:rPr lang="en-US" sz="1350" b="0" dirty="0">
                <a:solidFill>
                  <a:srgbClr val="555045"/>
                </a:solidFill>
                <a:latin typeface="Arial"/>
              </a:rPr>
              <a:t> </a:t>
            </a:r>
            <a:r>
              <a:rPr lang="en-US" sz="1350" b="0" dirty="0" err="1">
                <a:solidFill>
                  <a:srgbClr val="555045"/>
                </a:solidFill>
                <a:latin typeface="Arial"/>
              </a:rPr>
              <a:t>sobre</a:t>
            </a:r>
            <a:r>
              <a:rPr lang="en-US" sz="1350" b="0" dirty="0">
                <a:solidFill>
                  <a:srgbClr val="555045"/>
                </a:solidFill>
                <a:latin typeface="Arial"/>
              </a:rPr>
              <a:t> el </a:t>
            </a:r>
            <a:r>
              <a:rPr lang="en-US" sz="1350" b="0" dirty="0" err="1">
                <a:solidFill>
                  <a:srgbClr val="555045"/>
                </a:solidFill>
                <a:latin typeface="Arial"/>
              </a:rPr>
              <a:t>pronóstico</a:t>
            </a:r>
            <a:r>
              <a:rPr lang="en-US" sz="1350" b="0" dirty="0">
                <a:solidFill>
                  <a:srgbClr val="555045"/>
                </a:solidFill>
                <a:latin typeface="Arial"/>
              </a:rPr>
              <a:t> central.</a:t>
            </a:r>
          </a:p>
          <a:p>
            <a:pPr algn="l">
              <a:lnSpc>
                <a:spcPct val="130000"/>
              </a:lnSpc>
              <a:spcBef>
                <a:spcPts val="0"/>
              </a:spcBef>
              <a:spcAft>
                <a:spcPts val="1400"/>
              </a:spcAft>
            </a:pPr>
            <a:r>
              <a:rPr lang="en-US" sz="1350" dirty="0">
                <a:solidFill>
                  <a:srgbClr val="555045"/>
                </a:solidFill>
                <a:latin typeface="Arial"/>
              </a:rPr>
              <a:t>En las </a:t>
            </a:r>
            <a:r>
              <a:rPr lang="en-US" sz="1350" dirty="0" err="1">
                <a:solidFill>
                  <a:srgbClr val="555045"/>
                </a:solidFill>
                <a:latin typeface="Arial"/>
              </a:rPr>
              <a:t>buenas</a:t>
            </a:r>
            <a:r>
              <a:rPr lang="en-US" sz="1350" dirty="0">
                <a:solidFill>
                  <a:srgbClr val="555045"/>
                </a:solidFill>
                <a:latin typeface="Arial"/>
              </a:rPr>
              <a:t>, el </a:t>
            </a:r>
            <a:r>
              <a:rPr lang="en-US" sz="1350" dirty="0" err="1">
                <a:solidFill>
                  <a:srgbClr val="555045"/>
                </a:solidFill>
                <a:latin typeface="Arial"/>
              </a:rPr>
              <a:t>pedido</a:t>
            </a:r>
            <a:r>
              <a:rPr lang="en-US" sz="1350" dirty="0">
                <a:solidFill>
                  <a:srgbClr val="555045"/>
                </a:solidFill>
                <a:latin typeface="Arial"/>
              </a:rPr>
              <a:t> </a:t>
            </a:r>
            <a:r>
              <a:rPr lang="en-US" sz="1350" dirty="0" err="1">
                <a:solidFill>
                  <a:srgbClr val="555045"/>
                </a:solidFill>
                <a:latin typeface="Arial"/>
              </a:rPr>
              <a:t>cubre</a:t>
            </a:r>
            <a:r>
              <a:rPr lang="en-US" sz="1350" dirty="0">
                <a:solidFill>
                  <a:srgbClr val="555045"/>
                </a:solidFill>
                <a:latin typeface="Arial"/>
              </a:rPr>
              <a:t> la </a:t>
            </a:r>
            <a:r>
              <a:rPr lang="en-US" sz="1350" dirty="0" err="1">
                <a:solidFill>
                  <a:srgbClr val="555045"/>
                </a:solidFill>
                <a:latin typeface="Arial"/>
              </a:rPr>
              <a:t>venta</a:t>
            </a:r>
            <a:r>
              <a:rPr lang="en-US" sz="1350" dirty="0">
                <a:solidFill>
                  <a:srgbClr val="555045"/>
                </a:solidFill>
                <a:latin typeface="Arial"/>
              </a:rPr>
              <a:t> con </a:t>
            </a:r>
            <a:r>
              <a:rPr lang="en-US" sz="1350" dirty="0" err="1">
                <a:solidFill>
                  <a:srgbClr val="555045"/>
                </a:solidFill>
                <a:latin typeface="Arial"/>
              </a:rPr>
              <a:t>sobrante</a:t>
            </a:r>
            <a:r>
              <a:rPr lang="en-US" sz="1350" dirty="0">
                <a:solidFill>
                  <a:srgbClr val="555045"/>
                </a:solidFill>
                <a:latin typeface="Arial"/>
              </a:rPr>
              <a:t> </a:t>
            </a:r>
            <a:r>
              <a:rPr lang="en-US" sz="1350" dirty="0" err="1">
                <a:solidFill>
                  <a:srgbClr val="555045"/>
                </a:solidFill>
                <a:latin typeface="Arial"/>
              </a:rPr>
              <a:t>pequeño</a:t>
            </a:r>
            <a:r>
              <a:rPr lang="en-US" sz="1350" dirty="0">
                <a:solidFill>
                  <a:srgbClr val="555045"/>
                </a:solidFill>
                <a:latin typeface="Arial"/>
              </a:rPr>
              <a:t> y el </a:t>
            </a:r>
            <a:r>
              <a:rPr lang="en-US" sz="1350" dirty="0" err="1">
                <a:solidFill>
                  <a:srgbClr val="555045"/>
                </a:solidFill>
                <a:latin typeface="Arial"/>
              </a:rPr>
              <a:t>colchón</a:t>
            </a:r>
            <a:r>
              <a:rPr lang="en-US" sz="1350" dirty="0">
                <a:solidFill>
                  <a:srgbClr val="555045"/>
                </a:solidFill>
                <a:latin typeface="Arial"/>
              </a:rPr>
              <a:t> cambia con </a:t>
            </a:r>
            <a:r>
              <a:rPr lang="en-US" sz="1350" dirty="0" err="1">
                <a:solidFill>
                  <a:srgbClr val="555045"/>
                </a:solidFill>
                <a:latin typeface="Arial"/>
              </a:rPr>
              <a:t>cada</a:t>
            </a:r>
            <a:r>
              <a:rPr lang="en-US" sz="1350" dirty="0">
                <a:solidFill>
                  <a:srgbClr val="555045"/>
                </a:solidFill>
                <a:latin typeface="Arial"/>
              </a:rPr>
              <a:t> </a:t>
            </a:r>
            <a:r>
              <a:rPr lang="en-US" sz="1350" dirty="0" err="1">
                <a:solidFill>
                  <a:srgbClr val="555045"/>
                </a:solidFill>
                <a:latin typeface="Arial"/>
              </a:rPr>
              <a:t>serie</a:t>
            </a:r>
            <a:r>
              <a:rPr lang="en-US" sz="1350" dirty="0">
                <a:solidFill>
                  <a:srgbClr val="555045"/>
                </a:solidFill>
                <a:latin typeface="Arial"/>
              </a:rPr>
              <a:t>. La </a:t>
            </a:r>
            <a:r>
              <a:rPr lang="en-US" sz="1350" dirty="0" err="1">
                <a:solidFill>
                  <a:srgbClr val="555045"/>
                </a:solidFill>
                <a:latin typeface="Arial"/>
              </a:rPr>
              <a:t>peor</a:t>
            </a:r>
            <a:r>
              <a:rPr lang="en-US" sz="1350" dirty="0">
                <a:solidFill>
                  <a:srgbClr val="555045"/>
                </a:solidFill>
                <a:latin typeface="Arial"/>
              </a:rPr>
              <a:t>, STORE_09 con Café con Leche, es la </a:t>
            </a:r>
            <a:r>
              <a:rPr lang="en-US" sz="1350" dirty="0" err="1">
                <a:solidFill>
                  <a:srgbClr val="555045"/>
                </a:solidFill>
                <a:latin typeface="Arial"/>
              </a:rPr>
              <a:t>misma</a:t>
            </a:r>
            <a:r>
              <a:rPr lang="en-US" sz="1350" dirty="0">
                <a:solidFill>
                  <a:srgbClr val="555045"/>
                </a:solidFill>
                <a:latin typeface="Arial"/>
              </a:rPr>
              <a:t> </a:t>
            </a:r>
            <a:r>
              <a:rPr lang="en-US" sz="1350" dirty="0" err="1">
                <a:solidFill>
                  <a:srgbClr val="555045"/>
                </a:solidFill>
                <a:latin typeface="Arial"/>
              </a:rPr>
              <a:t>que</a:t>
            </a:r>
            <a:r>
              <a:rPr lang="en-US" sz="1350" dirty="0">
                <a:solidFill>
                  <a:srgbClr val="555045"/>
                </a:solidFill>
                <a:latin typeface="Arial"/>
              </a:rPr>
              <a:t> el </a:t>
            </a:r>
            <a:r>
              <a:rPr lang="en-US" sz="1350" dirty="0" err="1">
                <a:solidFill>
                  <a:srgbClr val="555045"/>
                </a:solidFill>
                <a:latin typeface="Arial"/>
              </a:rPr>
              <a:t>diagnóstico</a:t>
            </a:r>
            <a:r>
              <a:rPr lang="en-US" sz="1350" dirty="0">
                <a:solidFill>
                  <a:srgbClr val="555045"/>
                </a:solidFill>
                <a:latin typeface="Arial"/>
              </a:rPr>
              <a:t> </a:t>
            </a:r>
            <a:r>
              <a:rPr lang="en-US" sz="1350" dirty="0" err="1">
                <a:solidFill>
                  <a:srgbClr val="555045"/>
                </a:solidFill>
                <a:latin typeface="Arial"/>
              </a:rPr>
              <a:t>señala</a:t>
            </a:r>
            <a:r>
              <a:rPr lang="en-US" sz="1350" dirty="0">
                <a:solidFill>
                  <a:srgbClr val="555045"/>
                </a:solidFill>
                <a:latin typeface="Arial"/>
              </a:rPr>
              <a:t> primero: el </a:t>
            </a:r>
            <a:r>
              <a:rPr lang="en-US" sz="1350" dirty="0" err="1">
                <a:solidFill>
                  <a:srgbClr val="555045"/>
                </a:solidFill>
                <a:latin typeface="Arial"/>
              </a:rPr>
              <a:t>proceso</a:t>
            </a:r>
            <a:r>
              <a:rPr lang="en-US" sz="1350" dirty="0">
                <a:solidFill>
                  <a:srgbClr val="555045"/>
                </a:solidFill>
                <a:latin typeface="Arial"/>
              </a:rPr>
              <a:t> </a:t>
            </a:r>
            <a:r>
              <a:rPr lang="en-US" sz="1350" dirty="0" err="1">
                <a:solidFill>
                  <a:srgbClr val="555045"/>
                </a:solidFill>
                <a:latin typeface="Arial"/>
              </a:rPr>
              <a:t>detecta</a:t>
            </a:r>
            <a:r>
              <a:rPr lang="en-US" sz="1350" dirty="0">
                <a:solidFill>
                  <a:srgbClr val="555045"/>
                </a:solidFill>
                <a:latin typeface="Arial"/>
              </a:rPr>
              <a:t> </a:t>
            </a:r>
            <a:r>
              <a:rPr lang="en-US" sz="1350" dirty="0" err="1">
                <a:solidFill>
                  <a:srgbClr val="555045"/>
                </a:solidFill>
                <a:latin typeface="Arial"/>
              </a:rPr>
              <a:t>dónde</a:t>
            </a:r>
            <a:r>
              <a:rPr lang="en-US" sz="1350" dirty="0">
                <a:solidFill>
                  <a:srgbClr val="555045"/>
                </a:solidFill>
                <a:latin typeface="Arial"/>
              </a:rPr>
              <a:t> no </a:t>
            </a:r>
            <a:r>
              <a:rPr lang="en-US" sz="1350" dirty="0" err="1">
                <a:solidFill>
                  <a:srgbClr val="555045"/>
                </a:solidFill>
                <a:latin typeface="Arial"/>
              </a:rPr>
              <a:t>acierta</a:t>
            </a:r>
            <a:r>
              <a:rPr lang="en-US" sz="1350" dirty="0">
                <a:solidFill>
                  <a:srgbClr val="555045"/>
                </a:solidFill>
                <a:latin typeface="Arial"/>
              </a:rPr>
              <a:t>.</a:t>
            </a:r>
          </a:p>
        </p:txBody>
      </p:sp>
      <p:sp>
        <p:nvSpPr>
          <p:cNvPr id="8" name="Rectangle 7"/>
          <p:cNvSpPr/>
          <p:nvPr/>
        </p:nvSpPr>
        <p:spPr>
          <a:xfrm>
            <a:off x="777240" y="6327648"/>
            <a:ext cx="10637215" cy="9525"/>
          </a:xfrm>
          <a:prstGeom prst="rect">
            <a:avLst/>
          </a:prstGeom>
          <a:solidFill>
            <a:srgbClr val="DCD8C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9" name="TextBox 8"/>
          <p:cNvSpPr txBox="1"/>
          <p:nvPr/>
        </p:nvSpPr>
        <p:spPr>
          <a:xfrm>
            <a:off x="777240" y="6428232"/>
            <a:ext cx="8686800" cy="274320"/>
          </a:xfrm>
          <a:prstGeom prst="rect">
            <a:avLst/>
          </a:prstGeom>
          <a:noFill/>
        </p:spPr>
        <p:txBody>
          <a:bodyPr wrap="square" lIns="0" tIns="0" rIns="0" bIns="0">
            <a:spAutoFit/>
          </a:bodyPr>
          <a:lstStyle/>
          <a:p>
            <a:pPr algn="l">
              <a:lnSpc>
                <a:spcPct val="122000"/>
              </a:lnSpc>
              <a:spcBef>
                <a:spcPts val="0"/>
              </a:spcBef>
              <a:spcAft>
                <a:spcPts val="0"/>
              </a:spcAft>
            </a:pPr>
            <a:r>
              <a:rPr sz="950" b="0">
                <a:solidFill>
                  <a:srgbClr val="8B8478"/>
                </a:solidFill>
                <a:latin typeface="Arial"/>
              </a:rPr>
              <a:t>Paso 11 · Rejilla de niveles</a:t>
            </a:r>
          </a:p>
        </p:txBody>
      </p:sp>
      <p:sp>
        <p:nvSpPr>
          <p:cNvPr id="10" name="TextBox 9"/>
          <p:cNvSpPr txBox="1"/>
          <p:nvPr/>
        </p:nvSpPr>
        <p:spPr>
          <a:xfrm>
            <a:off x="10500055" y="6428232"/>
            <a:ext cx="914400" cy="274320"/>
          </a:xfrm>
          <a:prstGeom prst="rect">
            <a:avLst/>
          </a:prstGeom>
          <a:noFill/>
        </p:spPr>
        <p:txBody>
          <a:bodyPr wrap="square" lIns="0" tIns="0" rIns="0" bIns="0">
            <a:spAutoFit/>
          </a:bodyPr>
          <a:lstStyle/>
          <a:p>
            <a:pPr algn="r">
              <a:lnSpc>
                <a:spcPct val="122000"/>
              </a:lnSpc>
              <a:spcBef>
                <a:spcPts val="0"/>
              </a:spcBef>
              <a:spcAft>
                <a:spcPts val="0"/>
              </a:spcAft>
            </a:pPr>
            <a:r>
              <a:rPr sz="950" b="0">
                <a:solidFill>
                  <a:srgbClr val="8B8478"/>
                </a:solidFill>
                <a:latin typeface="Arial"/>
              </a:rPr>
              <a:t>32</a:t>
            </a:r>
          </a:p>
        </p:txBody>
      </p:sp>
      <p:pic>
        <p:nvPicPr>
          <p:cNvPr id="11" name="Picture 10">
            <a:extLst>
              <a:ext uri="{FF2B5EF4-FFF2-40B4-BE49-F238E27FC236}">
                <a16:creationId xmlns:a16="http://schemas.microsoft.com/office/drawing/2014/main" id="{AD19F758-A52B-5402-7951-2B928DEF516C}"/>
              </a:ext>
            </a:extLst>
          </p:cNvPr>
          <p:cNvPicPr>
            <a:picLocks noChangeAspect="1"/>
          </p:cNvPicPr>
          <p:nvPr/>
        </p:nvPicPr>
        <p:blipFill>
          <a:blip r:embed="rId2"/>
          <a:stretch>
            <a:fillRect/>
          </a:stretch>
        </p:blipFill>
        <p:spPr>
          <a:xfrm>
            <a:off x="1474862" y="1502743"/>
            <a:ext cx="7772400" cy="2319183"/>
          </a:xfrm>
          <a:prstGeom prst="rect">
            <a:avLst/>
          </a:prstGeom>
        </p:spPr>
      </p:pic>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777240" y="475488"/>
            <a:ext cx="10637215" cy="237744"/>
          </a:xfrm>
          <a:prstGeom prst="rect">
            <a:avLst/>
          </a:prstGeom>
          <a:noFill/>
        </p:spPr>
        <p:txBody>
          <a:bodyPr wrap="square" lIns="0" tIns="0" rIns="0" bIns="0">
            <a:spAutoFit/>
          </a:bodyPr>
          <a:lstStyle/>
          <a:p>
            <a:pPr algn="l">
              <a:lnSpc>
                <a:spcPct val="122000"/>
              </a:lnSpc>
              <a:spcBef>
                <a:spcPts val="0"/>
              </a:spcBef>
              <a:spcAft>
                <a:spcPts val="0"/>
              </a:spcAft>
            </a:pPr>
            <a:r>
              <a:rPr sz="1050" b="1">
                <a:solidFill>
                  <a:srgbClr val="8C2F39"/>
                </a:solidFill>
                <a:latin typeface="Arial"/>
              </a:rPr>
              <a:t>PASO 12 · DIAGNÓSTICO</a:t>
            </a:r>
          </a:p>
        </p:txBody>
      </p:sp>
      <p:sp>
        <p:nvSpPr>
          <p:cNvPr id="4" name="Rectangle 3"/>
          <p:cNvSpPr/>
          <p:nvPr/>
        </p:nvSpPr>
        <p:spPr>
          <a:xfrm>
            <a:off x="777240" y="768096"/>
            <a:ext cx="502920" cy="30480"/>
          </a:xfrm>
          <a:prstGeom prst="rect">
            <a:avLst/>
          </a:prstGeom>
          <a:solidFill>
            <a:srgbClr val="8C2F3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 name="TextBox 4"/>
          <p:cNvSpPr txBox="1"/>
          <p:nvPr/>
        </p:nvSpPr>
        <p:spPr>
          <a:xfrm>
            <a:off x="777240" y="914400"/>
            <a:ext cx="10637215" cy="445770"/>
          </a:xfrm>
          <a:prstGeom prst="rect">
            <a:avLst/>
          </a:prstGeom>
          <a:noFill/>
        </p:spPr>
        <p:txBody>
          <a:bodyPr wrap="square" lIns="0" tIns="0" rIns="0" bIns="0">
            <a:spAutoFit/>
          </a:bodyPr>
          <a:lstStyle/>
          <a:p>
            <a:pPr algn="l">
              <a:lnSpc>
                <a:spcPct val="106000"/>
              </a:lnSpc>
              <a:spcBef>
                <a:spcPts val="0"/>
              </a:spcBef>
              <a:spcAft>
                <a:spcPts val="0"/>
              </a:spcAft>
            </a:pPr>
            <a:r>
              <a:rPr sz="2700" b="1">
                <a:solidFill>
                  <a:srgbClr val="17150F"/>
                </a:solidFill>
                <a:latin typeface="Arial"/>
              </a:rPr>
              <a:t>El error se concentra en las tiendas pequeñas</a:t>
            </a:r>
          </a:p>
        </p:txBody>
      </p:sp>
      <p:pic>
        <p:nvPicPr>
          <p:cNvPr id="6" name="Picture 5" descr="18_error_por_grupo.png"/>
          <p:cNvPicPr>
            <a:picLocks noChangeAspect="1"/>
          </p:cNvPicPr>
          <p:nvPr/>
        </p:nvPicPr>
        <p:blipFill>
          <a:blip r:embed="rId2"/>
          <a:stretch>
            <a:fillRect/>
          </a:stretch>
        </p:blipFill>
        <p:spPr>
          <a:xfrm>
            <a:off x="777240" y="1506474"/>
            <a:ext cx="5760720" cy="2409028"/>
          </a:xfrm>
          <a:prstGeom prst="rect">
            <a:avLst/>
          </a:prstGeom>
        </p:spPr>
      </p:pic>
      <p:graphicFrame>
        <p:nvGraphicFramePr>
          <p:cNvPr id="7" name="Table 6"/>
          <p:cNvGraphicFramePr>
            <a:graphicFrameLocks noGrp="1"/>
          </p:cNvGraphicFramePr>
          <p:nvPr/>
        </p:nvGraphicFramePr>
        <p:xfrm>
          <a:off x="6858000" y="1552194"/>
          <a:ext cx="4556454" cy="1517904"/>
        </p:xfrm>
        <a:graphic>
          <a:graphicData uri="http://schemas.openxmlformats.org/drawingml/2006/table">
            <a:tbl>
              <a:tblPr bandRow="1">
                <a:tableStyleId>{5C22544A-7EE6-4342-B048-85BDC9FD1C3A}</a:tableStyleId>
              </a:tblPr>
              <a:tblGrid>
                <a:gridCol w="1549194">
                  <a:extLst>
                    <a:ext uri="{9D8B030D-6E8A-4147-A177-3AD203B41FA5}">
                      <a16:colId xmlns:a16="http://schemas.microsoft.com/office/drawing/2014/main" val="20000"/>
                    </a:ext>
                  </a:extLst>
                </a:gridCol>
                <a:gridCol w="1002420">
                  <a:extLst>
                    <a:ext uri="{9D8B030D-6E8A-4147-A177-3AD203B41FA5}">
                      <a16:colId xmlns:a16="http://schemas.microsoft.com/office/drawing/2014/main" val="20001"/>
                    </a:ext>
                  </a:extLst>
                </a:gridCol>
                <a:gridCol w="1002420">
                  <a:extLst>
                    <a:ext uri="{9D8B030D-6E8A-4147-A177-3AD203B41FA5}">
                      <a16:colId xmlns:a16="http://schemas.microsoft.com/office/drawing/2014/main" val="20002"/>
                    </a:ext>
                  </a:extLst>
                </a:gridCol>
                <a:gridCol w="1002420">
                  <a:extLst>
                    <a:ext uri="{9D8B030D-6E8A-4147-A177-3AD203B41FA5}">
                      <a16:colId xmlns:a16="http://schemas.microsoft.com/office/drawing/2014/main" val="20003"/>
                    </a:ext>
                  </a:extLst>
                </a:gridCol>
              </a:tblGrid>
              <a:tr h="347472">
                <a:tc>
                  <a:txBody>
                    <a:bodyPr/>
                    <a:lstStyle/>
                    <a:p>
                      <a:pPr algn="l"/>
                      <a:r>
                        <a:rPr sz="1000" b="1">
                          <a:solidFill>
                            <a:srgbClr val="8B8478"/>
                          </a:solidFill>
                          <a:latin typeface="Arial"/>
                        </a:rPr>
                        <a:t>Tramo</a:t>
                      </a:r>
                    </a:p>
                  </a:txBody>
                  <a:tcPr marL="82296" marR="82296" anchor="ctr">
                    <a:solidFill>
                      <a:srgbClr val="F4F2ED"/>
                    </a:solidFill>
                  </a:tcPr>
                </a:tc>
                <a:tc>
                  <a:txBody>
                    <a:bodyPr/>
                    <a:lstStyle/>
                    <a:p>
                      <a:pPr algn="r"/>
                      <a:r>
                        <a:rPr sz="1000" b="1">
                          <a:solidFill>
                            <a:srgbClr val="8B8478"/>
                          </a:solidFill>
                          <a:latin typeface="Arial"/>
                        </a:rPr>
                        <a:t>Demanda</a:t>
                      </a:r>
                    </a:p>
                  </a:txBody>
                  <a:tcPr marL="82296" marR="82296" anchor="ctr">
                    <a:solidFill>
                      <a:srgbClr val="F4F2ED"/>
                    </a:solidFill>
                  </a:tcPr>
                </a:tc>
                <a:tc>
                  <a:txBody>
                    <a:bodyPr/>
                    <a:lstStyle/>
                    <a:p>
                      <a:pPr algn="r"/>
                      <a:r>
                        <a:rPr sz="1000" b="1">
                          <a:solidFill>
                            <a:srgbClr val="8B8478"/>
                          </a:solidFill>
                          <a:latin typeface="Arial"/>
                        </a:rPr>
                        <a:t>Error</a:t>
                      </a:r>
                    </a:p>
                  </a:txBody>
                  <a:tcPr marL="82296" marR="82296" anchor="ctr">
                    <a:solidFill>
                      <a:srgbClr val="F4F2ED"/>
                    </a:solidFill>
                  </a:tcPr>
                </a:tc>
                <a:tc>
                  <a:txBody>
                    <a:bodyPr/>
                    <a:lstStyle/>
                    <a:p>
                      <a:pPr algn="r"/>
                      <a:r>
                        <a:rPr sz="1000" b="1">
                          <a:solidFill>
                            <a:srgbClr val="8B8478"/>
                          </a:solidFill>
                          <a:latin typeface="Arial"/>
                        </a:rPr>
                        <a:t>Sesgo</a:t>
                      </a:r>
                    </a:p>
                  </a:txBody>
                  <a:tcPr marL="82296" marR="82296" anchor="ctr">
                    <a:solidFill>
                      <a:srgbClr val="F4F2ED"/>
                    </a:solidFill>
                  </a:tcPr>
                </a:tc>
                <a:extLst>
                  <a:ext uri="{0D108BD9-81ED-4DB2-BD59-A6C34878D82A}">
                    <a16:rowId xmlns:a16="http://schemas.microsoft.com/office/drawing/2014/main" val="10000"/>
                  </a:ext>
                </a:extLst>
              </a:tr>
              <a:tr h="292608">
                <a:tc>
                  <a:txBody>
                    <a:bodyPr/>
                    <a:lstStyle/>
                    <a:p>
                      <a:pPr algn="l"/>
                      <a:r>
                        <a:rPr sz="1150" b="0">
                          <a:solidFill>
                            <a:srgbClr val="17150F"/>
                          </a:solidFill>
                          <a:latin typeface="Arial"/>
                        </a:rPr>
                        <a:t>1 · el más bajo</a:t>
                      </a:r>
                    </a:p>
                  </a:txBody>
                  <a:tcPr marL="82296" marR="82296" anchor="ctr">
                    <a:solidFill>
                      <a:srgbClr val="FFFFFF"/>
                    </a:solidFill>
                  </a:tcPr>
                </a:tc>
                <a:tc>
                  <a:txBody>
                    <a:bodyPr/>
                    <a:lstStyle/>
                    <a:p>
                      <a:pPr algn="r"/>
                      <a:r>
                        <a:rPr sz="1150" b="0">
                          <a:solidFill>
                            <a:srgbClr val="555045"/>
                          </a:solidFill>
                          <a:latin typeface="Arial"/>
                        </a:rPr>
                        <a:t>44,6</a:t>
                      </a:r>
                    </a:p>
                  </a:txBody>
                  <a:tcPr marL="82296" marR="82296" anchor="ctr">
                    <a:solidFill>
                      <a:srgbClr val="FFFFFF"/>
                    </a:solidFill>
                  </a:tcPr>
                </a:tc>
                <a:tc>
                  <a:txBody>
                    <a:bodyPr/>
                    <a:lstStyle/>
                    <a:p>
                      <a:pPr algn="r"/>
                      <a:r>
                        <a:rPr sz="1150" b="0">
                          <a:solidFill>
                            <a:srgbClr val="555045"/>
                          </a:solidFill>
                          <a:latin typeface="Arial"/>
                        </a:rPr>
                        <a:t>17,8 %</a:t>
                      </a:r>
                    </a:p>
                  </a:txBody>
                  <a:tcPr marL="82296" marR="82296" anchor="ctr">
                    <a:solidFill>
                      <a:srgbClr val="FFFFFF"/>
                    </a:solidFill>
                  </a:tcPr>
                </a:tc>
                <a:tc>
                  <a:txBody>
                    <a:bodyPr/>
                    <a:lstStyle/>
                    <a:p>
                      <a:pPr algn="r"/>
                      <a:r>
                        <a:rPr sz="1150" b="0">
                          <a:solidFill>
                            <a:srgbClr val="555045"/>
                          </a:solidFill>
                          <a:latin typeface="Arial"/>
                        </a:rPr>
                        <a:t>−3,44</a:t>
                      </a:r>
                    </a:p>
                  </a:txBody>
                  <a:tcPr marL="82296" marR="82296" anchor="ctr">
                    <a:solidFill>
                      <a:srgbClr val="FFFFFF"/>
                    </a:solidFill>
                  </a:tcPr>
                </a:tc>
                <a:extLst>
                  <a:ext uri="{0D108BD9-81ED-4DB2-BD59-A6C34878D82A}">
                    <a16:rowId xmlns:a16="http://schemas.microsoft.com/office/drawing/2014/main" val="10001"/>
                  </a:ext>
                </a:extLst>
              </a:tr>
              <a:tr h="292608">
                <a:tc>
                  <a:txBody>
                    <a:bodyPr/>
                    <a:lstStyle/>
                    <a:p>
                      <a:pPr algn="l"/>
                      <a:r>
                        <a:rPr sz="1150" b="0">
                          <a:solidFill>
                            <a:srgbClr val="17150F"/>
                          </a:solidFill>
                          <a:latin typeface="Arial"/>
                        </a:rPr>
                        <a:t>2</a:t>
                      </a:r>
                    </a:p>
                  </a:txBody>
                  <a:tcPr marL="82296" marR="82296" anchor="ctr">
                    <a:solidFill>
                      <a:srgbClr val="FFFFFF"/>
                    </a:solidFill>
                  </a:tcPr>
                </a:tc>
                <a:tc>
                  <a:txBody>
                    <a:bodyPr/>
                    <a:lstStyle/>
                    <a:p>
                      <a:pPr algn="r"/>
                      <a:r>
                        <a:rPr sz="1150" b="0">
                          <a:solidFill>
                            <a:srgbClr val="555045"/>
                          </a:solidFill>
                          <a:latin typeface="Arial"/>
                        </a:rPr>
                        <a:t>73,1</a:t>
                      </a:r>
                    </a:p>
                  </a:txBody>
                  <a:tcPr marL="82296" marR="82296" anchor="ctr">
                    <a:solidFill>
                      <a:srgbClr val="FFFFFF"/>
                    </a:solidFill>
                  </a:tcPr>
                </a:tc>
                <a:tc>
                  <a:txBody>
                    <a:bodyPr/>
                    <a:lstStyle/>
                    <a:p>
                      <a:pPr algn="r"/>
                      <a:r>
                        <a:rPr sz="1150" b="0">
                          <a:solidFill>
                            <a:srgbClr val="555045"/>
                          </a:solidFill>
                          <a:latin typeface="Arial"/>
                        </a:rPr>
                        <a:t>12,4 %</a:t>
                      </a:r>
                    </a:p>
                  </a:txBody>
                  <a:tcPr marL="82296" marR="82296" anchor="ctr">
                    <a:solidFill>
                      <a:srgbClr val="FFFFFF"/>
                    </a:solidFill>
                  </a:tcPr>
                </a:tc>
                <a:tc>
                  <a:txBody>
                    <a:bodyPr/>
                    <a:lstStyle/>
                    <a:p>
                      <a:pPr algn="r"/>
                      <a:r>
                        <a:rPr sz="1150" b="0">
                          <a:solidFill>
                            <a:srgbClr val="555045"/>
                          </a:solidFill>
                          <a:latin typeface="Arial"/>
                        </a:rPr>
                        <a:t>+0,15</a:t>
                      </a:r>
                    </a:p>
                  </a:txBody>
                  <a:tcPr marL="82296" marR="82296" anchor="ctr">
                    <a:solidFill>
                      <a:srgbClr val="FFFFFF"/>
                    </a:solidFill>
                  </a:tcPr>
                </a:tc>
                <a:extLst>
                  <a:ext uri="{0D108BD9-81ED-4DB2-BD59-A6C34878D82A}">
                    <a16:rowId xmlns:a16="http://schemas.microsoft.com/office/drawing/2014/main" val="10002"/>
                  </a:ext>
                </a:extLst>
              </a:tr>
              <a:tr h="292608">
                <a:tc>
                  <a:txBody>
                    <a:bodyPr/>
                    <a:lstStyle/>
                    <a:p>
                      <a:pPr algn="l"/>
                      <a:r>
                        <a:rPr sz="1150" b="0">
                          <a:solidFill>
                            <a:srgbClr val="17150F"/>
                          </a:solidFill>
                          <a:latin typeface="Arial"/>
                        </a:rPr>
                        <a:t>3</a:t>
                      </a:r>
                    </a:p>
                  </a:txBody>
                  <a:tcPr marL="82296" marR="82296" anchor="ctr">
                    <a:solidFill>
                      <a:srgbClr val="FFFFFF"/>
                    </a:solidFill>
                  </a:tcPr>
                </a:tc>
                <a:tc>
                  <a:txBody>
                    <a:bodyPr/>
                    <a:lstStyle/>
                    <a:p>
                      <a:pPr algn="r"/>
                      <a:r>
                        <a:rPr sz="1150" b="0">
                          <a:solidFill>
                            <a:srgbClr val="555045"/>
                          </a:solidFill>
                          <a:latin typeface="Arial"/>
                        </a:rPr>
                        <a:t>102,4</a:t>
                      </a:r>
                    </a:p>
                  </a:txBody>
                  <a:tcPr marL="82296" marR="82296" anchor="ctr">
                    <a:solidFill>
                      <a:srgbClr val="FFFFFF"/>
                    </a:solidFill>
                  </a:tcPr>
                </a:tc>
                <a:tc>
                  <a:txBody>
                    <a:bodyPr/>
                    <a:lstStyle/>
                    <a:p>
                      <a:pPr algn="r"/>
                      <a:r>
                        <a:rPr sz="1150" b="0">
                          <a:solidFill>
                            <a:srgbClr val="555045"/>
                          </a:solidFill>
                          <a:latin typeface="Arial"/>
                        </a:rPr>
                        <a:t>10,8 %</a:t>
                      </a:r>
                    </a:p>
                  </a:txBody>
                  <a:tcPr marL="82296" marR="82296" anchor="ctr">
                    <a:solidFill>
                      <a:srgbClr val="FFFFFF"/>
                    </a:solidFill>
                  </a:tcPr>
                </a:tc>
                <a:tc>
                  <a:txBody>
                    <a:bodyPr/>
                    <a:lstStyle/>
                    <a:p>
                      <a:pPr algn="r"/>
                      <a:r>
                        <a:rPr sz="1150" b="0">
                          <a:solidFill>
                            <a:srgbClr val="555045"/>
                          </a:solidFill>
                          <a:latin typeface="Arial"/>
                        </a:rPr>
                        <a:t>−3,20</a:t>
                      </a:r>
                    </a:p>
                  </a:txBody>
                  <a:tcPr marL="82296" marR="82296" anchor="ctr">
                    <a:solidFill>
                      <a:srgbClr val="FFFFFF"/>
                    </a:solidFill>
                  </a:tcPr>
                </a:tc>
                <a:extLst>
                  <a:ext uri="{0D108BD9-81ED-4DB2-BD59-A6C34878D82A}">
                    <a16:rowId xmlns:a16="http://schemas.microsoft.com/office/drawing/2014/main" val="10003"/>
                  </a:ext>
                </a:extLst>
              </a:tr>
              <a:tr h="292608">
                <a:tc>
                  <a:txBody>
                    <a:bodyPr/>
                    <a:lstStyle/>
                    <a:p>
                      <a:pPr algn="l"/>
                      <a:r>
                        <a:rPr sz="1150" b="0">
                          <a:solidFill>
                            <a:srgbClr val="17150F"/>
                          </a:solidFill>
                          <a:latin typeface="Arial"/>
                        </a:rPr>
                        <a:t>4 · el más alto</a:t>
                      </a:r>
                    </a:p>
                  </a:txBody>
                  <a:tcPr marL="82296" marR="82296" anchor="ctr">
                    <a:solidFill>
                      <a:srgbClr val="FFFFFF"/>
                    </a:solidFill>
                  </a:tcPr>
                </a:tc>
                <a:tc>
                  <a:txBody>
                    <a:bodyPr/>
                    <a:lstStyle/>
                    <a:p>
                      <a:pPr algn="r"/>
                      <a:r>
                        <a:rPr sz="1150" b="0">
                          <a:solidFill>
                            <a:srgbClr val="555045"/>
                          </a:solidFill>
                          <a:latin typeface="Arial"/>
                        </a:rPr>
                        <a:t>153,8</a:t>
                      </a:r>
                    </a:p>
                  </a:txBody>
                  <a:tcPr marL="82296" marR="82296" anchor="ctr">
                    <a:solidFill>
                      <a:srgbClr val="FFFFFF"/>
                    </a:solidFill>
                  </a:tcPr>
                </a:tc>
                <a:tc>
                  <a:txBody>
                    <a:bodyPr/>
                    <a:lstStyle/>
                    <a:p>
                      <a:pPr algn="r"/>
                      <a:r>
                        <a:rPr sz="1150" b="0">
                          <a:solidFill>
                            <a:srgbClr val="555045"/>
                          </a:solidFill>
                          <a:latin typeface="Arial"/>
                        </a:rPr>
                        <a:t>10,3 %</a:t>
                      </a:r>
                    </a:p>
                  </a:txBody>
                  <a:tcPr marL="82296" marR="82296" anchor="ctr">
                    <a:solidFill>
                      <a:srgbClr val="FFFFFF"/>
                    </a:solidFill>
                  </a:tcPr>
                </a:tc>
                <a:tc>
                  <a:txBody>
                    <a:bodyPr/>
                    <a:lstStyle/>
                    <a:p>
                      <a:pPr algn="r"/>
                      <a:r>
                        <a:rPr sz="1150" b="0">
                          <a:solidFill>
                            <a:srgbClr val="555045"/>
                          </a:solidFill>
                          <a:latin typeface="Arial"/>
                        </a:rPr>
                        <a:t>+6,85</a:t>
                      </a:r>
                    </a:p>
                  </a:txBody>
                  <a:tcPr marL="82296" marR="82296" anchor="ctr">
                    <a:solidFill>
                      <a:srgbClr val="FFFFFF"/>
                    </a:solidFill>
                  </a:tcPr>
                </a:tc>
                <a:extLst>
                  <a:ext uri="{0D108BD9-81ED-4DB2-BD59-A6C34878D82A}">
                    <a16:rowId xmlns:a16="http://schemas.microsoft.com/office/drawing/2014/main" val="10004"/>
                  </a:ext>
                </a:extLst>
              </a:tr>
            </a:tbl>
          </a:graphicData>
        </a:graphic>
      </p:graphicFrame>
      <p:sp>
        <p:nvSpPr>
          <p:cNvPr id="8" name="TextBox 7"/>
          <p:cNvSpPr txBox="1"/>
          <p:nvPr/>
        </p:nvSpPr>
        <p:spPr>
          <a:xfrm>
            <a:off x="6858000" y="3198114"/>
            <a:ext cx="4556455" cy="2743200"/>
          </a:xfrm>
          <a:prstGeom prst="rect">
            <a:avLst/>
          </a:prstGeom>
          <a:noFill/>
        </p:spPr>
        <p:txBody>
          <a:bodyPr wrap="square" lIns="0" tIns="0" rIns="0" bIns="0">
            <a:spAutoFit/>
          </a:bodyPr>
          <a:lstStyle/>
          <a:p>
            <a:pPr algn="l">
              <a:lnSpc>
                <a:spcPct val="128000"/>
              </a:lnSpc>
              <a:spcBef>
                <a:spcPts val="0"/>
              </a:spcBef>
              <a:spcAft>
                <a:spcPts val="1200"/>
              </a:spcAft>
            </a:pPr>
            <a:r>
              <a:rPr sz="1250" b="0">
                <a:solidFill>
                  <a:srgbClr val="555045"/>
                </a:solidFill>
                <a:latin typeface="Arial"/>
              </a:rPr>
              <a:t>En una serie que vende 45, un error de 8 es un 18 %. En una que vende 154, un error de 16 es un 10 %. La demanda baja es proporcionalmente más ruidosa.</a:t>
            </a:r>
          </a:p>
          <a:p>
            <a:pPr algn="l">
              <a:lnSpc>
                <a:spcPct val="128000"/>
              </a:lnSpc>
              <a:spcBef>
                <a:spcPts val="0"/>
              </a:spcBef>
              <a:spcAft>
                <a:spcPts val="1200"/>
              </a:spcAft>
            </a:pPr>
            <a:r>
              <a:rPr sz="1250" b="0">
                <a:solidFill>
                  <a:srgbClr val="555045"/>
                </a:solidFill>
                <a:latin typeface="Arial"/>
              </a:rPr>
              <a:t>Queda un sesgo residual por tamaño, reducido un 32 % pero no eliminado: el modelo sobrepredice las series pequeñas y subpredice las grandes.</a:t>
            </a:r>
          </a:p>
          <a:p>
            <a:pPr algn="l">
              <a:lnSpc>
                <a:spcPct val="128000"/>
              </a:lnSpc>
              <a:spcBef>
                <a:spcPts val="0"/>
              </a:spcBef>
              <a:spcAft>
                <a:spcPts val="0"/>
              </a:spcAft>
            </a:pPr>
            <a:r>
              <a:rPr sz="1250" b="1">
                <a:solidFill>
                  <a:srgbClr val="17150F"/>
                </a:solidFill>
                <a:latin typeface="Arial"/>
              </a:rPr>
              <a:t>Se traduce en merma en las tiendas pequeñas y ventas perdidas en las grandes. Queda como línea de mejora antes del piloto.</a:t>
            </a:r>
          </a:p>
        </p:txBody>
      </p:sp>
      <p:sp>
        <p:nvSpPr>
          <p:cNvPr id="9" name="Rectangle 8"/>
          <p:cNvSpPr/>
          <p:nvPr/>
        </p:nvSpPr>
        <p:spPr>
          <a:xfrm>
            <a:off x="777240" y="6327648"/>
            <a:ext cx="10637215" cy="9525"/>
          </a:xfrm>
          <a:prstGeom prst="rect">
            <a:avLst/>
          </a:prstGeom>
          <a:solidFill>
            <a:srgbClr val="DCD8C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0" name="TextBox 9"/>
          <p:cNvSpPr txBox="1"/>
          <p:nvPr/>
        </p:nvSpPr>
        <p:spPr>
          <a:xfrm>
            <a:off x="777240" y="6428232"/>
            <a:ext cx="8686800" cy="274320"/>
          </a:xfrm>
          <a:prstGeom prst="rect">
            <a:avLst/>
          </a:prstGeom>
          <a:noFill/>
        </p:spPr>
        <p:txBody>
          <a:bodyPr wrap="square" lIns="0" tIns="0" rIns="0" bIns="0">
            <a:spAutoFit/>
          </a:bodyPr>
          <a:lstStyle/>
          <a:p>
            <a:pPr algn="l">
              <a:lnSpc>
                <a:spcPct val="122000"/>
              </a:lnSpc>
              <a:spcBef>
                <a:spcPts val="0"/>
              </a:spcBef>
              <a:spcAft>
                <a:spcPts val="0"/>
              </a:spcAft>
            </a:pPr>
            <a:r>
              <a:rPr sz="950" b="0">
                <a:solidFill>
                  <a:srgbClr val="8B8478"/>
                </a:solidFill>
                <a:latin typeface="Arial"/>
              </a:rPr>
              <a:t>Paso 12 · Diagnóstico</a:t>
            </a:r>
          </a:p>
        </p:txBody>
      </p:sp>
      <p:sp>
        <p:nvSpPr>
          <p:cNvPr id="11" name="TextBox 10"/>
          <p:cNvSpPr txBox="1"/>
          <p:nvPr/>
        </p:nvSpPr>
        <p:spPr>
          <a:xfrm>
            <a:off x="10500055" y="6428232"/>
            <a:ext cx="914400" cy="274320"/>
          </a:xfrm>
          <a:prstGeom prst="rect">
            <a:avLst/>
          </a:prstGeom>
          <a:noFill/>
        </p:spPr>
        <p:txBody>
          <a:bodyPr wrap="square" lIns="0" tIns="0" rIns="0" bIns="0">
            <a:spAutoFit/>
          </a:bodyPr>
          <a:lstStyle/>
          <a:p>
            <a:pPr algn="r">
              <a:lnSpc>
                <a:spcPct val="122000"/>
              </a:lnSpc>
              <a:spcBef>
                <a:spcPts val="0"/>
              </a:spcBef>
              <a:spcAft>
                <a:spcPts val="0"/>
              </a:spcAft>
            </a:pPr>
            <a:r>
              <a:rPr sz="950" b="0">
                <a:solidFill>
                  <a:srgbClr val="8B8478"/>
                </a:solidFill>
                <a:latin typeface="Arial"/>
              </a:rPr>
              <a:t>33</a:t>
            </a:r>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777240" y="475488"/>
            <a:ext cx="10637215" cy="237744"/>
          </a:xfrm>
          <a:prstGeom prst="rect">
            <a:avLst/>
          </a:prstGeom>
          <a:noFill/>
        </p:spPr>
        <p:txBody>
          <a:bodyPr wrap="square" lIns="0" tIns="0" rIns="0" bIns="0">
            <a:spAutoFit/>
          </a:bodyPr>
          <a:lstStyle/>
          <a:p>
            <a:pPr algn="l">
              <a:lnSpc>
                <a:spcPct val="122000"/>
              </a:lnSpc>
              <a:spcBef>
                <a:spcPts val="0"/>
              </a:spcBef>
              <a:spcAft>
                <a:spcPts val="0"/>
              </a:spcAft>
            </a:pPr>
            <a:r>
              <a:rPr sz="1050" b="1">
                <a:solidFill>
                  <a:srgbClr val="8C2F39"/>
                </a:solidFill>
                <a:latin typeface="Arial"/>
              </a:rPr>
              <a:t>PASO 12 · DIAGNÓSTICO</a:t>
            </a:r>
          </a:p>
        </p:txBody>
      </p:sp>
      <p:sp>
        <p:nvSpPr>
          <p:cNvPr id="4" name="Rectangle 3"/>
          <p:cNvSpPr/>
          <p:nvPr/>
        </p:nvSpPr>
        <p:spPr>
          <a:xfrm>
            <a:off x="777240" y="768096"/>
            <a:ext cx="502920" cy="30480"/>
          </a:xfrm>
          <a:prstGeom prst="rect">
            <a:avLst/>
          </a:prstGeom>
          <a:solidFill>
            <a:srgbClr val="8C2F3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 name="TextBox 4"/>
          <p:cNvSpPr txBox="1"/>
          <p:nvPr/>
        </p:nvSpPr>
        <p:spPr>
          <a:xfrm>
            <a:off x="777240" y="914400"/>
            <a:ext cx="10637215" cy="445770"/>
          </a:xfrm>
          <a:prstGeom prst="rect">
            <a:avLst/>
          </a:prstGeom>
          <a:noFill/>
        </p:spPr>
        <p:txBody>
          <a:bodyPr wrap="square" lIns="0" tIns="0" rIns="0" bIns="0">
            <a:spAutoFit/>
          </a:bodyPr>
          <a:lstStyle/>
          <a:p>
            <a:pPr algn="l">
              <a:lnSpc>
                <a:spcPct val="106000"/>
              </a:lnSpc>
              <a:spcBef>
                <a:spcPts val="0"/>
              </a:spcBef>
              <a:spcAft>
                <a:spcPts val="0"/>
              </a:spcAft>
            </a:pPr>
            <a:r>
              <a:rPr sz="2700" b="1">
                <a:solidFill>
                  <a:srgbClr val="17150F"/>
                </a:solidFill>
                <a:latin typeface="Arial"/>
              </a:rPr>
              <a:t>Lo que está bien, comprobado y no supuesto</a:t>
            </a:r>
          </a:p>
        </p:txBody>
      </p:sp>
      <p:pic>
        <p:nvPicPr>
          <p:cNvPr id="6" name="Picture 5" descr="19_residuales.png"/>
          <p:cNvPicPr>
            <a:picLocks noChangeAspect="1"/>
          </p:cNvPicPr>
          <p:nvPr/>
        </p:nvPicPr>
        <p:blipFill>
          <a:blip r:embed="rId2"/>
          <a:stretch>
            <a:fillRect/>
          </a:stretch>
        </p:blipFill>
        <p:spPr>
          <a:xfrm>
            <a:off x="777240" y="1506474"/>
            <a:ext cx="5760720" cy="1872234"/>
          </a:xfrm>
          <a:prstGeom prst="rect">
            <a:avLst/>
          </a:prstGeom>
        </p:spPr>
      </p:pic>
      <p:sp>
        <p:nvSpPr>
          <p:cNvPr id="7" name="Rectangle 6"/>
          <p:cNvSpPr/>
          <p:nvPr/>
        </p:nvSpPr>
        <p:spPr>
          <a:xfrm>
            <a:off x="6858000" y="1652778"/>
            <a:ext cx="63500" cy="63500"/>
          </a:xfrm>
          <a:prstGeom prst="rect">
            <a:avLst/>
          </a:prstGeom>
          <a:solidFill>
            <a:srgbClr val="8C2F3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8" name="TextBox 7"/>
          <p:cNvSpPr txBox="1"/>
          <p:nvPr/>
        </p:nvSpPr>
        <p:spPr>
          <a:xfrm>
            <a:off x="7059168" y="1552194"/>
            <a:ext cx="4355287" cy="649224"/>
          </a:xfrm>
          <a:prstGeom prst="rect">
            <a:avLst/>
          </a:prstGeom>
          <a:noFill/>
        </p:spPr>
        <p:txBody>
          <a:bodyPr wrap="square" lIns="0" tIns="0" rIns="0" bIns="0">
            <a:spAutoFit/>
          </a:bodyPr>
          <a:lstStyle/>
          <a:p>
            <a:pPr>
              <a:lnSpc>
                <a:spcPct val="124000"/>
              </a:lnSpc>
              <a:spcAft>
                <a:spcPts val="0"/>
              </a:spcAft>
            </a:pPr>
            <a:r>
              <a:rPr sz="1200" b="1">
                <a:solidFill>
                  <a:srgbClr val="17150F"/>
                </a:solidFill>
                <a:latin typeface="Arial"/>
              </a:rPr>
              <a:t>No queda estructura temporal sin capturar.</a:t>
            </a:r>
            <a:r>
              <a:rPr sz="1200" b="0">
                <a:solidFill>
                  <a:srgbClr val="555045"/>
                </a:solidFill>
                <a:latin typeface="Arial"/>
              </a:rPr>
              <a:t> El contraste de Ljung-Box no detecta autocorrelación en ninguna de las 160 series.</a:t>
            </a:r>
          </a:p>
        </p:txBody>
      </p:sp>
      <p:sp>
        <p:nvSpPr>
          <p:cNvPr id="9" name="Rectangle 8"/>
          <p:cNvSpPr/>
          <p:nvPr/>
        </p:nvSpPr>
        <p:spPr>
          <a:xfrm>
            <a:off x="6858000" y="2430018"/>
            <a:ext cx="63500" cy="63500"/>
          </a:xfrm>
          <a:prstGeom prst="rect">
            <a:avLst/>
          </a:prstGeom>
          <a:solidFill>
            <a:srgbClr val="8C2F3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0" name="TextBox 9"/>
          <p:cNvSpPr txBox="1"/>
          <p:nvPr/>
        </p:nvSpPr>
        <p:spPr>
          <a:xfrm>
            <a:off x="7059168" y="2329434"/>
            <a:ext cx="4355287" cy="445008"/>
          </a:xfrm>
          <a:prstGeom prst="rect">
            <a:avLst/>
          </a:prstGeom>
          <a:noFill/>
        </p:spPr>
        <p:txBody>
          <a:bodyPr wrap="square" lIns="0" tIns="0" rIns="0" bIns="0">
            <a:spAutoFit/>
          </a:bodyPr>
          <a:lstStyle/>
          <a:p>
            <a:pPr>
              <a:lnSpc>
                <a:spcPct val="124000"/>
              </a:lnSpc>
              <a:spcAft>
                <a:spcPts val="0"/>
              </a:spcAft>
            </a:pPr>
            <a:r>
              <a:rPr sz="1200" b="1">
                <a:solidFill>
                  <a:srgbClr val="17150F"/>
                </a:solidFill>
                <a:latin typeface="Arial"/>
              </a:rPr>
              <a:t>Los residuales están casi centrados.</a:t>
            </a:r>
            <a:r>
              <a:rPr sz="1200" b="0">
                <a:solidFill>
                  <a:srgbClr val="555045"/>
                </a:solidFill>
                <a:latin typeface="Arial"/>
              </a:rPr>
              <a:t> Media de 0,11 unidades sobre una demanda media de 93, y asimetría de 0,29.</a:t>
            </a:r>
          </a:p>
        </p:txBody>
      </p:sp>
      <p:sp>
        <p:nvSpPr>
          <p:cNvPr id="11" name="Rectangle 10"/>
          <p:cNvSpPr/>
          <p:nvPr/>
        </p:nvSpPr>
        <p:spPr>
          <a:xfrm>
            <a:off x="6858000" y="3003042"/>
            <a:ext cx="63500" cy="63500"/>
          </a:xfrm>
          <a:prstGeom prst="rect">
            <a:avLst/>
          </a:prstGeom>
          <a:solidFill>
            <a:srgbClr val="8C2F3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2" name="TextBox 11"/>
          <p:cNvSpPr txBox="1"/>
          <p:nvPr/>
        </p:nvSpPr>
        <p:spPr>
          <a:xfrm>
            <a:off x="7059168" y="2902458"/>
            <a:ext cx="4355287" cy="445008"/>
          </a:xfrm>
          <a:prstGeom prst="rect">
            <a:avLst/>
          </a:prstGeom>
          <a:noFill/>
        </p:spPr>
        <p:txBody>
          <a:bodyPr wrap="square" lIns="0" tIns="0" rIns="0" bIns="0">
            <a:spAutoFit/>
          </a:bodyPr>
          <a:lstStyle/>
          <a:p>
            <a:pPr>
              <a:lnSpc>
                <a:spcPct val="124000"/>
              </a:lnSpc>
              <a:spcAft>
                <a:spcPts val="0"/>
              </a:spcAft>
            </a:pPr>
            <a:r>
              <a:rPr sz="1200" b="1">
                <a:solidFill>
                  <a:srgbClr val="17150F"/>
                </a:solidFill>
                <a:latin typeface="Arial"/>
              </a:rPr>
              <a:t>No hay error sistemático por tipo de patrón.</a:t>
            </a:r>
            <a:r>
              <a:rPr sz="1200" b="0">
                <a:solidFill>
                  <a:srgbClr val="555045"/>
                </a:solidFill>
                <a:latin typeface="Arial"/>
              </a:rPr>
              <a:t> Los cuatro tipos quedan entre 11,2 y 12,2 % de error.</a:t>
            </a:r>
          </a:p>
        </p:txBody>
      </p:sp>
      <p:sp>
        <p:nvSpPr>
          <p:cNvPr id="13" name="Rectangle 12"/>
          <p:cNvSpPr/>
          <p:nvPr/>
        </p:nvSpPr>
        <p:spPr>
          <a:xfrm>
            <a:off x="6858000" y="3576066"/>
            <a:ext cx="63500" cy="63500"/>
          </a:xfrm>
          <a:prstGeom prst="rect">
            <a:avLst/>
          </a:prstGeom>
          <a:solidFill>
            <a:srgbClr val="8C2F3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4" name="TextBox 13"/>
          <p:cNvSpPr txBox="1"/>
          <p:nvPr/>
        </p:nvSpPr>
        <p:spPr>
          <a:xfrm>
            <a:off x="7059168" y="3475482"/>
            <a:ext cx="4355287" cy="649224"/>
          </a:xfrm>
          <a:prstGeom prst="rect">
            <a:avLst/>
          </a:prstGeom>
          <a:noFill/>
        </p:spPr>
        <p:txBody>
          <a:bodyPr wrap="square" lIns="0" tIns="0" rIns="0" bIns="0">
            <a:spAutoFit/>
          </a:bodyPr>
          <a:lstStyle/>
          <a:p>
            <a:pPr>
              <a:lnSpc>
                <a:spcPct val="124000"/>
              </a:lnSpc>
              <a:spcAft>
                <a:spcPts val="0"/>
              </a:spcAft>
            </a:pPr>
            <a:r>
              <a:rPr sz="1200" b="1">
                <a:solidFill>
                  <a:srgbClr val="17150F"/>
                </a:solidFill>
                <a:latin typeface="Arial"/>
              </a:rPr>
              <a:t>Hay heterocedasticidad y es esperable.</a:t>
            </a:r>
            <a:r>
              <a:rPr sz="1200" b="0">
                <a:solidFill>
                  <a:srgbClr val="555045"/>
                </a:solidFill>
                <a:latin typeface="Arial"/>
              </a:rPr>
              <a:t> El error crece con el nivel de la serie, con correlación +0,36. Por eso un colchón plano sería incorrecto.</a:t>
            </a:r>
          </a:p>
        </p:txBody>
      </p:sp>
      <p:sp>
        <p:nvSpPr>
          <p:cNvPr id="15" name="Rectangle 14"/>
          <p:cNvSpPr/>
          <p:nvPr/>
        </p:nvSpPr>
        <p:spPr>
          <a:xfrm>
            <a:off x="777240" y="6327648"/>
            <a:ext cx="10637215" cy="9525"/>
          </a:xfrm>
          <a:prstGeom prst="rect">
            <a:avLst/>
          </a:prstGeom>
          <a:solidFill>
            <a:srgbClr val="DCD8C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6" name="TextBox 15"/>
          <p:cNvSpPr txBox="1"/>
          <p:nvPr/>
        </p:nvSpPr>
        <p:spPr>
          <a:xfrm>
            <a:off x="777240" y="6428232"/>
            <a:ext cx="8686800" cy="274320"/>
          </a:xfrm>
          <a:prstGeom prst="rect">
            <a:avLst/>
          </a:prstGeom>
          <a:noFill/>
        </p:spPr>
        <p:txBody>
          <a:bodyPr wrap="square" lIns="0" tIns="0" rIns="0" bIns="0">
            <a:spAutoFit/>
          </a:bodyPr>
          <a:lstStyle/>
          <a:p>
            <a:pPr algn="l">
              <a:lnSpc>
                <a:spcPct val="122000"/>
              </a:lnSpc>
              <a:spcBef>
                <a:spcPts val="0"/>
              </a:spcBef>
              <a:spcAft>
                <a:spcPts val="0"/>
              </a:spcAft>
            </a:pPr>
            <a:r>
              <a:rPr sz="950" b="0">
                <a:solidFill>
                  <a:srgbClr val="8B8478"/>
                </a:solidFill>
                <a:latin typeface="Arial"/>
              </a:rPr>
              <a:t>Paso 12 · Diagnóstico</a:t>
            </a:r>
          </a:p>
        </p:txBody>
      </p:sp>
      <p:sp>
        <p:nvSpPr>
          <p:cNvPr id="17" name="TextBox 16"/>
          <p:cNvSpPr txBox="1"/>
          <p:nvPr/>
        </p:nvSpPr>
        <p:spPr>
          <a:xfrm>
            <a:off x="10500055" y="6428232"/>
            <a:ext cx="914400" cy="274320"/>
          </a:xfrm>
          <a:prstGeom prst="rect">
            <a:avLst/>
          </a:prstGeom>
          <a:noFill/>
        </p:spPr>
        <p:txBody>
          <a:bodyPr wrap="square" lIns="0" tIns="0" rIns="0" bIns="0">
            <a:spAutoFit/>
          </a:bodyPr>
          <a:lstStyle/>
          <a:p>
            <a:pPr algn="r">
              <a:lnSpc>
                <a:spcPct val="122000"/>
              </a:lnSpc>
              <a:spcBef>
                <a:spcPts val="0"/>
              </a:spcBef>
              <a:spcAft>
                <a:spcPts val="0"/>
              </a:spcAft>
            </a:pPr>
            <a:r>
              <a:rPr sz="950" b="0">
                <a:solidFill>
                  <a:srgbClr val="8B8478"/>
                </a:solidFill>
                <a:latin typeface="Arial"/>
              </a:rPr>
              <a:t>34</a:t>
            </a:r>
          </a:p>
        </p:txBody>
      </p:sp>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777240" y="475488"/>
            <a:ext cx="10637215" cy="237744"/>
          </a:xfrm>
          <a:prstGeom prst="rect">
            <a:avLst/>
          </a:prstGeom>
          <a:noFill/>
        </p:spPr>
        <p:txBody>
          <a:bodyPr wrap="square" lIns="0" tIns="0" rIns="0" bIns="0">
            <a:spAutoFit/>
          </a:bodyPr>
          <a:lstStyle/>
          <a:p>
            <a:pPr algn="l">
              <a:lnSpc>
                <a:spcPct val="122000"/>
              </a:lnSpc>
              <a:spcBef>
                <a:spcPts val="0"/>
              </a:spcBef>
              <a:spcAft>
                <a:spcPts val="0"/>
              </a:spcAft>
            </a:pPr>
            <a:r>
              <a:rPr sz="1050" b="1">
                <a:solidFill>
                  <a:srgbClr val="8C2F39"/>
                </a:solidFill>
                <a:latin typeface="Arial"/>
              </a:rPr>
              <a:t>PASO 12 · DIAGNÓSTICO</a:t>
            </a:r>
          </a:p>
        </p:txBody>
      </p:sp>
      <p:sp>
        <p:nvSpPr>
          <p:cNvPr id="4" name="Rectangle 3"/>
          <p:cNvSpPr/>
          <p:nvPr/>
        </p:nvSpPr>
        <p:spPr>
          <a:xfrm>
            <a:off x="777240" y="768096"/>
            <a:ext cx="502920" cy="30480"/>
          </a:xfrm>
          <a:prstGeom prst="rect">
            <a:avLst/>
          </a:prstGeom>
          <a:solidFill>
            <a:srgbClr val="8C2F3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 name="TextBox 4"/>
          <p:cNvSpPr txBox="1"/>
          <p:nvPr/>
        </p:nvSpPr>
        <p:spPr>
          <a:xfrm>
            <a:off x="777240" y="914400"/>
            <a:ext cx="10637215" cy="409151"/>
          </a:xfrm>
          <a:prstGeom prst="rect">
            <a:avLst/>
          </a:prstGeom>
          <a:noFill/>
        </p:spPr>
        <p:txBody>
          <a:bodyPr wrap="square" lIns="0" tIns="0" rIns="0" bIns="0">
            <a:spAutoFit/>
          </a:bodyPr>
          <a:lstStyle/>
          <a:p>
            <a:pPr algn="l">
              <a:lnSpc>
                <a:spcPct val="106000"/>
              </a:lnSpc>
              <a:spcBef>
                <a:spcPts val="0"/>
              </a:spcBef>
              <a:spcAft>
                <a:spcPts val="0"/>
              </a:spcAft>
            </a:pPr>
            <a:r>
              <a:rPr lang="es-419" sz="2700" b="1" dirty="0">
                <a:solidFill>
                  <a:srgbClr val="17150F"/>
                </a:solidFill>
                <a:latin typeface="Arial"/>
              </a:rPr>
              <a:t>10</a:t>
            </a:r>
            <a:r>
              <a:rPr sz="2700" b="1" dirty="0">
                <a:solidFill>
                  <a:srgbClr val="17150F"/>
                </a:solidFill>
                <a:latin typeface="Arial"/>
              </a:rPr>
              <a:t> series </a:t>
            </a:r>
            <a:r>
              <a:rPr sz="2700" b="1" dirty="0" err="1">
                <a:solidFill>
                  <a:srgbClr val="17150F"/>
                </a:solidFill>
                <a:latin typeface="Arial"/>
              </a:rPr>
              <a:t>necesitan</a:t>
            </a:r>
            <a:r>
              <a:rPr sz="2700" b="1" dirty="0">
                <a:solidFill>
                  <a:srgbClr val="17150F"/>
                </a:solidFill>
                <a:latin typeface="Arial"/>
              </a:rPr>
              <a:t> </a:t>
            </a:r>
            <a:r>
              <a:rPr sz="2700" b="1" dirty="0" err="1">
                <a:solidFill>
                  <a:srgbClr val="17150F"/>
                </a:solidFill>
                <a:latin typeface="Arial"/>
              </a:rPr>
              <a:t>revisión</a:t>
            </a:r>
            <a:endParaRPr sz="2700" b="1" dirty="0">
              <a:solidFill>
                <a:srgbClr val="17150F"/>
              </a:solidFill>
              <a:latin typeface="Arial"/>
            </a:endParaRPr>
          </a:p>
        </p:txBody>
      </p:sp>
      <p:sp>
        <p:nvSpPr>
          <p:cNvPr id="6" name="TextBox 5"/>
          <p:cNvSpPr txBox="1"/>
          <p:nvPr/>
        </p:nvSpPr>
        <p:spPr>
          <a:xfrm>
            <a:off x="777240" y="1506474"/>
            <a:ext cx="9966960" cy="259943"/>
          </a:xfrm>
          <a:prstGeom prst="rect">
            <a:avLst/>
          </a:prstGeom>
          <a:noFill/>
        </p:spPr>
        <p:txBody>
          <a:bodyPr wrap="square" lIns="0" tIns="0" rIns="0" bIns="0">
            <a:spAutoFit/>
          </a:bodyPr>
          <a:lstStyle/>
          <a:p>
            <a:pPr algn="l">
              <a:lnSpc>
                <a:spcPct val="130000"/>
              </a:lnSpc>
              <a:spcBef>
                <a:spcPts val="0"/>
              </a:spcBef>
              <a:spcAft>
                <a:spcPts val="0"/>
              </a:spcAft>
            </a:pPr>
            <a:r>
              <a:rPr sz="1450" b="0" dirty="0">
                <a:solidFill>
                  <a:srgbClr val="555045"/>
                </a:solidFill>
                <a:latin typeface="Arial"/>
              </a:rPr>
              <a:t>De las 160, </a:t>
            </a:r>
            <a:r>
              <a:rPr lang="es-419" sz="1450" dirty="0">
                <a:solidFill>
                  <a:srgbClr val="555045"/>
                </a:solidFill>
                <a:latin typeface="Arial"/>
              </a:rPr>
              <a:t>10</a:t>
            </a:r>
            <a:r>
              <a:rPr sz="1450" b="0" dirty="0">
                <a:solidFill>
                  <a:srgbClr val="555045"/>
                </a:solidFill>
                <a:latin typeface="Arial"/>
              </a:rPr>
              <a:t> </a:t>
            </a:r>
            <a:r>
              <a:rPr sz="1450" b="0" dirty="0" err="1">
                <a:solidFill>
                  <a:srgbClr val="555045"/>
                </a:solidFill>
                <a:latin typeface="Arial"/>
              </a:rPr>
              <a:t>superan</a:t>
            </a:r>
            <a:r>
              <a:rPr sz="1450" b="0" dirty="0">
                <a:solidFill>
                  <a:srgbClr val="555045"/>
                </a:solidFill>
                <a:latin typeface="Arial"/>
              </a:rPr>
              <a:t> el doble del error </a:t>
            </a:r>
            <a:r>
              <a:rPr sz="1450" b="0" dirty="0" err="1">
                <a:solidFill>
                  <a:srgbClr val="555045"/>
                </a:solidFill>
                <a:latin typeface="Arial"/>
              </a:rPr>
              <a:t>mediano</a:t>
            </a:r>
            <a:r>
              <a:rPr sz="1450" b="0" dirty="0">
                <a:solidFill>
                  <a:srgbClr val="555045"/>
                </a:solidFill>
                <a:latin typeface="Arial"/>
              </a:rPr>
              <a:t>. Tres de las </a:t>
            </a:r>
            <a:r>
              <a:rPr sz="1450" b="0" dirty="0" err="1">
                <a:solidFill>
                  <a:srgbClr val="555045"/>
                </a:solidFill>
                <a:latin typeface="Arial"/>
              </a:rPr>
              <a:t>cinco</a:t>
            </a:r>
            <a:r>
              <a:rPr sz="1450" b="0" dirty="0">
                <a:solidFill>
                  <a:srgbClr val="555045"/>
                </a:solidFill>
                <a:latin typeface="Arial"/>
              </a:rPr>
              <a:t> </a:t>
            </a:r>
            <a:r>
              <a:rPr sz="1450" b="0" dirty="0" err="1">
                <a:solidFill>
                  <a:srgbClr val="555045"/>
                </a:solidFill>
                <a:latin typeface="Arial"/>
              </a:rPr>
              <a:t>peores</a:t>
            </a:r>
            <a:r>
              <a:rPr sz="1450" b="0" dirty="0">
                <a:solidFill>
                  <a:srgbClr val="555045"/>
                </a:solidFill>
                <a:latin typeface="Arial"/>
              </a:rPr>
              <a:t> </a:t>
            </a:r>
            <a:r>
              <a:rPr sz="1450" b="0" dirty="0" err="1">
                <a:solidFill>
                  <a:srgbClr val="555045"/>
                </a:solidFill>
                <a:latin typeface="Arial"/>
              </a:rPr>
              <a:t>están</a:t>
            </a:r>
            <a:r>
              <a:rPr sz="1450" b="0" dirty="0">
                <a:solidFill>
                  <a:srgbClr val="555045"/>
                </a:solidFill>
                <a:latin typeface="Arial"/>
              </a:rPr>
              <a:t> </a:t>
            </a:r>
            <a:r>
              <a:rPr sz="1450" b="0" dirty="0" err="1">
                <a:solidFill>
                  <a:srgbClr val="555045"/>
                </a:solidFill>
                <a:latin typeface="Arial"/>
              </a:rPr>
              <a:t>en</a:t>
            </a:r>
            <a:r>
              <a:rPr sz="1450" b="0" dirty="0">
                <a:solidFill>
                  <a:srgbClr val="555045"/>
                </a:solidFill>
                <a:latin typeface="Arial"/>
              </a:rPr>
              <a:t> la </a:t>
            </a:r>
            <a:r>
              <a:rPr sz="1450" b="0" dirty="0" err="1">
                <a:solidFill>
                  <a:srgbClr val="555045"/>
                </a:solidFill>
                <a:latin typeface="Arial"/>
              </a:rPr>
              <a:t>misma</a:t>
            </a:r>
            <a:r>
              <a:rPr sz="1450" b="0" dirty="0">
                <a:solidFill>
                  <a:srgbClr val="555045"/>
                </a:solidFill>
                <a:latin typeface="Arial"/>
              </a:rPr>
              <a:t> tienda.</a:t>
            </a:r>
          </a:p>
        </p:txBody>
      </p:sp>
      <p:sp>
        <p:nvSpPr>
          <p:cNvPr id="8" name="Rectangle 7"/>
          <p:cNvSpPr/>
          <p:nvPr/>
        </p:nvSpPr>
        <p:spPr>
          <a:xfrm>
            <a:off x="777240" y="4597019"/>
            <a:ext cx="63500" cy="63500"/>
          </a:xfrm>
          <a:prstGeom prst="rect">
            <a:avLst/>
          </a:prstGeom>
          <a:solidFill>
            <a:srgbClr val="8C2F3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9" name="TextBox 8"/>
          <p:cNvSpPr txBox="1"/>
          <p:nvPr/>
        </p:nvSpPr>
        <p:spPr>
          <a:xfrm>
            <a:off x="978408" y="4496435"/>
            <a:ext cx="10436047" cy="249940"/>
          </a:xfrm>
          <a:prstGeom prst="rect">
            <a:avLst/>
          </a:prstGeom>
          <a:noFill/>
        </p:spPr>
        <p:txBody>
          <a:bodyPr wrap="square" lIns="0" tIns="0" rIns="0" bIns="0">
            <a:spAutoFit/>
          </a:bodyPr>
          <a:lstStyle/>
          <a:p>
            <a:pPr>
              <a:lnSpc>
                <a:spcPct val="124000"/>
              </a:lnSpc>
              <a:spcAft>
                <a:spcPts val="0"/>
              </a:spcAft>
            </a:pPr>
            <a:r>
              <a:rPr sz="1450" b="1" dirty="0" err="1">
                <a:solidFill>
                  <a:srgbClr val="17150F"/>
                </a:solidFill>
                <a:latin typeface="Arial"/>
              </a:rPr>
              <a:t>Todas</a:t>
            </a:r>
            <a:r>
              <a:rPr sz="1450" b="1" dirty="0">
                <a:solidFill>
                  <a:srgbClr val="17150F"/>
                </a:solidFill>
                <a:latin typeface="Arial"/>
              </a:rPr>
              <a:t> </a:t>
            </a:r>
            <a:r>
              <a:rPr sz="1450" b="1" dirty="0" err="1">
                <a:solidFill>
                  <a:srgbClr val="17150F"/>
                </a:solidFill>
                <a:latin typeface="Arial"/>
              </a:rPr>
              <a:t>tienen</a:t>
            </a:r>
            <a:r>
              <a:rPr sz="1450" b="1" dirty="0">
                <a:solidFill>
                  <a:srgbClr val="17150F"/>
                </a:solidFill>
                <a:latin typeface="Arial"/>
              </a:rPr>
              <a:t> </a:t>
            </a:r>
            <a:r>
              <a:rPr sz="1450" b="1" dirty="0" err="1">
                <a:solidFill>
                  <a:srgbClr val="17150F"/>
                </a:solidFill>
                <a:latin typeface="Arial"/>
              </a:rPr>
              <a:t>sesgo</a:t>
            </a:r>
            <a:r>
              <a:rPr sz="1450" b="1" dirty="0">
                <a:solidFill>
                  <a:srgbClr val="17150F"/>
                </a:solidFill>
                <a:latin typeface="Arial"/>
              </a:rPr>
              <a:t> </a:t>
            </a:r>
            <a:r>
              <a:rPr sz="1450" b="1" dirty="0" err="1">
                <a:solidFill>
                  <a:srgbClr val="17150F"/>
                </a:solidFill>
                <a:latin typeface="Arial"/>
              </a:rPr>
              <a:t>negativo</a:t>
            </a:r>
            <a:r>
              <a:rPr sz="1450" b="0" dirty="0">
                <a:solidFill>
                  <a:srgbClr val="555045"/>
                </a:solidFill>
                <a:latin typeface="Arial"/>
              </a:rPr>
              <a:t>: el </a:t>
            </a:r>
            <a:r>
              <a:rPr sz="1450" b="0" dirty="0" err="1">
                <a:solidFill>
                  <a:srgbClr val="555045"/>
                </a:solidFill>
                <a:latin typeface="Arial"/>
              </a:rPr>
              <a:t>modelo</a:t>
            </a:r>
            <a:r>
              <a:rPr sz="1450" b="0" dirty="0">
                <a:solidFill>
                  <a:srgbClr val="555045"/>
                </a:solidFill>
                <a:latin typeface="Arial"/>
              </a:rPr>
              <a:t> </a:t>
            </a:r>
            <a:r>
              <a:rPr sz="1450" b="0" dirty="0" err="1">
                <a:solidFill>
                  <a:srgbClr val="555045"/>
                </a:solidFill>
                <a:latin typeface="Arial"/>
              </a:rPr>
              <a:t>pide</a:t>
            </a:r>
            <a:r>
              <a:rPr sz="1450" b="0" dirty="0">
                <a:solidFill>
                  <a:srgbClr val="555045"/>
                </a:solidFill>
                <a:latin typeface="Arial"/>
              </a:rPr>
              <a:t> de </a:t>
            </a:r>
            <a:r>
              <a:rPr sz="1450" b="0" dirty="0" err="1">
                <a:solidFill>
                  <a:srgbClr val="555045"/>
                </a:solidFill>
                <a:latin typeface="Arial"/>
              </a:rPr>
              <a:t>más</a:t>
            </a:r>
            <a:r>
              <a:rPr sz="1450" b="0" dirty="0">
                <a:solidFill>
                  <a:srgbClr val="555045"/>
                </a:solidFill>
                <a:latin typeface="Arial"/>
              </a:rPr>
              <a:t> </a:t>
            </a:r>
            <a:r>
              <a:rPr sz="1450" b="0" dirty="0" err="1">
                <a:solidFill>
                  <a:srgbClr val="555045"/>
                </a:solidFill>
                <a:latin typeface="Arial"/>
              </a:rPr>
              <a:t>en</a:t>
            </a:r>
            <a:r>
              <a:rPr sz="1450" b="0" dirty="0">
                <a:solidFill>
                  <a:srgbClr val="555045"/>
                </a:solidFill>
                <a:latin typeface="Arial"/>
              </a:rPr>
              <a:t> las </a:t>
            </a:r>
            <a:r>
              <a:rPr lang="es-419" sz="1450" dirty="0">
                <a:solidFill>
                  <a:srgbClr val="555045"/>
                </a:solidFill>
                <a:latin typeface="Arial"/>
              </a:rPr>
              <a:t>10</a:t>
            </a:r>
            <a:r>
              <a:rPr sz="1450" b="0" dirty="0">
                <a:solidFill>
                  <a:srgbClr val="555045"/>
                </a:solidFill>
                <a:latin typeface="Arial"/>
              </a:rPr>
              <a:t>.</a:t>
            </a:r>
          </a:p>
        </p:txBody>
      </p:sp>
      <p:sp>
        <p:nvSpPr>
          <p:cNvPr id="10" name="Rectangle 9"/>
          <p:cNvSpPr/>
          <p:nvPr/>
        </p:nvSpPr>
        <p:spPr>
          <a:xfrm>
            <a:off x="777240" y="5008372"/>
            <a:ext cx="63500" cy="63500"/>
          </a:xfrm>
          <a:prstGeom prst="rect">
            <a:avLst/>
          </a:prstGeom>
          <a:solidFill>
            <a:srgbClr val="8C2F3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1" name="TextBox 10"/>
          <p:cNvSpPr txBox="1"/>
          <p:nvPr/>
        </p:nvSpPr>
        <p:spPr>
          <a:xfrm>
            <a:off x="978408" y="4907788"/>
            <a:ext cx="10436047" cy="283337"/>
          </a:xfrm>
          <a:prstGeom prst="rect">
            <a:avLst/>
          </a:prstGeom>
          <a:noFill/>
        </p:spPr>
        <p:txBody>
          <a:bodyPr wrap="square" lIns="0" tIns="0" rIns="0" bIns="0">
            <a:spAutoFit/>
          </a:bodyPr>
          <a:lstStyle/>
          <a:p>
            <a:pPr>
              <a:lnSpc>
                <a:spcPct val="124000"/>
              </a:lnSpc>
              <a:spcAft>
                <a:spcPts val="0"/>
              </a:spcAft>
            </a:pPr>
            <a:r>
              <a:rPr sz="1450" b="1">
                <a:solidFill>
                  <a:srgbClr val="17150F"/>
                </a:solidFill>
                <a:latin typeface="Arial"/>
              </a:rPr>
              <a:t>Que STORE_09 aparezca tres veces sugiere algo propio de esa tienda</a:t>
            </a:r>
            <a:r>
              <a:rPr sz="1450" b="0">
                <a:solidFill>
                  <a:srgbClr val="555045"/>
                </a:solidFill>
                <a:latin typeface="Arial"/>
              </a:rPr>
              <a:t>, no del modelo. Conviene mirarla aparte.</a:t>
            </a:r>
          </a:p>
        </p:txBody>
      </p:sp>
      <p:sp>
        <p:nvSpPr>
          <p:cNvPr id="12" name="Rectangle 11"/>
          <p:cNvSpPr/>
          <p:nvPr/>
        </p:nvSpPr>
        <p:spPr>
          <a:xfrm>
            <a:off x="777240" y="5419725"/>
            <a:ext cx="63500" cy="63500"/>
          </a:xfrm>
          <a:prstGeom prst="rect">
            <a:avLst/>
          </a:prstGeom>
          <a:solidFill>
            <a:srgbClr val="8C2F3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3" name="TextBox 12"/>
          <p:cNvSpPr txBox="1"/>
          <p:nvPr/>
        </p:nvSpPr>
        <p:spPr>
          <a:xfrm>
            <a:off x="978408" y="5319141"/>
            <a:ext cx="10436047" cy="283337"/>
          </a:xfrm>
          <a:prstGeom prst="rect">
            <a:avLst/>
          </a:prstGeom>
          <a:noFill/>
        </p:spPr>
        <p:txBody>
          <a:bodyPr wrap="square" lIns="0" tIns="0" rIns="0" bIns="0">
            <a:spAutoFit/>
          </a:bodyPr>
          <a:lstStyle/>
          <a:p>
            <a:pPr>
              <a:lnSpc>
                <a:spcPct val="124000"/>
              </a:lnSpc>
              <a:spcAft>
                <a:spcPts val="0"/>
              </a:spcAft>
            </a:pPr>
            <a:r>
              <a:rPr sz="1450" b="1">
                <a:solidFill>
                  <a:srgbClr val="17150F"/>
                </a:solidFill>
                <a:latin typeface="Arial"/>
              </a:rPr>
              <a:t>Acción concreta.</a:t>
            </a:r>
            <a:r>
              <a:rPr sz="1450" b="0">
                <a:solidFill>
                  <a:srgbClr val="555045"/>
                </a:solidFill>
                <a:latin typeface="Arial"/>
              </a:rPr>
              <a:t> Revisarlas antes de implantar, y excluirlas del piloto o vigilarlas por separado.</a:t>
            </a:r>
          </a:p>
        </p:txBody>
      </p:sp>
      <p:sp>
        <p:nvSpPr>
          <p:cNvPr id="14" name="Rectangle 13"/>
          <p:cNvSpPr/>
          <p:nvPr/>
        </p:nvSpPr>
        <p:spPr>
          <a:xfrm>
            <a:off x="777240" y="6327648"/>
            <a:ext cx="10637215" cy="9525"/>
          </a:xfrm>
          <a:prstGeom prst="rect">
            <a:avLst/>
          </a:prstGeom>
          <a:solidFill>
            <a:srgbClr val="DCD8C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5" name="TextBox 14"/>
          <p:cNvSpPr txBox="1"/>
          <p:nvPr/>
        </p:nvSpPr>
        <p:spPr>
          <a:xfrm>
            <a:off x="777240" y="6428232"/>
            <a:ext cx="8686800" cy="274320"/>
          </a:xfrm>
          <a:prstGeom prst="rect">
            <a:avLst/>
          </a:prstGeom>
          <a:noFill/>
        </p:spPr>
        <p:txBody>
          <a:bodyPr wrap="square" lIns="0" tIns="0" rIns="0" bIns="0">
            <a:spAutoFit/>
          </a:bodyPr>
          <a:lstStyle/>
          <a:p>
            <a:pPr algn="l">
              <a:lnSpc>
                <a:spcPct val="122000"/>
              </a:lnSpc>
              <a:spcBef>
                <a:spcPts val="0"/>
              </a:spcBef>
              <a:spcAft>
                <a:spcPts val="0"/>
              </a:spcAft>
            </a:pPr>
            <a:r>
              <a:rPr sz="950" b="0">
                <a:solidFill>
                  <a:srgbClr val="8B8478"/>
                </a:solidFill>
                <a:latin typeface="Arial"/>
              </a:rPr>
              <a:t>Paso 12 · Diagnóstico</a:t>
            </a:r>
          </a:p>
        </p:txBody>
      </p:sp>
      <p:sp>
        <p:nvSpPr>
          <p:cNvPr id="16" name="TextBox 15"/>
          <p:cNvSpPr txBox="1"/>
          <p:nvPr/>
        </p:nvSpPr>
        <p:spPr>
          <a:xfrm>
            <a:off x="10500055" y="6428232"/>
            <a:ext cx="914400" cy="274320"/>
          </a:xfrm>
          <a:prstGeom prst="rect">
            <a:avLst/>
          </a:prstGeom>
          <a:noFill/>
        </p:spPr>
        <p:txBody>
          <a:bodyPr wrap="square" lIns="0" tIns="0" rIns="0" bIns="0">
            <a:spAutoFit/>
          </a:bodyPr>
          <a:lstStyle/>
          <a:p>
            <a:pPr algn="r">
              <a:lnSpc>
                <a:spcPct val="122000"/>
              </a:lnSpc>
              <a:spcBef>
                <a:spcPts val="0"/>
              </a:spcBef>
              <a:spcAft>
                <a:spcPts val="0"/>
              </a:spcAft>
            </a:pPr>
            <a:r>
              <a:rPr sz="950" b="0">
                <a:solidFill>
                  <a:srgbClr val="8B8478"/>
                </a:solidFill>
                <a:latin typeface="Arial"/>
              </a:rPr>
              <a:t>36</a:t>
            </a:r>
          </a:p>
        </p:txBody>
      </p:sp>
      <p:pic>
        <p:nvPicPr>
          <p:cNvPr id="17" name="Picture 16">
            <a:extLst>
              <a:ext uri="{FF2B5EF4-FFF2-40B4-BE49-F238E27FC236}">
                <a16:creationId xmlns:a16="http://schemas.microsoft.com/office/drawing/2014/main" id="{38334DE1-DEE6-5C5E-BB1F-B464B94588C9}"/>
              </a:ext>
            </a:extLst>
          </p:cNvPr>
          <p:cNvPicPr>
            <a:picLocks noChangeAspect="1"/>
          </p:cNvPicPr>
          <p:nvPr/>
        </p:nvPicPr>
        <p:blipFill>
          <a:blip r:embed="rId2"/>
          <a:stretch>
            <a:fillRect/>
          </a:stretch>
        </p:blipFill>
        <p:spPr>
          <a:xfrm>
            <a:off x="1374163" y="1912914"/>
            <a:ext cx="8461494" cy="2251223"/>
          </a:xfrm>
          <a:prstGeom prst="rect">
            <a:avLst/>
          </a:prstGeom>
        </p:spPr>
      </p:pic>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777240" y="475488"/>
            <a:ext cx="10637215" cy="237744"/>
          </a:xfrm>
          <a:prstGeom prst="rect">
            <a:avLst/>
          </a:prstGeom>
          <a:noFill/>
        </p:spPr>
        <p:txBody>
          <a:bodyPr wrap="square" lIns="0" tIns="0" rIns="0" bIns="0">
            <a:spAutoFit/>
          </a:bodyPr>
          <a:lstStyle/>
          <a:p>
            <a:pPr algn="l">
              <a:lnSpc>
                <a:spcPct val="122000"/>
              </a:lnSpc>
              <a:spcBef>
                <a:spcPts val="0"/>
              </a:spcBef>
              <a:spcAft>
                <a:spcPts val="0"/>
              </a:spcAft>
            </a:pPr>
            <a:r>
              <a:rPr sz="1050" b="1">
                <a:solidFill>
                  <a:srgbClr val="8C2F39"/>
                </a:solidFill>
                <a:latin typeface="Arial"/>
              </a:rPr>
              <a:t>PASO 14 · EL OPTIMIZADOR</a:t>
            </a:r>
          </a:p>
        </p:txBody>
      </p:sp>
      <p:sp>
        <p:nvSpPr>
          <p:cNvPr id="4" name="Rectangle 3"/>
          <p:cNvSpPr/>
          <p:nvPr/>
        </p:nvSpPr>
        <p:spPr>
          <a:xfrm>
            <a:off x="777240" y="768096"/>
            <a:ext cx="502920" cy="30480"/>
          </a:xfrm>
          <a:prstGeom prst="rect">
            <a:avLst/>
          </a:prstGeom>
          <a:solidFill>
            <a:srgbClr val="8C2F3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 name="TextBox 4"/>
          <p:cNvSpPr txBox="1"/>
          <p:nvPr/>
        </p:nvSpPr>
        <p:spPr>
          <a:xfrm>
            <a:off x="777240" y="914400"/>
            <a:ext cx="10637215" cy="445770"/>
          </a:xfrm>
          <a:prstGeom prst="rect">
            <a:avLst/>
          </a:prstGeom>
          <a:noFill/>
        </p:spPr>
        <p:txBody>
          <a:bodyPr wrap="square" lIns="0" tIns="0" rIns="0" bIns="0">
            <a:spAutoFit/>
          </a:bodyPr>
          <a:lstStyle/>
          <a:p>
            <a:pPr algn="l">
              <a:lnSpc>
                <a:spcPct val="106000"/>
              </a:lnSpc>
              <a:spcBef>
                <a:spcPts val="0"/>
              </a:spcBef>
              <a:spcAft>
                <a:spcPts val="0"/>
              </a:spcAft>
            </a:pPr>
            <a:r>
              <a:rPr sz="2700" b="1">
                <a:solidFill>
                  <a:srgbClr val="17150F"/>
                </a:solidFill>
                <a:latin typeface="Arial"/>
              </a:rPr>
              <a:t>Toda la decisión cabe en tres líneas</a:t>
            </a:r>
          </a:p>
        </p:txBody>
      </p:sp>
      <p:sp>
        <p:nvSpPr>
          <p:cNvPr id="7" name="Rectangle 6"/>
          <p:cNvSpPr/>
          <p:nvPr/>
        </p:nvSpPr>
        <p:spPr>
          <a:xfrm>
            <a:off x="777240" y="1990979"/>
            <a:ext cx="10637215" cy="1463040"/>
          </a:xfrm>
          <a:prstGeom prst="rect">
            <a:avLst/>
          </a:prstGeom>
          <a:solidFill>
            <a:srgbClr val="F4F2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8" name="TextBox 7"/>
          <p:cNvSpPr txBox="1"/>
          <p:nvPr/>
        </p:nvSpPr>
        <p:spPr>
          <a:xfrm>
            <a:off x="1097280" y="2228723"/>
            <a:ext cx="9997135" cy="1005840"/>
          </a:xfrm>
          <a:prstGeom prst="rect">
            <a:avLst/>
          </a:prstGeom>
          <a:noFill/>
        </p:spPr>
        <p:txBody>
          <a:bodyPr wrap="square" lIns="0" tIns="0" rIns="0" bIns="0">
            <a:spAutoFit/>
          </a:bodyPr>
          <a:lstStyle/>
          <a:p>
            <a:pPr algn="l">
              <a:lnSpc>
                <a:spcPct val="125000"/>
              </a:lnSpc>
              <a:spcBef>
                <a:spcPts val="0"/>
              </a:spcBef>
              <a:spcAft>
                <a:spcPts val="700"/>
              </a:spcAft>
            </a:pPr>
            <a:r>
              <a:rPr sz="1600" b="1">
                <a:solidFill>
                  <a:srgbClr val="17150F"/>
                </a:solidFill>
                <a:latin typeface="Arial"/>
              </a:rPr>
              <a:t>nivel de servicio  =  el que marcan los costes del producto</a:t>
            </a:r>
          </a:p>
          <a:p>
            <a:pPr algn="l">
              <a:lnSpc>
                <a:spcPct val="125000"/>
              </a:lnSpc>
              <a:spcBef>
                <a:spcPts val="0"/>
              </a:spcBef>
              <a:spcAft>
                <a:spcPts val="700"/>
              </a:spcAft>
            </a:pPr>
            <a:r>
              <a:rPr sz="1600" b="1">
                <a:solidFill>
                  <a:srgbClr val="17150F"/>
                </a:solidFill>
                <a:latin typeface="Arial"/>
              </a:rPr>
              <a:t>objetivo  =  la predicción del modelo a ese nivel, redondeada</a:t>
            </a:r>
          </a:p>
          <a:p>
            <a:pPr algn="l">
              <a:lnSpc>
                <a:spcPct val="125000"/>
              </a:lnSpc>
              <a:spcBef>
                <a:spcPts val="0"/>
              </a:spcBef>
              <a:spcAft>
                <a:spcPts val="0"/>
              </a:spcAft>
            </a:pPr>
            <a:r>
              <a:rPr sz="1600" b="1">
                <a:solidFill>
                  <a:srgbClr val="8C2F39"/>
                </a:solidFill>
                <a:latin typeface="Arial"/>
              </a:rPr>
              <a:t>pedido  =  máximo ( 0 ,  objetivo − stock en estantería )</a:t>
            </a:r>
          </a:p>
        </p:txBody>
      </p:sp>
      <p:sp>
        <p:nvSpPr>
          <p:cNvPr id="9" name="Rectangle 8"/>
          <p:cNvSpPr/>
          <p:nvPr/>
        </p:nvSpPr>
        <p:spPr>
          <a:xfrm>
            <a:off x="777240" y="3874643"/>
            <a:ext cx="63500" cy="63500"/>
          </a:xfrm>
          <a:prstGeom prst="rect">
            <a:avLst/>
          </a:prstGeom>
          <a:solidFill>
            <a:srgbClr val="8C2F3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0" name="TextBox 9"/>
          <p:cNvSpPr txBox="1"/>
          <p:nvPr/>
        </p:nvSpPr>
        <p:spPr>
          <a:xfrm>
            <a:off x="978408" y="3774059"/>
            <a:ext cx="10436047" cy="776859"/>
          </a:xfrm>
          <a:prstGeom prst="rect">
            <a:avLst/>
          </a:prstGeom>
          <a:noFill/>
        </p:spPr>
        <p:txBody>
          <a:bodyPr wrap="square" lIns="0" tIns="0" rIns="0" bIns="0">
            <a:spAutoFit/>
          </a:bodyPr>
          <a:lstStyle/>
          <a:p>
            <a:pPr>
              <a:lnSpc>
                <a:spcPct val="124000"/>
              </a:lnSpc>
              <a:spcAft>
                <a:spcPts val="0"/>
              </a:spcAft>
            </a:pPr>
            <a:r>
              <a:rPr sz="1450" b="1">
                <a:solidFill>
                  <a:srgbClr val="17150F"/>
                </a:solidFill>
                <a:latin typeface="Arial"/>
              </a:rPr>
              <a:t>Seis propiedades se verifican en cada ejecución</a:t>
            </a:r>
            <a:r>
              <a:rPr sz="1450" b="0">
                <a:solidFill>
                  <a:srgbClr val="555045"/>
                </a:solidFill>
                <a:latin typeface="Arial"/>
              </a:rPr>
              <a:t>: ningún pedido negativo, todas las cantidades enteras, el pedido más el stock alcanza el objetivo, cero pedido donde el stock ya cubre, cada producto con su nivel, y ningún objetivo por debajo del pronóstico central.</a:t>
            </a:r>
          </a:p>
        </p:txBody>
      </p:sp>
      <p:sp>
        <p:nvSpPr>
          <p:cNvPr id="15" name="Rectangle 14"/>
          <p:cNvSpPr/>
          <p:nvPr/>
        </p:nvSpPr>
        <p:spPr>
          <a:xfrm>
            <a:off x="777240" y="6327648"/>
            <a:ext cx="10637215" cy="9525"/>
          </a:xfrm>
          <a:prstGeom prst="rect">
            <a:avLst/>
          </a:prstGeom>
          <a:solidFill>
            <a:srgbClr val="DCD8C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6" name="TextBox 15"/>
          <p:cNvSpPr txBox="1"/>
          <p:nvPr/>
        </p:nvSpPr>
        <p:spPr>
          <a:xfrm>
            <a:off x="777240" y="6428232"/>
            <a:ext cx="8686800" cy="274320"/>
          </a:xfrm>
          <a:prstGeom prst="rect">
            <a:avLst/>
          </a:prstGeom>
          <a:noFill/>
        </p:spPr>
        <p:txBody>
          <a:bodyPr wrap="square" lIns="0" tIns="0" rIns="0" bIns="0">
            <a:spAutoFit/>
          </a:bodyPr>
          <a:lstStyle/>
          <a:p>
            <a:pPr algn="l">
              <a:lnSpc>
                <a:spcPct val="122000"/>
              </a:lnSpc>
              <a:spcBef>
                <a:spcPts val="0"/>
              </a:spcBef>
              <a:spcAft>
                <a:spcPts val="0"/>
              </a:spcAft>
            </a:pPr>
            <a:r>
              <a:rPr sz="950" b="0">
                <a:solidFill>
                  <a:srgbClr val="8B8478"/>
                </a:solidFill>
                <a:latin typeface="Arial"/>
              </a:rPr>
              <a:t>Paso 14 · Optimizador del pedido</a:t>
            </a:r>
          </a:p>
        </p:txBody>
      </p:sp>
      <p:sp>
        <p:nvSpPr>
          <p:cNvPr id="17" name="TextBox 16"/>
          <p:cNvSpPr txBox="1"/>
          <p:nvPr/>
        </p:nvSpPr>
        <p:spPr>
          <a:xfrm>
            <a:off x="10500055" y="6428232"/>
            <a:ext cx="914400" cy="274320"/>
          </a:xfrm>
          <a:prstGeom prst="rect">
            <a:avLst/>
          </a:prstGeom>
          <a:noFill/>
        </p:spPr>
        <p:txBody>
          <a:bodyPr wrap="square" lIns="0" tIns="0" rIns="0" bIns="0">
            <a:spAutoFit/>
          </a:bodyPr>
          <a:lstStyle/>
          <a:p>
            <a:pPr algn="r">
              <a:lnSpc>
                <a:spcPct val="122000"/>
              </a:lnSpc>
              <a:spcBef>
                <a:spcPts val="0"/>
              </a:spcBef>
              <a:spcAft>
                <a:spcPts val="0"/>
              </a:spcAft>
            </a:pPr>
            <a:r>
              <a:rPr sz="950" b="0">
                <a:solidFill>
                  <a:srgbClr val="8B8478"/>
                </a:solidFill>
                <a:latin typeface="Arial"/>
              </a:rPr>
              <a:t>39</a:t>
            </a:r>
          </a:p>
        </p:txBody>
      </p:sp>
    </p:spTree>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777240" y="475488"/>
            <a:ext cx="10637215" cy="237744"/>
          </a:xfrm>
          <a:prstGeom prst="rect">
            <a:avLst/>
          </a:prstGeom>
          <a:noFill/>
        </p:spPr>
        <p:txBody>
          <a:bodyPr wrap="square" lIns="0" tIns="0" rIns="0" bIns="0">
            <a:spAutoFit/>
          </a:bodyPr>
          <a:lstStyle/>
          <a:p>
            <a:pPr algn="l">
              <a:lnSpc>
                <a:spcPct val="122000"/>
              </a:lnSpc>
              <a:spcBef>
                <a:spcPts val="0"/>
              </a:spcBef>
              <a:spcAft>
                <a:spcPts val="0"/>
              </a:spcAft>
            </a:pPr>
            <a:r>
              <a:rPr sz="1050" b="1">
                <a:solidFill>
                  <a:srgbClr val="8C2F39"/>
                </a:solidFill>
                <a:latin typeface="Arial"/>
              </a:rPr>
              <a:t>PASO 14 · EL COLCHÓN</a:t>
            </a:r>
          </a:p>
        </p:txBody>
      </p:sp>
      <p:sp>
        <p:nvSpPr>
          <p:cNvPr id="4" name="Rectangle 3"/>
          <p:cNvSpPr/>
          <p:nvPr/>
        </p:nvSpPr>
        <p:spPr>
          <a:xfrm>
            <a:off x="777240" y="768096"/>
            <a:ext cx="502920" cy="30480"/>
          </a:xfrm>
          <a:prstGeom prst="rect">
            <a:avLst/>
          </a:prstGeom>
          <a:solidFill>
            <a:srgbClr val="8C2F3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 name="TextBox 4"/>
          <p:cNvSpPr txBox="1"/>
          <p:nvPr/>
        </p:nvSpPr>
        <p:spPr>
          <a:xfrm>
            <a:off x="777240" y="914400"/>
            <a:ext cx="10637215" cy="445770"/>
          </a:xfrm>
          <a:prstGeom prst="rect">
            <a:avLst/>
          </a:prstGeom>
          <a:noFill/>
        </p:spPr>
        <p:txBody>
          <a:bodyPr wrap="square" lIns="0" tIns="0" rIns="0" bIns="0">
            <a:spAutoFit/>
          </a:bodyPr>
          <a:lstStyle/>
          <a:p>
            <a:pPr algn="l">
              <a:lnSpc>
                <a:spcPct val="106000"/>
              </a:lnSpc>
              <a:spcBef>
                <a:spcPts val="0"/>
              </a:spcBef>
              <a:spcAft>
                <a:spcPts val="0"/>
              </a:spcAft>
            </a:pPr>
            <a:r>
              <a:rPr sz="2700" b="1">
                <a:solidFill>
                  <a:srgbClr val="17150F"/>
                </a:solidFill>
                <a:latin typeface="Arial"/>
              </a:rPr>
              <a:t>La respuesta visible a la pregunta del encargo</a:t>
            </a:r>
          </a:p>
        </p:txBody>
      </p:sp>
      <p:pic>
        <p:nvPicPr>
          <p:cNvPr id="6" name="Picture 5" descr="22_composicion_pedido.png"/>
          <p:cNvPicPr>
            <a:picLocks noChangeAspect="1"/>
          </p:cNvPicPr>
          <p:nvPr/>
        </p:nvPicPr>
        <p:blipFill>
          <a:blip r:embed="rId2"/>
          <a:stretch>
            <a:fillRect/>
          </a:stretch>
        </p:blipFill>
        <p:spPr>
          <a:xfrm>
            <a:off x="335280" y="1609344"/>
            <a:ext cx="5760720" cy="3291840"/>
          </a:xfrm>
          <a:prstGeom prst="rect">
            <a:avLst/>
          </a:prstGeom>
        </p:spPr>
      </p:pic>
      <p:sp>
        <p:nvSpPr>
          <p:cNvPr id="8" name="TextBox 7"/>
          <p:cNvSpPr txBox="1"/>
          <p:nvPr/>
        </p:nvSpPr>
        <p:spPr>
          <a:xfrm>
            <a:off x="6587972" y="4037076"/>
            <a:ext cx="4556455" cy="1828800"/>
          </a:xfrm>
          <a:prstGeom prst="rect">
            <a:avLst/>
          </a:prstGeom>
          <a:noFill/>
        </p:spPr>
        <p:txBody>
          <a:bodyPr wrap="square" lIns="0" tIns="0" rIns="0" bIns="0">
            <a:spAutoFit/>
          </a:bodyPr>
          <a:lstStyle/>
          <a:p>
            <a:pPr algn="l">
              <a:lnSpc>
                <a:spcPct val="128000"/>
              </a:lnSpc>
              <a:spcBef>
                <a:spcPts val="0"/>
              </a:spcBef>
              <a:spcAft>
                <a:spcPts val="1000"/>
              </a:spcAft>
            </a:pPr>
            <a:r>
              <a:rPr sz="1250" b="0" dirty="0">
                <a:solidFill>
                  <a:srgbClr val="555045"/>
                </a:solidFill>
                <a:latin typeface="Arial"/>
              </a:rPr>
              <a:t>El </a:t>
            </a:r>
            <a:r>
              <a:rPr sz="1250" b="0" dirty="0" err="1">
                <a:solidFill>
                  <a:srgbClr val="555045"/>
                </a:solidFill>
                <a:latin typeface="Arial"/>
              </a:rPr>
              <a:t>colchón</a:t>
            </a:r>
            <a:r>
              <a:rPr sz="1250" b="0" dirty="0">
                <a:solidFill>
                  <a:srgbClr val="555045"/>
                </a:solidFill>
                <a:latin typeface="Arial"/>
              </a:rPr>
              <a:t> es lo </a:t>
            </a:r>
            <a:r>
              <a:rPr sz="1250" b="0" dirty="0" err="1">
                <a:solidFill>
                  <a:srgbClr val="555045"/>
                </a:solidFill>
                <a:latin typeface="Arial"/>
              </a:rPr>
              <a:t>que</a:t>
            </a:r>
            <a:r>
              <a:rPr sz="1250" b="0" dirty="0">
                <a:solidFill>
                  <a:srgbClr val="555045"/>
                </a:solidFill>
                <a:latin typeface="Arial"/>
              </a:rPr>
              <a:t> se </a:t>
            </a:r>
            <a:r>
              <a:rPr sz="1250" b="0" dirty="0" err="1">
                <a:solidFill>
                  <a:srgbClr val="555045"/>
                </a:solidFill>
                <a:latin typeface="Arial"/>
              </a:rPr>
              <a:t>pide</a:t>
            </a:r>
            <a:r>
              <a:rPr sz="1250" b="0" dirty="0">
                <a:solidFill>
                  <a:srgbClr val="555045"/>
                </a:solidFill>
                <a:latin typeface="Arial"/>
              </a:rPr>
              <a:t> </a:t>
            </a:r>
            <a:r>
              <a:rPr sz="1250" b="0" dirty="0" err="1">
                <a:solidFill>
                  <a:srgbClr val="555045"/>
                </a:solidFill>
                <a:latin typeface="Arial"/>
              </a:rPr>
              <a:t>por</a:t>
            </a:r>
            <a:r>
              <a:rPr sz="1250" b="0" dirty="0">
                <a:solidFill>
                  <a:srgbClr val="555045"/>
                </a:solidFill>
                <a:latin typeface="Arial"/>
              </a:rPr>
              <a:t> </a:t>
            </a:r>
            <a:r>
              <a:rPr sz="1250" b="0" dirty="0" err="1">
                <a:solidFill>
                  <a:srgbClr val="555045"/>
                </a:solidFill>
                <a:latin typeface="Arial"/>
              </a:rPr>
              <a:t>encima</a:t>
            </a:r>
            <a:r>
              <a:rPr sz="1250" b="0" dirty="0">
                <a:solidFill>
                  <a:srgbClr val="555045"/>
                </a:solidFill>
                <a:latin typeface="Arial"/>
              </a:rPr>
              <a:t> de lo </a:t>
            </a:r>
            <a:r>
              <a:rPr sz="1250" b="0" dirty="0" err="1">
                <a:solidFill>
                  <a:srgbClr val="555045"/>
                </a:solidFill>
                <a:latin typeface="Arial"/>
              </a:rPr>
              <a:t>esperado</a:t>
            </a:r>
            <a:r>
              <a:rPr sz="1250" b="0" dirty="0">
                <a:solidFill>
                  <a:srgbClr val="555045"/>
                </a:solidFill>
                <a:latin typeface="Arial"/>
              </a:rPr>
              <a:t>. El </a:t>
            </a:r>
            <a:r>
              <a:rPr sz="1250" b="0" dirty="0" err="1">
                <a:solidFill>
                  <a:srgbClr val="555045"/>
                </a:solidFill>
                <a:latin typeface="Arial"/>
              </a:rPr>
              <a:t>producto</a:t>
            </a:r>
            <a:r>
              <a:rPr sz="1250" b="0" dirty="0">
                <a:solidFill>
                  <a:srgbClr val="555045"/>
                </a:solidFill>
                <a:latin typeface="Arial"/>
              </a:rPr>
              <a:t> con </a:t>
            </a:r>
            <a:r>
              <a:rPr sz="1250" b="0" dirty="0" err="1">
                <a:solidFill>
                  <a:srgbClr val="555045"/>
                </a:solidFill>
                <a:latin typeface="Arial"/>
              </a:rPr>
              <a:t>más</a:t>
            </a:r>
            <a:r>
              <a:rPr sz="1250" b="0" dirty="0">
                <a:solidFill>
                  <a:srgbClr val="555045"/>
                </a:solidFill>
                <a:latin typeface="Arial"/>
              </a:rPr>
              <a:t> </a:t>
            </a:r>
            <a:r>
              <a:rPr sz="1250" b="0" dirty="0" err="1">
                <a:solidFill>
                  <a:srgbClr val="555045"/>
                </a:solidFill>
                <a:latin typeface="Arial"/>
              </a:rPr>
              <a:t>margen</a:t>
            </a:r>
            <a:r>
              <a:rPr sz="1250" b="0" dirty="0">
                <a:solidFill>
                  <a:srgbClr val="555045"/>
                </a:solidFill>
                <a:latin typeface="Arial"/>
              </a:rPr>
              <a:t> se protege </a:t>
            </a:r>
            <a:r>
              <a:rPr sz="1250" b="0" dirty="0" err="1">
                <a:solidFill>
                  <a:srgbClr val="555045"/>
                </a:solidFill>
                <a:latin typeface="Arial"/>
              </a:rPr>
              <a:t>más</a:t>
            </a:r>
            <a:r>
              <a:rPr sz="1250" b="0" dirty="0">
                <a:solidFill>
                  <a:srgbClr val="555045"/>
                </a:solidFill>
                <a:latin typeface="Arial"/>
              </a:rPr>
              <a:t> del doble </a:t>
            </a:r>
            <a:r>
              <a:rPr sz="1250" b="0" dirty="0" err="1">
                <a:solidFill>
                  <a:srgbClr val="555045"/>
                </a:solidFill>
                <a:latin typeface="Arial"/>
              </a:rPr>
              <a:t>que</a:t>
            </a:r>
            <a:r>
              <a:rPr sz="1250" b="0" dirty="0">
                <a:solidFill>
                  <a:srgbClr val="555045"/>
                </a:solidFill>
                <a:latin typeface="Arial"/>
              </a:rPr>
              <a:t> el de </a:t>
            </a:r>
            <a:r>
              <a:rPr sz="1250" b="0" dirty="0" err="1">
                <a:solidFill>
                  <a:srgbClr val="555045"/>
                </a:solidFill>
                <a:latin typeface="Arial"/>
              </a:rPr>
              <a:t>menos</a:t>
            </a:r>
            <a:r>
              <a:rPr sz="1250" b="0" dirty="0">
                <a:solidFill>
                  <a:srgbClr val="555045"/>
                </a:solidFill>
                <a:latin typeface="Arial"/>
              </a:rPr>
              <a:t> </a:t>
            </a:r>
            <a:r>
              <a:rPr sz="1250" b="0" dirty="0" err="1">
                <a:solidFill>
                  <a:srgbClr val="555045"/>
                </a:solidFill>
                <a:latin typeface="Arial"/>
              </a:rPr>
              <a:t>margen</a:t>
            </a:r>
            <a:r>
              <a:rPr sz="1250" b="0" dirty="0">
                <a:solidFill>
                  <a:srgbClr val="555045"/>
                </a:solidFill>
                <a:latin typeface="Arial"/>
              </a:rPr>
              <a:t>, y </a:t>
            </a:r>
            <a:r>
              <a:rPr sz="1250" b="0" dirty="0" err="1">
                <a:solidFill>
                  <a:srgbClr val="555045"/>
                </a:solidFill>
                <a:latin typeface="Arial"/>
              </a:rPr>
              <a:t>nadie</a:t>
            </a:r>
            <a:r>
              <a:rPr sz="1250" b="0" dirty="0">
                <a:solidFill>
                  <a:srgbClr val="555045"/>
                </a:solidFill>
                <a:latin typeface="Arial"/>
              </a:rPr>
              <a:t> lo </a:t>
            </a:r>
            <a:r>
              <a:rPr sz="1250" b="0" dirty="0" err="1">
                <a:solidFill>
                  <a:srgbClr val="555045"/>
                </a:solidFill>
                <a:latin typeface="Arial"/>
              </a:rPr>
              <a:t>decidió</a:t>
            </a:r>
            <a:r>
              <a:rPr sz="1250" b="0" dirty="0">
                <a:solidFill>
                  <a:srgbClr val="555045"/>
                </a:solidFill>
                <a:latin typeface="Arial"/>
              </a:rPr>
              <a:t> a mano.</a:t>
            </a:r>
          </a:p>
          <a:p>
            <a:pPr algn="l">
              <a:lnSpc>
                <a:spcPct val="128000"/>
              </a:lnSpc>
              <a:spcBef>
                <a:spcPts val="0"/>
              </a:spcBef>
              <a:spcAft>
                <a:spcPts val="0"/>
              </a:spcAft>
            </a:pPr>
            <a:r>
              <a:rPr sz="1250" b="1" dirty="0">
                <a:solidFill>
                  <a:srgbClr val="17150F"/>
                </a:solidFill>
                <a:latin typeface="Arial"/>
              </a:rPr>
              <a:t>Al Pastel de Pollo </a:t>
            </a:r>
            <a:r>
              <a:rPr sz="1250" b="1" dirty="0" err="1">
                <a:solidFill>
                  <a:srgbClr val="17150F"/>
                </a:solidFill>
                <a:latin typeface="Arial"/>
              </a:rPr>
              <a:t>pasarse</a:t>
            </a:r>
            <a:r>
              <a:rPr sz="1250" b="1" dirty="0">
                <a:solidFill>
                  <a:srgbClr val="17150F"/>
                </a:solidFill>
                <a:latin typeface="Arial"/>
              </a:rPr>
              <a:t> le </a:t>
            </a:r>
            <a:r>
              <a:rPr sz="1250" b="1" dirty="0" err="1">
                <a:solidFill>
                  <a:srgbClr val="17150F"/>
                </a:solidFill>
                <a:latin typeface="Arial"/>
              </a:rPr>
              <a:t>duele</a:t>
            </a:r>
            <a:r>
              <a:rPr sz="1250" b="1" dirty="0">
                <a:solidFill>
                  <a:srgbClr val="17150F"/>
                </a:solidFill>
                <a:latin typeface="Arial"/>
              </a:rPr>
              <a:t> </a:t>
            </a:r>
            <a:r>
              <a:rPr sz="1250" b="1" dirty="0" err="1">
                <a:solidFill>
                  <a:srgbClr val="17150F"/>
                </a:solidFill>
                <a:latin typeface="Arial"/>
              </a:rPr>
              <a:t>casi</a:t>
            </a:r>
            <a:r>
              <a:rPr sz="1250" b="1" dirty="0">
                <a:solidFill>
                  <a:srgbClr val="17150F"/>
                </a:solidFill>
                <a:latin typeface="Arial"/>
              </a:rPr>
              <a:t> tanto </a:t>
            </a:r>
            <a:r>
              <a:rPr sz="1250" b="1" dirty="0" err="1">
                <a:solidFill>
                  <a:srgbClr val="17150F"/>
                </a:solidFill>
                <a:latin typeface="Arial"/>
              </a:rPr>
              <a:t>como</a:t>
            </a:r>
            <a:r>
              <a:rPr sz="1250" b="1" dirty="0">
                <a:solidFill>
                  <a:srgbClr val="17150F"/>
                </a:solidFill>
                <a:latin typeface="Arial"/>
              </a:rPr>
              <a:t> </a:t>
            </a:r>
            <a:r>
              <a:rPr sz="1250" b="1" dirty="0" err="1">
                <a:solidFill>
                  <a:srgbClr val="17150F"/>
                </a:solidFill>
                <a:latin typeface="Arial"/>
              </a:rPr>
              <a:t>quedarse</a:t>
            </a:r>
            <a:r>
              <a:rPr sz="1250" b="1" dirty="0">
                <a:solidFill>
                  <a:srgbClr val="17150F"/>
                </a:solidFill>
                <a:latin typeface="Arial"/>
              </a:rPr>
              <a:t> corto: </a:t>
            </a:r>
            <a:r>
              <a:rPr sz="1250" b="1" dirty="0" err="1">
                <a:solidFill>
                  <a:srgbClr val="17150F"/>
                </a:solidFill>
                <a:latin typeface="Arial"/>
              </a:rPr>
              <a:t>margen</a:t>
            </a:r>
            <a:r>
              <a:rPr sz="1250" b="1" dirty="0">
                <a:solidFill>
                  <a:srgbClr val="17150F"/>
                </a:solidFill>
                <a:latin typeface="Arial"/>
              </a:rPr>
              <a:t> bajo y </a:t>
            </a:r>
            <a:r>
              <a:rPr sz="1250" b="1" dirty="0" err="1">
                <a:solidFill>
                  <a:srgbClr val="17150F"/>
                </a:solidFill>
                <a:latin typeface="Arial"/>
              </a:rPr>
              <a:t>almacenaje</a:t>
            </a:r>
            <a:r>
              <a:rPr sz="1250" b="1" dirty="0">
                <a:solidFill>
                  <a:srgbClr val="17150F"/>
                </a:solidFill>
                <a:latin typeface="Arial"/>
              </a:rPr>
              <a:t> </a:t>
            </a:r>
            <a:r>
              <a:rPr sz="1250" b="1" dirty="0" err="1">
                <a:solidFill>
                  <a:srgbClr val="17150F"/>
                </a:solidFill>
                <a:latin typeface="Arial"/>
              </a:rPr>
              <a:t>caro</a:t>
            </a:r>
            <a:r>
              <a:rPr sz="1250" b="1" dirty="0">
                <a:solidFill>
                  <a:srgbClr val="17150F"/>
                </a:solidFill>
                <a:latin typeface="Arial"/>
              </a:rPr>
              <a:t>. Al Tinto le </a:t>
            </a:r>
            <a:r>
              <a:rPr sz="1250" b="1" dirty="0" err="1">
                <a:solidFill>
                  <a:srgbClr val="17150F"/>
                </a:solidFill>
                <a:latin typeface="Arial"/>
              </a:rPr>
              <a:t>compensa</a:t>
            </a:r>
            <a:r>
              <a:rPr sz="1250" b="1" dirty="0">
                <a:solidFill>
                  <a:srgbClr val="17150F"/>
                </a:solidFill>
                <a:latin typeface="Arial"/>
              </a:rPr>
              <a:t> </a:t>
            </a:r>
            <a:r>
              <a:rPr sz="1250" b="1" dirty="0" err="1">
                <a:solidFill>
                  <a:srgbClr val="17150F"/>
                </a:solidFill>
                <a:latin typeface="Arial"/>
              </a:rPr>
              <a:t>arriesgar</a:t>
            </a:r>
            <a:r>
              <a:rPr sz="1250" b="1" dirty="0">
                <a:solidFill>
                  <a:srgbClr val="17150F"/>
                </a:solidFill>
                <a:latin typeface="Arial"/>
              </a:rPr>
              <a:t>.</a:t>
            </a:r>
          </a:p>
        </p:txBody>
      </p:sp>
      <p:sp>
        <p:nvSpPr>
          <p:cNvPr id="9" name="Rectangle 8"/>
          <p:cNvSpPr/>
          <p:nvPr/>
        </p:nvSpPr>
        <p:spPr>
          <a:xfrm>
            <a:off x="777240" y="6327648"/>
            <a:ext cx="10637215" cy="9525"/>
          </a:xfrm>
          <a:prstGeom prst="rect">
            <a:avLst/>
          </a:prstGeom>
          <a:solidFill>
            <a:srgbClr val="DCD8C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0" name="TextBox 9"/>
          <p:cNvSpPr txBox="1"/>
          <p:nvPr/>
        </p:nvSpPr>
        <p:spPr>
          <a:xfrm>
            <a:off x="777240" y="6428232"/>
            <a:ext cx="8686800" cy="274320"/>
          </a:xfrm>
          <a:prstGeom prst="rect">
            <a:avLst/>
          </a:prstGeom>
          <a:noFill/>
        </p:spPr>
        <p:txBody>
          <a:bodyPr wrap="square" lIns="0" tIns="0" rIns="0" bIns="0">
            <a:spAutoFit/>
          </a:bodyPr>
          <a:lstStyle/>
          <a:p>
            <a:pPr algn="l">
              <a:lnSpc>
                <a:spcPct val="122000"/>
              </a:lnSpc>
              <a:spcBef>
                <a:spcPts val="0"/>
              </a:spcBef>
              <a:spcAft>
                <a:spcPts val="0"/>
              </a:spcAft>
            </a:pPr>
            <a:r>
              <a:rPr sz="950" b="0">
                <a:solidFill>
                  <a:srgbClr val="8B8478"/>
                </a:solidFill>
                <a:latin typeface="Arial"/>
              </a:rPr>
              <a:t>Paso 14 · Optimizador del pedido</a:t>
            </a:r>
          </a:p>
        </p:txBody>
      </p:sp>
      <p:sp>
        <p:nvSpPr>
          <p:cNvPr id="11" name="TextBox 10"/>
          <p:cNvSpPr txBox="1"/>
          <p:nvPr/>
        </p:nvSpPr>
        <p:spPr>
          <a:xfrm>
            <a:off x="10500055" y="6428232"/>
            <a:ext cx="914400" cy="274320"/>
          </a:xfrm>
          <a:prstGeom prst="rect">
            <a:avLst/>
          </a:prstGeom>
          <a:noFill/>
        </p:spPr>
        <p:txBody>
          <a:bodyPr wrap="square" lIns="0" tIns="0" rIns="0" bIns="0">
            <a:spAutoFit/>
          </a:bodyPr>
          <a:lstStyle/>
          <a:p>
            <a:pPr algn="r">
              <a:lnSpc>
                <a:spcPct val="122000"/>
              </a:lnSpc>
              <a:spcBef>
                <a:spcPts val="0"/>
              </a:spcBef>
              <a:spcAft>
                <a:spcPts val="0"/>
              </a:spcAft>
            </a:pPr>
            <a:r>
              <a:rPr sz="950" b="0">
                <a:solidFill>
                  <a:srgbClr val="8B8478"/>
                </a:solidFill>
                <a:latin typeface="Arial"/>
              </a:rPr>
              <a:t>40</a:t>
            </a:r>
          </a:p>
        </p:txBody>
      </p:sp>
      <p:pic>
        <p:nvPicPr>
          <p:cNvPr id="12" name="Picture 11">
            <a:extLst>
              <a:ext uri="{FF2B5EF4-FFF2-40B4-BE49-F238E27FC236}">
                <a16:creationId xmlns:a16="http://schemas.microsoft.com/office/drawing/2014/main" id="{E397AB7D-2680-E8CE-91C7-4BAFF0639184}"/>
              </a:ext>
            </a:extLst>
          </p:cNvPr>
          <p:cNvPicPr>
            <a:picLocks noChangeAspect="1"/>
          </p:cNvPicPr>
          <p:nvPr/>
        </p:nvPicPr>
        <p:blipFill>
          <a:blip r:embed="rId3"/>
          <a:stretch>
            <a:fillRect/>
          </a:stretch>
        </p:blipFill>
        <p:spPr>
          <a:xfrm>
            <a:off x="6367954" y="1561338"/>
            <a:ext cx="4776473" cy="2303946"/>
          </a:xfrm>
          <a:prstGeom prst="rect">
            <a:avLst/>
          </a:prstGeom>
        </p:spPr>
      </p:pic>
    </p:spTree>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777240" y="475488"/>
            <a:ext cx="10637215" cy="237744"/>
          </a:xfrm>
          <a:prstGeom prst="rect">
            <a:avLst/>
          </a:prstGeom>
          <a:noFill/>
        </p:spPr>
        <p:txBody>
          <a:bodyPr wrap="square" lIns="0" tIns="0" rIns="0" bIns="0">
            <a:spAutoFit/>
          </a:bodyPr>
          <a:lstStyle/>
          <a:p>
            <a:pPr algn="l">
              <a:lnSpc>
                <a:spcPct val="122000"/>
              </a:lnSpc>
              <a:spcBef>
                <a:spcPts val="0"/>
              </a:spcBef>
              <a:spcAft>
                <a:spcPts val="0"/>
              </a:spcAft>
            </a:pPr>
            <a:r>
              <a:rPr sz="1050" b="1">
                <a:solidFill>
                  <a:srgbClr val="8C2F39"/>
                </a:solidFill>
                <a:latin typeface="Arial"/>
              </a:rPr>
              <a:t>PASO 15 · SIMULACIÓN</a:t>
            </a:r>
          </a:p>
        </p:txBody>
      </p:sp>
      <p:sp>
        <p:nvSpPr>
          <p:cNvPr id="4" name="Rectangle 3"/>
          <p:cNvSpPr/>
          <p:nvPr/>
        </p:nvSpPr>
        <p:spPr>
          <a:xfrm>
            <a:off x="777240" y="768096"/>
            <a:ext cx="502920" cy="30480"/>
          </a:xfrm>
          <a:prstGeom prst="rect">
            <a:avLst/>
          </a:prstGeom>
          <a:solidFill>
            <a:srgbClr val="8C2F3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 name="TextBox 4"/>
          <p:cNvSpPr txBox="1"/>
          <p:nvPr/>
        </p:nvSpPr>
        <p:spPr>
          <a:xfrm>
            <a:off x="777240" y="914400"/>
            <a:ext cx="10637215" cy="445770"/>
          </a:xfrm>
          <a:prstGeom prst="rect">
            <a:avLst/>
          </a:prstGeom>
          <a:noFill/>
        </p:spPr>
        <p:txBody>
          <a:bodyPr wrap="square" lIns="0" tIns="0" rIns="0" bIns="0">
            <a:spAutoFit/>
          </a:bodyPr>
          <a:lstStyle/>
          <a:p>
            <a:pPr algn="l">
              <a:lnSpc>
                <a:spcPct val="106000"/>
              </a:lnSpc>
              <a:spcBef>
                <a:spcPts val="0"/>
              </a:spcBef>
              <a:spcAft>
                <a:spcPts val="0"/>
              </a:spcAft>
            </a:pPr>
            <a:r>
              <a:rPr sz="2700" b="1">
                <a:solidFill>
                  <a:srgbClr val="17150F"/>
                </a:solidFill>
                <a:latin typeface="Arial"/>
              </a:rPr>
              <a:t>Cinco políticas, no dos, para poder atribuir el ahorro</a:t>
            </a:r>
          </a:p>
        </p:txBody>
      </p:sp>
      <p:sp>
        <p:nvSpPr>
          <p:cNvPr id="6" name="TextBox 5"/>
          <p:cNvSpPr txBox="1"/>
          <p:nvPr/>
        </p:nvSpPr>
        <p:spPr>
          <a:xfrm>
            <a:off x="777240" y="1506474"/>
            <a:ext cx="9966960" cy="283337"/>
          </a:xfrm>
          <a:prstGeom prst="rect">
            <a:avLst/>
          </a:prstGeom>
          <a:noFill/>
        </p:spPr>
        <p:txBody>
          <a:bodyPr wrap="square" lIns="0" tIns="0" rIns="0" bIns="0">
            <a:spAutoFit/>
          </a:bodyPr>
          <a:lstStyle/>
          <a:p>
            <a:pPr algn="l">
              <a:lnSpc>
                <a:spcPct val="130000"/>
              </a:lnSpc>
              <a:spcBef>
                <a:spcPts val="0"/>
              </a:spcBef>
              <a:spcAft>
                <a:spcPts val="0"/>
              </a:spcAft>
            </a:pPr>
            <a:r>
              <a:rPr sz="1450" b="0">
                <a:solidFill>
                  <a:srgbClr val="555045"/>
                </a:solidFill>
                <a:latin typeface="Arial"/>
              </a:rPr>
              <a:t>Demanda real, decisión hipotética, sobre las 480 decisiones de las semanas de prueba.</a:t>
            </a:r>
          </a:p>
        </p:txBody>
      </p:sp>
      <p:graphicFrame>
        <p:nvGraphicFramePr>
          <p:cNvPr id="7" name="Table 6"/>
          <p:cNvGraphicFramePr>
            <a:graphicFrameLocks noGrp="1"/>
          </p:cNvGraphicFramePr>
          <p:nvPr>
            <p:extLst>
              <p:ext uri="{D42A27DB-BD31-4B8C-83A1-F6EECF244321}">
                <p14:modId xmlns:p14="http://schemas.microsoft.com/office/powerpoint/2010/main" val="1992513278"/>
              </p:ext>
            </p:extLst>
          </p:nvPr>
        </p:nvGraphicFramePr>
        <p:xfrm>
          <a:off x="777240" y="2545713"/>
          <a:ext cx="5093721" cy="1399503"/>
        </p:xfrm>
        <a:graphic>
          <a:graphicData uri="http://schemas.openxmlformats.org/drawingml/2006/table">
            <a:tbl>
              <a:tblPr bandRow="1">
                <a:tableStyleId>{5C22544A-7EE6-4342-B048-85BDC9FD1C3A}</a:tableStyleId>
              </a:tblPr>
              <a:tblGrid>
                <a:gridCol w="2139363">
                  <a:extLst>
                    <a:ext uri="{9D8B030D-6E8A-4147-A177-3AD203B41FA5}">
                      <a16:colId xmlns:a16="http://schemas.microsoft.com/office/drawing/2014/main" val="20000"/>
                    </a:ext>
                  </a:extLst>
                </a:gridCol>
                <a:gridCol w="1324367">
                  <a:extLst>
                    <a:ext uri="{9D8B030D-6E8A-4147-A177-3AD203B41FA5}">
                      <a16:colId xmlns:a16="http://schemas.microsoft.com/office/drawing/2014/main" val="20001"/>
                    </a:ext>
                  </a:extLst>
                </a:gridCol>
                <a:gridCol w="1629991">
                  <a:extLst>
                    <a:ext uri="{9D8B030D-6E8A-4147-A177-3AD203B41FA5}">
                      <a16:colId xmlns:a16="http://schemas.microsoft.com/office/drawing/2014/main" val="20002"/>
                    </a:ext>
                  </a:extLst>
                </a:gridCol>
              </a:tblGrid>
              <a:tr h="457200">
                <a:tc>
                  <a:txBody>
                    <a:bodyPr/>
                    <a:lstStyle/>
                    <a:p>
                      <a:pPr algn="l"/>
                      <a:endParaRPr dirty="0"/>
                    </a:p>
                  </a:txBody>
                  <a:tcPr marL="82296" marR="82296" anchor="ctr">
                    <a:solidFill>
                      <a:srgbClr val="F4F2ED"/>
                    </a:solidFill>
                  </a:tcPr>
                </a:tc>
                <a:tc>
                  <a:txBody>
                    <a:bodyPr/>
                    <a:lstStyle/>
                    <a:p>
                      <a:pPr algn="ctr"/>
                      <a:r>
                        <a:rPr sz="1150" b="1" dirty="0" err="1">
                          <a:solidFill>
                            <a:srgbClr val="8B8478"/>
                          </a:solidFill>
                          <a:latin typeface="Arial"/>
                        </a:rPr>
                        <a:t>Pedir</a:t>
                      </a:r>
                      <a:r>
                        <a:rPr sz="1150" b="1" dirty="0">
                          <a:solidFill>
                            <a:srgbClr val="8B8478"/>
                          </a:solidFill>
                          <a:latin typeface="Arial"/>
                        </a:rPr>
                        <a:t> el </a:t>
                      </a:r>
                      <a:r>
                        <a:rPr sz="1150" b="1" dirty="0" err="1">
                          <a:solidFill>
                            <a:srgbClr val="8B8478"/>
                          </a:solidFill>
                          <a:latin typeface="Arial"/>
                        </a:rPr>
                        <a:t>centro</a:t>
                      </a:r>
                      <a:r>
                        <a:rPr lang="es-419" sz="1150" b="1" dirty="0">
                          <a:solidFill>
                            <a:srgbClr val="8B8478"/>
                          </a:solidFill>
                          <a:latin typeface="Arial"/>
                        </a:rPr>
                        <a:t> (0.50) </a:t>
                      </a:r>
                      <a:endParaRPr sz="1150" b="1" dirty="0">
                        <a:solidFill>
                          <a:srgbClr val="8B8478"/>
                        </a:solidFill>
                        <a:latin typeface="Arial"/>
                      </a:endParaRPr>
                    </a:p>
                  </a:txBody>
                  <a:tcPr marL="82296" marR="82296" anchor="ctr">
                    <a:solidFill>
                      <a:srgbClr val="F4F2ED"/>
                    </a:solidFill>
                  </a:tcPr>
                </a:tc>
                <a:tc>
                  <a:txBody>
                    <a:bodyPr/>
                    <a:lstStyle/>
                    <a:p>
                      <a:pPr algn="ctr"/>
                      <a:r>
                        <a:rPr sz="1150" b="1" dirty="0" err="1">
                          <a:solidFill>
                            <a:srgbClr val="8B8478"/>
                          </a:solidFill>
                          <a:latin typeface="Arial"/>
                        </a:rPr>
                        <a:t>Pedir</a:t>
                      </a:r>
                      <a:r>
                        <a:rPr sz="1150" b="1" dirty="0">
                          <a:solidFill>
                            <a:srgbClr val="8B8478"/>
                          </a:solidFill>
                          <a:latin typeface="Arial"/>
                        </a:rPr>
                        <a:t> el </a:t>
                      </a:r>
                      <a:r>
                        <a:rPr sz="1150" b="1" dirty="0" err="1">
                          <a:solidFill>
                            <a:srgbClr val="8B8478"/>
                          </a:solidFill>
                          <a:latin typeface="Arial"/>
                        </a:rPr>
                        <a:t>nivel</a:t>
                      </a:r>
                      <a:r>
                        <a:rPr sz="1150" b="1" dirty="0">
                          <a:solidFill>
                            <a:srgbClr val="8B8478"/>
                          </a:solidFill>
                          <a:latin typeface="Arial"/>
                        </a:rPr>
                        <a:t> de </a:t>
                      </a:r>
                      <a:r>
                        <a:rPr sz="1150" b="1" dirty="0" err="1">
                          <a:solidFill>
                            <a:srgbClr val="8B8478"/>
                          </a:solidFill>
                          <a:latin typeface="Arial"/>
                        </a:rPr>
                        <a:t>servicio</a:t>
                      </a:r>
                      <a:endParaRPr sz="1150" b="1" dirty="0">
                        <a:solidFill>
                          <a:srgbClr val="8B8478"/>
                        </a:solidFill>
                        <a:latin typeface="Arial"/>
                      </a:endParaRPr>
                    </a:p>
                  </a:txBody>
                  <a:tcPr marL="82296" marR="82296" anchor="ctr">
                    <a:solidFill>
                      <a:srgbClr val="F4F2ED"/>
                    </a:solidFill>
                  </a:tcPr>
                </a:tc>
                <a:extLst>
                  <a:ext uri="{0D108BD9-81ED-4DB2-BD59-A6C34878D82A}">
                    <a16:rowId xmlns:a16="http://schemas.microsoft.com/office/drawing/2014/main" val="10000"/>
                  </a:ext>
                </a:extLst>
              </a:tr>
              <a:tr h="504497">
                <a:tc>
                  <a:txBody>
                    <a:bodyPr/>
                    <a:lstStyle/>
                    <a:p>
                      <a:pPr algn="l"/>
                      <a:r>
                        <a:rPr sz="1300" b="0">
                          <a:solidFill>
                            <a:srgbClr val="17150F"/>
                          </a:solidFill>
                          <a:latin typeface="Arial"/>
                        </a:rPr>
                        <a:t>Pronóstico ingenuo (media móvil)</a:t>
                      </a:r>
                    </a:p>
                  </a:txBody>
                  <a:tcPr marL="82296" marR="82296" anchor="ctr">
                    <a:solidFill>
                      <a:srgbClr val="FFFFFF"/>
                    </a:solidFill>
                  </a:tcPr>
                </a:tc>
                <a:tc>
                  <a:txBody>
                    <a:bodyPr/>
                    <a:lstStyle/>
                    <a:p>
                      <a:pPr algn="r"/>
                      <a:r>
                        <a:rPr sz="1300" b="0" dirty="0">
                          <a:solidFill>
                            <a:srgbClr val="555045"/>
                          </a:solidFill>
                          <a:latin typeface="Arial"/>
                        </a:rPr>
                        <a:t>P1</a:t>
                      </a:r>
                    </a:p>
                  </a:txBody>
                  <a:tcPr marL="82296" marR="82296" anchor="ctr">
                    <a:solidFill>
                      <a:srgbClr val="FFFFFF"/>
                    </a:solidFill>
                  </a:tcPr>
                </a:tc>
                <a:tc>
                  <a:txBody>
                    <a:bodyPr/>
                    <a:lstStyle/>
                    <a:p>
                      <a:pPr algn="r"/>
                      <a:r>
                        <a:rPr sz="1300" b="0">
                          <a:solidFill>
                            <a:srgbClr val="555045"/>
                          </a:solidFill>
                          <a:latin typeface="Arial"/>
                        </a:rPr>
                        <a:t>P3</a:t>
                      </a:r>
                    </a:p>
                  </a:txBody>
                  <a:tcPr marL="82296" marR="82296" anchor="ctr">
                    <a:solidFill>
                      <a:srgbClr val="FFFFFF"/>
                    </a:solidFill>
                  </a:tcPr>
                </a:tc>
                <a:extLst>
                  <a:ext uri="{0D108BD9-81ED-4DB2-BD59-A6C34878D82A}">
                    <a16:rowId xmlns:a16="http://schemas.microsoft.com/office/drawing/2014/main" val="10001"/>
                  </a:ext>
                </a:extLst>
              </a:tr>
              <a:tr h="437806">
                <a:tc>
                  <a:txBody>
                    <a:bodyPr/>
                    <a:lstStyle/>
                    <a:p>
                      <a:pPr algn="l"/>
                      <a:r>
                        <a:rPr sz="1300" b="0">
                          <a:solidFill>
                            <a:srgbClr val="17150F"/>
                          </a:solidFill>
                          <a:latin typeface="Arial"/>
                        </a:rPr>
                        <a:t>Pronóstico del modelo</a:t>
                      </a:r>
                    </a:p>
                  </a:txBody>
                  <a:tcPr marL="82296" marR="82296" anchor="ctr">
                    <a:solidFill>
                      <a:srgbClr val="FFFFFF"/>
                    </a:solidFill>
                  </a:tcPr>
                </a:tc>
                <a:tc>
                  <a:txBody>
                    <a:bodyPr/>
                    <a:lstStyle/>
                    <a:p>
                      <a:pPr algn="r"/>
                      <a:r>
                        <a:rPr sz="1300" b="0">
                          <a:solidFill>
                            <a:srgbClr val="555045"/>
                          </a:solidFill>
                          <a:latin typeface="Arial"/>
                        </a:rPr>
                        <a:t>P2</a:t>
                      </a:r>
                    </a:p>
                  </a:txBody>
                  <a:tcPr marL="82296" marR="82296" anchor="ctr">
                    <a:solidFill>
                      <a:srgbClr val="FFFFFF"/>
                    </a:solidFill>
                  </a:tcPr>
                </a:tc>
                <a:tc>
                  <a:txBody>
                    <a:bodyPr/>
                    <a:lstStyle/>
                    <a:p>
                      <a:pPr algn="r"/>
                      <a:r>
                        <a:rPr sz="1300" b="0" dirty="0">
                          <a:solidFill>
                            <a:srgbClr val="555045"/>
                          </a:solidFill>
                          <a:latin typeface="Arial"/>
                        </a:rPr>
                        <a:t>P4 · la </a:t>
                      </a:r>
                      <a:r>
                        <a:rPr sz="1300" b="0" dirty="0" err="1">
                          <a:solidFill>
                            <a:srgbClr val="555045"/>
                          </a:solidFill>
                          <a:latin typeface="Arial"/>
                        </a:rPr>
                        <a:t>propuesta</a:t>
                      </a:r>
                      <a:endParaRPr sz="1300" b="0" dirty="0">
                        <a:solidFill>
                          <a:srgbClr val="555045"/>
                        </a:solidFill>
                        <a:latin typeface="Arial"/>
                      </a:endParaRPr>
                    </a:p>
                  </a:txBody>
                  <a:tcPr marL="82296" marR="82296" anchor="ctr">
                    <a:solidFill>
                      <a:srgbClr val="FFFFFF"/>
                    </a:solidFill>
                  </a:tcPr>
                </a:tc>
                <a:extLst>
                  <a:ext uri="{0D108BD9-81ED-4DB2-BD59-A6C34878D82A}">
                    <a16:rowId xmlns:a16="http://schemas.microsoft.com/office/drawing/2014/main" val="10002"/>
                  </a:ext>
                </a:extLst>
              </a:tr>
            </a:tbl>
          </a:graphicData>
        </a:graphic>
      </p:graphicFrame>
      <p:sp>
        <p:nvSpPr>
          <p:cNvPr id="8" name="TextBox 7"/>
          <p:cNvSpPr txBox="1"/>
          <p:nvPr/>
        </p:nvSpPr>
        <p:spPr>
          <a:xfrm>
            <a:off x="6212793" y="2436654"/>
            <a:ext cx="5201662" cy="1799852"/>
          </a:xfrm>
          <a:prstGeom prst="rect">
            <a:avLst/>
          </a:prstGeom>
          <a:noFill/>
        </p:spPr>
        <p:txBody>
          <a:bodyPr wrap="square" lIns="0" tIns="0" rIns="0" bIns="0">
            <a:spAutoFit/>
          </a:bodyPr>
          <a:lstStyle/>
          <a:p>
            <a:pPr algn="l">
              <a:lnSpc>
                <a:spcPct val="130000"/>
              </a:lnSpc>
              <a:spcBef>
                <a:spcPts val="0"/>
              </a:spcBef>
              <a:spcAft>
                <a:spcPts val="1400"/>
              </a:spcAft>
            </a:pPr>
            <a:r>
              <a:rPr sz="1300" b="0" dirty="0">
                <a:solidFill>
                  <a:srgbClr val="555045"/>
                </a:solidFill>
                <a:latin typeface="Arial"/>
              </a:rPr>
              <a:t>Más P0, </a:t>
            </a:r>
            <a:r>
              <a:rPr sz="1300" b="0" dirty="0" err="1">
                <a:solidFill>
                  <a:srgbClr val="555045"/>
                </a:solidFill>
                <a:latin typeface="Arial"/>
              </a:rPr>
              <a:t>repetir</a:t>
            </a:r>
            <a:r>
              <a:rPr sz="1300" b="0" dirty="0">
                <a:solidFill>
                  <a:srgbClr val="555045"/>
                </a:solidFill>
                <a:latin typeface="Arial"/>
              </a:rPr>
              <a:t> lo de la </a:t>
            </a:r>
            <a:r>
              <a:rPr sz="1300" b="0" dirty="0" err="1">
                <a:solidFill>
                  <a:srgbClr val="555045"/>
                </a:solidFill>
                <a:latin typeface="Arial"/>
              </a:rPr>
              <a:t>semana</a:t>
            </a:r>
            <a:r>
              <a:rPr sz="1300" b="0" dirty="0">
                <a:solidFill>
                  <a:srgbClr val="555045"/>
                </a:solidFill>
                <a:latin typeface="Arial"/>
              </a:rPr>
              <a:t> anterior, </a:t>
            </a:r>
            <a:r>
              <a:rPr sz="1300" b="0" dirty="0" err="1">
                <a:solidFill>
                  <a:srgbClr val="555045"/>
                </a:solidFill>
                <a:latin typeface="Arial"/>
              </a:rPr>
              <a:t>que</a:t>
            </a:r>
            <a:r>
              <a:rPr sz="1300" b="0" dirty="0">
                <a:solidFill>
                  <a:srgbClr val="555045"/>
                </a:solidFill>
                <a:latin typeface="Arial"/>
              </a:rPr>
              <a:t> </a:t>
            </a:r>
            <a:r>
              <a:rPr sz="1300" b="0" dirty="0" err="1">
                <a:solidFill>
                  <a:srgbClr val="555045"/>
                </a:solidFill>
                <a:latin typeface="Arial"/>
              </a:rPr>
              <a:t>aproxima</a:t>
            </a:r>
            <a:r>
              <a:rPr sz="1300" b="0" dirty="0">
                <a:solidFill>
                  <a:srgbClr val="555045"/>
                </a:solidFill>
                <a:latin typeface="Arial"/>
              </a:rPr>
              <a:t> la </a:t>
            </a:r>
            <a:r>
              <a:rPr sz="1300" b="0" dirty="0" err="1">
                <a:solidFill>
                  <a:srgbClr val="555045"/>
                </a:solidFill>
                <a:latin typeface="Arial"/>
              </a:rPr>
              <a:t>práctica</a:t>
            </a:r>
            <a:r>
              <a:rPr sz="1300" b="0" dirty="0">
                <a:solidFill>
                  <a:srgbClr val="555045"/>
                </a:solidFill>
                <a:latin typeface="Arial"/>
              </a:rPr>
              <a:t> actual.</a:t>
            </a:r>
          </a:p>
          <a:p>
            <a:pPr algn="l">
              <a:lnSpc>
                <a:spcPct val="130000"/>
              </a:lnSpc>
              <a:spcBef>
                <a:spcPts val="0"/>
              </a:spcBef>
              <a:spcAft>
                <a:spcPts val="600"/>
              </a:spcAft>
            </a:pPr>
            <a:r>
              <a:rPr sz="1350" b="1" dirty="0">
                <a:solidFill>
                  <a:srgbClr val="8C2F39"/>
                </a:solidFill>
                <a:latin typeface="Arial"/>
              </a:rPr>
              <a:t>Por </a:t>
            </a:r>
            <a:r>
              <a:rPr sz="1350" b="1" dirty="0" err="1">
                <a:solidFill>
                  <a:srgbClr val="8C2F39"/>
                </a:solidFill>
                <a:latin typeface="Arial"/>
              </a:rPr>
              <a:t>qué</a:t>
            </a:r>
            <a:r>
              <a:rPr sz="1350" b="1" dirty="0">
                <a:solidFill>
                  <a:srgbClr val="8C2F39"/>
                </a:solidFill>
                <a:latin typeface="Arial"/>
              </a:rPr>
              <a:t> no </a:t>
            </a:r>
            <a:r>
              <a:rPr sz="1350" b="1" dirty="0" err="1">
                <a:solidFill>
                  <a:srgbClr val="8C2F39"/>
                </a:solidFill>
                <a:latin typeface="Arial"/>
              </a:rPr>
              <a:t>bastan</a:t>
            </a:r>
            <a:r>
              <a:rPr sz="1350" b="1" dirty="0">
                <a:solidFill>
                  <a:srgbClr val="8C2F39"/>
                </a:solidFill>
                <a:latin typeface="Arial"/>
              </a:rPr>
              <a:t> dos</a:t>
            </a:r>
          </a:p>
          <a:p>
            <a:pPr algn="l">
              <a:lnSpc>
                <a:spcPct val="130000"/>
              </a:lnSpc>
              <a:spcBef>
                <a:spcPts val="0"/>
              </a:spcBef>
              <a:spcAft>
                <a:spcPts val="1200"/>
              </a:spcAft>
            </a:pPr>
            <a:r>
              <a:rPr sz="1300" b="0" dirty="0" err="1">
                <a:solidFill>
                  <a:srgbClr val="555045"/>
                </a:solidFill>
                <a:latin typeface="Arial"/>
              </a:rPr>
              <a:t>Comparar</a:t>
            </a:r>
            <a:r>
              <a:rPr sz="1300" b="0" dirty="0">
                <a:solidFill>
                  <a:srgbClr val="555045"/>
                </a:solidFill>
                <a:latin typeface="Arial"/>
              </a:rPr>
              <a:t> solo P0 contra P4 </a:t>
            </a:r>
            <a:r>
              <a:rPr sz="1300" b="0" dirty="0" err="1">
                <a:solidFill>
                  <a:srgbClr val="555045"/>
                </a:solidFill>
                <a:latin typeface="Arial"/>
              </a:rPr>
              <a:t>daría</a:t>
            </a:r>
            <a:r>
              <a:rPr sz="1300" b="0" dirty="0">
                <a:solidFill>
                  <a:srgbClr val="555045"/>
                </a:solidFill>
                <a:latin typeface="Arial"/>
              </a:rPr>
              <a:t> un </a:t>
            </a:r>
            <a:r>
              <a:rPr sz="1300" b="0" dirty="0" err="1">
                <a:solidFill>
                  <a:srgbClr val="555045"/>
                </a:solidFill>
                <a:latin typeface="Arial"/>
              </a:rPr>
              <a:t>ahorro</a:t>
            </a:r>
            <a:r>
              <a:rPr sz="1300" b="0" dirty="0">
                <a:solidFill>
                  <a:srgbClr val="555045"/>
                </a:solidFill>
                <a:latin typeface="Arial"/>
              </a:rPr>
              <a:t> grande sin saber a </a:t>
            </a:r>
            <a:r>
              <a:rPr sz="1300" b="0" dirty="0" err="1">
                <a:solidFill>
                  <a:srgbClr val="555045"/>
                </a:solidFill>
                <a:latin typeface="Arial"/>
              </a:rPr>
              <a:t>qué</a:t>
            </a:r>
            <a:r>
              <a:rPr sz="1300" b="0" dirty="0">
                <a:solidFill>
                  <a:srgbClr val="555045"/>
                </a:solidFill>
                <a:latin typeface="Arial"/>
              </a:rPr>
              <a:t> </a:t>
            </a:r>
            <a:r>
              <a:rPr sz="1300" b="0" dirty="0" err="1">
                <a:solidFill>
                  <a:srgbClr val="555045"/>
                </a:solidFill>
                <a:latin typeface="Arial"/>
              </a:rPr>
              <a:t>atribuirlo</a:t>
            </a:r>
            <a:r>
              <a:rPr sz="1300" b="0" dirty="0">
                <a:solidFill>
                  <a:srgbClr val="555045"/>
                </a:solidFill>
                <a:latin typeface="Arial"/>
              </a:rPr>
              <a:t>. Con </a:t>
            </a:r>
            <a:r>
              <a:rPr sz="1300" b="0" dirty="0" err="1">
                <a:solidFill>
                  <a:srgbClr val="555045"/>
                </a:solidFill>
                <a:latin typeface="Arial"/>
              </a:rPr>
              <a:t>una</a:t>
            </a:r>
            <a:r>
              <a:rPr sz="1300" b="0" dirty="0">
                <a:solidFill>
                  <a:srgbClr val="555045"/>
                </a:solidFill>
                <a:latin typeface="Arial"/>
              </a:rPr>
              <a:t> </a:t>
            </a:r>
            <a:r>
              <a:rPr sz="1300" b="0" dirty="0" err="1">
                <a:solidFill>
                  <a:srgbClr val="555045"/>
                </a:solidFill>
                <a:latin typeface="Arial"/>
              </a:rPr>
              <a:t>asimetría</a:t>
            </a:r>
            <a:r>
              <a:rPr sz="1300" b="0" dirty="0">
                <a:solidFill>
                  <a:srgbClr val="555045"/>
                </a:solidFill>
                <a:latin typeface="Arial"/>
              </a:rPr>
              <a:t> de </a:t>
            </a:r>
            <a:r>
              <a:rPr sz="1300" b="0" dirty="0" err="1">
                <a:solidFill>
                  <a:srgbClr val="555045"/>
                </a:solidFill>
                <a:latin typeface="Arial"/>
              </a:rPr>
              <a:t>costes</a:t>
            </a:r>
            <a:r>
              <a:rPr sz="1300" b="0" dirty="0">
                <a:solidFill>
                  <a:srgbClr val="555045"/>
                </a:solidFill>
                <a:latin typeface="Arial"/>
              </a:rPr>
              <a:t> </a:t>
            </a:r>
            <a:r>
              <a:rPr sz="1300" b="0" dirty="0" err="1">
                <a:solidFill>
                  <a:srgbClr val="555045"/>
                </a:solidFill>
                <a:latin typeface="Arial"/>
              </a:rPr>
              <a:t>como</a:t>
            </a:r>
            <a:r>
              <a:rPr sz="1300" b="0" dirty="0">
                <a:solidFill>
                  <a:srgbClr val="555045"/>
                </a:solidFill>
                <a:latin typeface="Arial"/>
              </a:rPr>
              <a:t> la de </a:t>
            </a:r>
            <a:r>
              <a:rPr sz="1300" b="0" dirty="0" err="1">
                <a:solidFill>
                  <a:srgbClr val="555045"/>
                </a:solidFill>
                <a:latin typeface="Arial"/>
              </a:rPr>
              <a:t>este</a:t>
            </a:r>
            <a:r>
              <a:rPr sz="1300" b="0" dirty="0">
                <a:solidFill>
                  <a:srgbClr val="555045"/>
                </a:solidFill>
                <a:latin typeface="Arial"/>
              </a:rPr>
              <a:t> </a:t>
            </a:r>
            <a:r>
              <a:rPr sz="1300" b="0" dirty="0" err="1">
                <a:solidFill>
                  <a:srgbClr val="555045"/>
                </a:solidFill>
                <a:latin typeface="Arial"/>
              </a:rPr>
              <a:t>catálogo</a:t>
            </a:r>
            <a:r>
              <a:rPr sz="1300" b="0" dirty="0">
                <a:solidFill>
                  <a:srgbClr val="555045"/>
                </a:solidFill>
                <a:latin typeface="Arial"/>
              </a:rPr>
              <a:t>, </a:t>
            </a:r>
            <a:r>
              <a:rPr sz="1300" b="0" dirty="0" err="1">
                <a:solidFill>
                  <a:srgbClr val="555045"/>
                </a:solidFill>
                <a:latin typeface="Arial"/>
              </a:rPr>
              <a:t>casi</a:t>
            </a:r>
            <a:r>
              <a:rPr sz="1300" b="0" dirty="0">
                <a:solidFill>
                  <a:srgbClr val="555045"/>
                </a:solidFill>
                <a:latin typeface="Arial"/>
              </a:rPr>
              <a:t> </a:t>
            </a:r>
            <a:r>
              <a:rPr sz="1300" b="0" dirty="0" err="1">
                <a:solidFill>
                  <a:srgbClr val="555045"/>
                </a:solidFill>
                <a:latin typeface="Arial"/>
              </a:rPr>
              <a:t>cualquier</a:t>
            </a:r>
            <a:r>
              <a:rPr sz="1300" b="0" dirty="0">
                <a:solidFill>
                  <a:srgbClr val="555045"/>
                </a:solidFill>
                <a:latin typeface="Arial"/>
              </a:rPr>
              <a:t> </a:t>
            </a:r>
            <a:r>
              <a:rPr sz="1300" b="0" dirty="0" err="1">
                <a:solidFill>
                  <a:srgbClr val="555045"/>
                </a:solidFill>
                <a:latin typeface="Arial"/>
              </a:rPr>
              <a:t>regla</a:t>
            </a:r>
            <a:r>
              <a:rPr sz="1300" b="0" dirty="0">
                <a:solidFill>
                  <a:srgbClr val="555045"/>
                </a:solidFill>
                <a:latin typeface="Arial"/>
              </a:rPr>
              <a:t> </a:t>
            </a:r>
            <a:r>
              <a:rPr sz="1300" b="0" dirty="0" err="1">
                <a:solidFill>
                  <a:srgbClr val="555045"/>
                </a:solidFill>
                <a:latin typeface="Arial"/>
              </a:rPr>
              <a:t>que</a:t>
            </a:r>
            <a:r>
              <a:rPr sz="1300" b="0" dirty="0">
                <a:solidFill>
                  <a:srgbClr val="555045"/>
                </a:solidFill>
                <a:latin typeface="Arial"/>
              </a:rPr>
              <a:t> </a:t>
            </a:r>
            <a:r>
              <a:rPr sz="1300" b="0" dirty="0" err="1">
                <a:solidFill>
                  <a:srgbClr val="555045"/>
                </a:solidFill>
                <a:latin typeface="Arial"/>
              </a:rPr>
              <a:t>pida</a:t>
            </a:r>
            <a:r>
              <a:rPr sz="1300" b="0" dirty="0">
                <a:solidFill>
                  <a:srgbClr val="555045"/>
                </a:solidFill>
                <a:latin typeface="Arial"/>
              </a:rPr>
              <a:t> </a:t>
            </a:r>
            <a:r>
              <a:rPr sz="1300" b="0" dirty="0" err="1">
                <a:solidFill>
                  <a:srgbClr val="555045"/>
                </a:solidFill>
                <a:latin typeface="Arial"/>
              </a:rPr>
              <a:t>más</a:t>
            </a:r>
            <a:r>
              <a:rPr sz="1300" b="0" dirty="0">
                <a:solidFill>
                  <a:srgbClr val="555045"/>
                </a:solidFill>
                <a:latin typeface="Arial"/>
              </a:rPr>
              <a:t> </a:t>
            </a:r>
            <a:r>
              <a:rPr sz="1300" b="0" dirty="0" err="1">
                <a:solidFill>
                  <a:srgbClr val="555045"/>
                </a:solidFill>
                <a:latin typeface="Arial"/>
              </a:rPr>
              <a:t>gana</a:t>
            </a:r>
            <a:r>
              <a:rPr sz="1300" b="0" dirty="0">
                <a:solidFill>
                  <a:srgbClr val="555045"/>
                </a:solidFill>
                <a:latin typeface="Arial"/>
              </a:rPr>
              <a:t> </a:t>
            </a:r>
            <a:r>
              <a:rPr sz="1300" b="0" dirty="0" err="1">
                <a:solidFill>
                  <a:srgbClr val="555045"/>
                </a:solidFill>
                <a:latin typeface="Arial"/>
              </a:rPr>
              <a:t>esa</a:t>
            </a:r>
            <a:r>
              <a:rPr sz="1300" b="0" dirty="0">
                <a:solidFill>
                  <a:srgbClr val="555045"/>
                </a:solidFill>
                <a:latin typeface="Arial"/>
              </a:rPr>
              <a:t> </a:t>
            </a:r>
            <a:r>
              <a:rPr sz="1300" b="0" dirty="0" err="1">
                <a:solidFill>
                  <a:srgbClr val="555045"/>
                </a:solidFill>
                <a:latin typeface="Arial"/>
              </a:rPr>
              <a:t>comparación</a:t>
            </a:r>
            <a:r>
              <a:rPr sz="1300" b="0" dirty="0">
                <a:solidFill>
                  <a:srgbClr val="555045"/>
                </a:solidFill>
                <a:latin typeface="Arial"/>
              </a:rPr>
              <a:t>.</a:t>
            </a:r>
          </a:p>
        </p:txBody>
      </p:sp>
      <p:sp>
        <p:nvSpPr>
          <p:cNvPr id="11" name="Rectangle 10"/>
          <p:cNvSpPr/>
          <p:nvPr/>
        </p:nvSpPr>
        <p:spPr>
          <a:xfrm>
            <a:off x="777240" y="6327648"/>
            <a:ext cx="10637215" cy="9525"/>
          </a:xfrm>
          <a:prstGeom prst="rect">
            <a:avLst/>
          </a:prstGeom>
          <a:solidFill>
            <a:srgbClr val="DCD8C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2" name="TextBox 11"/>
          <p:cNvSpPr txBox="1"/>
          <p:nvPr/>
        </p:nvSpPr>
        <p:spPr>
          <a:xfrm>
            <a:off x="777240" y="6428232"/>
            <a:ext cx="8686800" cy="274320"/>
          </a:xfrm>
          <a:prstGeom prst="rect">
            <a:avLst/>
          </a:prstGeom>
          <a:noFill/>
        </p:spPr>
        <p:txBody>
          <a:bodyPr wrap="square" lIns="0" tIns="0" rIns="0" bIns="0">
            <a:spAutoFit/>
          </a:bodyPr>
          <a:lstStyle/>
          <a:p>
            <a:pPr algn="l">
              <a:lnSpc>
                <a:spcPct val="122000"/>
              </a:lnSpc>
              <a:spcBef>
                <a:spcPts val="0"/>
              </a:spcBef>
              <a:spcAft>
                <a:spcPts val="0"/>
              </a:spcAft>
            </a:pPr>
            <a:r>
              <a:rPr sz="950" b="0">
                <a:solidFill>
                  <a:srgbClr val="8B8478"/>
                </a:solidFill>
                <a:latin typeface="Arial"/>
              </a:rPr>
              <a:t>Paso 15 · Simulación de políticas</a:t>
            </a:r>
          </a:p>
        </p:txBody>
      </p:sp>
      <p:sp>
        <p:nvSpPr>
          <p:cNvPr id="13" name="TextBox 12"/>
          <p:cNvSpPr txBox="1"/>
          <p:nvPr/>
        </p:nvSpPr>
        <p:spPr>
          <a:xfrm>
            <a:off x="10500055" y="6428232"/>
            <a:ext cx="914400" cy="274320"/>
          </a:xfrm>
          <a:prstGeom prst="rect">
            <a:avLst/>
          </a:prstGeom>
          <a:noFill/>
        </p:spPr>
        <p:txBody>
          <a:bodyPr wrap="square" lIns="0" tIns="0" rIns="0" bIns="0">
            <a:spAutoFit/>
          </a:bodyPr>
          <a:lstStyle/>
          <a:p>
            <a:pPr algn="r">
              <a:lnSpc>
                <a:spcPct val="122000"/>
              </a:lnSpc>
              <a:spcBef>
                <a:spcPts val="0"/>
              </a:spcBef>
              <a:spcAft>
                <a:spcPts val="0"/>
              </a:spcAft>
            </a:pPr>
            <a:r>
              <a:rPr sz="950" b="0">
                <a:solidFill>
                  <a:srgbClr val="8B8478"/>
                </a:solidFill>
                <a:latin typeface="Arial"/>
              </a:rPr>
              <a:t>41</a:t>
            </a:r>
          </a:p>
        </p:txBody>
      </p:sp>
    </p:spTree>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777240" y="475488"/>
            <a:ext cx="10637215" cy="237744"/>
          </a:xfrm>
          <a:prstGeom prst="rect">
            <a:avLst/>
          </a:prstGeom>
          <a:noFill/>
        </p:spPr>
        <p:txBody>
          <a:bodyPr wrap="square" lIns="0" tIns="0" rIns="0" bIns="0">
            <a:spAutoFit/>
          </a:bodyPr>
          <a:lstStyle/>
          <a:p>
            <a:pPr algn="l">
              <a:lnSpc>
                <a:spcPct val="122000"/>
              </a:lnSpc>
              <a:spcBef>
                <a:spcPts val="0"/>
              </a:spcBef>
              <a:spcAft>
                <a:spcPts val="0"/>
              </a:spcAft>
            </a:pPr>
            <a:r>
              <a:rPr sz="1050" b="1">
                <a:solidFill>
                  <a:srgbClr val="8C2F39"/>
                </a:solidFill>
                <a:latin typeface="Arial"/>
              </a:rPr>
              <a:t>PASO 15 · RESULTADO</a:t>
            </a:r>
          </a:p>
        </p:txBody>
      </p:sp>
      <p:sp>
        <p:nvSpPr>
          <p:cNvPr id="4" name="Rectangle 3"/>
          <p:cNvSpPr/>
          <p:nvPr/>
        </p:nvSpPr>
        <p:spPr>
          <a:xfrm>
            <a:off x="777240" y="768096"/>
            <a:ext cx="502920" cy="30480"/>
          </a:xfrm>
          <a:prstGeom prst="rect">
            <a:avLst/>
          </a:prstGeom>
          <a:solidFill>
            <a:srgbClr val="8C2F3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 name="TextBox 4"/>
          <p:cNvSpPr txBox="1"/>
          <p:nvPr/>
        </p:nvSpPr>
        <p:spPr>
          <a:xfrm>
            <a:off x="777240" y="914400"/>
            <a:ext cx="10637215" cy="836676"/>
          </a:xfrm>
          <a:prstGeom prst="rect">
            <a:avLst/>
          </a:prstGeom>
          <a:noFill/>
        </p:spPr>
        <p:txBody>
          <a:bodyPr wrap="square" lIns="0" tIns="0" rIns="0" bIns="0">
            <a:spAutoFit/>
          </a:bodyPr>
          <a:lstStyle/>
          <a:p>
            <a:pPr algn="l">
              <a:lnSpc>
                <a:spcPct val="106000"/>
              </a:lnSpc>
              <a:spcBef>
                <a:spcPts val="0"/>
              </a:spcBef>
              <a:spcAft>
                <a:spcPts val="0"/>
              </a:spcAft>
            </a:pPr>
            <a:r>
              <a:rPr sz="2700" b="1">
                <a:solidFill>
                  <a:srgbClr val="17150F"/>
                </a:solidFill>
                <a:latin typeface="Arial"/>
              </a:rPr>
              <a:t>La propuesta cambia merma por ventas perdidas, y el saldo es favorable</a:t>
            </a:r>
          </a:p>
        </p:txBody>
      </p:sp>
      <p:graphicFrame>
        <p:nvGraphicFramePr>
          <p:cNvPr id="7" name="Table 6"/>
          <p:cNvGraphicFramePr>
            <a:graphicFrameLocks noGrp="1"/>
          </p:cNvGraphicFramePr>
          <p:nvPr/>
        </p:nvGraphicFramePr>
        <p:xfrm>
          <a:off x="6675120" y="1943100"/>
          <a:ext cx="4739334" cy="1810512"/>
        </p:xfrm>
        <a:graphic>
          <a:graphicData uri="http://schemas.openxmlformats.org/drawingml/2006/table">
            <a:tbl>
              <a:tblPr bandRow="1">
                <a:tableStyleId>{5C22544A-7EE6-4342-B048-85BDC9FD1C3A}</a:tableStyleId>
              </a:tblPr>
              <a:tblGrid>
                <a:gridCol w="2180094">
                  <a:extLst>
                    <a:ext uri="{9D8B030D-6E8A-4147-A177-3AD203B41FA5}">
                      <a16:colId xmlns:a16="http://schemas.microsoft.com/office/drawing/2014/main" val="20000"/>
                    </a:ext>
                  </a:extLst>
                </a:gridCol>
                <a:gridCol w="1421800">
                  <a:extLst>
                    <a:ext uri="{9D8B030D-6E8A-4147-A177-3AD203B41FA5}">
                      <a16:colId xmlns:a16="http://schemas.microsoft.com/office/drawing/2014/main" val="20001"/>
                    </a:ext>
                  </a:extLst>
                </a:gridCol>
                <a:gridCol w="1137440">
                  <a:extLst>
                    <a:ext uri="{9D8B030D-6E8A-4147-A177-3AD203B41FA5}">
                      <a16:colId xmlns:a16="http://schemas.microsoft.com/office/drawing/2014/main" val="20002"/>
                    </a:ext>
                  </a:extLst>
                </a:gridCol>
              </a:tblGrid>
              <a:tr h="347472">
                <a:tc>
                  <a:txBody>
                    <a:bodyPr/>
                    <a:lstStyle/>
                    <a:p>
                      <a:pPr algn="l"/>
                      <a:r>
                        <a:rPr sz="1000" b="1">
                          <a:solidFill>
                            <a:srgbClr val="8B8478"/>
                          </a:solidFill>
                          <a:latin typeface="Arial"/>
                        </a:rPr>
                        <a:t>Política</a:t>
                      </a:r>
                    </a:p>
                  </a:txBody>
                  <a:tcPr marL="82296" marR="82296" anchor="ctr">
                    <a:solidFill>
                      <a:srgbClr val="F4F2ED"/>
                    </a:solidFill>
                  </a:tcPr>
                </a:tc>
                <a:tc>
                  <a:txBody>
                    <a:bodyPr/>
                    <a:lstStyle/>
                    <a:p>
                      <a:pPr algn="r"/>
                      <a:r>
                        <a:rPr sz="1000" b="1">
                          <a:solidFill>
                            <a:srgbClr val="8B8478"/>
                          </a:solidFill>
                          <a:latin typeface="Arial"/>
                        </a:rPr>
                        <a:t>Coste</a:t>
                      </a:r>
                    </a:p>
                  </a:txBody>
                  <a:tcPr marL="82296" marR="82296" anchor="ctr">
                    <a:solidFill>
                      <a:srgbClr val="F4F2ED"/>
                    </a:solidFill>
                  </a:tcPr>
                </a:tc>
                <a:tc>
                  <a:txBody>
                    <a:bodyPr/>
                    <a:lstStyle/>
                    <a:p>
                      <a:pPr algn="r"/>
                      <a:r>
                        <a:rPr sz="1000" b="1">
                          <a:solidFill>
                            <a:srgbClr val="8B8478"/>
                          </a:solidFill>
                          <a:latin typeface="Arial"/>
                        </a:rPr>
                        <a:t>Servicio</a:t>
                      </a:r>
                    </a:p>
                  </a:txBody>
                  <a:tcPr marL="82296" marR="82296" anchor="ctr">
                    <a:solidFill>
                      <a:srgbClr val="F4F2ED"/>
                    </a:solidFill>
                  </a:tcPr>
                </a:tc>
                <a:extLst>
                  <a:ext uri="{0D108BD9-81ED-4DB2-BD59-A6C34878D82A}">
                    <a16:rowId xmlns:a16="http://schemas.microsoft.com/office/drawing/2014/main" val="10000"/>
                  </a:ext>
                </a:extLst>
              </a:tr>
              <a:tr h="292608">
                <a:tc>
                  <a:txBody>
                    <a:bodyPr/>
                    <a:lstStyle/>
                    <a:p>
                      <a:pPr algn="l"/>
                      <a:r>
                        <a:rPr sz="1150" b="1">
                          <a:solidFill>
                            <a:srgbClr val="17150F"/>
                          </a:solidFill>
                          <a:latin typeface="Arial"/>
                        </a:rPr>
                        <a:t>P4 modelo + nivel</a:t>
                      </a:r>
                    </a:p>
                  </a:txBody>
                  <a:tcPr marL="82296" marR="82296" anchor="ctr">
                    <a:solidFill>
                      <a:srgbClr val="F7EEEF"/>
                    </a:solidFill>
                  </a:tcPr>
                </a:tc>
                <a:tc>
                  <a:txBody>
                    <a:bodyPr/>
                    <a:lstStyle/>
                    <a:p>
                      <a:pPr algn="r"/>
                      <a:r>
                        <a:rPr sz="1150" b="1">
                          <a:solidFill>
                            <a:srgbClr val="17150F"/>
                          </a:solidFill>
                          <a:latin typeface="Arial"/>
                        </a:rPr>
                        <a:t>9.062.061</a:t>
                      </a:r>
                    </a:p>
                  </a:txBody>
                  <a:tcPr marL="82296" marR="82296" anchor="ctr">
                    <a:solidFill>
                      <a:srgbClr val="F7EEEF"/>
                    </a:solidFill>
                  </a:tcPr>
                </a:tc>
                <a:tc>
                  <a:txBody>
                    <a:bodyPr/>
                    <a:lstStyle/>
                    <a:p>
                      <a:pPr algn="r"/>
                      <a:r>
                        <a:rPr sz="1150" b="1">
                          <a:solidFill>
                            <a:srgbClr val="17150F"/>
                          </a:solidFill>
                          <a:latin typeface="Arial"/>
                        </a:rPr>
                        <a:t>96,1 %</a:t>
                      </a:r>
                    </a:p>
                  </a:txBody>
                  <a:tcPr marL="82296" marR="82296" anchor="ctr">
                    <a:solidFill>
                      <a:srgbClr val="F7EEEF"/>
                    </a:solidFill>
                  </a:tcPr>
                </a:tc>
                <a:extLst>
                  <a:ext uri="{0D108BD9-81ED-4DB2-BD59-A6C34878D82A}">
                    <a16:rowId xmlns:a16="http://schemas.microsoft.com/office/drawing/2014/main" val="10001"/>
                  </a:ext>
                </a:extLst>
              </a:tr>
              <a:tr h="292608">
                <a:tc>
                  <a:txBody>
                    <a:bodyPr/>
                    <a:lstStyle/>
                    <a:p>
                      <a:pPr algn="l"/>
                      <a:r>
                        <a:rPr sz="1150" b="0">
                          <a:solidFill>
                            <a:srgbClr val="17150F"/>
                          </a:solidFill>
                          <a:latin typeface="Arial"/>
                        </a:rPr>
                        <a:t>P3 media móvil + nivel</a:t>
                      </a:r>
                    </a:p>
                  </a:txBody>
                  <a:tcPr marL="82296" marR="82296" anchor="ctr">
                    <a:solidFill>
                      <a:srgbClr val="FFFFFF"/>
                    </a:solidFill>
                  </a:tcPr>
                </a:tc>
                <a:tc>
                  <a:txBody>
                    <a:bodyPr/>
                    <a:lstStyle/>
                    <a:p>
                      <a:pPr algn="r"/>
                      <a:r>
                        <a:rPr sz="1150" b="0">
                          <a:solidFill>
                            <a:srgbClr val="555045"/>
                          </a:solidFill>
                          <a:latin typeface="Arial"/>
                        </a:rPr>
                        <a:t>9.255.833</a:t>
                      </a:r>
                    </a:p>
                  </a:txBody>
                  <a:tcPr marL="82296" marR="82296" anchor="ctr">
                    <a:solidFill>
                      <a:srgbClr val="FFFFFF"/>
                    </a:solidFill>
                  </a:tcPr>
                </a:tc>
                <a:tc>
                  <a:txBody>
                    <a:bodyPr/>
                    <a:lstStyle/>
                    <a:p>
                      <a:pPr algn="r"/>
                      <a:r>
                        <a:rPr sz="1150" b="0">
                          <a:solidFill>
                            <a:srgbClr val="555045"/>
                          </a:solidFill>
                          <a:latin typeface="Arial"/>
                        </a:rPr>
                        <a:t>96,0 %</a:t>
                      </a:r>
                    </a:p>
                  </a:txBody>
                  <a:tcPr marL="82296" marR="82296" anchor="ctr">
                    <a:solidFill>
                      <a:srgbClr val="FFFFFF"/>
                    </a:solidFill>
                  </a:tcPr>
                </a:tc>
                <a:extLst>
                  <a:ext uri="{0D108BD9-81ED-4DB2-BD59-A6C34878D82A}">
                    <a16:rowId xmlns:a16="http://schemas.microsoft.com/office/drawing/2014/main" val="10002"/>
                  </a:ext>
                </a:extLst>
              </a:tr>
              <a:tr h="292608">
                <a:tc>
                  <a:txBody>
                    <a:bodyPr/>
                    <a:lstStyle/>
                    <a:p>
                      <a:pPr algn="l"/>
                      <a:r>
                        <a:rPr sz="1150" b="0">
                          <a:solidFill>
                            <a:srgbClr val="17150F"/>
                          </a:solidFill>
                          <a:latin typeface="Arial"/>
                        </a:rPr>
                        <a:t>P2 modelo + centro</a:t>
                      </a:r>
                    </a:p>
                  </a:txBody>
                  <a:tcPr marL="82296" marR="82296" anchor="ctr">
                    <a:solidFill>
                      <a:srgbClr val="FFFFFF"/>
                    </a:solidFill>
                  </a:tcPr>
                </a:tc>
                <a:tc>
                  <a:txBody>
                    <a:bodyPr/>
                    <a:lstStyle/>
                    <a:p>
                      <a:pPr algn="r"/>
                      <a:r>
                        <a:rPr sz="1150" b="0">
                          <a:solidFill>
                            <a:srgbClr val="555045"/>
                          </a:solidFill>
                          <a:latin typeface="Arial"/>
                        </a:rPr>
                        <a:t>9.512.699</a:t>
                      </a:r>
                    </a:p>
                  </a:txBody>
                  <a:tcPr marL="82296" marR="82296" anchor="ctr">
                    <a:solidFill>
                      <a:srgbClr val="FFFFFF"/>
                    </a:solidFill>
                  </a:tcPr>
                </a:tc>
                <a:tc>
                  <a:txBody>
                    <a:bodyPr/>
                    <a:lstStyle/>
                    <a:p>
                      <a:pPr algn="r"/>
                      <a:r>
                        <a:rPr sz="1150" b="0">
                          <a:solidFill>
                            <a:srgbClr val="555045"/>
                          </a:solidFill>
                          <a:latin typeface="Arial"/>
                        </a:rPr>
                        <a:t>93,9 %</a:t>
                      </a:r>
                    </a:p>
                  </a:txBody>
                  <a:tcPr marL="82296" marR="82296" anchor="ctr">
                    <a:solidFill>
                      <a:srgbClr val="FFFFFF"/>
                    </a:solidFill>
                  </a:tcPr>
                </a:tc>
                <a:extLst>
                  <a:ext uri="{0D108BD9-81ED-4DB2-BD59-A6C34878D82A}">
                    <a16:rowId xmlns:a16="http://schemas.microsoft.com/office/drawing/2014/main" val="10003"/>
                  </a:ext>
                </a:extLst>
              </a:tr>
              <a:tr h="292608">
                <a:tc>
                  <a:txBody>
                    <a:bodyPr/>
                    <a:lstStyle/>
                    <a:p>
                      <a:pPr algn="l"/>
                      <a:r>
                        <a:rPr sz="1150" b="0">
                          <a:solidFill>
                            <a:srgbClr val="17150F"/>
                          </a:solidFill>
                          <a:latin typeface="Arial"/>
                        </a:rPr>
                        <a:t>P1 media móvil + centro</a:t>
                      </a:r>
                    </a:p>
                  </a:txBody>
                  <a:tcPr marL="82296" marR="82296" anchor="ctr">
                    <a:solidFill>
                      <a:srgbClr val="FFFFFF"/>
                    </a:solidFill>
                  </a:tcPr>
                </a:tc>
                <a:tc>
                  <a:txBody>
                    <a:bodyPr/>
                    <a:lstStyle/>
                    <a:p>
                      <a:pPr algn="r"/>
                      <a:r>
                        <a:rPr sz="1150" b="0">
                          <a:solidFill>
                            <a:srgbClr val="555045"/>
                          </a:solidFill>
                          <a:latin typeface="Arial"/>
                        </a:rPr>
                        <a:t>9.561.518</a:t>
                      </a:r>
                    </a:p>
                  </a:txBody>
                  <a:tcPr marL="82296" marR="82296" anchor="ctr">
                    <a:solidFill>
                      <a:srgbClr val="FFFFFF"/>
                    </a:solidFill>
                  </a:tcPr>
                </a:tc>
                <a:tc>
                  <a:txBody>
                    <a:bodyPr/>
                    <a:lstStyle/>
                    <a:p>
                      <a:pPr algn="r"/>
                      <a:r>
                        <a:rPr sz="1150" b="0">
                          <a:solidFill>
                            <a:srgbClr val="555045"/>
                          </a:solidFill>
                          <a:latin typeface="Arial"/>
                        </a:rPr>
                        <a:t>94,0 %</a:t>
                      </a:r>
                    </a:p>
                  </a:txBody>
                  <a:tcPr marL="82296" marR="82296" anchor="ctr">
                    <a:solidFill>
                      <a:srgbClr val="FFFFFF"/>
                    </a:solidFill>
                  </a:tcPr>
                </a:tc>
                <a:extLst>
                  <a:ext uri="{0D108BD9-81ED-4DB2-BD59-A6C34878D82A}">
                    <a16:rowId xmlns:a16="http://schemas.microsoft.com/office/drawing/2014/main" val="10004"/>
                  </a:ext>
                </a:extLst>
              </a:tr>
              <a:tr h="292608">
                <a:tc>
                  <a:txBody>
                    <a:bodyPr/>
                    <a:lstStyle/>
                    <a:p>
                      <a:pPr algn="l"/>
                      <a:r>
                        <a:rPr sz="1150" b="0">
                          <a:solidFill>
                            <a:srgbClr val="17150F"/>
                          </a:solidFill>
                          <a:latin typeface="Arial"/>
                        </a:rPr>
                        <a:t>P0 repetir la semana</a:t>
                      </a:r>
                    </a:p>
                  </a:txBody>
                  <a:tcPr marL="82296" marR="82296" anchor="ctr">
                    <a:solidFill>
                      <a:srgbClr val="FFFFFF"/>
                    </a:solidFill>
                  </a:tcPr>
                </a:tc>
                <a:tc>
                  <a:txBody>
                    <a:bodyPr/>
                    <a:lstStyle/>
                    <a:p>
                      <a:pPr algn="r"/>
                      <a:r>
                        <a:rPr sz="1150" b="0">
                          <a:solidFill>
                            <a:srgbClr val="555045"/>
                          </a:solidFill>
                          <a:latin typeface="Arial"/>
                        </a:rPr>
                        <a:t>11.022.905</a:t>
                      </a:r>
                    </a:p>
                  </a:txBody>
                  <a:tcPr marL="82296" marR="82296" anchor="ctr">
                    <a:solidFill>
                      <a:srgbClr val="FFFFFF"/>
                    </a:solidFill>
                  </a:tcPr>
                </a:tc>
                <a:tc>
                  <a:txBody>
                    <a:bodyPr/>
                    <a:lstStyle/>
                    <a:p>
                      <a:pPr algn="r"/>
                      <a:r>
                        <a:rPr sz="1150" b="0">
                          <a:solidFill>
                            <a:srgbClr val="555045"/>
                          </a:solidFill>
                          <a:latin typeface="Arial"/>
                        </a:rPr>
                        <a:t>93,1 %</a:t>
                      </a:r>
                    </a:p>
                  </a:txBody>
                  <a:tcPr marL="82296" marR="82296" anchor="ctr">
                    <a:solidFill>
                      <a:srgbClr val="FFFFFF"/>
                    </a:solidFill>
                  </a:tcPr>
                </a:tc>
                <a:extLst>
                  <a:ext uri="{0D108BD9-81ED-4DB2-BD59-A6C34878D82A}">
                    <a16:rowId xmlns:a16="http://schemas.microsoft.com/office/drawing/2014/main" val="10005"/>
                  </a:ext>
                </a:extLst>
              </a:tr>
            </a:tbl>
          </a:graphicData>
        </a:graphic>
      </p:graphicFrame>
      <p:sp>
        <p:nvSpPr>
          <p:cNvPr id="8" name="TextBox 7"/>
          <p:cNvSpPr txBox="1"/>
          <p:nvPr/>
        </p:nvSpPr>
        <p:spPr>
          <a:xfrm>
            <a:off x="6675120" y="3909060"/>
            <a:ext cx="4739335" cy="2560320"/>
          </a:xfrm>
          <a:prstGeom prst="rect">
            <a:avLst/>
          </a:prstGeom>
          <a:noFill/>
        </p:spPr>
        <p:txBody>
          <a:bodyPr wrap="square" lIns="0" tIns="0" rIns="0" bIns="0">
            <a:spAutoFit/>
          </a:bodyPr>
          <a:lstStyle/>
          <a:p>
            <a:pPr algn="l">
              <a:lnSpc>
                <a:spcPct val="128000"/>
              </a:lnSpc>
              <a:spcBef>
                <a:spcPts val="0"/>
              </a:spcBef>
              <a:spcAft>
                <a:spcPts val="1200"/>
              </a:spcAft>
            </a:pPr>
            <a:r>
              <a:rPr sz="1250" b="1">
                <a:solidFill>
                  <a:srgbClr val="17150F"/>
                </a:solidFill>
                <a:latin typeface="Arial"/>
              </a:rPr>
              <a:t>Un 17,8 % menos que la práctica actual y un 5,2 % menos que pedir el pronóstico central.</a:t>
            </a:r>
          </a:p>
          <a:p>
            <a:pPr algn="l">
              <a:lnSpc>
                <a:spcPct val="128000"/>
              </a:lnSpc>
              <a:spcBef>
                <a:spcPts val="0"/>
              </a:spcBef>
              <a:spcAft>
                <a:spcPts val="1200"/>
              </a:spcAft>
            </a:pPr>
            <a:r>
              <a:rPr sz="1250" b="0">
                <a:solidFill>
                  <a:srgbClr val="555045"/>
                </a:solidFill>
                <a:latin typeface="Arial"/>
              </a:rPr>
              <a:t>Fíjate en la composición, no solo en el total. P4 tiene 1,8 millones más de merma que P1, pero 2,2 millones menos en ventas perdidas. El servicio real sube del 94,0 % al 96,1 %.</a:t>
            </a:r>
          </a:p>
          <a:p>
            <a:pPr algn="l">
              <a:lnSpc>
                <a:spcPct val="128000"/>
              </a:lnSpc>
              <a:spcBef>
                <a:spcPts val="0"/>
              </a:spcBef>
              <a:spcAft>
                <a:spcPts val="0"/>
              </a:spcAft>
            </a:pPr>
            <a:r>
              <a:rPr sz="1250" b="0">
                <a:solidFill>
                  <a:srgbClr val="555045"/>
                </a:solidFill>
                <a:latin typeface="Arial"/>
              </a:rPr>
              <a:t>Extrapolado a 52 semanas serían 8,7 millones. Es orden de magnitud, no compromiso.</a:t>
            </a:r>
          </a:p>
        </p:txBody>
      </p:sp>
      <p:sp>
        <p:nvSpPr>
          <p:cNvPr id="9" name="Rectangle 8"/>
          <p:cNvSpPr/>
          <p:nvPr/>
        </p:nvSpPr>
        <p:spPr>
          <a:xfrm>
            <a:off x="777240" y="6327648"/>
            <a:ext cx="10637215" cy="9525"/>
          </a:xfrm>
          <a:prstGeom prst="rect">
            <a:avLst/>
          </a:prstGeom>
          <a:solidFill>
            <a:srgbClr val="DCD8C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0" name="TextBox 9"/>
          <p:cNvSpPr txBox="1"/>
          <p:nvPr/>
        </p:nvSpPr>
        <p:spPr>
          <a:xfrm>
            <a:off x="777240" y="6428232"/>
            <a:ext cx="8686800" cy="274320"/>
          </a:xfrm>
          <a:prstGeom prst="rect">
            <a:avLst/>
          </a:prstGeom>
          <a:noFill/>
        </p:spPr>
        <p:txBody>
          <a:bodyPr wrap="square" lIns="0" tIns="0" rIns="0" bIns="0">
            <a:spAutoFit/>
          </a:bodyPr>
          <a:lstStyle/>
          <a:p>
            <a:pPr algn="l">
              <a:lnSpc>
                <a:spcPct val="122000"/>
              </a:lnSpc>
              <a:spcBef>
                <a:spcPts val="0"/>
              </a:spcBef>
              <a:spcAft>
                <a:spcPts val="0"/>
              </a:spcAft>
            </a:pPr>
            <a:r>
              <a:rPr sz="950" b="0">
                <a:solidFill>
                  <a:srgbClr val="8B8478"/>
                </a:solidFill>
                <a:latin typeface="Arial"/>
              </a:rPr>
              <a:t>Paso 15 · Simulación de políticas</a:t>
            </a:r>
          </a:p>
        </p:txBody>
      </p:sp>
      <p:sp>
        <p:nvSpPr>
          <p:cNvPr id="11" name="TextBox 10"/>
          <p:cNvSpPr txBox="1"/>
          <p:nvPr/>
        </p:nvSpPr>
        <p:spPr>
          <a:xfrm>
            <a:off x="10500055" y="6428232"/>
            <a:ext cx="914400" cy="274320"/>
          </a:xfrm>
          <a:prstGeom prst="rect">
            <a:avLst/>
          </a:prstGeom>
          <a:noFill/>
        </p:spPr>
        <p:txBody>
          <a:bodyPr wrap="square" lIns="0" tIns="0" rIns="0" bIns="0">
            <a:spAutoFit/>
          </a:bodyPr>
          <a:lstStyle/>
          <a:p>
            <a:pPr algn="r">
              <a:lnSpc>
                <a:spcPct val="122000"/>
              </a:lnSpc>
              <a:spcBef>
                <a:spcPts val="0"/>
              </a:spcBef>
              <a:spcAft>
                <a:spcPts val="0"/>
              </a:spcAft>
            </a:pPr>
            <a:r>
              <a:rPr sz="950" b="0">
                <a:solidFill>
                  <a:srgbClr val="8B8478"/>
                </a:solidFill>
                <a:latin typeface="Arial"/>
              </a:rPr>
              <a:t>42</a:t>
            </a:r>
          </a:p>
        </p:txBody>
      </p:sp>
      <p:pic>
        <p:nvPicPr>
          <p:cNvPr id="12" name="Picture 11">
            <a:extLst>
              <a:ext uri="{FF2B5EF4-FFF2-40B4-BE49-F238E27FC236}">
                <a16:creationId xmlns:a16="http://schemas.microsoft.com/office/drawing/2014/main" id="{4D905A21-F304-DFE0-563B-78BAC7D9B9D8}"/>
              </a:ext>
            </a:extLst>
          </p:cNvPr>
          <p:cNvPicPr>
            <a:picLocks noChangeAspect="1"/>
          </p:cNvPicPr>
          <p:nvPr/>
        </p:nvPicPr>
        <p:blipFill>
          <a:blip r:embed="rId2"/>
          <a:stretch>
            <a:fillRect/>
          </a:stretch>
        </p:blipFill>
        <p:spPr>
          <a:xfrm>
            <a:off x="453306" y="2219346"/>
            <a:ext cx="5642694" cy="2821347"/>
          </a:xfrm>
          <a:prstGeom prst="rect">
            <a:avLst/>
          </a:prstGeom>
        </p:spPr>
      </p:pic>
    </p:spTree>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777240" y="475488"/>
            <a:ext cx="10637215" cy="237744"/>
          </a:xfrm>
          <a:prstGeom prst="rect">
            <a:avLst/>
          </a:prstGeom>
          <a:noFill/>
        </p:spPr>
        <p:txBody>
          <a:bodyPr wrap="square" lIns="0" tIns="0" rIns="0" bIns="0">
            <a:spAutoFit/>
          </a:bodyPr>
          <a:lstStyle/>
          <a:p>
            <a:pPr algn="l">
              <a:lnSpc>
                <a:spcPct val="122000"/>
              </a:lnSpc>
              <a:spcBef>
                <a:spcPts val="0"/>
              </a:spcBef>
              <a:spcAft>
                <a:spcPts val="0"/>
              </a:spcAft>
            </a:pPr>
            <a:r>
              <a:rPr sz="1050" b="1">
                <a:solidFill>
                  <a:srgbClr val="8C2F39"/>
                </a:solidFill>
                <a:latin typeface="Arial"/>
              </a:rPr>
              <a:t>PASO 15 · ATRIBUCIÓN</a:t>
            </a:r>
          </a:p>
        </p:txBody>
      </p:sp>
      <p:sp>
        <p:nvSpPr>
          <p:cNvPr id="4" name="Rectangle 3"/>
          <p:cNvSpPr/>
          <p:nvPr/>
        </p:nvSpPr>
        <p:spPr>
          <a:xfrm>
            <a:off x="777240" y="768096"/>
            <a:ext cx="502920" cy="30480"/>
          </a:xfrm>
          <a:prstGeom prst="rect">
            <a:avLst/>
          </a:prstGeom>
          <a:solidFill>
            <a:srgbClr val="8C2F3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 name="TextBox 4"/>
          <p:cNvSpPr txBox="1"/>
          <p:nvPr/>
        </p:nvSpPr>
        <p:spPr>
          <a:xfrm>
            <a:off x="777240" y="914400"/>
            <a:ext cx="10637215" cy="836676"/>
          </a:xfrm>
          <a:prstGeom prst="rect">
            <a:avLst/>
          </a:prstGeom>
          <a:noFill/>
        </p:spPr>
        <p:txBody>
          <a:bodyPr wrap="square" lIns="0" tIns="0" rIns="0" bIns="0">
            <a:spAutoFit/>
          </a:bodyPr>
          <a:lstStyle/>
          <a:p>
            <a:pPr algn="l">
              <a:lnSpc>
                <a:spcPct val="106000"/>
              </a:lnSpc>
              <a:spcBef>
                <a:spcPts val="0"/>
              </a:spcBef>
              <a:spcAft>
                <a:spcPts val="0"/>
              </a:spcAft>
            </a:pPr>
            <a:r>
              <a:rPr sz="2700" b="1">
                <a:solidFill>
                  <a:srgbClr val="17150F"/>
                </a:solidFill>
                <a:latin typeface="Arial"/>
              </a:rPr>
              <a:t>Seis de cada diez pesos vienen de cambiar la regla, no de predecir mejor</a:t>
            </a:r>
          </a:p>
        </p:txBody>
      </p:sp>
      <p:pic>
        <p:nvPicPr>
          <p:cNvPr id="6" name="Picture 5" descr="24_atribucion.png"/>
          <p:cNvPicPr>
            <a:picLocks noChangeAspect="1"/>
          </p:cNvPicPr>
          <p:nvPr/>
        </p:nvPicPr>
        <p:blipFill>
          <a:blip r:embed="rId2"/>
          <a:stretch>
            <a:fillRect/>
          </a:stretch>
        </p:blipFill>
        <p:spPr>
          <a:xfrm>
            <a:off x="777240" y="1897380"/>
            <a:ext cx="5577840" cy="2061376"/>
          </a:xfrm>
          <a:prstGeom prst="rect">
            <a:avLst/>
          </a:prstGeom>
        </p:spPr>
      </p:pic>
      <p:graphicFrame>
        <p:nvGraphicFramePr>
          <p:cNvPr id="7" name="Table 6"/>
          <p:cNvGraphicFramePr>
            <a:graphicFrameLocks noGrp="1"/>
          </p:cNvGraphicFramePr>
          <p:nvPr/>
        </p:nvGraphicFramePr>
        <p:xfrm>
          <a:off x="6675120" y="1943100"/>
          <a:ext cx="4739334" cy="1517904"/>
        </p:xfrm>
        <a:graphic>
          <a:graphicData uri="http://schemas.openxmlformats.org/drawingml/2006/table">
            <a:tbl>
              <a:tblPr bandRow="1">
                <a:tableStyleId>{5C22544A-7EE6-4342-B048-85BDC9FD1C3A}</a:tableStyleId>
              </a:tblPr>
              <a:tblGrid>
                <a:gridCol w="2085307">
                  <a:extLst>
                    <a:ext uri="{9D8B030D-6E8A-4147-A177-3AD203B41FA5}">
                      <a16:colId xmlns:a16="http://schemas.microsoft.com/office/drawing/2014/main" val="20000"/>
                    </a:ext>
                  </a:extLst>
                </a:gridCol>
                <a:gridCol w="1421800">
                  <a:extLst>
                    <a:ext uri="{9D8B030D-6E8A-4147-A177-3AD203B41FA5}">
                      <a16:colId xmlns:a16="http://schemas.microsoft.com/office/drawing/2014/main" val="20001"/>
                    </a:ext>
                  </a:extLst>
                </a:gridCol>
                <a:gridCol w="1232227">
                  <a:extLst>
                    <a:ext uri="{9D8B030D-6E8A-4147-A177-3AD203B41FA5}">
                      <a16:colId xmlns:a16="http://schemas.microsoft.com/office/drawing/2014/main" val="20002"/>
                    </a:ext>
                  </a:extLst>
                </a:gridCol>
              </a:tblGrid>
              <a:tr h="347472">
                <a:tc>
                  <a:txBody>
                    <a:bodyPr/>
                    <a:lstStyle/>
                    <a:p>
                      <a:pPr algn="l"/>
                      <a:r>
                        <a:rPr sz="1000" b="1">
                          <a:solidFill>
                            <a:srgbClr val="8B8478"/>
                          </a:solidFill>
                          <a:latin typeface="Arial"/>
                        </a:rPr>
                        <a:t>Componente</a:t>
                      </a:r>
                    </a:p>
                  </a:txBody>
                  <a:tcPr marL="82296" marR="82296" anchor="ctr">
                    <a:solidFill>
                      <a:srgbClr val="F4F2ED"/>
                    </a:solidFill>
                  </a:tcPr>
                </a:tc>
                <a:tc>
                  <a:txBody>
                    <a:bodyPr/>
                    <a:lstStyle/>
                    <a:p>
                      <a:pPr algn="r"/>
                      <a:r>
                        <a:rPr sz="1000" b="1">
                          <a:solidFill>
                            <a:srgbClr val="8B8478"/>
                          </a:solidFill>
                          <a:latin typeface="Arial"/>
                        </a:rPr>
                        <a:t>Ahorro</a:t>
                      </a:r>
                    </a:p>
                  </a:txBody>
                  <a:tcPr marL="82296" marR="82296" anchor="ctr">
                    <a:solidFill>
                      <a:srgbClr val="F4F2ED"/>
                    </a:solidFill>
                  </a:tcPr>
                </a:tc>
                <a:tc>
                  <a:txBody>
                    <a:bodyPr/>
                    <a:lstStyle/>
                    <a:p>
                      <a:pPr algn="r"/>
                      <a:r>
                        <a:rPr sz="1000" b="1">
                          <a:solidFill>
                            <a:srgbClr val="8B8478"/>
                          </a:solidFill>
                          <a:latin typeface="Arial"/>
                        </a:rPr>
                        <a:t>Peso</a:t>
                      </a:r>
                    </a:p>
                  </a:txBody>
                  <a:tcPr marL="82296" marR="82296" anchor="ctr">
                    <a:solidFill>
                      <a:srgbClr val="F4F2ED"/>
                    </a:solidFill>
                  </a:tcPr>
                </a:tc>
                <a:extLst>
                  <a:ext uri="{0D108BD9-81ED-4DB2-BD59-A6C34878D82A}">
                    <a16:rowId xmlns:a16="http://schemas.microsoft.com/office/drawing/2014/main" val="10000"/>
                  </a:ext>
                </a:extLst>
              </a:tr>
              <a:tr h="292608">
                <a:tc>
                  <a:txBody>
                    <a:bodyPr/>
                    <a:lstStyle/>
                    <a:p>
                      <a:pPr algn="l"/>
                      <a:r>
                        <a:rPr sz="1150" b="1">
                          <a:solidFill>
                            <a:srgbClr val="17150F"/>
                          </a:solidFill>
                          <a:latin typeface="Arial"/>
                        </a:rPr>
                        <a:t>Efecto de la regla</a:t>
                      </a:r>
                    </a:p>
                  </a:txBody>
                  <a:tcPr marL="82296" marR="82296" anchor="ctr">
                    <a:solidFill>
                      <a:srgbClr val="F7EEEF"/>
                    </a:solidFill>
                  </a:tcPr>
                </a:tc>
                <a:tc>
                  <a:txBody>
                    <a:bodyPr/>
                    <a:lstStyle/>
                    <a:p>
                      <a:pPr algn="r"/>
                      <a:r>
                        <a:rPr sz="1150" b="1">
                          <a:solidFill>
                            <a:srgbClr val="17150F"/>
                          </a:solidFill>
                          <a:latin typeface="Arial"/>
                        </a:rPr>
                        <a:t>305.685</a:t>
                      </a:r>
                    </a:p>
                  </a:txBody>
                  <a:tcPr marL="82296" marR="82296" anchor="ctr">
                    <a:solidFill>
                      <a:srgbClr val="F7EEEF"/>
                    </a:solidFill>
                  </a:tcPr>
                </a:tc>
                <a:tc>
                  <a:txBody>
                    <a:bodyPr/>
                    <a:lstStyle/>
                    <a:p>
                      <a:pPr algn="r"/>
                      <a:r>
                        <a:rPr sz="1150" b="1">
                          <a:solidFill>
                            <a:srgbClr val="17150F"/>
                          </a:solidFill>
                          <a:latin typeface="Arial"/>
                        </a:rPr>
                        <a:t>61 %</a:t>
                      </a:r>
                    </a:p>
                  </a:txBody>
                  <a:tcPr marL="82296" marR="82296" anchor="ctr">
                    <a:solidFill>
                      <a:srgbClr val="F7EEEF"/>
                    </a:solidFill>
                  </a:tcPr>
                </a:tc>
                <a:extLst>
                  <a:ext uri="{0D108BD9-81ED-4DB2-BD59-A6C34878D82A}">
                    <a16:rowId xmlns:a16="http://schemas.microsoft.com/office/drawing/2014/main" val="10001"/>
                  </a:ext>
                </a:extLst>
              </a:tr>
              <a:tr h="292608">
                <a:tc>
                  <a:txBody>
                    <a:bodyPr/>
                    <a:lstStyle/>
                    <a:p>
                      <a:pPr algn="l"/>
                      <a:r>
                        <a:rPr sz="1150" b="0">
                          <a:solidFill>
                            <a:srgbClr val="17150F"/>
                          </a:solidFill>
                          <a:latin typeface="Arial"/>
                        </a:rPr>
                        <a:t>Interacción</a:t>
                      </a:r>
                    </a:p>
                  </a:txBody>
                  <a:tcPr marL="82296" marR="82296" anchor="ctr">
                    <a:solidFill>
                      <a:srgbClr val="FFFFFF"/>
                    </a:solidFill>
                  </a:tcPr>
                </a:tc>
                <a:tc>
                  <a:txBody>
                    <a:bodyPr/>
                    <a:lstStyle/>
                    <a:p>
                      <a:pPr algn="r"/>
                      <a:r>
                        <a:rPr sz="1150" b="0">
                          <a:solidFill>
                            <a:srgbClr val="555045"/>
                          </a:solidFill>
                          <a:latin typeface="Arial"/>
                        </a:rPr>
                        <a:t>144.953</a:t>
                      </a:r>
                    </a:p>
                  </a:txBody>
                  <a:tcPr marL="82296" marR="82296" anchor="ctr">
                    <a:solidFill>
                      <a:srgbClr val="FFFFFF"/>
                    </a:solidFill>
                  </a:tcPr>
                </a:tc>
                <a:tc>
                  <a:txBody>
                    <a:bodyPr/>
                    <a:lstStyle/>
                    <a:p>
                      <a:pPr algn="r"/>
                      <a:r>
                        <a:rPr sz="1150" b="0">
                          <a:solidFill>
                            <a:srgbClr val="555045"/>
                          </a:solidFill>
                          <a:latin typeface="Arial"/>
                        </a:rPr>
                        <a:t>29 %</a:t>
                      </a:r>
                    </a:p>
                  </a:txBody>
                  <a:tcPr marL="82296" marR="82296" anchor="ctr">
                    <a:solidFill>
                      <a:srgbClr val="FFFFFF"/>
                    </a:solidFill>
                  </a:tcPr>
                </a:tc>
                <a:extLst>
                  <a:ext uri="{0D108BD9-81ED-4DB2-BD59-A6C34878D82A}">
                    <a16:rowId xmlns:a16="http://schemas.microsoft.com/office/drawing/2014/main" val="10002"/>
                  </a:ext>
                </a:extLst>
              </a:tr>
              <a:tr h="292608">
                <a:tc>
                  <a:txBody>
                    <a:bodyPr/>
                    <a:lstStyle/>
                    <a:p>
                      <a:pPr algn="l"/>
                      <a:r>
                        <a:rPr sz="1150" b="0">
                          <a:solidFill>
                            <a:srgbClr val="17150F"/>
                          </a:solidFill>
                          <a:latin typeface="Arial"/>
                        </a:rPr>
                        <a:t>Efecto del modelo</a:t>
                      </a:r>
                    </a:p>
                  </a:txBody>
                  <a:tcPr marL="82296" marR="82296" anchor="ctr">
                    <a:solidFill>
                      <a:srgbClr val="FFFFFF"/>
                    </a:solidFill>
                  </a:tcPr>
                </a:tc>
                <a:tc>
                  <a:txBody>
                    <a:bodyPr/>
                    <a:lstStyle/>
                    <a:p>
                      <a:pPr algn="r"/>
                      <a:r>
                        <a:rPr sz="1150" b="0">
                          <a:solidFill>
                            <a:srgbClr val="555045"/>
                          </a:solidFill>
                          <a:latin typeface="Arial"/>
                        </a:rPr>
                        <a:t>48.819</a:t>
                      </a:r>
                    </a:p>
                  </a:txBody>
                  <a:tcPr marL="82296" marR="82296" anchor="ctr">
                    <a:solidFill>
                      <a:srgbClr val="FFFFFF"/>
                    </a:solidFill>
                  </a:tcPr>
                </a:tc>
                <a:tc>
                  <a:txBody>
                    <a:bodyPr/>
                    <a:lstStyle/>
                    <a:p>
                      <a:pPr algn="r"/>
                      <a:r>
                        <a:rPr sz="1150" b="0">
                          <a:solidFill>
                            <a:srgbClr val="555045"/>
                          </a:solidFill>
                          <a:latin typeface="Arial"/>
                        </a:rPr>
                        <a:t>10 %</a:t>
                      </a:r>
                    </a:p>
                  </a:txBody>
                  <a:tcPr marL="82296" marR="82296" anchor="ctr">
                    <a:solidFill>
                      <a:srgbClr val="FFFFFF"/>
                    </a:solidFill>
                  </a:tcPr>
                </a:tc>
                <a:extLst>
                  <a:ext uri="{0D108BD9-81ED-4DB2-BD59-A6C34878D82A}">
                    <a16:rowId xmlns:a16="http://schemas.microsoft.com/office/drawing/2014/main" val="10003"/>
                  </a:ext>
                </a:extLst>
              </a:tr>
              <a:tr h="292608">
                <a:tc>
                  <a:txBody>
                    <a:bodyPr/>
                    <a:lstStyle/>
                    <a:p>
                      <a:pPr algn="l"/>
                      <a:r>
                        <a:rPr sz="1150" b="0">
                          <a:solidFill>
                            <a:srgbClr val="17150F"/>
                          </a:solidFill>
                          <a:latin typeface="Arial"/>
                        </a:rPr>
                        <a:t>Total</a:t>
                      </a:r>
                    </a:p>
                  </a:txBody>
                  <a:tcPr marL="82296" marR="82296" anchor="ctr">
                    <a:solidFill>
                      <a:srgbClr val="FFFFFF"/>
                    </a:solidFill>
                  </a:tcPr>
                </a:tc>
                <a:tc>
                  <a:txBody>
                    <a:bodyPr/>
                    <a:lstStyle/>
                    <a:p>
                      <a:pPr algn="r"/>
                      <a:r>
                        <a:rPr sz="1150" b="0">
                          <a:solidFill>
                            <a:srgbClr val="555045"/>
                          </a:solidFill>
                          <a:latin typeface="Arial"/>
                        </a:rPr>
                        <a:t>499.457</a:t>
                      </a:r>
                    </a:p>
                  </a:txBody>
                  <a:tcPr marL="82296" marR="82296" anchor="ctr">
                    <a:solidFill>
                      <a:srgbClr val="FFFFFF"/>
                    </a:solidFill>
                  </a:tcPr>
                </a:tc>
                <a:tc>
                  <a:txBody>
                    <a:bodyPr/>
                    <a:lstStyle/>
                    <a:p>
                      <a:pPr algn="r"/>
                      <a:r>
                        <a:rPr sz="1150" b="0">
                          <a:solidFill>
                            <a:srgbClr val="555045"/>
                          </a:solidFill>
                          <a:latin typeface="Arial"/>
                        </a:rPr>
                        <a:t>100 %</a:t>
                      </a:r>
                    </a:p>
                  </a:txBody>
                  <a:tcPr marL="82296" marR="82296" anchor="ctr">
                    <a:solidFill>
                      <a:srgbClr val="FFFFFF"/>
                    </a:solidFill>
                  </a:tcPr>
                </a:tc>
                <a:extLst>
                  <a:ext uri="{0D108BD9-81ED-4DB2-BD59-A6C34878D82A}">
                    <a16:rowId xmlns:a16="http://schemas.microsoft.com/office/drawing/2014/main" val="10004"/>
                  </a:ext>
                </a:extLst>
              </a:tr>
            </a:tbl>
          </a:graphicData>
        </a:graphic>
      </p:graphicFrame>
      <p:sp>
        <p:nvSpPr>
          <p:cNvPr id="8" name="TextBox 7"/>
          <p:cNvSpPr txBox="1"/>
          <p:nvPr/>
        </p:nvSpPr>
        <p:spPr>
          <a:xfrm>
            <a:off x="6675120" y="3589020"/>
            <a:ext cx="4739335" cy="2252476"/>
          </a:xfrm>
          <a:prstGeom prst="rect">
            <a:avLst/>
          </a:prstGeom>
          <a:noFill/>
        </p:spPr>
        <p:txBody>
          <a:bodyPr wrap="square" lIns="0" tIns="0" rIns="0" bIns="0">
            <a:spAutoFit/>
          </a:bodyPr>
          <a:lstStyle/>
          <a:p>
            <a:pPr algn="l">
              <a:lnSpc>
                <a:spcPct val="128000"/>
              </a:lnSpc>
              <a:spcBef>
                <a:spcPts val="0"/>
              </a:spcBef>
              <a:spcAft>
                <a:spcPts val="1200"/>
              </a:spcAft>
            </a:pPr>
            <a:r>
              <a:rPr sz="1250" b="0" dirty="0">
                <a:solidFill>
                  <a:srgbClr val="555045"/>
                </a:solidFill>
                <a:latin typeface="Arial"/>
              </a:rPr>
              <a:t>Es lo </a:t>
            </a:r>
            <a:r>
              <a:rPr sz="1250" b="0" dirty="0" err="1">
                <a:solidFill>
                  <a:srgbClr val="555045"/>
                </a:solidFill>
                <a:latin typeface="Arial"/>
              </a:rPr>
              <a:t>que</a:t>
            </a:r>
            <a:r>
              <a:rPr sz="1250" b="0" dirty="0">
                <a:solidFill>
                  <a:srgbClr val="555045"/>
                </a:solidFill>
                <a:latin typeface="Arial"/>
              </a:rPr>
              <a:t> la </a:t>
            </a:r>
            <a:r>
              <a:rPr sz="1250" b="0" dirty="0" err="1">
                <a:solidFill>
                  <a:srgbClr val="555045"/>
                </a:solidFill>
                <a:latin typeface="Arial"/>
              </a:rPr>
              <a:t>tesis</a:t>
            </a:r>
            <a:r>
              <a:rPr sz="1250" b="0" dirty="0">
                <a:solidFill>
                  <a:srgbClr val="555045"/>
                </a:solidFill>
                <a:latin typeface="Arial"/>
              </a:rPr>
              <a:t> del </a:t>
            </a:r>
            <a:r>
              <a:rPr sz="1250" b="0" dirty="0" err="1">
                <a:solidFill>
                  <a:srgbClr val="555045"/>
                </a:solidFill>
                <a:latin typeface="Arial"/>
              </a:rPr>
              <a:t>proyecto</a:t>
            </a:r>
            <a:r>
              <a:rPr sz="1250" b="0" dirty="0">
                <a:solidFill>
                  <a:srgbClr val="555045"/>
                </a:solidFill>
                <a:latin typeface="Arial"/>
              </a:rPr>
              <a:t> </a:t>
            </a:r>
            <a:r>
              <a:rPr sz="1250" b="0" dirty="0" err="1">
                <a:solidFill>
                  <a:srgbClr val="555045"/>
                </a:solidFill>
                <a:latin typeface="Arial"/>
              </a:rPr>
              <a:t>anticipaba</a:t>
            </a:r>
            <a:r>
              <a:rPr sz="1250" b="0" dirty="0">
                <a:solidFill>
                  <a:srgbClr val="555045"/>
                </a:solidFill>
                <a:latin typeface="Arial"/>
              </a:rPr>
              <a:t> </a:t>
            </a:r>
            <a:r>
              <a:rPr sz="1250" b="0" dirty="0" err="1">
                <a:solidFill>
                  <a:srgbClr val="555045"/>
                </a:solidFill>
                <a:latin typeface="Arial"/>
              </a:rPr>
              <a:t>desde</a:t>
            </a:r>
            <a:r>
              <a:rPr sz="1250" b="0" dirty="0">
                <a:solidFill>
                  <a:srgbClr val="555045"/>
                </a:solidFill>
                <a:latin typeface="Arial"/>
              </a:rPr>
              <a:t> el </a:t>
            </a:r>
            <a:r>
              <a:rPr sz="1250" b="0" dirty="0" err="1">
                <a:solidFill>
                  <a:srgbClr val="555045"/>
                </a:solidFill>
                <a:latin typeface="Arial"/>
              </a:rPr>
              <a:t>análisis</a:t>
            </a:r>
            <a:r>
              <a:rPr sz="1250" b="0" dirty="0">
                <a:solidFill>
                  <a:srgbClr val="555045"/>
                </a:solidFill>
                <a:latin typeface="Arial"/>
              </a:rPr>
              <a:t> </a:t>
            </a:r>
            <a:r>
              <a:rPr sz="1250" b="0" dirty="0" err="1">
                <a:solidFill>
                  <a:srgbClr val="555045"/>
                </a:solidFill>
                <a:latin typeface="Arial"/>
              </a:rPr>
              <a:t>exploratorio</a:t>
            </a:r>
            <a:r>
              <a:rPr sz="1250" b="0" dirty="0">
                <a:solidFill>
                  <a:srgbClr val="555045"/>
                </a:solidFill>
                <a:latin typeface="Arial"/>
              </a:rPr>
              <a:t>, y </a:t>
            </a:r>
            <a:r>
              <a:rPr sz="1250" b="0" dirty="0" err="1">
                <a:solidFill>
                  <a:srgbClr val="555045"/>
                </a:solidFill>
                <a:latin typeface="Arial"/>
              </a:rPr>
              <a:t>ahora</a:t>
            </a:r>
            <a:r>
              <a:rPr sz="1250" b="0" dirty="0">
                <a:solidFill>
                  <a:srgbClr val="555045"/>
                </a:solidFill>
                <a:latin typeface="Arial"/>
              </a:rPr>
              <a:t> </a:t>
            </a:r>
            <a:r>
              <a:rPr sz="1250" b="0" dirty="0" err="1">
                <a:solidFill>
                  <a:srgbClr val="555045"/>
                </a:solidFill>
                <a:latin typeface="Arial"/>
              </a:rPr>
              <a:t>está</a:t>
            </a:r>
            <a:r>
              <a:rPr sz="1250" b="0" dirty="0">
                <a:solidFill>
                  <a:srgbClr val="555045"/>
                </a:solidFill>
                <a:latin typeface="Arial"/>
              </a:rPr>
              <a:t> </a:t>
            </a:r>
            <a:r>
              <a:rPr sz="1250" b="0" dirty="0" err="1">
                <a:solidFill>
                  <a:srgbClr val="555045"/>
                </a:solidFill>
                <a:latin typeface="Arial"/>
              </a:rPr>
              <a:t>medido</a:t>
            </a:r>
            <a:r>
              <a:rPr sz="1250" b="0" dirty="0">
                <a:solidFill>
                  <a:srgbClr val="555045"/>
                </a:solidFill>
                <a:latin typeface="Arial"/>
              </a:rPr>
              <a:t> con un </a:t>
            </a:r>
            <a:r>
              <a:rPr sz="1250" b="0" dirty="0" err="1">
                <a:solidFill>
                  <a:srgbClr val="555045"/>
                </a:solidFill>
                <a:latin typeface="Arial"/>
              </a:rPr>
              <a:t>diseño</a:t>
            </a:r>
            <a:r>
              <a:rPr sz="1250" b="0" dirty="0">
                <a:solidFill>
                  <a:srgbClr val="555045"/>
                </a:solidFill>
                <a:latin typeface="Arial"/>
              </a:rPr>
              <a:t> </a:t>
            </a:r>
            <a:r>
              <a:rPr sz="1250" b="0" dirty="0" err="1">
                <a:solidFill>
                  <a:srgbClr val="555045"/>
                </a:solidFill>
                <a:latin typeface="Arial"/>
              </a:rPr>
              <a:t>que</a:t>
            </a:r>
            <a:r>
              <a:rPr sz="1250" b="0" dirty="0">
                <a:solidFill>
                  <a:srgbClr val="555045"/>
                </a:solidFill>
                <a:latin typeface="Arial"/>
              </a:rPr>
              <a:t> lo </a:t>
            </a:r>
            <a:r>
              <a:rPr sz="1250" b="0" dirty="0" err="1">
                <a:solidFill>
                  <a:srgbClr val="555045"/>
                </a:solidFill>
                <a:latin typeface="Arial"/>
              </a:rPr>
              <a:t>aísla</a:t>
            </a:r>
            <a:r>
              <a:rPr sz="1250" b="0" dirty="0">
                <a:solidFill>
                  <a:srgbClr val="555045"/>
                </a:solidFill>
                <a:latin typeface="Arial"/>
              </a:rPr>
              <a:t>.</a:t>
            </a:r>
          </a:p>
          <a:p>
            <a:pPr algn="l">
              <a:lnSpc>
                <a:spcPct val="128000"/>
              </a:lnSpc>
              <a:spcBef>
                <a:spcPts val="0"/>
              </a:spcBef>
              <a:spcAft>
                <a:spcPts val="1200"/>
              </a:spcAft>
            </a:pPr>
            <a:r>
              <a:rPr sz="1250" b="1" dirty="0" err="1">
                <a:solidFill>
                  <a:srgbClr val="17150F"/>
                </a:solidFill>
                <a:latin typeface="Arial"/>
              </a:rPr>
              <a:t>Presentar</a:t>
            </a:r>
            <a:r>
              <a:rPr sz="1250" b="1" dirty="0">
                <a:solidFill>
                  <a:srgbClr val="17150F"/>
                </a:solidFill>
                <a:latin typeface="Arial"/>
              </a:rPr>
              <a:t> </a:t>
            </a:r>
            <a:r>
              <a:rPr sz="1250" b="1" dirty="0" err="1">
                <a:solidFill>
                  <a:srgbClr val="17150F"/>
                </a:solidFill>
                <a:latin typeface="Arial"/>
              </a:rPr>
              <a:t>los</a:t>
            </a:r>
            <a:r>
              <a:rPr sz="1250" b="1" dirty="0">
                <a:solidFill>
                  <a:srgbClr val="17150F"/>
                </a:solidFill>
                <a:latin typeface="Arial"/>
              </a:rPr>
              <a:t> 499.000 pesos </a:t>
            </a:r>
            <a:r>
              <a:rPr sz="1250" b="1" dirty="0" err="1">
                <a:solidFill>
                  <a:srgbClr val="17150F"/>
                </a:solidFill>
                <a:latin typeface="Arial"/>
              </a:rPr>
              <a:t>como</a:t>
            </a:r>
            <a:r>
              <a:rPr sz="1250" b="1" dirty="0">
                <a:solidFill>
                  <a:srgbClr val="17150F"/>
                </a:solidFill>
                <a:latin typeface="Arial"/>
              </a:rPr>
              <a:t> </a:t>
            </a:r>
            <a:r>
              <a:rPr sz="1250" b="1" dirty="0" err="1">
                <a:solidFill>
                  <a:srgbClr val="17150F"/>
                </a:solidFill>
                <a:latin typeface="Arial"/>
              </a:rPr>
              <a:t>logro</a:t>
            </a:r>
            <a:r>
              <a:rPr sz="1250" b="1" dirty="0">
                <a:solidFill>
                  <a:srgbClr val="17150F"/>
                </a:solidFill>
                <a:latin typeface="Arial"/>
              </a:rPr>
              <a:t> del </a:t>
            </a:r>
            <a:r>
              <a:rPr sz="1250" b="1" dirty="0" err="1">
                <a:solidFill>
                  <a:srgbClr val="17150F"/>
                </a:solidFill>
                <a:latin typeface="Arial"/>
              </a:rPr>
              <a:t>modelo</a:t>
            </a:r>
            <a:r>
              <a:rPr sz="1250" b="1" dirty="0">
                <a:solidFill>
                  <a:srgbClr val="17150F"/>
                </a:solidFill>
                <a:latin typeface="Arial"/>
              </a:rPr>
              <a:t> </a:t>
            </a:r>
            <a:r>
              <a:rPr sz="1250" b="1" dirty="0" err="1">
                <a:solidFill>
                  <a:srgbClr val="17150F"/>
                </a:solidFill>
                <a:latin typeface="Arial"/>
              </a:rPr>
              <a:t>sería</a:t>
            </a:r>
            <a:r>
              <a:rPr sz="1250" b="1" dirty="0">
                <a:solidFill>
                  <a:srgbClr val="17150F"/>
                </a:solidFill>
                <a:latin typeface="Arial"/>
              </a:rPr>
              <a:t> </a:t>
            </a:r>
            <a:r>
              <a:rPr sz="1250" b="1" dirty="0" err="1">
                <a:solidFill>
                  <a:srgbClr val="17150F"/>
                </a:solidFill>
                <a:latin typeface="Arial"/>
              </a:rPr>
              <a:t>atribuirle</a:t>
            </a:r>
            <a:r>
              <a:rPr sz="1250" b="1" dirty="0">
                <a:solidFill>
                  <a:srgbClr val="17150F"/>
                </a:solidFill>
                <a:latin typeface="Arial"/>
              </a:rPr>
              <a:t> un </a:t>
            </a:r>
            <a:r>
              <a:rPr sz="1250" b="1" dirty="0" err="1">
                <a:solidFill>
                  <a:srgbClr val="17150F"/>
                </a:solidFill>
                <a:latin typeface="Arial"/>
              </a:rPr>
              <a:t>mérito</a:t>
            </a:r>
            <a:r>
              <a:rPr sz="1250" b="1" dirty="0">
                <a:solidFill>
                  <a:srgbClr val="17150F"/>
                </a:solidFill>
                <a:latin typeface="Arial"/>
              </a:rPr>
              <a:t> </a:t>
            </a:r>
            <a:r>
              <a:rPr sz="1250" b="1" dirty="0" err="1">
                <a:solidFill>
                  <a:srgbClr val="17150F"/>
                </a:solidFill>
                <a:latin typeface="Arial"/>
              </a:rPr>
              <a:t>que</a:t>
            </a:r>
            <a:r>
              <a:rPr sz="1250" b="1" dirty="0">
                <a:solidFill>
                  <a:srgbClr val="17150F"/>
                </a:solidFill>
                <a:latin typeface="Arial"/>
              </a:rPr>
              <a:t> no </a:t>
            </a:r>
            <a:r>
              <a:rPr sz="1250" b="1" dirty="0" err="1">
                <a:solidFill>
                  <a:srgbClr val="17150F"/>
                </a:solidFill>
                <a:latin typeface="Arial"/>
              </a:rPr>
              <a:t>tiene</a:t>
            </a:r>
            <a:r>
              <a:rPr sz="1250" b="1" dirty="0">
                <a:solidFill>
                  <a:srgbClr val="17150F"/>
                </a:solidFill>
                <a:latin typeface="Arial"/>
              </a:rPr>
              <a:t>.</a:t>
            </a:r>
          </a:p>
          <a:p>
            <a:pPr algn="l">
              <a:lnSpc>
                <a:spcPct val="128000"/>
              </a:lnSpc>
              <a:spcBef>
                <a:spcPts val="0"/>
              </a:spcBef>
              <a:spcAft>
                <a:spcPts val="0"/>
              </a:spcAft>
            </a:pPr>
            <a:r>
              <a:rPr sz="1250" b="0" dirty="0">
                <a:solidFill>
                  <a:srgbClr val="555045"/>
                </a:solidFill>
                <a:latin typeface="Arial"/>
              </a:rPr>
              <a:t>La </a:t>
            </a:r>
            <a:r>
              <a:rPr sz="1250" b="0" dirty="0" err="1">
                <a:solidFill>
                  <a:srgbClr val="555045"/>
                </a:solidFill>
                <a:latin typeface="Arial"/>
              </a:rPr>
              <a:t>interacción</a:t>
            </a:r>
            <a:r>
              <a:rPr sz="1250" b="0" dirty="0">
                <a:solidFill>
                  <a:srgbClr val="555045"/>
                </a:solidFill>
                <a:latin typeface="Arial"/>
              </a:rPr>
              <a:t> </a:t>
            </a:r>
            <a:r>
              <a:rPr sz="1250" b="0" dirty="0" err="1">
                <a:solidFill>
                  <a:srgbClr val="555045"/>
                </a:solidFill>
                <a:latin typeface="Arial"/>
              </a:rPr>
              <a:t>merece</a:t>
            </a:r>
            <a:r>
              <a:rPr sz="1250" b="0" dirty="0">
                <a:solidFill>
                  <a:srgbClr val="555045"/>
                </a:solidFill>
                <a:latin typeface="Arial"/>
              </a:rPr>
              <a:t> </a:t>
            </a:r>
            <a:r>
              <a:rPr sz="1250" b="0" dirty="0" err="1">
                <a:solidFill>
                  <a:srgbClr val="555045"/>
                </a:solidFill>
                <a:latin typeface="Arial"/>
              </a:rPr>
              <a:t>atención</a:t>
            </a:r>
            <a:r>
              <a:rPr sz="1250" b="0" dirty="0">
                <a:solidFill>
                  <a:srgbClr val="555045"/>
                </a:solidFill>
                <a:latin typeface="Arial"/>
              </a:rPr>
              <a:t>. </a:t>
            </a:r>
            <a:r>
              <a:rPr sz="1250" b="0" dirty="0" err="1">
                <a:solidFill>
                  <a:srgbClr val="555045"/>
                </a:solidFill>
                <a:latin typeface="Arial"/>
              </a:rPr>
              <a:t>Esos</a:t>
            </a:r>
            <a:r>
              <a:rPr sz="1250" b="0" dirty="0">
                <a:solidFill>
                  <a:srgbClr val="555045"/>
                </a:solidFill>
                <a:latin typeface="Arial"/>
              </a:rPr>
              <a:t> 145.000 </a:t>
            </a:r>
            <a:r>
              <a:rPr sz="1250" b="0" dirty="0" err="1">
                <a:solidFill>
                  <a:srgbClr val="555045"/>
                </a:solidFill>
                <a:latin typeface="Arial"/>
              </a:rPr>
              <a:t>salen</a:t>
            </a:r>
            <a:r>
              <a:rPr sz="1250" b="0" dirty="0">
                <a:solidFill>
                  <a:srgbClr val="555045"/>
                </a:solidFill>
                <a:latin typeface="Arial"/>
              </a:rPr>
              <a:t> de </a:t>
            </a:r>
            <a:r>
              <a:rPr sz="1250" b="0" dirty="0" err="1">
                <a:solidFill>
                  <a:srgbClr val="555045"/>
                </a:solidFill>
                <a:latin typeface="Arial"/>
              </a:rPr>
              <a:t>que</a:t>
            </a:r>
            <a:r>
              <a:rPr sz="1250" b="0" dirty="0">
                <a:solidFill>
                  <a:srgbClr val="555045"/>
                </a:solidFill>
                <a:latin typeface="Arial"/>
              </a:rPr>
              <a:t> el </a:t>
            </a:r>
            <a:r>
              <a:rPr sz="1250" b="0" dirty="0" err="1">
                <a:solidFill>
                  <a:srgbClr val="555045"/>
                </a:solidFill>
                <a:latin typeface="Arial"/>
              </a:rPr>
              <a:t>modelo</a:t>
            </a:r>
            <a:r>
              <a:rPr sz="1250" b="0" dirty="0">
                <a:solidFill>
                  <a:srgbClr val="555045"/>
                </a:solidFill>
                <a:latin typeface="Arial"/>
              </a:rPr>
              <a:t>, </a:t>
            </a:r>
            <a:r>
              <a:rPr sz="1250" b="0" dirty="0" err="1">
                <a:solidFill>
                  <a:srgbClr val="555045"/>
                </a:solidFill>
                <a:latin typeface="Arial"/>
              </a:rPr>
              <a:t>además</a:t>
            </a:r>
            <a:r>
              <a:rPr sz="1250" b="0" dirty="0">
                <a:solidFill>
                  <a:srgbClr val="555045"/>
                </a:solidFill>
                <a:latin typeface="Arial"/>
              </a:rPr>
              <a:t> de </a:t>
            </a:r>
            <a:r>
              <a:rPr sz="1250" b="0" dirty="0" err="1">
                <a:solidFill>
                  <a:srgbClr val="555045"/>
                </a:solidFill>
                <a:latin typeface="Arial"/>
              </a:rPr>
              <a:t>acertar</a:t>
            </a:r>
            <a:r>
              <a:rPr sz="1250" b="0" dirty="0">
                <a:solidFill>
                  <a:srgbClr val="555045"/>
                </a:solidFill>
                <a:latin typeface="Arial"/>
              </a:rPr>
              <a:t> el </a:t>
            </a:r>
            <a:r>
              <a:rPr sz="1250" b="0" dirty="0" err="1">
                <a:solidFill>
                  <a:srgbClr val="555045"/>
                </a:solidFill>
                <a:latin typeface="Arial"/>
              </a:rPr>
              <a:t>centro</a:t>
            </a:r>
            <a:r>
              <a:rPr sz="1250" b="0" dirty="0">
                <a:solidFill>
                  <a:srgbClr val="555045"/>
                </a:solidFill>
                <a:latin typeface="Arial"/>
              </a:rPr>
              <a:t>, </a:t>
            </a:r>
            <a:r>
              <a:rPr sz="1250" b="0" dirty="0" err="1">
                <a:solidFill>
                  <a:srgbClr val="555045"/>
                </a:solidFill>
                <a:latin typeface="Arial"/>
              </a:rPr>
              <a:t>gradúa</a:t>
            </a:r>
            <a:r>
              <a:rPr sz="1250" b="0" dirty="0">
                <a:solidFill>
                  <a:srgbClr val="555045"/>
                </a:solidFill>
                <a:latin typeface="Arial"/>
              </a:rPr>
              <a:t> el ancho del </a:t>
            </a:r>
            <a:r>
              <a:rPr sz="1250" b="0" dirty="0" err="1">
                <a:solidFill>
                  <a:srgbClr val="555045"/>
                </a:solidFill>
                <a:latin typeface="Arial"/>
              </a:rPr>
              <a:t>abanico</a:t>
            </a:r>
            <a:r>
              <a:rPr sz="1250" b="0" dirty="0">
                <a:solidFill>
                  <a:srgbClr val="555045"/>
                </a:solidFill>
                <a:latin typeface="Arial"/>
              </a:rPr>
              <a:t> </a:t>
            </a:r>
            <a:r>
              <a:rPr sz="1250" b="0" dirty="0" err="1">
                <a:solidFill>
                  <a:srgbClr val="555045"/>
                </a:solidFill>
                <a:latin typeface="Arial"/>
              </a:rPr>
              <a:t>por</a:t>
            </a:r>
            <a:r>
              <a:rPr sz="1250" b="0" dirty="0">
                <a:solidFill>
                  <a:srgbClr val="555045"/>
                </a:solidFill>
                <a:latin typeface="Arial"/>
              </a:rPr>
              <a:t> </a:t>
            </a:r>
            <a:r>
              <a:rPr sz="1250" b="0" dirty="0" err="1">
                <a:solidFill>
                  <a:srgbClr val="555045"/>
                </a:solidFill>
                <a:latin typeface="Arial"/>
              </a:rPr>
              <a:t>serie</a:t>
            </a:r>
            <a:r>
              <a:rPr sz="1250" b="0" dirty="0">
                <a:solidFill>
                  <a:srgbClr val="555045"/>
                </a:solidFill>
                <a:latin typeface="Arial"/>
              </a:rPr>
              <a:t>. Es lo </a:t>
            </a:r>
            <a:r>
              <a:rPr sz="1250" b="0" dirty="0" err="1">
                <a:solidFill>
                  <a:srgbClr val="555045"/>
                </a:solidFill>
                <a:latin typeface="Arial"/>
              </a:rPr>
              <a:t>que</a:t>
            </a:r>
            <a:r>
              <a:rPr sz="1250" b="0" dirty="0">
                <a:solidFill>
                  <a:srgbClr val="555045"/>
                </a:solidFill>
                <a:latin typeface="Arial"/>
              </a:rPr>
              <a:t> </a:t>
            </a:r>
            <a:r>
              <a:rPr sz="1250" b="0" dirty="0" err="1">
                <a:solidFill>
                  <a:srgbClr val="555045"/>
                </a:solidFill>
                <a:latin typeface="Arial"/>
              </a:rPr>
              <a:t>justifica</a:t>
            </a:r>
            <a:r>
              <a:rPr sz="1250" b="0" dirty="0">
                <a:solidFill>
                  <a:srgbClr val="555045"/>
                </a:solidFill>
                <a:latin typeface="Arial"/>
              </a:rPr>
              <a:t> </a:t>
            </a:r>
            <a:r>
              <a:rPr sz="1250" b="0" dirty="0" err="1">
                <a:solidFill>
                  <a:srgbClr val="555045"/>
                </a:solidFill>
                <a:latin typeface="Arial"/>
              </a:rPr>
              <a:t>haber</a:t>
            </a:r>
            <a:r>
              <a:rPr sz="1250" b="0" dirty="0">
                <a:solidFill>
                  <a:srgbClr val="555045"/>
                </a:solidFill>
                <a:latin typeface="Arial"/>
              </a:rPr>
              <a:t> </a:t>
            </a:r>
            <a:r>
              <a:rPr sz="1250" b="0" dirty="0" err="1">
                <a:solidFill>
                  <a:srgbClr val="555045"/>
                </a:solidFill>
                <a:latin typeface="Arial"/>
              </a:rPr>
              <a:t>elegido</a:t>
            </a:r>
            <a:r>
              <a:rPr sz="1250" b="0" dirty="0">
                <a:solidFill>
                  <a:srgbClr val="555045"/>
                </a:solidFill>
                <a:latin typeface="Arial"/>
              </a:rPr>
              <a:t> un </a:t>
            </a:r>
            <a:r>
              <a:rPr sz="1250" b="0" dirty="0" err="1">
                <a:solidFill>
                  <a:srgbClr val="555045"/>
                </a:solidFill>
                <a:latin typeface="Arial"/>
              </a:rPr>
              <a:t>modelo</a:t>
            </a:r>
            <a:r>
              <a:rPr sz="1250" b="0" dirty="0">
                <a:solidFill>
                  <a:srgbClr val="555045"/>
                </a:solidFill>
                <a:latin typeface="Arial"/>
              </a:rPr>
              <a:t> </a:t>
            </a:r>
            <a:r>
              <a:rPr sz="1250" b="0" dirty="0" err="1">
                <a:solidFill>
                  <a:srgbClr val="555045"/>
                </a:solidFill>
                <a:latin typeface="Arial"/>
              </a:rPr>
              <a:t>cuantílico</a:t>
            </a:r>
            <a:r>
              <a:rPr sz="1250" b="0" dirty="0">
                <a:solidFill>
                  <a:srgbClr val="555045"/>
                </a:solidFill>
                <a:latin typeface="Arial"/>
              </a:rPr>
              <a:t> y no uno </a:t>
            </a:r>
            <a:r>
              <a:rPr sz="1250" b="0" dirty="0" err="1">
                <a:solidFill>
                  <a:srgbClr val="555045"/>
                </a:solidFill>
                <a:latin typeface="Arial"/>
              </a:rPr>
              <a:t>puntual</a:t>
            </a:r>
            <a:r>
              <a:rPr sz="1250" b="0" dirty="0">
                <a:solidFill>
                  <a:srgbClr val="555045"/>
                </a:solidFill>
                <a:latin typeface="Arial"/>
              </a:rPr>
              <a:t>.</a:t>
            </a:r>
          </a:p>
        </p:txBody>
      </p:sp>
      <p:sp>
        <p:nvSpPr>
          <p:cNvPr id="9" name="Rectangle 8"/>
          <p:cNvSpPr/>
          <p:nvPr/>
        </p:nvSpPr>
        <p:spPr>
          <a:xfrm>
            <a:off x="777240" y="6327648"/>
            <a:ext cx="10637215" cy="9525"/>
          </a:xfrm>
          <a:prstGeom prst="rect">
            <a:avLst/>
          </a:prstGeom>
          <a:solidFill>
            <a:srgbClr val="DCD8C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0" name="TextBox 9"/>
          <p:cNvSpPr txBox="1"/>
          <p:nvPr/>
        </p:nvSpPr>
        <p:spPr>
          <a:xfrm>
            <a:off x="777240" y="6428232"/>
            <a:ext cx="8686800" cy="274320"/>
          </a:xfrm>
          <a:prstGeom prst="rect">
            <a:avLst/>
          </a:prstGeom>
          <a:noFill/>
        </p:spPr>
        <p:txBody>
          <a:bodyPr wrap="square" lIns="0" tIns="0" rIns="0" bIns="0">
            <a:spAutoFit/>
          </a:bodyPr>
          <a:lstStyle/>
          <a:p>
            <a:pPr algn="l">
              <a:lnSpc>
                <a:spcPct val="122000"/>
              </a:lnSpc>
              <a:spcBef>
                <a:spcPts val="0"/>
              </a:spcBef>
              <a:spcAft>
                <a:spcPts val="0"/>
              </a:spcAft>
            </a:pPr>
            <a:r>
              <a:rPr sz="950" b="0">
                <a:solidFill>
                  <a:srgbClr val="8B8478"/>
                </a:solidFill>
                <a:latin typeface="Arial"/>
              </a:rPr>
              <a:t>Paso 15 · Simulación de políticas</a:t>
            </a:r>
          </a:p>
        </p:txBody>
      </p:sp>
      <p:sp>
        <p:nvSpPr>
          <p:cNvPr id="11" name="TextBox 10"/>
          <p:cNvSpPr txBox="1"/>
          <p:nvPr/>
        </p:nvSpPr>
        <p:spPr>
          <a:xfrm>
            <a:off x="10500055" y="6428232"/>
            <a:ext cx="914400" cy="274320"/>
          </a:xfrm>
          <a:prstGeom prst="rect">
            <a:avLst/>
          </a:prstGeom>
          <a:noFill/>
        </p:spPr>
        <p:txBody>
          <a:bodyPr wrap="square" lIns="0" tIns="0" rIns="0" bIns="0">
            <a:spAutoFit/>
          </a:bodyPr>
          <a:lstStyle/>
          <a:p>
            <a:pPr algn="r">
              <a:lnSpc>
                <a:spcPct val="122000"/>
              </a:lnSpc>
              <a:spcBef>
                <a:spcPts val="0"/>
              </a:spcBef>
              <a:spcAft>
                <a:spcPts val="0"/>
              </a:spcAft>
            </a:pPr>
            <a:r>
              <a:rPr sz="950" b="0">
                <a:solidFill>
                  <a:srgbClr val="8B8478"/>
                </a:solidFill>
                <a:latin typeface="Arial"/>
              </a:rPr>
              <a:t>43</a:t>
            </a:r>
          </a:p>
        </p:txBody>
      </p:sp>
    </p:spTree>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777240" y="475488"/>
            <a:ext cx="10637215" cy="237744"/>
          </a:xfrm>
          <a:prstGeom prst="rect">
            <a:avLst/>
          </a:prstGeom>
          <a:noFill/>
        </p:spPr>
        <p:txBody>
          <a:bodyPr wrap="square" lIns="0" tIns="0" rIns="0" bIns="0">
            <a:spAutoFit/>
          </a:bodyPr>
          <a:lstStyle/>
          <a:p>
            <a:pPr algn="l">
              <a:lnSpc>
                <a:spcPct val="122000"/>
              </a:lnSpc>
              <a:spcBef>
                <a:spcPts val="0"/>
              </a:spcBef>
              <a:spcAft>
                <a:spcPts val="0"/>
              </a:spcAft>
            </a:pPr>
            <a:r>
              <a:rPr sz="1050" b="1">
                <a:solidFill>
                  <a:srgbClr val="8C2F39"/>
                </a:solidFill>
                <a:latin typeface="Arial"/>
              </a:rPr>
              <a:t>PASO 15 · QUÉ ESTÁ DEMOSTRADO</a:t>
            </a:r>
          </a:p>
        </p:txBody>
      </p:sp>
      <p:sp>
        <p:nvSpPr>
          <p:cNvPr id="4" name="Rectangle 3"/>
          <p:cNvSpPr/>
          <p:nvPr/>
        </p:nvSpPr>
        <p:spPr>
          <a:xfrm>
            <a:off x="777240" y="768096"/>
            <a:ext cx="502920" cy="30480"/>
          </a:xfrm>
          <a:prstGeom prst="rect">
            <a:avLst/>
          </a:prstGeom>
          <a:solidFill>
            <a:srgbClr val="8C2F3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 name="TextBox 4"/>
          <p:cNvSpPr txBox="1"/>
          <p:nvPr/>
        </p:nvSpPr>
        <p:spPr>
          <a:xfrm>
            <a:off x="777240" y="914400"/>
            <a:ext cx="10637215" cy="445770"/>
          </a:xfrm>
          <a:prstGeom prst="rect">
            <a:avLst/>
          </a:prstGeom>
          <a:noFill/>
        </p:spPr>
        <p:txBody>
          <a:bodyPr wrap="square" lIns="0" tIns="0" rIns="0" bIns="0">
            <a:spAutoFit/>
          </a:bodyPr>
          <a:lstStyle/>
          <a:p>
            <a:pPr algn="l">
              <a:lnSpc>
                <a:spcPct val="106000"/>
              </a:lnSpc>
              <a:spcBef>
                <a:spcPts val="0"/>
              </a:spcBef>
              <a:spcAft>
                <a:spcPts val="0"/>
              </a:spcAft>
            </a:pPr>
            <a:r>
              <a:rPr sz="2700" b="1">
                <a:solidFill>
                  <a:srgbClr val="17150F"/>
                </a:solidFill>
                <a:latin typeface="Arial"/>
              </a:rPr>
              <a:t>Solo dos de las cuatro comparaciones son significativas</a:t>
            </a:r>
          </a:p>
        </p:txBody>
      </p:sp>
      <p:sp>
        <p:nvSpPr>
          <p:cNvPr id="6" name="TextBox 5"/>
          <p:cNvSpPr txBox="1"/>
          <p:nvPr/>
        </p:nvSpPr>
        <p:spPr>
          <a:xfrm>
            <a:off x="777240" y="1506474"/>
            <a:ext cx="9966960" cy="530098"/>
          </a:xfrm>
          <a:prstGeom prst="rect">
            <a:avLst/>
          </a:prstGeom>
          <a:noFill/>
        </p:spPr>
        <p:txBody>
          <a:bodyPr wrap="square" lIns="0" tIns="0" rIns="0" bIns="0">
            <a:spAutoFit/>
          </a:bodyPr>
          <a:lstStyle/>
          <a:p>
            <a:pPr algn="l">
              <a:lnSpc>
                <a:spcPct val="130000"/>
              </a:lnSpc>
              <a:spcBef>
                <a:spcPts val="0"/>
              </a:spcBef>
              <a:spcAft>
                <a:spcPts val="0"/>
              </a:spcAft>
            </a:pPr>
            <a:r>
              <a:rPr sz="1450" b="0">
                <a:solidFill>
                  <a:srgbClr val="555045"/>
                </a:solidFill>
                <a:latin typeface="Arial"/>
              </a:rPr>
              <a:t>Bandas de confianza al 95 % por remuestreo de series, no de filas, porque las semanas de una misma serie están correlacionadas.</a:t>
            </a:r>
          </a:p>
        </p:txBody>
      </p:sp>
      <p:graphicFrame>
        <p:nvGraphicFramePr>
          <p:cNvPr id="7" name="Table 6"/>
          <p:cNvGraphicFramePr>
            <a:graphicFrameLocks noGrp="1"/>
          </p:cNvGraphicFramePr>
          <p:nvPr/>
        </p:nvGraphicFramePr>
        <p:xfrm>
          <a:off x="777240" y="2237740"/>
          <a:ext cx="10637212" cy="1883664"/>
        </p:xfrm>
        <a:graphic>
          <a:graphicData uri="http://schemas.openxmlformats.org/drawingml/2006/table">
            <a:tbl>
              <a:tblPr bandRow="1">
                <a:tableStyleId>{5C22544A-7EE6-4342-B048-85BDC9FD1C3A}</a:tableStyleId>
              </a:tblPr>
              <a:tblGrid>
                <a:gridCol w="4042141">
                  <a:extLst>
                    <a:ext uri="{9D8B030D-6E8A-4147-A177-3AD203B41FA5}">
                      <a16:colId xmlns:a16="http://schemas.microsoft.com/office/drawing/2014/main" val="20000"/>
                    </a:ext>
                  </a:extLst>
                </a:gridCol>
                <a:gridCol w="1914698">
                  <a:extLst>
                    <a:ext uri="{9D8B030D-6E8A-4147-A177-3AD203B41FA5}">
                      <a16:colId xmlns:a16="http://schemas.microsoft.com/office/drawing/2014/main" val="20001"/>
                    </a:ext>
                  </a:extLst>
                </a:gridCol>
                <a:gridCol w="2765675">
                  <a:extLst>
                    <a:ext uri="{9D8B030D-6E8A-4147-A177-3AD203B41FA5}">
                      <a16:colId xmlns:a16="http://schemas.microsoft.com/office/drawing/2014/main" val="20002"/>
                    </a:ext>
                  </a:extLst>
                </a:gridCol>
                <a:gridCol w="1914698">
                  <a:extLst>
                    <a:ext uri="{9D8B030D-6E8A-4147-A177-3AD203B41FA5}">
                      <a16:colId xmlns:a16="http://schemas.microsoft.com/office/drawing/2014/main" val="20003"/>
                    </a:ext>
                  </a:extLst>
                </a:gridCol>
              </a:tblGrid>
              <a:tr h="347472">
                <a:tc>
                  <a:txBody>
                    <a:bodyPr/>
                    <a:lstStyle/>
                    <a:p>
                      <a:pPr algn="l"/>
                      <a:r>
                        <a:rPr sz="1100" b="1">
                          <a:solidFill>
                            <a:srgbClr val="8B8478"/>
                          </a:solidFill>
                          <a:latin typeface="Arial"/>
                        </a:rPr>
                        <a:t>Comparación</a:t>
                      </a:r>
                    </a:p>
                  </a:txBody>
                  <a:tcPr marL="82296" marR="82296" anchor="ctr">
                    <a:solidFill>
                      <a:srgbClr val="F4F2ED"/>
                    </a:solidFill>
                  </a:tcPr>
                </a:tc>
                <a:tc>
                  <a:txBody>
                    <a:bodyPr/>
                    <a:lstStyle/>
                    <a:p>
                      <a:pPr algn="r"/>
                      <a:r>
                        <a:rPr sz="1100" b="1">
                          <a:solidFill>
                            <a:srgbClr val="8B8478"/>
                          </a:solidFill>
                          <a:latin typeface="Arial"/>
                        </a:rPr>
                        <a:t>Ahorro</a:t>
                      </a:r>
                    </a:p>
                  </a:txBody>
                  <a:tcPr marL="82296" marR="82296" anchor="ctr">
                    <a:solidFill>
                      <a:srgbClr val="F4F2ED"/>
                    </a:solidFill>
                  </a:tcPr>
                </a:tc>
                <a:tc>
                  <a:txBody>
                    <a:bodyPr/>
                    <a:lstStyle/>
                    <a:p>
                      <a:pPr algn="r"/>
                      <a:r>
                        <a:rPr sz="1100" b="1">
                          <a:solidFill>
                            <a:srgbClr val="8B8478"/>
                          </a:solidFill>
                          <a:latin typeface="Arial"/>
                        </a:rPr>
                        <a:t>Banda 95 %</a:t>
                      </a:r>
                    </a:p>
                  </a:txBody>
                  <a:tcPr marL="82296" marR="82296" anchor="ctr">
                    <a:solidFill>
                      <a:srgbClr val="F4F2ED"/>
                    </a:solidFill>
                  </a:tcPr>
                </a:tc>
                <a:tc>
                  <a:txBody>
                    <a:bodyPr/>
                    <a:lstStyle/>
                    <a:p>
                      <a:pPr algn="r"/>
                      <a:r>
                        <a:rPr sz="1100" b="1">
                          <a:solidFill>
                            <a:srgbClr val="8B8478"/>
                          </a:solidFill>
                          <a:latin typeface="Arial"/>
                        </a:rPr>
                        <a:t>¿Significativo?</a:t>
                      </a:r>
                    </a:p>
                  </a:txBody>
                  <a:tcPr marL="82296" marR="82296" anchor="ctr">
                    <a:solidFill>
                      <a:srgbClr val="F4F2ED"/>
                    </a:solidFill>
                  </a:tcPr>
                </a:tc>
                <a:extLst>
                  <a:ext uri="{0D108BD9-81ED-4DB2-BD59-A6C34878D82A}">
                    <a16:rowId xmlns:a16="http://schemas.microsoft.com/office/drawing/2014/main" val="10000"/>
                  </a:ext>
                </a:extLst>
              </a:tr>
              <a:tr h="384048">
                <a:tc>
                  <a:txBody>
                    <a:bodyPr/>
                    <a:lstStyle/>
                    <a:p>
                      <a:pPr algn="l"/>
                      <a:r>
                        <a:rPr sz="1250" b="1">
                          <a:solidFill>
                            <a:srgbClr val="17150F"/>
                          </a:solidFill>
                          <a:latin typeface="Arial"/>
                        </a:rPr>
                        <a:t>P4 frente a P0 · la práctica actual</a:t>
                      </a:r>
                    </a:p>
                  </a:txBody>
                  <a:tcPr marL="82296" marR="82296" anchor="ctr">
                    <a:solidFill>
                      <a:srgbClr val="F7EEEF"/>
                    </a:solidFill>
                  </a:tcPr>
                </a:tc>
                <a:tc>
                  <a:txBody>
                    <a:bodyPr/>
                    <a:lstStyle/>
                    <a:p>
                      <a:pPr algn="r"/>
                      <a:r>
                        <a:rPr sz="1250" b="1">
                          <a:solidFill>
                            <a:srgbClr val="17150F"/>
                          </a:solidFill>
                          <a:latin typeface="Arial"/>
                        </a:rPr>
                        <a:t>1.960.844</a:t>
                      </a:r>
                    </a:p>
                  </a:txBody>
                  <a:tcPr marL="82296" marR="82296" anchor="ctr">
                    <a:solidFill>
                      <a:srgbClr val="F7EEEF"/>
                    </a:solidFill>
                  </a:tcPr>
                </a:tc>
                <a:tc>
                  <a:txBody>
                    <a:bodyPr/>
                    <a:lstStyle/>
                    <a:p>
                      <a:pPr algn="r"/>
                      <a:r>
                        <a:rPr sz="1250" b="1">
                          <a:solidFill>
                            <a:srgbClr val="17150F"/>
                          </a:solidFill>
                          <a:latin typeface="Arial"/>
                        </a:rPr>
                        <a:t>1.325.913 a 2.598.960</a:t>
                      </a:r>
                    </a:p>
                  </a:txBody>
                  <a:tcPr marL="82296" marR="82296" anchor="ctr">
                    <a:solidFill>
                      <a:srgbClr val="F7EEEF"/>
                    </a:solidFill>
                  </a:tcPr>
                </a:tc>
                <a:tc>
                  <a:txBody>
                    <a:bodyPr/>
                    <a:lstStyle/>
                    <a:p>
                      <a:pPr algn="r"/>
                      <a:r>
                        <a:rPr sz="1250" b="1">
                          <a:solidFill>
                            <a:srgbClr val="17150F"/>
                          </a:solidFill>
                          <a:latin typeface="Arial"/>
                        </a:rPr>
                        <a:t>Sí</a:t>
                      </a:r>
                    </a:p>
                  </a:txBody>
                  <a:tcPr marL="82296" marR="82296" anchor="ctr">
                    <a:solidFill>
                      <a:srgbClr val="F7EEEF"/>
                    </a:solidFill>
                  </a:tcPr>
                </a:tc>
                <a:extLst>
                  <a:ext uri="{0D108BD9-81ED-4DB2-BD59-A6C34878D82A}">
                    <a16:rowId xmlns:a16="http://schemas.microsoft.com/office/drawing/2014/main" val="10001"/>
                  </a:ext>
                </a:extLst>
              </a:tr>
              <a:tr h="384048">
                <a:tc>
                  <a:txBody>
                    <a:bodyPr/>
                    <a:lstStyle/>
                    <a:p>
                      <a:pPr algn="l"/>
                      <a:r>
                        <a:rPr sz="1250" b="1">
                          <a:solidFill>
                            <a:srgbClr val="17150F"/>
                          </a:solidFill>
                          <a:latin typeface="Arial"/>
                        </a:rPr>
                        <a:t>P4 frente a P1 · pedir el centro</a:t>
                      </a:r>
                    </a:p>
                  </a:txBody>
                  <a:tcPr marL="82296" marR="82296" anchor="ctr">
                    <a:solidFill>
                      <a:srgbClr val="F7EEEF"/>
                    </a:solidFill>
                  </a:tcPr>
                </a:tc>
                <a:tc>
                  <a:txBody>
                    <a:bodyPr/>
                    <a:lstStyle/>
                    <a:p>
                      <a:pPr algn="r"/>
                      <a:r>
                        <a:rPr sz="1250" b="1">
                          <a:solidFill>
                            <a:srgbClr val="17150F"/>
                          </a:solidFill>
                          <a:latin typeface="Arial"/>
                        </a:rPr>
                        <a:t>499.457</a:t>
                      </a:r>
                    </a:p>
                  </a:txBody>
                  <a:tcPr marL="82296" marR="82296" anchor="ctr">
                    <a:solidFill>
                      <a:srgbClr val="F7EEEF"/>
                    </a:solidFill>
                  </a:tcPr>
                </a:tc>
                <a:tc>
                  <a:txBody>
                    <a:bodyPr/>
                    <a:lstStyle/>
                    <a:p>
                      <a:pPr algn="r"/>
                      <a:r>
                        <a:rPr sz="1250" b="1">
                          <a:solidFill>
                            <a:srgbClr val="17150F"/>
                          </a:solidFill>
                          <a:latin typeface="Arial"/>
                        </a:rPr>
                        <a:t>87.470 a 963.945</a:t>
                      </a:r>
                    </a:p>
                  </a:txBody>
                  <a:tcPr marL="82296" marR="82296" anchor="ctr">
                    <a:solidFill>
                      <a:srgbClr val="F7EEEF"/>
                    </a:solidFill>
                  </a:tcPr>
                </a:tc>
                <a:tc>
                  <a:txBody>
                    <a:bodyPr/>
                    <a:lstStyle/>
                    <a:p>
                      <a:pPr algn="r"/>
                      <a:r>
                        <a:rPr sz="1250" b="1">
                          <a:solidFill>
                            <a:srgbClr val="17150F"/>
                          </a:solidFill>
                          <a:latin typeface="Arial"/>
                        </a:rPr>
                        <a:t>Sí</a:t>
                      </a:r>
                    </a:p>
                  </a:txBody>
                  <a:tcPr marL="82296" marR="82296" anchor="ctr">
                    <a:solidFill>
                      <a:srgbClr val="F7EEEF"/>
                    </a:solidFill>
                  </a:tcPr>
                </a:tc>
                <a:extLst>
                  <a:ext uri="{0D108BD9-81ED-4DB2-BD59-A6C34878D82A}">
                    <a16:rowId xmlns:a16="http://schemas.microsoft.com/office/drawing/2014/main" val="10002"/>
                  </a:ext>
                </a:extLst>
              </a:tr>
              <a:tr h="384048">
                <a:tc>
                  <a:txBody>
                    <a:bodyPr/>
                    <a:lstStyle/>
                    <a:p>
                      <a:pPr algn="l"/>
                      <a:r>
                        <a:rPr sz="1250" b="0" dirty="0">
                          <a:solidFill>
                            <a:srgbClr val="17150F"/>
                          </a:solidFill>
                          <a:latin typeface="Arial"/>
                        </a:rPr>
                        <a:t>P4 </a:t>
                      </a:r>
                      <a:r>
                        <a:rPr sz="1250" b="0" dirty="0" err="1">
                          <a:solidFill>
                            <a:srgbClr val="17150F"/>
                          </a:solidFill>
                          <a:latin typeface="Arial"/>
                        </a:rPr>
                        <a:t>frente</a:t>
                      </a:r>
                      <a:r>
                        <a:rPr sz="1250" b="0" dirty="0">
                          <a:solidFill>
                            <a:srgbClr val="17150F"/>
                          </a:solidFill>
                          <a:latin typeface="Arial"/>
                        </a:rPr>
                        <a:t> a P3 · </a:t>
                      </a:r>
                      <a:r>
                        <a:rPr sz="1250" b="0" dirty="0" err="1">
                          <a:solidFill>
                            <a:srgbClr val="17150F"/>
                          </a:solidFill>
                          <a:latin typeface="Arial"/>
                        </a:rPr>
                        <a:t>aporte</a:t>
                      </a:r>
                      <a:r>
                        <a:rPr sz="1250" b="0" dirty="0">
                          <a:solidFill>
                            <a:srgbClr val="17150F"/>
                          </a:solidFill>
                          <a:latin typeface="Arial"/>
                        </a:rPr>
                        <a:t> del </a:t>
                      </a:r>
                      <a:r>
                        <a:rPr sz="1250" b="0" dirty="0" err="1">
                          <a:solidFill>
                            <a:srgbClr val="17150F"/>
                          </a:solidFill>
                          <a:latin typeface="Arial"/>
                        </a:rPr>
                        <a:t>modelo</a:t>
                      </a:r>
                      <a:endParaRPr sz="1250" b="0" dirty="0">
                        <a:solidFill>
                          <a:srgbClr val="17150F"/>
                        </a:solidFill>
                        <a:latin typeface="Arial"/>
                      </a:endParaRPr>
                    </a:p>
                  </a:txBody>
                  <a:tcPr marL="82296" marR="82296" anchor="ctr">
                    <a:solidFill>
                      <a:srgbClr val="FFFFFF"/>
                    </a:solidFill>
                  </a:tcPr>
                </a:tc>
                <a:tc>
                  <a:txBody>
                    <a:bodyPr/>
                    <a:lstStyle/>
                    <a:p>
                      <a:pPr algn="r"/>
                      <a:r>
                        <a:rPr sz="1250" b="0">
                          <a:solidFill>
                            <a:srgbClr val="555045"/>
                          </a:solidFill>
                          <a:latin typeface="Arial"/>
                        </a:rPr>
                        <a:t>193.772</a:t>
                      </a:r>
                    </a:p>
                  </a:txBody>
                  <a:tcPr marL="82296" marR="82296" anchor="ctr">
                    <a:solidFill>
                      <a:srgbClr val="FFFFFF"/>
                    </a:solidFill>
                  </a:tcPr>
                </a:tc>
                <a:tc>
                  <a:txBody>
                    <a:bodyPr/>
                    <a:lstStyle/>
                    <a:p>
                      <a:pPr algn="r"/>
                      <a:r>
                        <a:rPr sz="1250" b="0">
                          <a:solidFill>
                            <a:srgbClr val="555045"/>
                          </a:solidFill>
                          <a:latin typeface="Arial"/>
                        </a:rPr>
                        <a:t>−17.437 a 422.048</a:t>
                      </a:r>
                    </a:p>
                  </a:txBody>
                  <a:tcPr marL="82296" marR="82296" anchor="ctr">
                    <a:solidFill>
                      <a:srgbClr val="FFFFFF"/>
                    </a:solidFill>
                  </a:tcPr>
                </a:tc>
                <a:tc>
                  <a:txBody>
                    <a:bodyPr/>
                    <a:lstStyle/>
                    <a:p>
                      <a:pPr algn="r"/>
                      <a:r>
                        <a:rPr sz="1250" b="0">
                          <a:solidFill>
                            <a:srgbClr val="555045"/>
                          </a:solidFill>
                          <a:latin typeface="Arial"/>
                        </a:rPr>
                        <a:t>No</a:t>
                      </a:r>
                    </a:p>
                  </a:txBody>
                  <a:tcPr marL="82296" marR="82296" anchor="ctr">
                    <a:solidFill>
                      <a:srgbClr val="FFFFFF"/>
                    </a:solidFill>
                  </a:tcPr>
                </a:tc>
                <a:extLst>
                  <a:ext uri="{0D108BD9-81ED-4DB2-BD59-A6C34878D82A}">
                    <a16:rowId xmlns:a16="http://schemas.microsoft.com/office/drawing/2014/main" val="10003"/>
                  </a:ext>
                </a:extLst>
              </a:tr>
              <a:tr h="384048">
                <a:tc>
                  <a:txBody>
                    <a:bodyPr/>
                    <a:lstStyle/>
                    <a:p>
                      <a:pPr algn="l"/>
                      <a:r>
                        <a:rPr sz="1250" b="0" dirty="0">
                          <a:solidFill>
                            <a:srgbClr val="17150F"/>
                          </a:solidFill>
                          <a:latin typeface="Arial"/>
                        </a:rPr>
                        <a:t>P3 </a:t>
                      </a:r>
                      <a:r>
                        <a:rPr sz="1250" b="0" dirty="0" err="1">
                          <a:solidFill>
                            <a:srgbClr val="17150F"/>
                          </a:solidFill>
                          <a:latin typeface="Arial"/>
                        </a:rPr>
                        <a:t>frente</a:t>
                      </a:r>
                      <a:r>
                        <a:rPr sz="1250" b="0" dirty="0">
                          <a:solidFill>
                            <a:srgbClr val="17150F"/>
                          </a:solidFill>
                          <a:latin typeface="Arial"/>
                        </a:rPr>
                        <a:t> a P1 · </a:t>
                      </a:r>
                      <a:r>
                        <a:rPr sz="1250" b="0" dirty="0" err="1">
                          <a:solidFill>
                            <a:srgbClr val="17150F"/>
                          </a:solidFill>
                          <a:latin typeface="Arial"/>
                        </a:rPr>
                        <a:t>aporte</a:t>
                      </a:r>
                      <a:r>
                        <a:rPr sz="1250" b="0" dirty="0">
                          <a:solidFill>
                            <a:srgbClr val="17150F"/>
                          </a:solidFill>
                          <a:latin typeface="Arial"/>
                        </a:rPr>
                        <a:t> de la </a:t>
                      </a:r>
                      <a:r>
                        <a:rPr sz="1250" b="0" dirty="0" err="1">
                          <a:solidFill>
                            <a:srgbClr val="17150F"/>
                          </a:solidFill>
                          <a:latin typeface="Arial"/>
                        </a:rPr>
                        <a:t>regla</a:t>
                      </a:r>
                      <a:endParaRPr sz="1250" b="0" dirty="0">
                        <a:solidFill>
                          <a:srgbClr val="17150F"/>
                        </a:solidFill>
                        <a:latin typeface="Arial"/>
                      </a:endParaRPr>
                    </a:p>
                  </a:txBody>
                  <a:tcPr marL="82296" marR="82296" anchor="ctr">
                    <a:solidFill>
                      <a:srgbClr val="FFFFFF"/>
                    </a:solidFill>
                  </a:tcPr>
                </a:tc>
                <a:tc>
                  <a:txBody>
                    <a:bodyPr/>
                    <a:lstStyle/>
                    <a:p>
                      <a:pPr algn="r"/>
                      <a:r>
                        <a:rPr sz="1250" b="0">
                          <a:solidFill>
                            <a:srgbClr val="555045"/>
                          </a:solidFill>
                          <a:latin typeface="Arial"/>
                        </a:rPr>
                        <a:t>305.685</a:t>
                      </a:r>
                    </a:p>
                  </a:txBody>
                  <a:tcPr marL="82296" marR="82296" anchor="ctr">
                    <a:solidFill>
                      <a:srgbClr val="FFFFFF"/>
                    </a:solidFill>
                  </a:tcPr>
                </a:tc>
                <a:tc>
                  <a:txBody>
                    <a:bodyPr/>
                    <a:lstStyle/>
                    <a:p>
                      <a:pPr algn="r"/>
                      <a:r>
                        <a:rPr sz="1250" b="0">
                          <a:solidFill>
                            <a:srgbClr val="555045"/>
                          </a:solidFill>
                          <a:latin typeface="Arial"/>
                        </a:rPr>
                        <a:t>−37.446 a 681.407</a:t>
                      </a:r>
                    </a:p>
                  </a:txBody>
                  <a:tcPr marL="82296" marR="82296" anchor="ctr">
                    <a:solidFill>
                      <a:srgbClr val="FFFFFF"/>
                    </a:solidFill>
                  </a:tcPr>
                </a:tc>
                <a:tc>
                  <a:txBody>
                    <a:bodyPr/>
                    <a:lstStyle/>
                    <a:p>
                      <a:pPr algn="r"/>
                      <a:r>
                        <a:rPr sz="1250" b="0" dirty="0">
                          <a:solidFill>
                            <a:srgbClr val="555045"/>
                          </a:solidFill>
                          <a:latin typeface="Arial"/>
                        </a:rPr>
                        <a:t>No</a:t>
                      </a:r>
                    </a:p>
                  </a:txBody>
                  <a:tcPr marL="82296" marR="82296" anchor="ctr">
                    <a:solidFill>
                      <a:srgbClr val="FFFFFF"/>
                    </a:solidFill>
                  </a:tcPr>
                </a:tc>
                <a:extLst>
                  <a:ext uri="{0D108BD9-81ED-4DB2-BD59-A6C34878D82A}">
                    <a16:rowId xmlns:a16="http://schemas.microsoft.com/office/drawing/2014/main" val="10004"/>
                  </a:ext>
                </a:extLst>
              </a:tr>
            </a:tbl>
          </a:graphicData>
        </a:graphic>
      </p:graphicFrame>
      <p:sp>
        <p:nvSpPr>
          <p:cNvPr id="8" name="Rectangle 7"/>
          <p:cNvSpPr/>
          <p:nvPr/>
        </p:nvSpPr>
        <p:spPr>
          <a:xfrm>
            <a:off x="777240" y="4569460"/>
            <a:ext cx="63500" cy="63500"/>
          </a:xfrm>
          <a:prstGeom prst="rect">
            <a:avLst/>
          </a:prstGeom>
          <a:solidFill>
            <a:srgbClr val="8C2F3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9" name="TextBox 8"/>
          <p:cNvSpPr txBox="1"/>
          <p:nvPr/>
        </p:nvSpPr>
        <p:spPr>
          <a:xfrm>
            <a:off x="978408" y="4468876"/>
            <a:ext cx="10436047" cy="530098"/>
          </a:xfrm>
          <a:prstGeom prst="rect">
            <a:avLst/>
          </a:prstGeom>
          <a:noFill/>
        </p:spPr>
        <p:txBody>
          <a:bodyPr wrap="square" lIns="0" tIns="0" rIns="0" bIns="0">
            <a:spAutoFit/>
          </a:bodyPr>
          <a:lstStyle/>
          <a:p>
            <a:pPr>
              <a:lnSpc>
                <a:spcPct val="124000"/>
              </a:lnSpc>
              <a:spcAft>
                <a:spcPts val="0"/>
              </a:spcAft>
            </a:pPr>
            <a:r>
              <a:rPr sz="1450" b="1">
                <a:solidFill>
                  <a:srgbClr val="17150F"/>
                </a:solidFill>
                <a:latin typeface="Arial"/>
              </a:rPr>
              <a:t>Lo que se puede afirmar.</a:t>
            </a:r>
            <a:r>
              <a:rPr sz="1450" b="0">
                <a:solidFill>
                  <a:srgbClr val="555045"/>
                </a:solidFill>
                <a:latin typeface="Arial"/>
              </a:rPr>
              <a:t> Que la propuesta completa mejora la práctica actual y mejora pedir el centro. Las dos bandas excluyen el cero.</a:t>
            </a:r>
          </a:p>
        </p:txBody>
      </p:sp>
      <p:sp>
        <p:nvSpPr>
          <p:cNvPr id="10" name="Rectangle 9"/>
          <p:cNvSpPr/>
          <p:nvPr/>
        </p:nvSpPr>
        <p:spPr>
          <a:xfrm>
            <a:off x="777240" y="5227574"/>
            <a:ext cx="63500" cy="63500"/>
          </a:xfrm>
          <a:prstGeom prst="rect">
            <a:avLst/>
          </a:prstGeom>
          <a:solidFill>
            <a:srgbClr val="8C2F3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1" name="TextBox 10"/>
          <p:cNvSpPr txBox="1"/>
          <p:nvPr/>
        </p:nvSpPr>
        <p:spPr>
          <a:xfrm>
            <a:off x="978408" y="5126990"/>
            <a:ext cx="10436047" cy="530098"/>
          </a:xfrm>
          <a:prstGeom prst="rect">
            <a:avLst/>
          </a:prstGeom>
          <a:noFill/>
        </p:spPr>
        <p:txBody>
          <a:bodyPr wrap="square" lIns="0" tIns="0" rIns="0" bIns="0">
            <a:spAutoFit/>
          </a:bodyPr>
          <a:lstStyle/>
          <a:p>
            <a:pPr>
              <a:lnSpc>
                <a:spcPct val="124000"/>
              </a:lnSpc>
              <a:spcAft>
                <a:spcPts val="0"/>
              </a:spcAft>
            </a:pPr>
            <a:r>
              <a:rPr sz="1450" b="1">
                <a:solidFill>
                  <a:srgbClr val="17150F"/>
                </a:solidFill>
                <a:latin typeface="Arial"/>
              </a:rPr>
              <a:t>Lo que no se puede afirmar.</a:t>
            </a:r>
            <a:r>
              <a:rPr sz="1450" b="0">
                <a:solidFill>
                  <a:srgbClr val="555045"/>
                </a:solidFill>
                <a:latin typeface="Arial"/>
              </a:rPr>
              <a:t> Que el modelo aporte por encima de la regla ingenua, ni que la regla aporte por sí sola. Sus bandas cruzan el cero.</a:t>
            </a:r>
          </a:p>
        </p:txBody>
      </p:sp>
      <p:sp>
        <p:nvSpPr>
          <p:cNvPr id="12" name="Rectangle 11"/>
          <p:cNvSpPr/>
          <p:nvPr/>
        </p:nvSpPr>
        <p:spPr>
          <a:xfrm>
            <a:off x="777240" y="5885688"/>
            <a:ext cx="63500" cy="63500"/>
          </a:xfrm>
          <a:prstGeom prst="rect">
            <a:avLst/>
          </a:prstGeom>
          <a:solidFill>
            <a:srgbClr val="8C2F3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3" name="TextBox 12"/>
          <p:cNvSpPr txBox="1"/>
          <p:nvPr/>
        </p:nvSpPr>
        <p:spPr>
          <a:xfrm>
            <a:off x="978408" y="5785104"/>
            <a:ext cx="10436047" cy="530098"/>
          </a:xfrm>
          <a:prstGeom prst="rect">
            <a:avLst/>
          </a:prstGeom>
          <a:noFill/>
        </p:spPr>
        <p:txBody>
          <a:bodyPr wrap="square" lIns="0" tIns="0" rIns="0" bIns="0">
            <a:spAutoFit/>
          </a:bodyPr>
          <a:lstStyle/>
          <a:p>
            <a:pPr>
              <a:lnSpc>
                <a:spcPct val="124000"/>
              </a:lnSpc>
              <a:spcAft>
                <a:spcPts val="0"/>
              </a:spcAft>
            </a:pPr>
            <a:r>
              <a:rPr sz="1450" b="1">
                <a:solidFill>
                  <a:srgbClr val="17150F"/>
                </a:solidFill>
                <a:latin typeface="Arial"/>
              </a:rPr>
              <a:t>Con 160 series y tres semanas no hay potencia</a:t>
            </a:r>
            <a:r>
              <a:rPr sz="1450" b="0">
                <a:solidFill>
                  <a:srgbClr val="555045"/>
                </a:solidFill>
                <a:latin typeface="Arial"/>
              </a:rPr>
              <a:t> para separar efectos de ese tamaño. La descomposición indica de dónde parece venir el ahorro; la significación solo alcanza para el total.</a:t>
            </a:r>
          </a:p>
        </p:txBody>
      </p:sp>
      <p:sp>
        <p:nvSpPr>
          <p:cNvPr id="14" name="Rectangle 13"/>
          <p:cNvSpPr/>
          <p:nvPr/>
        </p:nvSpPr>
        <p:spPr>
          <a:xfrm>
            <a:off x="777240" y="6327648"/>
            <a:ext cx="10637215" cy="9525"/>
          </a:xfrm>
          <a:prstGeom prst="rect">
            <a:avLst/>
          </a:prstGeom>
          <a:solidFill>
            <a:srgbClr val="DCD8C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5" name="TextBox 14"/>
          <p:cNvSpPr txBox="1"/>
          <p:nvPr/>
        </p:nvSpPr>
        <p:spPr>
          <a:xfrm>
            <a:off x="777240" y="6428232"/>
            <a:ext cx="8686800" cy="274320"/>
          </a:xfrm>
          <a:prstGeom prst="rect">
            <a:avLst/>
          </a:prstGeom>
          <a:noFill/>
        </p:spPr>
        <p:txBody>
          <a:bodyPr wrap="square" lIns="0" tIns="0" rIns="0" bIns="0">
            <a:spAutoFit/>
          </a:bodyPr>
          <a:lstStyle/>
          <a:p>
            <a:pPr algn="l">
              <a:lnSpc>
                <a:spcPct val="122000"/>
              </a:lnSpc>
              <a:spcBef>
                <a:spcPts val="0"/>
              </a:spcBef>
              <a:spcAft>
                <a:spcPts val="0"/>
              </a:spcAft>
            </a:pPr>
            <a:r>
              <a:rPr sz="950" b="0">
                <a:solidFill>
                  <a:srgbClr val="8B8478"/>
                </a:solidFill>
                <a:latin typeface="Arial"/>
              </a:rPr>
              <a:t>Paso 15 · Simulación de políticas</a:t>
            </a:r>
          </a:p>
        </p:txBody>
      </p:sp>
      <p:sp>
        <p:nvSpPr>
          <p:cNvPr id="16" name="TextBox 15"/>
          <p:cNvSpPr txBox="1"/>
          <p:nvPr/>
        </p:nvSpPr>
        <p:spPr>
          <a:xfrm>
            <a:off x="10500055" y="6428232"/>
            <a:ext cx="914400" cy="274320"/>
          </a:xfrm>
          <a:prstGeom prst="rect">
            <a:avLst/>
          </a:prstGeom>
          <a:noFill/>
        </p:spPr>
        <p:txBody>
          <a:bodyPr wrap="square" lIns="0" tIns="0" rIns="0" bIns="0">
            <a:spAutoFit/>
          </a:bodyPr>
          <a:lstStyle/>
          <a:p>
            <a:pPr algn="r">
              <a:lnSpc>
                <a:spcPct val="122000"/>
              </a:lnSpc>
              <a:spcBef>
                <a:spcPts val="0"/>
              </a:spcBef>
              <a:spcAft>
                <a:spcPts val="0"/>
              </a:spcAft>
            </a:pPr>
            <a:r>
              <a:rPr sz="950" b="0">
                <a:solidFill>
                  <a:srgbClr val="8B8478"/>
                </a:solidFill>
                <a:latin typeface="Arial"/>
              </a:rPr>
              <a:t>44</a:t>
            </a:r>
          </a:p>
        </p:txBody>
      </p:sp>
    </p:spTree>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305" y="22219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777240" y="475488"/>
            <a:ext cx="10637215" cy="237744"/>
          </a:xfrm>
          <a:prstGeom prst="rect">
            <a:avLst/>
          </a:prstGeom>
          <a:noFill/>
        </p:spPr>
        <p:txBody>
          <a:bodyPr wrap="square" lIns="0" tIns="0" rIns="0" bIns="0">
            <a:spAutoFit/>
          </a:bodyPr>
          <a:lstStyle/>
          <a:p>
            <a:pPr algn="l">
              <a:lnSpc>
                <a:spcPct val="122000"/>
              </a:lnSpc>
              <a:spcBef>
                <a:spcPts val="0"/>
              </a:spcBef>
              <a:spcAft>
                <a:spcPts val="0"/>
              </a:spcAft>
            </a:pPr>
            <a:r>
              <a:rPr sz="1050" b="1">
                <a:solidFill>
                  <a:srgbClr val="8C2F39"/>
                </a:solidFill>
                <a:latin typeface="Arial"/>
              </a:rPr>
              <a:t>LA DECISIÓN QUE NO NOS CORRESPONDE</a:t>
            </a:r>
          </a:p>
        </p:txBody>
      </p:sp>
      <p:sp>
        <p:nvSpPr>
          <p:cNvPr id="4" name="Rectangle 3"/>
          <p:cNvSpPr/>
          <p:nvPr/>
        </p:nvSpPr>
        <p:spPr>
          <a:xfrm>
            <a:off x="777240" y="768096"/>
            <a:ext cx="502920" cy="30480"/>
          </a:xfrm>
          <a:prstGeom prst="rect">
            <a:avLst/>
          </a:prstGeom>
          <a:solidFill>
            <a:srgbClr val="8C2F3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 name="TextBox 4"/>
          <p:cNvSpPr txBox="1"/>
          <p:nvPr/>
        </p:nvSpPr>
        <p:spPr>
          <a:xfrm>
            <a:off x="777240" y="914400"/>
            <a:ext cx="10637215" cy="445770"/>
          </a:xfrm>
          <a:prstGeom prst="rect">
            <a:avLst/>
          </a:prstGeom>
          <a:noFill/>
        </p:spPr>
        <p:txBody>
          <a:bodyPr wrap="square" lIns="0" tIns="0" rIns="0" bIns="0">
            <a:spAutoFit/>
          </a:bodyPr>
          <a:lstStyle/>
          <a:p>
            <a:pPr algn="l">
              <a:lnSpc>
                <a:spcPct val="106000"/>
              </a:lnSpc>
              <a:spcBef>
                <a:spcPts val="0"/>
              </a:spcBef>
              <a:spcAft>
                <a:spcPts val="0"/>
              </a:spcAft>
            </a:pPr>
            <a:r>
              <a:rPr sz="2700" b="1">
                <a:solidFill>
                  <a:srgbClr val="17150F"/>
                </a:solidFill>
                <a:latin typeface="Arial"/>
              </a:rPr>
              <a:t>Una sola suposición mueve el ahorro del 5 % al 93 %</a:t>
            </a:r>
          </a:p>
        </p:txBody>
      </p:sp>
      <p:sp>
        <p:nvSpPr>
          <p:cNvPr id="6" name="TextBox 5"/>
          <p:cNvSpPr txBox="1"/>
          <p:nvPr/>
        </p:nvSpPr>
        <p:spPr>
          <a:xfrm>
            <a:off x="777240" y="1506474"/>
            <a:ext cx="9966960" cy="530098"/>
          </a:xfrm>
          <a:prstGeom prst="rect">
            <a:avLst/>
          </a:prstGeom>
          <a:noFill/>
        </p:spPr>
        <p:txBody>
          <a:bodyPr wrap="square" lIns="0" tIns="0" rIns="0" bIns="0">
            <a:spAutoFit/>
          </a:bodyPr>
          <a:lstStyle/>
          <a:p>
            <a:pPr algn="l">
              <a:lnSpc>
                <a:spcPct val="130000"/>
              </a:lnSpc>
              <a:spcBef>
                <a:spcPts val="0"/>
              </a:spcBef>
              <a:spcAft>
                <a:spcPts val="0"/>
              </a:spcAft>
            </a:pPr>
            <a:r>
              <a:rPr sz="1450" b="0" dirty="0" err="1">
                <a:solidFill>
                  <a:srgbClr val="555045"/>
                </a:solidFill>
                <a:latin typeface="Arial"/>
              </a:rPr>
              <a:t>Mismos</a:t>
            </a:r>
            <a:r>
              <a:rPr sz="1450" b="0" dirty="0">
                <a:solidFill>
                  <a:srgbClr val="555045"/>
                </a:solidFill>
                <a:latin typeface="Arial"/>
              </a:rPr>
              <a:t> </a:t>
            </a:r>
            <a:r>
              <a:rPr sz="1450" b="0" dirty="0" err="1">
                <a:solidFill>
                  <a:srgbClr val="555045"/>
                </a:solidFill>
                <a:latin typeface="Arial"/>
              </a:rPr>
              <a:t>datos</a:t>
            </a:r>
            <a:r>
              <a:rPr sz="1450" b="0" dirty="0">
                <a:solidFill>
                  <a:srgbClr val="555045"/>
                </a:solidFill>
                <a:latin typeface="Arial"/>
              </a:rPr>
              <a:t>, </a:t>
            </a:r>
            <a:r>
              <a:rPr sz="1450" b="0" dirty="0" err="1">
                <a:solidFill>
                  <a:srgbClr val="555045"/>
                </a:solidFill>
                <a:latin typeface="Arial"/>
              </a:rPr>
              <a:t>mismo</a:t>
            </a:r>
            <a:r>
              <a:rPr sz="1450" b="0" dirty="0">
                <a:solidFill>
                  <a:srgbClr val="555045"/>
                </a:solidFill>
                <a:latin typeface="Arial"/>
              </a:rPr>
              <a:t> </a:t>
            </a:r>
            <a:r>
              <a:rPr sz="1450" b="0" dirty="0" err="1">
                <a:solidFill>
                  <a:srgbClr val="555045"/>
                </a:solidFill>
                <a:latin typeface="Arial"/>
              </a:rPr>
              <a:t>modelo</a:t>
            </a:r>
            <a:r>
              <a:rPr sz="1450" b="0" dirty="0">
                <a:solidFill>
                  <a:srgbClr val="555045"/>
                </a:solidFill>
                <a:latin typeface="Arial"/>
              </a:rPr>
              <a:t>, </a:t>
            </a:r>
            <a:r>
              <a:rPr sz="1450" b="0" dirty="0" err="1">
                <a:solidFill>
                  <a:srgbClr val="555045"/>
                </a:solidFill>
                <a:latin typeface="Arial"/>
              </a:rPr>
              <a:t>mismas</a:t>
            </a:r>
            <a:r>
              <a:rPr sz="1450" b="0" dirty="0">
                <a:solidFill>
                  <a:srgbClr val="555045"/>
                </a:solidFill>
                <a:latin typeface="Arial"/>
              </a:rPr>
              <a:t> </a:t>
            </a:r>
            <a:r>
              <a:rPr sz="1450" b="0" dirty="0" err="1">
                <a:solidFill>
                  <a:srgbClr val="555045"/>
                </a:solidFill>
                <a:latin typeface="Arial"/>
              </a:rPr>
              <a:t>predicciones</a:t>
            </a:r>
            <a:r>
              <a:rPr sz="1450" b="0" dirty="0">
                <a:solidFill>
                  <a:srgbClr val="555045"/>
                </a:solidFill>
                <a:latin typeface="Arial"/>
              </a:rPr>
              <a:t>. Lo </a:t>
            </a:r>
            <a:r>
              <a:rPr sz="1450" b="0" dirty="0" err="1">
                <a:solidFill>
                  <a:srgbClr val="555045"/>
                </a:solidFill>
                <a:latin typeface="Arial"/>
              </a:rPr>
              <a:t>único</a:t>
            </a:r>
            <a:r>
              <a:rPr sz="1450" b="0" dirty="0">
                <a:solidFill>
                  <a:srgbClr val="555045"/>
                </a:solidFill>
                <a:latin typeface="Arial"/>
              </a:rPr>
              <a:t> </a:t>
            </a:r>
            <a:r>
              <a:rPr sz="1450" b="0" dirty="0" err="1">
                <a:solidFill>
                  <a:srgbClr val="555045"/>
                </a:solidFill>
                <a:latin typeface="Arial"/>
              </a:rPr>
              <a:t>que</a:t>
            </a:r>
            <a:r>
              <a:rPr sz="1450" b="0" dirty="0">
                <a:solidFill>
                  <a:srgbClr val="555045"/>
                </a:solidFill>
                <a:latin typeface="Arial"/>
              </a:rPr>
              <a:t> cambia es </a:t>
            </a:r>
            <a:r>
              <a:rPr sz="1450" b="0" dirty="0" err="1">
                <a:solidFill>
                  <a:srgbClr val="555045"/>
                </a:solidFill>
                <a:latin typeface="Arial"/>
              </a:rPr>
              <a:t>qué</a:t>
            </a:r>
            <a:r>
              <a:rPr sz="1450" b="0" dirty="0">
                <a:solidFill>
                  <a:srgbClr val="555045"/>
                </a:solidFill>
                <a:latin typeface="Arial"/>
              </a:rPr>
              <a:t> se </a:t>
            </a:r>
            <a:r>
              <a:rPr sz="1450" b="0" dirty="0" err="1">
                <a:solidFill>
                  <a:srgbClr val="555045"/>
                </a:solidFill>
                <a:latin typeface="Arial"/>
              </a:rPr>
              <a:t>supone</a:t>
            </a:r>
            <a:r>
              <a:rPr sz="1450" b="0" dirty="0">
                <a:solidFill>
                  <a:srgbClr val="555045"/>
                </a:solidFill>
                <a:latin typeface="Arial"/>
              </a:rPr>
              <a:t> </a:t>
            </a:r>
            <a:r>
              <a:rPr sz="1450" b="0" dirty="0" err="1">
                <a:solidFill>
                  <a:srgbClr val="555045"/>
                </a:solidFill>
                <a:latin typeface="Arial"/>
              </a:rPr>
              <a:t>que</a:t>
            </a:r>
            <a:r>
              <a:rPr sz="1450" b="0" dirty="0">
                <a:solidFill>
                  <a:srgbClr val="555045"/>
                </a:solidFill>
                <a:latin typeface="Arial"/>
              </a:rPr>
              <a:t> </a:t>
            </a:r>
            <a:r>
              <a:rPr sz="1450" b="0" dirty="0" err="1">
                <a:solidFill>
                  <a:srgbClr val="555045"/>
                </a:solidFill>
                <a:latin typeface="Arial"/>
              </a:rPr>
              <a:t>pasa</a:t>
            </a:r>
            <a:r>
              <a:rPr sz="1450" b="0" dirty="0">
                <a:solidFill>
                  <a:srgbClr val="555045"/>
                </a:solidFill>
                <a:latin typeface="Arial"/>
              </a:rPr>
              <a:t> con el </a:t>
            </a:r>
            <a:r>
              <a:rPr sz="1450" b="0" dirty="0" err="1">
                <a:solidFill>
                  <a:srgbClr val="555045"/>
                </a:solidFill>
                <a:latin typeface="Arial"/>
              </a:rPr>
              <a:t>sobrante</a:t>
            </a:r>
            <a:r>
              <a:rPr sz="1450" b="0" dirty="0">
                <a:solidFill>
                  <a:srgbClr val="555045"/>
                </a:solidFill>
                <a:latin typeface="Arial"/>
              </a:rPr>
              <a:t> al </a:t>
            </a:r>
            <a:r>
              <a:rPr sz="1450" b="0" dirty="0" err="1">
                <a:solidFill>
                  <a:srgbClr val="555045"/>
                </a:solidFill>
                <a:latin typeface="Arial"/>
              </a:rPr>
              <a:t>cierre</a:t>
            </a:r>
            <a:r>
              <a:rPr sz="1450" b="0" dirty="0">
                <a:solidFill>
                  <a:srgbClr val="555045"/>
                </a:solidFill>
                <a:latin typeface="Arial"/>
              </a:rPr>
              <a:t>.</a:t>
            </a:r>
          </a:p>
        </p:txBody>
      </p:sp>
      <p:sp>
        <p:nvSpPr>
          <p:cNvPr id="14" name="Rectangle 13"/>
          <p:cNvSpPr/>
          <p:nvPr/>
        </p:nvSpPr>
        <p:spPr>
          <a:xfrm>
            <a:off x="777240" y="6327648"/>
            <a:ext cx="10637215" cy="9525"/>
          </a:xfrm>
          <a:prstGeom prst="rect">
            <a:avLst/>
          </a:prstGeom>
          <a:solidFill>
            <a:srgbClr val="DCD8C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5" name="TextBox 14"/>
          <p:cNvSpPr txBox="1"/>
          <p:nvPr/>
        </p:nvSpPr>
        <p:spPr>
          <a:xfrm>
            <a:off x="777240" y="6428232"/>
            <a:ext cx="8686800" cy="274320"/>
          </a:xfrm>
          <a:prstGeom prst="rect">
            <a:avLst/>
          </a:prstGeom>
          <a:noFill/>
        </p:spPr>
        <p:txBody>
          <a:bodyPr wrap="square" lIns="0" tIns="0" rIns="0" bIns="0">
            <a:spAutoFit/>
          </a:bodyPr>
          <a:lstStyle/>
          <a:p>
            <a:pPr algn="l">
              <a:lnSpc>
                <a:spcPct val="122000"/>
              </a:lnSpc>
              <a:spcBef>
                <a:spcPts val="0"/>
              </a:spcBef>
              <a:spcAft>
                <a:spcPts val="0"/>
              </a:spcAft>
            </a:pPr>
            <a:r>
              <a:rPr sz="950" b="0">
                <a:solidFill>
                  <a:srgbClr val="8B8478"/>
                </a:solidFill>
                <a:latin typeface="Arial"/>
              </a:rPr>
              <a:t>Escenario del sobrante</a:t>
            </a:r>
          </a:p>
        </p:txBody>
      </p:sp>
      <p:sp>
        <p:nvSpPr>
          <p:cNvPr id="16" name="TextBox 15"/>
          <p:cNvSpPr txBox="1"/>
          <p:nvPr/>
        </p:nvSpPr>
        <p:spPr>
          <a:xfrm>
            <a:off x="10500055" y="6428232"/>
            <a:ext cx="914400" cy="274320"/>
          </a:xfrm>
          <a:prstGeom prst="rect">
            <a:avLst/>
          </a:prstGeom>
          <a:noFill/>
        </p:spPr>
        <p:txBody>
          <a:bodyPr wrap="square" lIns="0" tIns="0" rIns="0" bIns="0">
            <a:spAutoFit/>
          </a:bodyPr>
          <a:lstStyle/>
          <a:p>
            <a:pPr algn="r">
              <a:lnSpc>
                <a:spcPct val="122000"/>
              </a:lnSpc>
              <a:spcBef>
                <a:spcPts val="0"/>
              </a:spcBef>
              <a:spcAft>
                <a:spcPts val="0"/>
              </a:spcAft>
            </a:pPr>
            <a:r>
              <a:rPr sz="950" b="0">
                <a:solidFill>
                  <a:srgbClr val="8B8478"/>
                </a:solidFill>
                <a:latin typeface="Arial"/>
              </a:rPr>
              <a:t>45</a:t>
            </a:r>
          </a:p>
        </p:txBody>
      </p:sp>
      <p:pic>
        <p:nvPicPr>
          <p:cNvPr id="21" name="Picture 20">
            <a:extLst>
              <a:ext uri="{FF2B5EF4-FFF2-40B4-BE49-F238E27FC236}">
                <a16:creationId xmlns:a16="http://schemas.microsoft.com/office/drawing/2014/main" id="{9F41FD98-7E2B-A4CC-DC14-4F7690F55049}"/>
              </a:ext>
            </a:extLst>
          </p:cNvPr>
          <p:cNvPicPr>
            <a:picLocks noChangeAspect="1"/>
          </p:cNvPicPr>
          <p:nvPr/>
        </p:nvPicPr>
        <p:blipFill>
          <a:blip r:embed="rId2"/>
          <a:stretch>
            <a:fillRect/>
          </a:stretch>
        </p:blipFill>
        <p:spPr>
          <a:xfrm>
            <a:off x="849414" y="2152397"/>
            <a:ext cx="9005389" cy="2028240"/>
          </a:xfrm>
          <a:prstGeom prst="rect">
            <a:avLst/>
          </a:prstGeom>
        </p:spPr>
      </p:pic>
      <p:sp>
        <p:nvSpPr>
          <p:cNvPr id="22" name="TextBox 21">
            <a:extLst>
              <a:ext uri="{FF2B5EF4-FFF2-40B4-BE49-F238E27FC236}">
                <a16:creationId xmlns:a16="http://schemas.microsoft.com/office/drawing/2014/main" id="{5CB0B64C-6B09-1876-8E6A-943E54679106}"/>
              </a:ext>
            </a:extLst>
          </p:cNvPr>
          <p:cNvSpPr txBox="1"/>
          <p:nvPr/>
        </p:nvSpPr>
        <p:spPr>
          <a:xfrm>
            <a:off x="777240" y="4340254"/>
            <a:ext cx="9966960" cy="1130181"/>
          </a:xfrm>
          <a:prstGeom prst="rect">
            <a:avLst/>
          </a:prstGeom>
          <a:noFill/>
        </p:spPr>
        <p:txBody>
          <a:bodyPr wrap="square" lIns="0" tIns="0" rIns="0" bIns="0">
            <a:spAutoFit/>
          </a:bodyPr>
          <a:lstStyle/>
          <a:p>
            <a:pPr algn="l">
              <a:lnSpc>
                <a:spcPct val="130000"/>
              </a:lnSpc>
              <a:spcBef>
                <a:spcPts val="0"/>
              </a:spcBef>
              <a:spcAft>
                <a:spcPts val="0"/>
              </a:spcAft>
            </a:pPr>
            <a:r>
              <a:rPr lang="en-US" sz="1450" b="0" dirty="0">
                <a:solidFill>
                  <a:srgbClr val="555045"/>
                </a:solidFill>
                <a:latin typeface="Arial"/>
              </a:rPr>
              <a:t>La </a:t>
            </a:r>
            <a:r>
              <a:rPr lang="en-US" sz="1450" b="0" dirty="0" err="1">
                <a:solidFill>
                  <a:srgbClr val="555045"/>
                </a:solidFill>
                <a:latin typeface="Arial"/>
              </a:rPr>
              <a:t>misma</a:t>
            </a:r>
            <a:r>
              <a:rPr lang="en-US" sz="1450" b="0" dirty="0">
                <a:solidFill>
                  <a:srgbClr val="555045"/>
                </a:solidFill>
                <a:latin typeface="Arial"/>
              </a:rPr>
              <a:t> </a:t>
            </a:r>
            <a:r>
              <a:rPr lang="en-US" sz="1450" b="0" dirty="0" err="1">
                <a:solidFill>
                  <a:srgbClr val="555045"/>
                </a:solidFill>
                <a:latin typeface="Arial"/>
              </a:rPr>
              <a:t>propuesta</a:t>
            </a:r>
            <a:r>
              <a:rPr lang="en-US" sz="1450" b="0" dirty="0">
                <a:solidFill>
                  <a:srgbClr val="555045"/>
                </a:solidFill>
                <a:latin typeface="Arial"/>
              </a:rPr>
              <a:t> </a:t>
            </a:r>
            <a:r>
              <a:rPr lang="en-US" sz="1450" b="0" dirty="0" err="1">
                <a:solidFill>
                  <a:srgbClr val="555045"/>
                </a:solidFill>
                <a:latin typeface="Arial"/>
              </a:rPr>
              <a:t>ahorra</a:t>
            </a:r>
            <a:r>
              <a:rPr lang="en-US" sz="1450" b="0" dirty="0">
                <a:solidFill>
                  <a:srgbClr val="555045"/>
                </a:solidFill>
                <a:latin typeface="Arial"/>
              </a:rPr>
              <a:t> entre un 18 % y un 94 % </a:t>
            </a:r>
            <a:r>
              <a:rPr lang="en-US" sz="1450" b="0" dirty="0" err="1">
                <a:solidFill>
                  <a:srgbClr val="555045"/>
                </a:solidFill>
                <a:latin typeface="Arial"/>
              </a:rPr>
              <a:t>según</a:t>
            </a:r>
            <a:r>
              <a:rPr lang="en-US" sz="1450" b="0" dirty="0">
                <a:solidFill>
                  <a:srgbClr val="555045"/>
                </a:solidFill>
                <a:latin typeface="Arial"/>
              </a:rPr>
              <a:t> </a:t>
            </a:r>
            <a:r>
              <a:rPr lang="en-US" sz="1450" b="0" dirty="0" err="1">
                <a:solidFill>
                  <a:srgbClr val="555045"/>
                </a:solidFill>
                <a:latin typeface="Arial"/>
              </a:rPr>
              <a:t>qué</a:t>
            </a:r>
            <a:r>
              <a:rPr lang="en-US" sz="1450" b="0" dirty="0">
                <a:solidFill>
                  <a:srgbClr val="555045"/>
                </a:solidFill>
                <a:latin typeface="Arial"/>
              </a:rPr>
              <a:t> se </a:t>
            </a:r>
            <a:r>
              <a:rPr lang="en-US" sz="1450" b="0" dirty="0" err="1">
                <a:solidFill>
                  <a:srgbClr val="555045"/>
                </a:solidFill>
                <a:latin typeface="Arial"/>
              </a:rPr>
              <a:t>suponga</a:t>
            </a:r>
            <a:r>
              <a:rPr lang="en-US" sz="1450" b="0" dirty="0">
                <a:solidFill>
                  <a:srgbClr val="555045"/>
                </a:solidFill>
                <a:latin typeface="Arial"/>
              </a:rPr>
              <a:t> </a:t>
            </a:r>
            <a:r>
              <a:rPr lang="en-US" sz="1450" b="0" dirty="0" err="1">
                <a:solidFill>
                  <a:srgbClr val="555045"/>
                </a:solidFill>
                <a:latin typeface="Arial"/>
              </a:rPr>
              <a:t>que</a:t>
            </a:r>
            <a:r>
              <a:rPr lang="en-US" sz="1450" b="0" dirty="0">
                <a:solidFill>
                  <a:srgbClr val="555045"/>
                </a:solidFill>
                <a:latin typeface="Arial"/>
              </a:rPr>
              <a:t> </a:t>
            </a:r>
            <a:r>
              <a:rPr lang="en-US" sz="1450" b="0" dirty="0" err="1">
                <a:solidFill>
                  <a:srgbClr val="555045"/>
                </a:solidFill>
                <a:latin typeface="Arial"/>
              </a:rPr>
              <a:t>pasa</a:t>
            </a:r>
            <a:r>
              <a:rPr lang="en-US" sz="1450" b="0" dirty="0">
                <a:solidFill>
                  <a:srgbClr val="555045"/>
                </a:solidFill>
                <a:latin typeface="Arial"/>
              </a:rPr>
              <a:t> con el </a:t>
            </a:r>
            <a:r>
              <a:rPr lang="en-US" sz="1450" b="0" dirty="0" err="1">
                <a:solidFill>
                  <a:srgbClr val="555045"/>
                </a:solidFill>
                <a:latin typeface="Arial"/>
              </a:rPr>
              <a:t>producto</a:t>
            </a:r>
            <a:r>
              <a:rPr lang="en-US" sz="1450" b="0" dirty="0">
                <a:solidFill>
                  <a:srgbClr val="555045"/>
                </a:solidFill>
                <a:latin typeface="Arial"/>
              </a:rPr>
              <a:t> </a:t>
            </a:r>
            <a:r>
              <a:rPr lang="en-US" sz="1450" b="0" dirty="0" err="1">
                <a:solidFill>
                  <a:srgbClr val="555045"/>
                </a:solidFill>
                <a:latin typeface="Arial"/>
              </a:rPr>
              <a:t>que</a:t>
            </a:r>
            <a:r>
              <a:rPr lang="en-US" sz="1450" b="0" dirty="0">
                <a:solidFill>
                  <a:srgbClr val="555045"/>
                </a:solidFill>
                <a:latin typeface="Arial"/>
              </a:rPr>
              <a:t> </a:t>
            </a:r>
            <a:r>
              <a:rPr lang="en-US" sz="1450" b="0" dirty="0" err="1">
                <a:solidFill>
                  <a:srgbClr val="555045"/>
                </a:solidFill>
                <a:latin typeface="Arial"/>
              </a:rPr>
              <a:t>sobra</a:t>
            </a:r>
            <a:r>
              <a:rPr lang="en-US" sz="1450" b="0" dirty="0">
                <a:solidFill>
                  <a:srgbClr val="555045"/>
                </a:solidFill>
                <a:latin typeface="Arial"/>
              </a:rPr>
              <a:t> al </a:t>
            </a:r>
            <a:r>
              <a:rPr lang="en-US" sz="1450" b="0" dirty="0" err="1">
                <a:solidFill>
                  <a:srgbClr val="555045"/>
                </a:solidFill>
                <a:latin typeface="Arial"/>
              </a:rPr>
              <a:t>cierre</a:t>
            </a:r>
            <a:r>
              <a:rPr lang="en-US" sz="1450" b="0" dirty="0">
                <a:solidFill>
                  <a:srgbClr val="555045"/>
                </a:solidFill>
                <a:latin typeface="Arial"/>
              </a:rPr>
              <a:t>. Si se </a:t>
            </a:r>
            <a:r>
              <a:rPr lang="en-US" sz="1450" b="0" dirty="0" err="1">
                <a:solidFill>
                  <a:srgbClr val="555045"/>
                </a:solidFill>
                <a:latin typeface="Arial"/>
              </a:rPr>
              <a:t>guarda</a:t>
            </a:r>
            <a:r>
              <a:rPr lang="en-US" sz="1450" b="0" dirty="0">
                <a:solidFill>
                  <a:srgbClr val="555045"/>
                </a:solidFill>
                <a:latin typeface="Arial"/>
              </a:rPr>
              <a:t> y se </a:t>
            </a:r>
            <a:r>
              <a:rPr lang="en-US" sz="1450" b="0" dirty="0" err="1">
                <a:solidFill>
                  <a:srgbClr val="555045"/>
                </a:solidFill>
                <a:latin typeface="Arial"/>
              </a:rPr>
              <a:t>vende</a:t>
            </a:r>
            <a:r>
              <a:rPr lang="en-US" sz="1450" b="0" dirty="0">
                <a:solidFill>
                  <a:srgbClr val="555045"/>
                </a:solidFill>
                <a:latin typeface="Arial"/>
              </a:rPr>
              <a:t> </a:t>
            </a:r>
            <a:r>
              <a:rPr lang="en-US" sz="1450" b="0" dirty="0" err="1">
                <a:solidFill>
                  <a:srgbClr val="555045"/>
                </a:solidFill>
                <a:latin typeface="Arial"/>
              </a:rPr>
              <a:t>después</a:t>
            </a:r>
            <a:r>
              <a:rPr lang="en-US" sz="1450" b="0" dirty="0">
                <a:solidFill>
                  <a:srgbClr val="555045"/>
                </a:solidFill>
                <a:latin typeface="Arial"/>
              </a:rPr>
              <a:t>, </a:t>
            </a:r>
            <a:r>
              <a:rPr lang="en-US" sz="1450" b="0" dirty="0" err="1">
                <a:solidFill>
                  <a:srgbClr val="555045"/>
                </a:solidFill>
                <a:latin typeface="Arial"/>
              </a:rPr>
              <a:t>sobrar</a:t>
            </a:r>
            <a:r>
              <a:rPr lang="en-US" sz="1450" b="0" dirty="0">
                <a:solidFill>
                  <a:srgbClr val="555045"/>
                </a:solidFill>
                <a:latin typeface="Arial"/>
              </a:rPr>
              <a:t> </a:t>
            </a:r>
            <a:r>
              <a:rPr lang="en-US" sz="1450" b="0" dirty="0" err="1">
                <a:solidFill>
                  <a:srgbClr val="555045"/>
                </a:solidFill>
                <a:latin typeface="Arial"/>
              </a:rPr>
              <a:t>casi</a:t>
            </a:r>
            <a:r>
              <a:rPr lang="en-US" sz="1450" b="0" dirty="0">
                <a:solidFill>
                  <a:srgbClr val="555045"/>
                </a:solidFill>
                <a:latin typeface="Arial"/>
              </a:rPr>
              <a:t> no cuesta, la </a:t>
            </a:r>
            <a:r>
              <a:rPr lang="en-US" sz="1450" b="0" dirty="0" err="1">
                <a:solidFill>
                  <a:srgbClr val="555045"/>
                </a:solidFill>
                <a:latin typeface="Arial"/>
              </a:rPr>
              <a:t>política</a:t>
            </a:r>
            <a:r>
              <a:rPr lang="en-US" sz="1450" b="0" dirty="0">
                <a:solidFill>
                  <a:srgbClr val="555045"/>
                </a:solidFill>
                <a:latin typeface="Arial"/>
              </a:rPr>
              <a:t> </a:t>
            </a:r>
            <a:r>
              <a:rPr lang="en-US" sz="1450" b="0" dirty="0" err="1">
                <a:solidFill>
                  <a:srgbClr val="555045"/>
                </a:solidFill>
                <a:latin typeface="Arial"/>
              </a:rPr>
              <a:t>pide</a:t>
            </a:r>
            <a:r>
              <a:rPr lang="en-US" sz="1450" b="0" dirty="0">
                <a:solidFill>
                  <a:srgbClr val="555045"/>
                </a:solidFill>
                <a:latin typeface="Arial"/>
              </a:rPr>
              <a:t> con </a:t>
            </a:r>
            <a:r>
              <a:rPr lang="en-US" sz="1450" b="0" dirty="0" err="1">
                <a:solidFill>
                  <a:srgbClr val="555045"/>
                </a:solidFill>
                <a:latin typeface="Arial"/>
              </a:rPr>
              <a:t>holgura</a:t>
            </a:r>
            <a:r>
              <a:rPr lang="en-US" sz="1450" b="0" dirty="0">
                <a:solidFill>
                  <a:srgbClr val="555045"/>
                </a:solidFill>
                <a:latin typeface="Arial"/>
              </a:rPr>
              <a:t> y el </a:t>
            </a:r>
            <a:r>
              <a:rPr lang="en-US" sz="1450" b="0" dirty="0" err="1">
                <a:solidFill>
                  <a:srgbClr val="555045"/>
                </a:solidFill>
                <a:latin typeface="Arial"/>
              </a:rPr>
              <a:t>coste</a:t>
            </a:r>
            <a:r>
              <a:rPr lang="en-US" sz="1450" b="0" dirty="0">
                <a:solidFill>
                  <a:srgbClr val="555045"/>
                </a:solidFill>
                <a:latin typeface="Arial"/>
              </a:rPr>
              <a:t> se </a:t>
            </a:r>
            <a:r>
              <a:rPr lang="en-US" sz="1450" b="0" dirty="0" err="1">
                <a:solidFill>
                  <a:srgbClr val="555045"/>
                </a:solidFill>
                <a:latin typeface="Arial"/>
              </a:rPr>
              <a:t>desploma</a:t>
            </a:r>
            <a:r>
              <a:rPr lang="en-US" sz="1450" b="0" dirty="0">
                <a:solidFill>
                  <a:srgbClr val="555045"/>
                </a:solidFill>
                <a:latin typeface="Arial"/>
              </a:rPr>
              <a:t>. Si se </a:t>
            </a:r>
            <a:r>
              <a:rPr lang="en-US" sz="1450" b="0" dirty="0" err="1">
                <a:solidFill>
                  <a:srgbClr val="555045"/>
                </a:solidFill>
                <a:latin typeface="Arial"/>
              </a:rPr>
              <a:t>descarta</a:t>
            </a:r>
            <a:r>
              <a:rPr lang="en-US" sz="1450" b="0" dirty="0">
                <a:solidFill>
                  <a:srgbClr val="555045"/>
                </a:solidFill>
                <a:latin typeface="Arial"/>
              </a:rPr>
              <a:t>, </a:t>
            </a:r>
            <a:r>
              <a:rPr lang="en-US" sz="1450" b="0" dirty="0" err="1">
                <a:solidFill>
                  <a:srgbClr val="555045"/>
                </a:solidFill>
                <a:latin typeface="Arial"/>
              </a:rPr>
              <a:t>sobrar</a:t>
            </a:r>
            <a:r>
              <a:rPr lang="en-US" sz="1450" b="0" dirty="0">
                <a:solidFill>
                  <a:srgbClr val="555045"/>
                </a:solidFill>
                <a:latin typeface="Arial"/>
              </a:rPr>
              <a:t> cuesta lo </a:t>
            </a:r>
            <a:r>
              <a:rPr lang="en-US" sz="1450" b="0" dirty="0" err="1">
                <a:solidFill>
                  <a:srgbClr val="555045"/>
                </a:solidFill>
                <a:latin typeface="Arial"/>
              </a:rPr>
              <a:t>que</a:t>
            </a:r>
            <a:r>
              <a:rPr lang="en-US" sz="1450" b="0" dirty="0">
                <a:solidFill>
                  <a:srgbClr val="555045"/>
                </a:solidFill>
                <a:latin typeface="Arial"/>
              </a:rPr>
              <a:t> </a:t>
            </a:r>
            <a:r>
              <a:rPr lang="en-US" sz="1450" b="0" dirty="0" err="1">
                <a:solidFill>
                  <a:srgbClr val="555045"/>
                </a:solidFill>
                <a:latin typeface="Arial"/>
              </a:rPr>
              <a:t>costó</a:t>
            </a:r>
            <a:r>
              <a:rPr lang="en-US" sz="1450" b="0" dirty="0">
                <a:solidFill>
                  <a:srgbClr val="555045"/>
                </a:solidFill>
                <a:latin typeface="Arial"/>
              </a:rPr>
              <a:t> </a:t>
            </a:r>
            <a:r>
              <a:rPr lang="en-US" sz="1450" b="0" dirty="0" err="1">
                <a:solidFill>
                  <a:srgbClr val="555045"/>
                </a:solidFill>
                <a:latin typeface="Arial"/>
              </a:rPr>
              <a:t>producirlo</a:t>
            </a:r>
            <a:r>
              <a:rPr lang="en-US" sz="1450" b="0" dirty="0">
                <a:solidFill>
                  <a:srgbClr val="555045"/>
                </a:solidFill>
                <a:latin typeface="Arial"/>
              </a:rPr>
              <a:t>, la </a:t>
            </a:r>
            <a:r>
              <a:rPr lang="en-US" sz="1450" b="0" dirty="0" err="1">
                <a:solidFill>
                  <a:srgbClr val="555045"/>
                </a:solidFill>
                <a:latin typeface="Arial"/>
              </a:rPr>
              <a:t>política</a:t>
            </a:r>
            <a:r>
              <a:rPr lang="en-US" sz="1450" b="0" dirty="0">
                <a:solidFill>
                  <a:srgbClr val="555045"/>
                </a:solidFill>
                <a:latin typeface="Arial"/>
              </a:rPr>
              <a:t> </a:t>
            </a:r>
            <a:r>
              <a:rPr lang="en-US" sz="1450" b="0" dirty="0" err="1">
                <a:solidFill>
                  <a:srgbClr val="555045"/>
                </a:solidFill>
                <a:latin typeface="Arial"/>
              </a:rPr>
              <a:t>pide</a:t>
            </a:r>
            <a:r>
              <a:rPr lang="en-US" sz="1450" b="0" dirty="0">
                <a:solidFill>
                  <a:srgbClr val="555045"/>
                </a:solidFill>
                <a:latin typeface="Arial"/>
              </a:rPr>
              <a:t> con </a:t>
            </a:r>
            <a:r>
              <a:rPr lang="en-US" sz="1450" b="0" dirty="0" err="1">
                <a:solidFill>
                  <a:srgbClr val="555045"/>
                </a:solidFill>
                <a:latin typeface="Arial"/>
              </a:rPr>
              <a:t>cuidado</a:t>
            </a:r>
            <a:r>
              <a:rPr lang="en-US" sz="1450" b="0" dirty="0">
                <a:solidFill>
                  <a:srgbClr val="555045"/>
                </a:solidFill>
                <a:latin typeface="Arial"/>
              </a:rPr>
              <a:t> y el </a:t>
            </a:r>
            <a:r>
              <a:rPr lang="en-US" sz="1450" b="0" dirty="0" err="1">
                <a:solidFill>
                  <a:srgbClr val="555045"/>
                </a:solidFill>
                <a:latin typeface="Arial"/>
              </a:rPr>
              <a:t>ahorro</a:t>
            </a:r>
            <a:r>
              <a:rPr lang="en-US" sz="1450" b="0" dirty="0">
                <a:solidFill>
                  <a:srgbClr val="555045"/>
                </a:solidFill>
                <a:latin typeface="Arial"/>
              </a:rPr>
              <a:t> </a:t>
            </a:r>
            <a:r>
              <a:rPr lang="en-US" sz="1450" b="0" dirty="0" err="1">
                <a:solidFill>
                  <a:srgbClr val="555045"/>
                </a:solidFill>
                <a:latin typeface="Arial"/>
              </a:rPr>
              <a:t>frente</a:t>
            </a:r>
            <a:r>
              <a:rPr lang="en-US" sz="1450" b="0" dirty="0">
                <a:solidFill>
                  <a:srgbClr val="555045"/>
                </a:solidFill>
                <a:latin typeface="Arial"/>
              </a:rPr>
              <a:t> a la </a:t>
            </a:r>
            <a:r>
              <a:rPr lang="en-US" sz="1450" b="0" dirty="0" err="1">
                <a:solidFill>
                  <a:srgbClr val="555045"/>
                </a:solidFill>
                <a:latin typeface="Arial"/>
              </a:rPr>
              <a:t>práctica</a:t>
            </a:r>
            <a:r>
              <a:rPr lang="en-US" sz="1450" b="0" dirty="0">
                <a:solidFill>
                  <a:srgbClr val="555045"/>
                </a:solidFill>
                <a:latin typeface="Arial"/>
              </a:rPr>
              <a:t> actual </a:t>
            </a:r>
            <a:r>
              <a:rPr lang="en-US" sz="1450" b="0" dirty="0" err="1">
                <a:solidFill>
                  <a:srgbClr val="555045"/>
                </a:solidFill>
                <a:latin typeface="Arial"/>
              </a:rPr>
              <a:t>queda</a:t>
            </a:r>
            <a:r>
              <a:rPr lang="en-US" sz="1450" b="0" dirty="0">
                <a:solidFill>
                  <a:srgbClr val="555045"/>
                </a:solidFill>
                <a:latin typeface="Arial"/>
              </a:rPr>
              <a:t> </a:t>
            </a:r>
            <a:r>
              <a:rPr lang="en-US" sz="1450" b="0" dirty="0" err="1">
                <a:solidFill>
                  <a:srgbClr val="555045"/>
                </a:solidFill>
                <a:latin typeface="Arial"/>
              </a:rPr>
              <a:t>en</a:t>
            </a:r>
            <a:r>
              <a:rPr lang="en-US" sz="1450" b="0" dirty="0">
                <a:solidFill>
                  <a:srgbClr val="555045"/>
                </a:solidFill>
                <a:latin typeface="Arial"/>
              </a:rPr>
              <a:t> un 17,8 %, y </a:t>
            </a:r>
            <a:r>
              <a:rPr lang="en-US" sz="1450" b="0" dirty="0" err="1">
                <a:solidFill>
                  <a:srgbClr val="555045"/>
                </a:solidFill>
                <a:latin typeface="Arial"/>
              </a:rPr>
              <a:t>en</a:t>
            </a:r>
            <a:r>
              <a:rPr lang="en-US" sz="1450" b="0" dirty="0">
                <a:solidFill>
                  <a:srgbClr val="555045"/>
                </a:solidFill>
                <a:latin typeface="Arial"/>
              </a:rPr>
              <a:t> un 5,2 % </a:t>
            </a:r>
            <a:r>
              <a:rPr lang="en-US" sz="1450" b="0" dirty="0" err="1">
                <a:solidFill>
                  <a:srgbClr val="555045"/>
                </a:solidFill>
                <a:latin typeface="Arial"/>
              </a:rPr>
              <a:t>frente</a:t>
            </a:r>
            <a:r>
              <a:rPr lang="en-US" sz="1450" b="0" dirty="0">
                <a:solidFill>
                  <a:srgbClr val="555045"/>
                </a:solidFill>
                <a:latin typeface="Arial"/>
              </a:rPr>
              <a:t> a </a:t>
            </a:r>
            <a:r>
              <a:rPr lang="en-US" sz="1450" b="0" dirty="0" err="1">
                <a:solidFill>
                  <a:srgbClr val="555045"/>
                </a:solidFill>
                <a:latin typeface="Arial"/>
              </a:rPr>
              <a:t>quien</a:t>
            </a:r>
            <a:r>
              <a:rPr lang="en-US" sz="1450" b="0" dirty="0">
                <a:solidFill>
                  <a:srgbClr val="555045"/>
                </a:solidFill>
                <a:latin typeface="Arial"/>
              </a:rPr>
              <a:t> </a:t>
            </a:r>
            <a:r>
              <a:rPr lang="en-US" sz="1450" b="0" dirty="0" err="1">
                <a:solidFill>
                  <a:srgbClr val="555045"/>
                </a:solidFill>
                <a:latin typeface="Arial"/>
              </a:rPr>
              <a:t>ya</a:t>
            </a:r>
            <a:r>
              <a:rPr lang="en-US" sz="1450" b="0" dirty="0">
                <a:solidFill>
                  <a:srgbClr val="555045"/>
                </a:solidFill>
                <a:latin typeface="Arial"/>
              </a:rPr>
              <a:t> </a:t>
            </a:r>
            <a:r>
              <a:rPr lang="en-US" sz="1450" b="0" dirty="0" err="1">
                <a:solidFill>
                  <a:srgbClr val="555045"/>
                </a:solidFill>
                <a:latin typeface="Arial"/>
              </a:rPr>
              <a:t>pide</a:t>
            </a:r>
            <a:r>
              <a:rPr lang="en-US" sz="1450" b="0" dirty="0">
                <a:solidFill>
                  <a:srgbClr val="555045"/>
                </a:solidFill>
                <a:latin typeface="Arial"/>
              </a:rPr>
              <a:t> bien con </a:t>
            </a:r>
            <a:r>
              <a:rPr lang="en-US" sz="1450" b="0" dirty="0" err="1">
                <a:solidFill>
                  <a:srgbClr val="555045"/>
                </a:solidFill>
                <a:latin typeface="Arial"/>
              </a:rPr>
              <a:t>una</a:t>
            </a:r>
            <a:r>
              <a:rPr lang="en-US" sz="1450" b="0" dirty="0">
                <a:solidFill>
                  <a:srgbClr val="555045"/>
                </a:solidFill>
                <a:latin typeface="Arial"/>
              </a:rPr>
              <a:t> media </a:t>
            </a:r>
            <a:r>
              <a:rPr lang="en-US" sz="1450" b="0" dirty="0" err="1">
                <a:solidFill>
                  <a:srgbClr val="555045"/>
                </a:solidFill>
                <a:latin typeface="Arial"/>
              </a:rPr>
              <a:t>móvil</a:t>
            </a:r>
            <a:r>
              <a:rPr lang="en-US" sz="1450" b="0" dirty="0">
                <a:solidFill>
                  <a:srgbClr val="555045"/>
                </a:solidFill>
                <a:latin typeface="Arial"/>
              </a:rPr>
              <a:t>.</a:t>
            </a:r>
            <a:endParaRPr sz="1450" b="0" dirty="0">
              <a:solidFill>
                <a:srgbClr val="555045"/>
              </a:solidFill>
              <a:latin typeface="Arial"/>
            </a:endParaRPr>
          </a:p>
        </p:txBody>
      </p:sp>
    </p:spTree>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777240" y="475488"/>
            <a:ext cx="10637215" cy="237744"/>
          </a:xfrm>
          <a:prstGeom prst="rect">
            <a:avLst/>
          </a:prstGeom>
          <a:noFill/>
        </p:spPr>
        <p:txBody>
          <a:bodyPr wrap="square" lIns="0" tIns="0" rIns="0" bIns="0">
            <a:spAutoFit/>
          </a:bodyPr>
          <a:lstStyle/>
          <a:p>
            <a:pPr algn="l">
              <a:lnSpc>
                <a:spcPct val="122000"/>
              </a:lnSpc>
              <a:spcBef>
                <a:spcPts val="0"/>
              </a:spcBef>
              <a:spcAft>
                <a:spcPts val="0"/>
              </a:spcAft>
            </a:pPr>
            <a:r>
              <a:rPr sz="1050" b="1">
                <a:solidFill>
                  <a:srgbClr val="8C2F39"/>
                </a:solidFill>
                <a:latin typeface="Arial"/>
              </a:rPr>
              <a:t>PASO 16 · LA ENTREGA</a:t>
            </a:r>
          </a:p>
        </p:txBody>
      </p:sp>
      <p:sp>
        <p:nvSpPr>
          <p:cNvPr id="4" name="Rectangle 3"/>
          <p:cNvSpPr/>
          <p:nvPr/>
        </p:nvSpPr>
        <p:spPr>
          <a:xfrm>
            <a:off x="777240" y="768096"/>
            <a:ext cx="502920" cy="30480"/>
          </a:xfrm>
          <a:prstGeom prst="rect">
            <a:avLst/>
          </a:prstGeom>
          <a:solidFill>
            <a:srgbClr val="8C2F3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 name="TextBox 4"/>
          <p:cNvSpPr txBox="1"/>
          <p:nvPr/>
        </p:nvSpPr>
        <p:spPr>
          <a:xfrm>
            <a:off x="777240" y="914400"/>
            <a:ext cx="10637215" cy="836676"/>
          </a:xfrm>
          <a:prstGeom prst="rect">
            <a:avLst/>
          </a:prstGeom>
          <a:noFill/>
        </p:spPr>
        <p:txBody>
          <a:bodyPr wrap="square" lIns="0" tIns="0" rIns="0" bIns="0">
            <a:spAutoFit/>
          </a:bodyPr>
          <a:lstStyle/>
          <a:p>
            <a:pPr algn="l">
              <a:lnSpc>
                <a:spcPct val="106000"/>
              </a:lnSpc>
              <a:spcBef>
                <a:spcPts val="0"/>
              </a:spcBef>
              <a:spcAft>
                <a:spcPts val="0"/>
              </a:spcAft>
            </a:pPr>
            <a:r>
              <a:rPr sz="2700" b="1">
                <a:solidFill>
                  <a:srgbClr val="17150F"/>
                </a:solidFill>
                <a:latin typeface="Arial"/>
              </a:rPr>
              <a:t>Una tabla de 160 filas que la tienda ejecuta sin interpretar nada</a:t>
            </a:r>
          </a:p>
        </p:txBody>
      </p:sp>
      <p:sp>
        <p:nvSpPr>
          <p:cNvPr id="6" name="TextBox 5"/>
          <p:cNvSpPr txBox="1"/>
          <p:nvPr/>
        </p:nvSpPr>
        <p:spPr>
          <a:xfrm>
            <a:off x="777240" y="1897380"/>
            <a:ext cx="9966960" cy="283337"/>
          </a:xfrm>
          <a:prstGeom prst="rect">
            <a:avLst/>
          </a:prstGeom>
          <a:noFill/>
        </p:spPr>
        <p:txBody>
          <a:bodyPr wrap="square" lIns="0" tIns="0" rIns="0" bIns="0">
            <a:spAutoFit/>
          </a:bodyPr>
          <a:lstStyle/>
          <a:p>
            <a:pPr algn="l">
              <a:lnSpc>
                <a:spcPct val="130000"/>
              </a:lnSpc>
              <a:spcBef>
                <a:spcPts val="0"/>
              </a:spcBef>
              <a:spcAft>
                <a:spcPts val="0"/>
              </a:spcAft>
            </a:pPr>
            <a:r>
              <a:rPr sz="1450" b="0">
                <a:solidFill>
                  <a:srgbClr val="555045"/>
                </a:solidFill>
                <a:latin typeface="Arial"/>
              </a:rPr>
              <a:t>Reentrenada con las trece semanas completas. Una fila por tienda y producto.</a:t>
            </a:r>
          </a:p>
        </p:txBody>
      </p:sp>
      <p:sp>
        <p:nvSpPr>
          <p:cNvPr id="7" name="Rectangle 6"/>
          <p:cNvSpPr/>
          <p:nvPr/>
        </p:nvSpPr>
        <p:spPr>
          <a:xfrm>
            <a:off x="777240" y="2381885"/>
            <a:ext cx="2549575" cy="1143000"/>
          </a:xfrm>
          <a:prstGeom prst="rect">
            <a:avLst/>
          </a:prstGeom>
          <a:solidFill>
            <a:srgbClr val="FFFFFF"/>
          </a:solidFill>
          <a:ln w="9525">
            <a:solidFill>
              <a:srgbClr val="DCD8C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8" name="TextBox 7"/>
          <p:cNvSpPr txBox="1"/>
          <p:nvPr/>
        </p:nvSpPr>
        <p:spPr>
          <a:xfrm>
            <a:off x="941832" y="2509901"/>
            <a:ext cx="2220391" cy="960120"/>
          </a:xfrm>
          <a:prstGeom prst="rect">
            <a:avLst/>
          </a:prstGeom>
          <a:noFill/>
        </p:spPr>
        <p:txBody>
          <a:bodyPr wrap="square" lIns="0" tIns="0" rIns="0" bIns="0">
            <a:spAutoFit/>
          </a:bodyPr>
          <a:lstStyle/>
          <a:p>
            <a:pPr algn="l">
              <a:lnSpc>
                <a:spcPct val="122000"/>
              </a:lnSpc>
              <a:spcBef>
                <a:spcPts val="0"/>
              </a:spcBef>
              <a:spcAft>
                <a:spcPts val="300"/>
              </a:spcAft>
            </a:pPr>
            <a:r>
              <a:rPr sz="950" b="1">
                <a:solidFill>
                  <a:srgbClr val="8B8478"/>
                </a:solidFill>
                <a:latin typeface="Arial"/>
              </a:rPr>
              <a:t>A PEDIR</a:t>
            </a:r>
          </a:p>
          <a:p>
            <a:pPr algn="l">
              <a:lnSpc>
                <a:spcPct val="100000"/>
              </a:lnSpc>
              <a:spcBef>
                <a:spcPts val="0"/>
              </a:spcBef>
              <a:spcAft>
                <a:spcPts val="300"/>
              </a:spcAft>
            </a:pPr>
            <a:r>
              <a:rPr sz="2500" b="1">
                <a:solidFill>
                  <a:srgbClr val="17150F"/>
                </a:solidFill>
                <a:latin typeface="Arial"/>
              </a:rPr>
              <a:t>12.290</a:t>
            </a:r>
          </a:p>
          <a:p>
            <a:pPr algn="l">
              <a:lnSpc>
                <a:spcPct val="120000"/>
              </a:lnSpc>
              <a:spcBef>
                <a:spcPts val="0"/>
              </a:spcBef>
              <a:spcAft>
                <a:spcPts val="0"/>
              </a:spcAft>
            </a:pPr>
            <a:r>
              <a:rPr sz="1050" b="0">
                <a:solidFill>
                  <a:srgbClr val="555045"/>
                </a:solidFill>
                <a:latin typeface="Arial"/>
              </a:rPr>
              <a:t>unidades en toda la red</a:t>
            </a:r>
          </a:p>
        </p:txBody>
      </p:sp>
      <p:sp>
        <p:nvSpPr>
          <p:cNvPr id="9" name="Rectangle 8"/>
          <p:cNvSpPr/>
          <p:nvPr/>
        </p:nvSpPr>
        <p:spPr>
          <a:xfrm>
            <a:off x="3473119" y="2381885"/>
            <a:ext cx="2549575" cy="1143000"/>
          </a:xfrm>
          <a:prstGeom prst="rect">
            <a:avLst/>
          </a:prstGeom>
          <a:solidFill>
            <a:srgbClr val="FFFFFF"/>
          </a:solidFill>
          <a:ln w="9525">
            <a:solidFill>
              <a:srgbClr val="DCD8C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0" name="TextBox 9"/>
          <p:cNvSpPr txBox="1"/>
          <p:nvPr/>
        </p:nvSpPr>
        <p:spPr>
          <a:xfrm>
            <a:off x="3637711" y="2509901"/>
            <a:ext cx="2220391" cy="960120"/>
          </a:xfrm>
          <a:prstGeom prst="rect">
            <a:avLst/>
          </a:prstGeom>
          <a:noFill/>
        </p:spPr>
        <p:txBody>
          <a:bodyPr wrap="square" lIns="0" tIns="0" rIns="0" bIns="0">
            <a:spAutoFit/>
          </a:bodyPr>
          <a:lstStyle/>
          <a:p>
            <a:pPr algn="l">
              <a:lnSpc>
                <a:spcPct val="122000"/>
              </a:lnSpc>
              <a:spcBef>
                <a:spcPts val="0"/>
              </a:spcBef>
              <a:spcAft>
                <a:spcPts val="300"/>
              </a:spcAft>
            </a:pPr>
            <a:r>
              <a:rPr sz="950" b="1">
                <a:solidFill>
                  <a:srgbClr val="8B8478"/>
                </a:solidFill>
                <a:latin typeface="Arial"/>
              </a:rPr>
              <a:t>OBJETIVO</a:t>
            </a:r>
          </a:p>
          <a:p>
            <a:pPr algn="l">
              <a:lnSpc>
                <a:spcPct val="100000"/>
              </a:lnSpc>
              <a:spcBef>
                <a:spcPts val="0"/>
              </a:spcBef>
              <a:spcAft>
                <a:spcPts val="300"/>
              </a:spcAft>
            </a:pPr>
            <a:r>
              <a:rPr sz="2500" b="1">
                <a:solidFill>
                  <a:srgbClr val="17150F"/>
                </a:solidFill>
                <a:latin typeface="Arial"/>
              </a:rPr>
              <a:t>15.591</a:t>
            </a:r>
          </a:p>
          <a:p>
            <a:pPr algn="l">
              <a:lnSpc>
                <a:spcPct val="120000"/>
              </a:lnSpc>
              <a:spcBef>
                <a:spcPts val="0"/>
              </a:spcBef>
              <a:spcAft>
                <a:spcPts val="0"/>
              </a:spcAft>
            </a:pPr>
            <a:r>
              <a:rPr sz="1050" b="0">
                <a:solidFill>
                  <a:srgbClr val="555045"/>
                </a:solidFill>
                <a:latin typeface="Arial"/>
              </a:rPr>
              <a:t>unidades en estantería</a:t>
            </a:r>
          </a:p>
        </p:txBody>
      </p:sp>
      <p:sp>
        <p:nvSpPr>
          <p:cNvPr id="11" name="Rectangle 10"/>
          <p:cNvSpPr/>
          <p:nvPr/>
        </p:nvSpPr>
        <p:spPr>
          <a:xfrm>
            <a:off x="6168998" y="2381885"/>
            <a:ext cx="2549575" cy="1143000"/>
          </a:xfrm>
          <a:prstGeom prst="rect">
            <a:avLst/>
          </a:prstGeom>
          <a:solidFill>
            <a:srgbClr val="FFFFFF"/>
          </a:solidFill>
          <a:ln w="9525">
            <a:solidFill>
              <a:srgbClr val="DCD8C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2" name="TextBox 11"/>
          <p:cNvSpPr txBox="1"/>
          <p:nvPr/>
        </p:nvSpPr>
        <p:spPr>
          <a:xfrm>
            <a:off x="6333590" y="2509901"/>
            <a:ext cx="2220391" cy="960120"/>
          </a:xfrm>
          <a:prstGeom prst="rect">
            <a:avLst/>
          </a:prstGeom>
          <a:noFill/>
        </p:spPr>
        <p:txBody>
          <a:bodyPr wrap="square" lIns="0" tIns="0" rIns="0" bIns="0">
            <a:spAutoFit/>
          </a:bodyPr>
          <a:lstStyle/>
          <a:p>
            <a:pPr algn="l">
              <a:lnSpc>
                <a:spcPct val="122000"/>
              </a:lnSpc>
              <a:spcBef>
                <a:spcPts val="0"/>
              </a:spcBef>
              <a:spcAft>
                <a:spcPts val="300"/>
              </a:spcAft>
            </a:pPr>
            <a:r>
              <a:rPr sz="950" b="1">
                <a:solidFill>
                  <a:srgbClr val="8B8478"/>
                </a:solidFill>
                <a:latin typeface="Arial"/>
              </a:rPr>
              <a:t>YA DISPONIBLE</a:t>
            </a:r>
          </a:p>
          <a:p>
            <a:pPr algn="l">
              <a:lnSpc>
                <a:spcPct val="100000"/>
              </a:lnSpc>
              <a:spcBef>
                <a:spcPts val="0"/>
              </a:spcBef>
              <a:spcAft>
                <a:spcPts val="300"/>
              </a:spcAft>
            </a:pPr>
            <a:r>
              <a:rPr sz="2500" b="1">
                <a:solidFill>
                  <a:srgbClr val="17150F"/>
                </a:solidFill>
                <a:latin typeface="Arial"/>
              </a:rPr>
              <a:t>3.367</a:t>
            </a:r>
          </a:p>
          <a:p>
            <a:pPr algn="l">
              <a:lnSpc>
                <a:spcPct val="120000"/>
              </a:lnSpc>
              <a:spcBef>
                <a:spcPts val="0"/>
              </a:spcBef>
              <a:spcAft>
                <a:spcPts val="0"/>
              </a:spcAft>
            </a:pPr>
            <a:r>
              <a:rPr sz="1050" b="0">
                <a:solidFill>
                  <a:srgbClr val="555045"/>
                </a:solidFill>
                <a:latin typeface="Arial"/>
              </a:rPr>
              <a:t>inventario actual</a:t>
            </a:r>
          </a:p>
        </p:txBody>
      </p:sp>
      <p:sp>
        <p:nvSpPr>
          <p:cNvPr id="13" name="Rectangle 12"/>
          <p:cNvSpPr/>
          <p:nvPr/>
        </p:nvSpPr>
        <p:spPr>
          <a:xfrm>
            <a:off x="8864877" y="2381885"/>
            <a:ext cx="2549575" cy="1143000"/>
          </a:xfrm>
          <a:prstGeom prst="rect">
            <a:avLst/>
          </a:prstGeom>
          <a:solidFill>
            <a:srgbClr val="FFFFFF"/>
          </a:solidFill>
          <a:ln w="9525">
            <a:solidFill>
              <a:srgbClr val="DCD8C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4" name="TextBox 13"/>
          <p:cNvSpPr txBox="1"/>
          <p:nvPr/>
        </p:nvSpPr>
        <p:spPr>
          <a:xfrm>
            <a:off x="9029469" y="2509901"/>
            <a:ext cx="2220391" cy="960120"/>
          </a:xfrm>
          <a:prstGeom prst="rect">
            <a:avLst/>
          </a:prstGeom>
          <a:noFill/>
        </p:spPr>
        <p:txBody>
          <a:bodyPr wrap="square" lIns="0" tIns="0" rIns="0" bIns="0">
            <a:spAutoFit/>
          </a:bodyPr>
          <a:lstStyle/>
          <a:p>
            <a:pPr algn="l">
              <a:lnSpc>
                <a:spcPct val="122000"/>
              </a:lnSpc>
              <a:spcBef>
                <a:spcPts val="0"/>
              </a:spcBef>
              <a:spcAft>
                <a:spcPts val="300"/>
              </a:spcAft>
            </a:pPr>
            <a:r>
              <a:rPr sz="950" b="1">
                <a:solidFill>
                  <a:srgbClr val="8B8478"/>
                </a:solidFill>
                <a:latin typeface="Arial"/>
              </a:rPr>
              <a:t>SIN PEDIDO</a:t>
            </a:r>
          </a:p>
          <a:p>
            <a:pPr algn="l">
              <a:lnSpc>
                <a:spcPct val="100000"/>
              </a:lnSpc>
              <a:spcBef>
                <a:spcPts val="0"/>
              </a:spcBef>
              <a:spcAft>
                <a:spcPts val="300"/>
              </a:spcAft>
            </a:pPr>
            <a:r>
              <a:rPr sz="2500" b="1">
                <a:solidFill>
                  <a:srgbClr val="17150F"/>
                </a:solidFill>
                <a:latin typeface="Arial"/>
              </a:rPr>
              <a:t>5</a:t>
            </a:r>
          </a:p>
          <a:p>
            <a:pPr algn="l">
              <a:lnSpc>
                <a:spcPct val="120000"/>
              </a:lnSpc>
              <a:spcBef>
                <a:spcPts val="0"/>
              </a:spcBef>
              <a:spcAft>
                <a:spcPts val="0"/>
              </a:spcAft>
            </a:pPr>
            <a:r>
              <a:rPr sz="1050" b="0">
                <a:solidFill>
                  <a:srgbClr val="555045"/>
                </a:solidFill>
                <a:latin typeface="Arial"/>
              </a:rPr>
              <a:t>series que el stock ya cubre</a:t>
            </a:r>
          </a:p>
        </p:txBody>
      </p:sp>
      <p:graphicFrame>
        <p:nvGraphicFramePr>
          <p:cNvPr id="15" name="Table 14"/>
          <p:cNvGraphicFramePr>
            <a:graphicFrameLocks noGrp="1"/>
          </p:cNvGraphicFramePr>
          <p:nvPr/>
        </p:nvGraphicFramePr>
        <p:xfrm>
          <a:off x="777240" y="3835781"/>
          <a:ext cx="10637211" cy="1591056"/>
        </p:xfrm>
        <a:graphic>
          <a:graphicData uri="http://schemas.openxmlformats.org/drawingml/2006/table">
            <a:tbl>
              <a:tblPr bandRow="1">
                <a:tableStyleId>{5C22544A-7EE6-4342-B048-85BDC9FD1C3A}</a:tableStyleId>
              </a:tblPr>
              <a:tblGrid>
                <a:gridCol w="1701954">
                  <a:extLst>
                    <a:ext uri="{9D8B030D-6E8A-4147-A177-3AD203B41FA5}">
                      <a16:colId xmlns:a16="http://schemas.microsoft.com/office/drawing/2014/main" val="20000"/>
                    </a:ext>
                  </a:extLst>
                </a:gridCol>
                <a:gridCol w="2765675">
                  <a:extLst>
                    <a:ext uri="{9D8B030D-6E8A-4147-A177-3AD203B41FA5}">
                      <a16:colId xmlns:a16="http://schemas.microsoft.com/office/drawing/2014/main" val="20001"/>
                    </a:ext>
                  </a:extLst>
                </a:gridCol>
                <a:gridCol w="1701954">
                  <a:extLst>
                    <a:ext uri="{9D8B030D-6E8A-4147-A177-3AD203B41FA5}">
                      <a16:colId xmlns:a16="http://schemas.microsoft.com/office/drawing/2014/main" val="20002"/>
                    </a:ext>
                  </a:extLst>
                </a:gridCol>
                <a:gridCol w="1276465">
                  <a:extLst>
                    <a:ext uri="{9D8B030D-6E8A-4147-A177-3AD203B41FA5}">
                      <a16:colId xmlns:a16="http://schemas.microsoft.com/office/drawing/2014/main" val="20003"/>
                    </a:ext>
                  </a:extLst>
                </a:gridCol>
                <a:gridCol w="1276465">
                  <a:extLst>
                    <a:ext uri="{9D8B030D-6E8A-4147-A177-3AD203B41FA5}">
                      <a16:colId xmlns:a16="http://schemas.microsoft.com/office/drawing/2014/main" val="20004"/>
                    </a:ext>
                  </a:extLst>
                </a:gridCol>
                <a:gridCol w="957349">
                  <a:extLst>
                    <a:ext uri="{9D8B030D-6E8A-4147-A177-3AD203B41FA5}">
                      <a16:colId xmlns:a16="http://schemas.microsoft.com/office/drawing/2014/main" val="20005"/>
                    </a:ext>
                  </a:extLst>
                </a:gridCol>
                <a:gridCol w="957349">
                  <a:extLst>
                    <a:ext uri="{9D8B030D-6E8A-4147-A177-3AD203B41FA5}">
                      <a16:colId xmlns:a16="http://schemas.microsoft.com/office/drawing/2014/main" val="20006"/>
                    </a:ext>
                  </a:extLst>
                </a:gridCol>
              </a:tblGrid>
              <a:tr h="347472">
                <a:tc>
                  <a:txBody>
                    <a:bodyPr/>
                    <a:lstStyle/>
                    <a:p>
                      <a:pPr algn="l"/>
                      <a:r>
                        <a:rPr sz="1100" b="1">
                          <a:solidFill>
                            <a:srgbClr val="8B8478"/>
                          </a:solidFill>
                          <a:latin typeface="Arial"/>
                        </a:rPr>
                        <a:t>Tienda</a:t>
                      </a:r>
                    </a:p>
                  </a:txBody>
                  <a:tcPr marL="82296" marR="82296" anchor="ctr">
                    <a:solidFill>
                      <a:srgbClr val="F4F2ED"/>
                    </a:solidFill>
                  </a:tcPr>
                </a:tc>
                <a:tc>
                  <a:txBody>
                    <a:bodyPr/>
                    <a:lstStyle/>
                    <a:p>
                      <a:pPr algn="r"/>
                      <a:r>
                        <a:rPr sz="1100" b="1">
                          <a:solidFill>
                            <a:srgbClr val="8B8478"/>
                          </a:solidFill>
                          <a:latin typeface="Arial"/>
                        </a:rPr>
                        <a:t>Producto</a:t>
                      </a:r>
                    </a:p>
                  </a:txBody>
                  <a:tcPr marL="82296" marR="82296" anchor="ctr">
                    <a:solidFill>
                      <a:srgbClr val="F4F2ED"/>
                    </a:solidFill>
                  </a:tcPr>
                </a:tc>
                <a:tc>
                  <a:txBody>
                    <a:bodyPr/>
                    <a:lstStyle/>
                    <a:p>
                      <a:pPr algn="r"/>
                      <a:r>
                        <a:rPr sz="1100" b="1">
                          <a:solidFill>
                            <a:srgbClr val="8B8478"/>
                          </a:solidFill>
                          <a:latin typeface="Arial"/>
                        </a:rPr>
                        <a:t>Pronóstico</a:t>
                      </a:r>
                    </a:p>
                  </a:txBody>
                  <a:tcPr marL="82296" marR="82296" anchor="ctr">
                    <a:solidFill>
                      <a:srgbClr val="F4F2ED"/>
                    </a:solidFill>
                  </a:tcPr>
                </a:tc>
                <a:tc>
                  <a:txBody>
                    <a:bodyPr/>
                    <a:lstStyle/>
                    <a:p>
                      <a:pPr algn="r"/>
                      <a:r>
                        <a:rPr sz="1100" b="1">
                          <a:solidFill>
                            <a:srgbClr val="8B8478"/>
                          </a:solidFill>
                          <a:latin typeface="Arial"/>
                        </a:rPr>
                        <a:t>Nivel</a:t>
                      </a:r>
                    </a:p>
                  </a:txBody>
                  <a:tcPr marL="82296" marR="82296" anchor="ctr">
                    <a:solidFill>
                      <a:srgbClr val="F4F2ED"/>
                    </a:solidFill>
                  </a:tcPr>
                </a:tc>
                <a:tc>
                  <a:txBody>
                    <a:bodyPr/>
                    <a:lstStyle/>
                    <a:p>
                      <a:pPr algn="r"/>
                      <a:r>
                        <a:rPr sz="1100" b="1">
                          <a:solidFill>
                            <a:srgbClr val="8B8478"/>
                          </a:solidFill>
                          <a:latin typeface="Arial"/>
                        </a:rPr>
                        <a:t>Objetivo</a:t>
                      </a:r>
                    </a:p>
                  </a:txBody>
                  <a:tcPr marL="82296" marR="82296" anchor="ctr">
                    <a:solidFill>
                      <a:srgbClr val="F4F2ED"/>
                    </a:solidFill>
                  </a:tcPr>
                </a:tc>
                <a:tc>
                  <a:txBody>
                    <a:bodyPr/>
                    <a:lstStyle/>
                    <a:p>
                      <a:pPr algn="r"/>
                      <a:r>
                        <a:rPr sz="1100" b="1">
                          <a:solidFill>
                            <a:srgbClr val="8B8478"/>
                          </a:solidFill>
                          <a:latin typeface="Arial"/>
                        </a:rPr>
                        <a:t>Stock</a:t>
                      </a:r>
                    </a:p>
                  </a:txBody>
                  <a:tcPr marL="82296" marR="82296" anchor="ctr">
                    <a:solidFill>
                      <a:srgbClr val="F4F2ED"/>
                    </a:solidFill>
                  </a:tcPr>
                </a:tc>
                <a:tc>
                  <a:txBody>
                    <a:bodyPr/>
                    <a:lstStyle/>
                    <a:p>
                      <a:pPr algn="r"/>
                      <a:r>
                        <a:rPr sz="1100" b="1">
                          <a:solidFill>
                            <a:srgbClr val="8B8478"/>
                          </a:solidFill>
                          <a:latin typeface="Arial"/>
                        </a:rPr>
                        <a:t>Pedido</a:t>
                      </a:r>
                    </a:p>
                  </a:txBody>
                  <a:tcPr marL="82296" marR="82296" anchor="ctr">
                    <a:solidFill>
                      <a:srgbClr val="F4F2ED"/>
                    </a:solidFill>
                  </a:tcPr>
                </a:tc>
                <a:extLst>
                  <a:ext uri="{0D108BD9-81ED-4DB2-BD59-A6C34878D82A}">
                    <a16:rowId xmlns:a16="http://schemas.microsoft.com/office/drawing/2014/main" val="10000"/>
                  </a:ext>
                </a:extLst>
              </a:tr>
              <a:tr h="310896">
                <a:tc>
                  <a:txBody>
                    <a:bodyPr/>
                    <a:lstStyle/>
                    <a:p>
                      <a:pPr algn="l"/>
                      <a:r>
                        <a:rPr sz="1250" b="0">
                          <a:solidFill>
                            <a:srgbClr val="17150F"/>
                          </a:solidFill>
                          <a:latin typeface="Arial"/>
                        </a:rPr>
                        <a:t>STORE_01</a:t>
                      </a:r>
                    </a:p>
                  </a:txBody>
                  <a:tcPr marL="82296" marR="82296" anchor="ctr">
                    <a:solidFill>
                      <a:srgbClr val="FFFFFF"/>
                    </a:solidFill>
                  </a:tcPr>
                </a:tc>
                <a:tc>
                  <a:txBody>
                    <a:bodyPr/>
                    <a:lstStyle/>
                    <a:p>
                      <a:pPr algn="r"/>
                      <a:r>
                        <a:rPr sz="1250" b="0">
                          <a:solidFill>
                            <a:srgbClr val="555045"/>
                          </a:solidFill>
                          <a:latin typeface="Arial"/>
                        </a:rPr>
                        <a:t>Tinto</a:t>
                      </a:r>
                    </a:p>
                  </a:txBody>
                  <a:tcPr marL="82296" marR="82296" anchor="ctr">
                    <a:solidFill>
                      <a:srgbClr val="FFFFFF"/>
                    </a:solidFill>
                  </a:tcPr>
                </a:tc>
                <a:tc>
                  <a:txBody>
                    <a:bodyPr/>
                    <a:lstStyle/>
                    <a:p>
                      <a:pPr algn="r"/>
                      <a:r>
                        <a:rPr sz="1250" b="0">
                          <a:solidFill>
                            <a:srgbClr val="555045"/>
                          </a:solidFill>
                          <a:latin typeface="Arial"/>
                        </a:rPr>
                        <a:t>44,4</a:t>
                      </a:r>
                    </a:p>
                  </a:txBody>
                  <a:tcPr marL="82296" marR="82296" anchor="ctr">
                    <a:solidFill>
                      <a:srgbClr val="FFFFFF"/>
                    </a:solidFill>
                  </a:tcPr>
                </a:tc>
                <a:tc>
                  <a:txBody>
                    <a:bodyPr/>
                    <a:lstStyle/>
                    <a:p>
                      <a:pPr algn="r"/>
                      <a:r>
                        <a:rPr sz="1250" b="0">
                          <a:solidFill>
                            <a:srgbClr val="555045"/>
                          </a:solidFill>
                          <a:latin typeface="Arial"/>
                        </a:rPr>
                        <a:t>0,68</a:t>
                      </a:r>
                    </a:p>
                  </a:txBody>
                  <a:tcPr marL="82296" marR="82296" anchor="ctr">
                    <a:solidFill>
                      <a:srgbClr val="FFFFFF"/>
                    </a:solidFill>
                  </a:tcPr>
                </a:tc>
                <a:tc>
                  <a:txBody>
                    <a:bodyPr/>
                    <a:lstStyle/>
                    <a:p>
                      <a:pPr algn="r"/>
                      <a:r>
                        <a:rPr sz="1250" b="0">
                          <a:solidFill>
                            <a:srgbClr val="555045"/>
                          </a:solidFill>
                          <a:latin typeface="Arial"/>
                        </a:rPr>
                        <a:t>47</a:t>
                      </a:r>
                    </a:p>
                  </a:txBody>
                  <a:tcPr marL="82296" marR="82296" anchor="ctr">
                    <a:solidFill>
                      <a:srgbClr val="FFFFFF"/>
                    </a:solidFill>
                  </a:tcPr>
                </a:tc>
                <a:tc>
                  <a:txBody>
                    <a:bodyPr/>
                    <a:lstStyle/>
                    <a:p>
                      <a:pPr algn="r"/>
                      <a:r>
                        <a:rPr sz="1250" b="0">
                          <a:solidFill>
                            <a:srgbClr val="555045"/>
                          </a:solidFill>
                          <a:latin typeface="Arial"/>
                        </a:rPr>
                        <a:t>1</a:t>
                      </a:r>
                    </a:p>
                  </a:txBody>
                  <a:tcPr marL="82296" marR="82296" anchor="ctr">
                    <a:solidFill>
                      <a:srgbClr val="FFFFFF"/>
                    </a:solidFill>
                  </a:tcPr>
                </a:tc>
                <a:tc>
                  <a:txBody>
                    <a:bodyPr/>
                    <a:lstStyle/>
                    <a:p>
                      <a:pPr algn="r"/>
                      <a:r>
                        <a:rPr sz="1250" b="0">
                          <a:solidFill>
                            <a:srgbClr val="555045"/>
                          </a:solidFill>
                          <a:latin typeface="Arial"/>
                        </a:rPr>
                        <a:t>46</a:t>
                      </a:r>
                    </a:p>
                  </a:txBody>
                  <a:tcPr marL="82296" marR="82296" anchor="ctr">
                    <a:solidFill>
                      <a:srgbClr val="FFFFFF"/>
                    </a:solidFill>
                  </a:tcPr>
                </a:tc>
                <a:extLst>
                  <a:ext uri="{0D108BD9-81ED-4DB2-BD59-A6C34878D82A}">
                    <a16:rowId xmlns:a16="http://schemas.microsoft.com/office/drawing/2014/main" val="10001"/>
                  </a:ext>
                </a:extLst>
              </a:tr>
              <a:tr h="310896">
                <a:tc>
                  <a:txBody>
                    <a:bodyPr/>
                    <a:lstStyle/>
                    <a:p>
                      <a:pPr algn="l"/>
                      <a:r>
                        <a:rPr sz="1250" b="0">
                          <a:solidFill>
                            <a:srgbClr val="17150F"/>
                          </a:solidFill>
                          <a:latin typeface="Arial"/>
                        </a:rPr>
                        <a:t>STORE_01</a:t>
                      </a:r>
                    </a:p>
                  </a:txBody>
                  <a:tcPr marL="82296" marR="82296" anchor="ctr">
                    <a:solidFill>
                      <a:srgbClr val="FFFFFF"/>
                    </a:solidFill>
                  </a:tcPr>
                </a:tc>
                <a:tc>
                  <a:txBody>
                    <a:bodyPr/>
                    <a:lstStyle/>
                    <a:p>
                      <a:pPr algn="r"/>
                      <a:r>
                        <a:rPr sz="1250" b="0">
                          <a:solidFill>
                            <a:srgbClr val="555045"/>
                          </a:solidFill>
                          <a:latin typeface="Arial"/>
                        </a:rPr>
                        <a:t>Café con Leche</a:t>
                      </a:r>
                    </a:p>
                  </a:txBody>
                  <a:tcPr marL="82296" marR="82296" anchor="ctr">
                    <a:solidFill>
                      <a:srgbClr val="FFFFFF"/>
                    </a:solidFill>
                  </a:tcPr>
                </a:tc>
                <a:tc>
                  <a:txBody>
                    <a:bodyPr/>
                    <a:lstStyle/>
                    <a:p>
                      <a:pPr algn="r"/>
                      <a:r>
                        <a:rPr sz="1250" b="0">
                          <a:solidFill>
                            <a:srgbClr val="555045"/>
                          </a:solidFill>
                          <a:latin typeface="Arial"/>
                        </a:rPr>
                        <a:t>63,8</a:t>
                      </a:r>
                    </a:p>
                  </a:txBody>
                  <a:tcPr marL="82296" marR="82296" anchor="ctr">
                    <a:solidFill>
                      <a:srgbClr val="FFFFFF"/>
                    </a:solidFill>
                  </a:tcPr>
                </a:tc>
                <a:tc>
                  <a:txBody>
                    <a:bodyPr/>
                    <a:lstStyle/>
                    <a:p>
                      <a:pPr algn="r"/>
                      <a:r>
                        <a:rPr sz="1250" b="0">
                          <a:solidFill>
                            <a:srgbClr val="555045"/>
                          </a:solidFill>
                          <a:latin typeface="Arial"/>
                        </a:rPr>
                        <a:t>0,65</a:t>
                      </a:r>
                    </a:p>
                  </a:txBody>
                  <a:tcPr marL="82296" marR="82296" anchor="ctr">
                    <a:solidFill>
                      <a:srgbClr val="FFFFFF"/>
                    </a:solidFill>
                  </a:tcPr>
                </a:tc>
                <a:tc>
                  <a:txBody>
                    <a:bodyPr/>
                    <a:lstStyle/>
                    <a:p>
                      <a:pPr algn="r"/>
                      <a:r>
                        <a:rPr sz="1250" b="0">
                          <a:solidFill>
                            <a:srgbClr val="555045"/>
                          </a:solidFill>
                          <a:latin typeface="Arial"/>
                        </a:rPr>
                        <a:t>68</a:t>
                      </a:r>
                    </a:p>
                  </a:txBody>
                  <a:tcPr marL="82296" marR="82296" anchor="ctr">
                    <a:solidFill>
                      <a:srgbClr val="FFFFFF"/>
                    </a:solidFill>
                  </a:tcPr>
                </a:tc>
                <a:tc>
                  <a:txBody>
                    <a:bodyPr/>
                    <a:lstStyle/>
                    <a:p>
                      <a:pPr algn="r"/>
                      <a:r>
                        <a:rPr sz="1250" b="0">
                          <a:solidFill>
                            <a:srgbClr val="555045"/>
                          </a:solidFill>
                          <a:latin typeface="Arial"/>
                        </a:rPr>
                        <a:t>10</a:t>
                      </a:r>
                    </a:p>
                  </a:txBody>
                  <a:tcPr marL="82296" marR="82296" anchor="ctr">
                    <a:solidFill>
                      <a:srgbClr val="FFFFFF"/>
                    </a:solidFill>
                  </a:tcPr>
                </a:tc>
                <a:tc>
                  <a:txBody>
                    <a:bodyPr/>
                    <a:lstStyle/>
                    <a:p>
                      <a:pPr algn="r"/>
                      <a:r>
                        <a:rPr sz="1250" b="0">
                          <a:solidFill>
                            <a:srgbClr val="555045"/>
                          </a:solidFill>
                          <a:latin typeface="Arial"/>
                        </a:rPr>
                        <a:t>58</a:t>
                      </a:r>
                    </a:p>
                  </a:txBody>
                  <a:tcPr marL="82296" marR="82296" anchor="ctr">
                    <a:solidFill>
                      <a:srgbClr val="FFFFFF"/>
                    </a:solidFill>
                  </a:tcPr>
                </a:tc>
                <a:extLst>
                  <a:ext uri="{0D108BD9-81ED-4DB2-BD59-A6C34878D82A}">
                    <a16:rowId xmlns:a16="http://schemas.microsoft.com/office/drawing/2014/main" val="10002"/>
                  </a:ext>
                </a:extLst>
              </a:tr>
              <a:tr h="310896">
                <a:tc>
                  <a:txBody>
                    <a:bodyPr/>
                    <a:lstStyle/>
                    <a:p>
                      <a:pPr algn="l"/>
                      <a:r>
                        <a:rPr sz="1250" b="0">
                          <a:solidFill>
                            <a:srgbClr val="17150F"/>
                          </a:solidFill>
                          <a:latin typeface="Arial"/>
                        </a:rPr>
                        <a:t>STORE_08</a:t>
                      </a:r>
                    </a:p>
                  </a:txBody>
                  <a:tcPr marL="82296" marR="82296" anchor="ctr">
                    <a:solidFill>
                      <a:srgbClr val="FFFFFF"/>
                    </a:solidFill>
                  </a:tcPr>
                </a:tc>
                <a:tc>
                  <a:txBody>
                    <a:bodyPr/>
                    <a:lstStyle/>
                    <a:p>
                      <a:pPr algn="r"/>
                      <a:r>
                        <a:rPr sz="1250" b="0">
                          <a:solidFill>
                            <a:srgbClr val="555045"/>
                          </a:solidFill>
                          <a:latin typeface="Arial"/>
                        </a:rPr>
                        <a:t>Cappuccino</a:t>
                      </a:r>
                    </a:p>
                  </a:txBody>
                  <a:tcPr marL="82296" marR="82296" anchor="ctr">
                    <a:solidFill>
                      <a:srgbClr val="FFFFFF"/>
                    </a:solidFill>
                  </a:tcPr>
                </a:tc>
                <a:tc>
                  <a:txBody>
                    <a:bodyPr/>
                    <a:lstStyle/>
                    <a:p>
                      <a:pPr algn="r"/>
                      <a:r>
                        <a:rPr sz="1250" b="0">
                          <a:solidFill>
                            <a:srgbClr val="555045"/>
                          </a:solidFill>
                          <a:latin typeface="Arial"/>
                        </a:rPr>
                        <a:t>125,1</a:t>
                      </a:r>
                    </a:p>
                  </a:txBody>
                  <a:tcPr marL="82296" marR="82296" anchor="ctr">
                    <a:solidFill>
                      <a:srgbClr val="FFFFFF"/>
                    </a:solidFill>
                  </a:tcPr>
                </a:tc>
                <a:tc>
                  <a:txBody>
                    <a:bodyPr/>
                    <a:lstStyle/>
                    <a:p>
                      <a:pPr algn="r"/>
                      <a:r>
                        <a:rPr sz="1250" b="0">
                          <a:solidFill>
                            <a:srgbClr val="555045"/>
                          </a:solidFill>
                          <a:latin typeface="Arial"/>
                        </a:rPr>
                        <a:t>0,66</a:t>
                      </a:r>
                    </a:p>
                  </a:txBody>
                  <a:tcPr marL="82296" marR="82296" anchor="ctr">
                    <a:solidFill>
                      <a:srgbClr val="FFFFFF"/>
                    </a:solidFill>
                  </a:tcPr>
                </a:tc>
                <a:tc>
                  <a:txBody>
                    <a:bodyPr/>
                    <a:lstStyle/>
                    <a:p>
                      <a:pPr algn="r"/>
                      <a:r>
                        <a:rPr sz="1250" b="0">
                          <a:solidFill>
                            <a:srgbClr val="555045"/>
                          </a:solidFill>
                          <a:latin typeface="Arial"/>
                        </a:rPr>
                        <a:t>132</a:t>
                      </a:r>
                    </a:p>
                  </a:txBody>
                  <a:tcPr marL="82296" marR="82296" anchor="ctr">
                    <a:solidFill>
                      <a:srgbClr val="FFFFFF"/>
                    </a:solidFill>
                  </a:tcPr>
                </a:tc>
                <a:tc>
                  <a:txBody>
                    <a:bodyPr/>
                    <a:lstStyle/>
                    <a:p>
                      <a:pPr algn="r"/>
                      <a:r>
                        <a:rPr sz="1250" b="0">
                          <a:solidFill>
                            <a:srgbClr val="555045"/>
                          </a:solidFill>
                          <a:latin typeface="Arial"/>
                        </a:rPr>
                        <a:t>0</a:t>
                      </a:r>
                    </a:p>
                  </a:txBody>
                  <a:tcPr marL="82296" marR="82296" anchor="ctr">
                    <a:solidFill>
                      <a:srgbClr val="FFFFFF"/>
                    </a:solidFill>
                  </a:tcPr>
                </a:tc>
                <a:tc>
                  <a:txBody>
                    <a:bodyPr/>
                    <a:lstStyle/>
                    <a:p>
                      <a:pPr algn="r"/>
                      <a:r>
                        <a:rPr sz="1250" b="0">
                          <a:solidFill>
                            <a:srgbClr val="555045"/>
                          </a:solidFill>
                          <a:latin typeface="Arial"/>
                        </a:rPr>
                        <a:t>132</a:t>
                      </a:r>
                    </a:p>
                  </a:txBody>
                  <a:tcPr marL="82296" marR="82296" anchor="ctr">
                    <a:solidFill>
                      <a:srgbClr val="FFFFFF"/>
                    </a:solidFill>
                  </a:tcPr>
                </a:tc>
                <a:extLst>
                  <a:ext uri="{0D108BD9-81ED-4DB2-BD59-A6C34878D82A}">
                    <a16:rowId xmlns:a16="http://schemas.microsoft.com/office/drawing/2014/main" val="10003"/>
                  </a:ext>
                </a:extLst>
              </a:tr>
              <a:tr h="310896">
                <a:tc>
                  <a:txBody>
                    <a:bodyPr/>
                    <a:lstStyle/>
                    <a:p>
                      <a:pPr algn="l"/>
                      <a:r>
                        <a:rPr sz="1250" b="0">
                          <a:solidFill>
                            <a:srgbClr val="17150F"/>
                          </a:solidFill>
                          <a:latin typeface="Arial"/>
                        </a:rPr>
                        <a:t>STORE_08</a:t>
                      </a:r>
                    </a:p>
                  </a:txBody>
                  <a:tcPr marL="82296" marR="82296" anchor="ctr">
                    <a:solidFill>
                      <a:srgbClr val="FFFFFF"/>
                    </a:solidFill>
                  </a:tcPr>
                </a:tc>
                <a:tc>
                  <a:txBody>
                    <a:bodyPr/>
                    <a:lstStyle/>
                    <a:p>
                      <a:pPr algn="r"/>
                      <a:r>
                        <a:rPr sz="1250" b="0">
                          <a:solidFill>
                            <a:srgbClr val="555045"/>
                          </a:solidFill>
                          <a:latin typeface="Arial"/>
                        </a:rPr>
                        <a:t>Pan de Bono</a:t>
                      </a:r>
                    </a:p>
                  </a:txBody>
                  <a:tcPr marL="82296" marR="82296" anchor="ctr">
                    <a:solidFill>
                      <a:srgbClr val="FFFFFF"/>
                    </a:solidFill>
                  </a:tcPr>
                </a:tc>
                <a:tc>
                  <a:txBody>
                    <a:bodyPr/>
                    <a:lstStyle/>
                    <a:p>
                      <a:pPr algn="r"/>
                      <a:r>
                        <a:rPr sz="1250" b="0">
                          <a:solidFill>
                            <a:srgbClr val="555045"/>
                          </a:solidFill>
                          <a:latin typeface="Arial"/>
                        </a:rPr>
                        <a:t>63,7</a:t>
                      </a:r>
                    </a:p>
                  </a:txBody>
                  <a:tcPr marL="82296" marR="82296" anchor="ctr">
                    <a:solidFill>
                      <a:srgbClr val="FFFFFF"/>
                    </a:solidFill>
                  </a:tcPr>
                </a:tc>
                <a:tc>
                  <a:txBody>
                    <a:bodyPr/>
                    <a:lstStyle/>
                    <a:p>
                      <a:pPr algn="r"/>
                      <a:r>
                        <a:rPr sz="1250" b="0">
                          <a:solidFill>
                            <a:srgbClr val="555045"/>
                          </a:solidFill>
                          <a:latin typeface="Arial"/>
                        </a:rPr>
                        <a:t>0,64</a:t>
                      </a:r>
                    </a:p>
                  </a:txBody>
                  <a:tcPr marL="82296" marR="82296" anchor="ctr">
                    <a:solidFill>
                      <a:srgbClr val="FFFFFF"/>
                    </a:solidFill>
                  </a:tcPr>
                </a:tc>
                <a:tc>
                  <a:txBody>
                    <a:bodyPr/>
                    <a:lstStyle/>
                    <a:p>
                      <a:pPr algn="r"/>
                      <a:r>
                        <a:rPr sz="1250" b="0">
                          <a:solidFill>
                            <a:srgbClr val="555045"/>
                          </a:solidFill>
                          <a:latin typeface="Arial"/>
                        </a:rPr>
                        <a:t>67</a:t>
                      </a:r>
                    </a:p>
                  </a:txBody>
                  <a:tcPr marL="82296" marR="82296" anchor="ctr">
                    <a:solidFill>
                      <a:srgbClr val="FFFFFF"/>
                    </a:solidFill>
                  </a:tcPr>
                </a:tc>
                <a:tc>
                  <a:txBody>
                    <a:bodyPr/>
                    <a:lstStyle/>
                    <a:p>
                      <a:pPr algn="r"/>
                      <a:r>
                        <a:rPr sz="1250" b="0">
                          <a:solidFill>
                            <a:srgbClr val="555045"/>
                          </a:solidFill>
                          <a:latin typeface="Arial"/>
                        </a:rPr>
                        <a:t>62</a:t>
                      </a:r>
                    </a:p>
                  </a:txBody>
                  <a:tcPr marL="82296" marR="82296" anchor="ctr">
                    <a:solidFill>
                      <a:srgbClr val="FFFFFF"/>
                    </a:solidFill>
                  </a:tcPr>
                </a:tc>
                <a:tc>
                  <a:txBody>
                    <a:bodyPr/>
                    <a:lstStyle/>
                    <a:p>
                      <a:pPr algn="r"/>
                      <a:r>
                        <a:rPr sz="1250" b="0">
                          <a:solidFill>
                            <a:srgbClr val="555045"/>
                          </a:solidFill>
                          <a:latin typeface="Arial"/>
                        </a:rPr>
                        <a:t>5</a:t>
                      </a:r>
                    </a:p>
                  </a:txBody>
                  <a:tcPr marL="82296" marR="82296" anchor="ctr">
                    <a:solidFill>
                      <a:srgbClr val="FFFFFF"/>
                    </a:solidFill>
                  </a:tcPr>
                </a:tc>
                <a:extLst>
                  <a:ext uri="{0D108BD9-81ED-4DB2-BD59-A6C34878D82A}">
                    <a16:rowId xmlns:a16="http://schemas.microsoft.com/office/drawing/2014/main" val="10004"/>
                  </a:ext>
                </a:extLst>
              </a:tr>
            </a:tbl>
          </a:graphicData>
        </a:graphic>
      </p:graphicFrame>
      <p:sp>
        <p:nvSpPr>
          <p:cNvPr id="17" name="Rectangle 16"/>
          <p:cNvSpPr/>
          <p:nvPr/>
        </p:nvSpPr>
        <p:spPr>
          <a:xfrm>
            <a:off x="777240" y="6327648"/>
            <a:ext cx="10637215" cy="9525"/>
          </a:xfrm>
          <a:prstGeom prst="rect">
            <a:avLst/>
          </a:prstGeom>
          <a:solidFill>
            <a:srgbClr val="DCD8C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8" name="TextBox 17"/>
          <p:cNvSpPr txBox="1"/>
          <p:nvPr/>
        </p:nvSpPr>
        <p:spPr>
          <a:xfrm>
            <a:off x="777240" y="6428232"/>
            <a:ext cx="8686800" cy="274320"/>
          </a:xfrm>
          <a:prstGeom prst="rect">
            <a:avLst/>
          </a:prstGeom>
          <a:noFill/>
        </p:spPr>
        <p:txBody>
          <a:bodyPr wrap="square" lIns="0" tIns="0" rIns="0" bIns="0">
            <a:spAutoFit/>
          </a:bodyPr>
          <a:lstStyle/>
          <a:p>
            <a:pPr algn="l">
              <a:lnSpc>
                <a:spcPct val="122000"/>
              </a:lnSpc>
              <a:spcBef>
                <a:spcPts val="0"/>
              </a:spcBef>
              <a:spcAft>
                <a:spcPts val="0"/>
              </a:spcAft>
            </a:pPr>
            <a:r>
              <a:rPr sz="950" b="0">
                <a:solidFill>
                  <a:srgbClr val="8B8478"/>
                </a:solidFill>
                <a:latin typeface="Arial"/>
              </a:rPr>
              <a:t>Paso 16 · La entrega</a:t>
            </a:r>
          </a:p>
        </p:txBody>
      </p:sp>
      <p:sp>
        <p:nvSpPr>
          <p:cNvPr id="19" name="TextBox 18"/>
          <p:cNvSpPr txBox="1"/>
          <p:nvPr/>
        </p:nvSpPr>
        <p:spPr>
          <a:xfrm>
            <a:off x="10500055" y="6428232"/>
            <a:ext cx="914400" cy="274320"/>
          </a:xfrm>
          <a:prstGeom prst="rect">
            <a:avLst/>
          </a:prstGeom>
          <a:noFill/>
        </p:spPr>
        <p:txBody>
          <a:bodyPr wrap="square" lIns="0" tIns="0" rIns="0" bIns="0">
            <a:spAutoFit/>
          </a:bodyPr>
          <a:lstStyle/>
          <a:p>
            <a:pPr algn="r">
              <a:lnSpc>
                <a:spcPct val="122000"/>
              </a:lnSpc>
              <a:spcBef>
                <a:spcPts val="0"/>
              </a:spcBef>
              <a:spcAft>
                <a:spcPts val="0"/>
              </a:spcAft>
            </a:pPr>
            <a:r>
              <a:rPr sz="950" b="0">
                <a:solidFill>
                  <a:srgbClr val="8B8478"/>
                </a:solidFill>
                <a:latin typeface="Arial"/>
              </a:rPr>
              <a:t>47</a:t>
            </a:r>
          </a:p>
        </p:txBody>
      </p:sp>
    </p:spTree>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777240" y="475488"/>
            <a:ext cx="10637215" cy="237744"/>
          </a:xfrm>
          <a:prstGeom prst="rect">
            <a:avLst/>
          </a:prstGeom>
          <a:noFill/>
        </p:spPr>
        <p:txBody>
          <a:bodyPr wrap="square" lIns="0" tIns="0" rIns="0" bIns="0">
            <a:spAutoFit/>
          </a:bodyPr>
          <a:lstStyle/>
          <a:p>
            <a:pPr algn="l">
              <a:lnSpc>
                <a:spcPct val="122000"/>
              </a:lnSpc>
              <a:spcBef>
                <a:spcPts val="0"/>
              </a:spcBef>
              <a:spcAft>
                <a:spcPts val="0"/>
              </a:spcAft>
            </a:pPr>
            <a:r>
              <a:rPr sz="1050" b="1">
                <a:solidFill>
                  <a:srgbClr val="8C2F39"/>
                </a:solidFill>
                <a:latin typeface="Arial"/>
              </a:rPr>
              <a:t>PASO 16 · LA ENTREGA</a:t>
            </a:r>
          </a:p>
        </p:txBody>
      </p:sp>
      <p:sp>
        <p:nvSpPr>
          <p:cNvPr id="4" name="Rectangle 3"/>
          <p:cNvSpPr/>
          <p:nvPr/>
        </p:nvSpPr>
        <p:spPr>
          <a:xfrm>
            <a:off x="777240" y="768096"/>
            <a:ext cx="502920" cy="30480"/>
          </a:xfrm>
          <a:prstGeom prst="rect">
            <a:avLst/>
          </a:prstGeom>
          <a:solidFill>
            <a:srgbClr val="8C2F3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 name="TextBox 4"/>
          <p:cNvSpPr txBox="1"/>
          <p:nvPr/>
        </p:nvSpPr>
        <p:spPr>
          <a:xfrm>
            <a:off x="777240" y="914400"/>
            <a:ext cx="10637215" cy="445770"/>
          </a:xfrm>
          <a:prstGeom prst="rect">
            <a:avLst/>
          </a:prstGeom>
          <a:noFill/>
        </p:spPr>
        <p:txBody>
          <a:bodyPr wrap="square" lIns="0" tIns="0" rIns="0" bIns="0">
            <a:spAutoFit/>
          </a:bodyPr>
          <a:lstStyle/>
          <a:p>
            <a:pPr algn="l">
              <a:lnSpc>
                <a:spcPct val="106000"/>
              </a:lnSpc>
              <a:spcBef>
                <a:spcPts val="0"/>
              </a:spcBef>
              <a:spcAft>
                <a:spcPts val="0"/>
              </a:spcAft>
            </a:pPr>
            <a:r>
              <a:rPr sz="2700" b="1">
                <a:solidFill>
                  <a:srgbClr val="17150F"/>
                </a:solidFill>
                <a:latin typeface="Arial"/>
              </a:rPr>
              <a:t>Cómo se reparte el pedido por tienda</a:t>
            </a:r>
          </a:p>
        </p:txBody>
      </p:sp>
      <p:pic>
        <p:nvPicPr>
          <p:cNvPr id="6" name="Picture 5" descr="25_pedido_por_tienda.png"/>
          <p:cNvPicPr>
            <a:picLocks noChangeAspect="1"/>
          </p:cNvPicPr>
          <p:nvPr/>
        </p:nvPicPr>
        <p:blipFill>
          <a:blip r:embed="rId2"/>
          <a:stretch>
            <a:fillRect/>
          </a:stretch>
        </p:blipFill>
        <p:spPr>
          <a:xfrm>
            <a:off x="777240" y="1506474"/>
            <a:ext cx="5577840" cy="3718560"/>
          </a:xfrm>
          <a:prstGeom prst="rect">
            <a:avLst/>
          </a:prstGeom>
        </p:spPr>
      </p:pic>
      <p:graphicFrame>
        <p:nvGraphicFramePr>
          <p:cNvPr id="7" name="Table 6"/>
          <p:cNvGraphicFramePr>
            <a:graphicFrameLocks noGrp="1"/>
          </p:cNvGraphicFramePr>
          <p:nvPr/>
        </p:nvGraphicFramePr>
        <p:xfrm>
          <a:off x="6675120" y="1552194"/>
          <a:ext cx="4739333" cy="1225296"/>
        </p:xfrm>
        <a:graphic>
          <a:graphicData uri="http://schemas.openxmlformats.org/drawingml/2006/table">
            <a:tbl>
              <a:tblPr bandRow="1">
                <a:tableStyleId>{5C22544A-7EE6-4342-B048-85BDC9FD1C3A}</a:tableStyleId>
              </a:tblPr>
              <a:tblGrid>
                <a:gridCol w="1990520">
                  <a:extLst>
                    <a:ext uri="{9D8B030D-6E8A-4147-A177-3AD203B41FA5}">
                      <a16:colId xmlns:a16="http://schemas.microsoft.com/office/drawing/2014/main" val="20000"/>
                    </a:ext>
                  </a:extLst>
                </a:gridCol>
                <a:gridCol w="1421800">
                  <a:extLst>
                    <a:ext uri="{9D8B030D-6E8A-4147-A177-3AD203B41FA5}">
                      <a16:colId xmlns:a16="http://schemas.microsoft.com/office/drawing/2014/main" val="20001"/>
                    </a:ext>
                  </a:extLst>
                </a:gridCol>
                <a:gridCol w="1327013">
                  <a:extLst>
                    <a:ext uri="{9D8B030D-6E8A-4147-A177-3AD203B41FA5}">
                      <a16:colId xmlns:a16="http://schemas.microsoft.com/office/drawing/2014/main" val="20002"/>
                    </a:ext>
                  </a:extLst>
                </a:gridCol>
              </a:tblGrid>
              <a:tr h="347472">
                <a:tc>
                  <a:txBody>
                    <a:bodyPr/>
                    <a:lstStyle/>
                    <a:p>
                      <a:pPr algn="l"/>
                      <a:r>
                        <a:rPr sz="1000" b="1">
                          <a:solidFill>
                            <a:srgbClr val="8B8478"/>
                          </a:solidFill>
                          <a:latin typeface="Arial"/>
                        </a:rPr>
                        <a:t>Escenario</a:t>
                      </a:r>
                    </a:p>
                  </a:txBody>
                  <a:tcPr marL="82296" marR="82296" anchor="ctr">
                    <a:solidFill>
                      <a:srgbClr val="F4F2ED"/>
                    </a:solidFill>
                  </a:tcPr>
                </a:tc>
                <a:tc>
                  <a:txBody>
                    <a:bodyPr/>
                    <a:lstStyle/>
                    <a:p>
                      <a:pPr algn="r"/>
                      <a:r>
                        <a:rPr sz="1000" b="1">
                          <a:solidFill>
                            <a:srgbClr val="8B8478"/>
                          </a:solidFill>
                          <a:latin typeface="Arial"/>
                        </a:rPr>
                        <a:t>Nivel medio</a:t>
                      </a:r>
                    </a:p>
                  </a:txBody>
                  <a:tcPr marL="82296" marR="82296" anchor="ctr">
                    <a:solidFill>
                      <a:srgbClr val="F4F2ED"/>
                    </a:solidFill>
                  </a:tcPr>
                </a:tc>
                <a:tc>
                  <a:txBody>
                    <a:bodyPr/>
                    <a:lstStyle/>
                    <a:p>
                      <a:pPr algn="r"/>
                      <a:r>
                        <a:rPr sz="1000" b="1">
                          <a:solidFill>
                            <a:srgbClr val="8B8478"/>
                          </a:solidFill>
                          <a:latin typeface="Arial"/>
                        </a:rPr>
                        <a:t>A pedir</a:t>
                      </a:r>
                    </a:p>
                  </a:txBody>
                  <a:tcPr marL="82296" marR="82296" anchor="ctr">
                    <a:solidFill>
                      <a:srgbClr val="F4F2ED"/>
                    </a:solidFill>
                  </a:tcPr>
                </a:tc>
                <a:extLst>
                  <a:ext uri="{0D108BD9-81ED-4DB2-BD59-A6C34878D82A}">
                    <a16:rowId xmlns:a16="http://schemas.microsoft.com/office/drawing/2014/main" val="10000"/>
                  </a:ext>
                </a:extLst>
              </a:tr>
              <a:tr h="292608">
                <a:tc>
                  <a:txBody>
                    <a:bodyPr/>
                    <a:lstStyle/>
                    <a:p>
                      <a:pPr algn="l"/>
                      <a:r>
                        <a:rPr sz="1150" b="0">
                          <a:solidFill>
                            <a:srgbClr val="17150F"/>
                          </a:solidFill>
                          <a:latin typeface="Arial"/>
                        </a:rPr>
                        <a:t>Sin merma</a:t>
                      </a:r>
                    </a:p>
                  </a:txBody>
                  <a:tcPr marL="82296" marR="82296" anchor="ctr">
                    <a:solidFill>
                      <a:srgbClr val="FFFFFF"/>
                    </a:solidFill>
                  </a:tcPr>
                </a:tc>
                <a:tc>
                  <a:txBody>
                    <a:bodyPr/>
                    <a:lstStyle/>
                    <a:p>
                      <a:pPr algn="r"/>
                      <a:r>
                        <a:rPr sz="1150" b="0">
                          <a:solidFill>
                            <a:srgbClr val="555045"/>
                          </a:solidFill>
                          <a:latin typeface="Arial"/>
                        </a:rPr>
                        <a:t>0,99</a:t>
                      </a:r>
                    </a:p>
                  </a:txBody>
                  <a:tcPr marL="82296" marR="82296" anchor="ctr">
                    <a:solidFill>
                      <a:srgbClr val="FFFFFF"/>
                    </a:solidFill>
                  </a:tcPr>
                </a:tc>
                <a:tc>
                  <a:txBody>
                    <a:bodyPr/>
                    <a:lstStyle/>
                    <a:p>
                      <a:pPr algn="r"/>
                      <a:r>
                        <a:rPr sz="1150" b="0">
                          <a:solidFill>
                            <a:srgbClr val="555045"/>
                          </a:solidFill>
                          <a:latin typeface="Arial"/>
                        </a:rPr>
                        <a:t>16.671</a:t>
                      </a:r>
                    </a:p>
                  </a:txBody>
                  <a:tcPr marL="82296" marR="82296" anchor="ctr">
                    <a:solidFill>
                      <a:srgbClr val="FFFFFF"/>
                    </a:solidFill>
                  </a:tcPr>
                </a:tc>
                <a:extLst>
                  <a:ext uri="{0D108BD9-81ED-4DB2-BD59-A6C34878D82A}">
                    <a16:rowId xmlns:a16="http://schemas.microsoft.com/office/drawing/2014/main" val="10001"/>
                  </a:ext>
                </a:extLst>
              </a:tr>
              <a:tr h="292608">
                <a:tc>
                  <a:txBody>
                    <a:bodyPr/>
                    <a:lstStyle/>
                    <a:p>
                      <a:pPr algn="l"/>
                      <a:r>
                        <a:rPr sz="1150" b="0">
                          <a:solidFill>
                            <a:srgbClr val="17150F"/>
                          </a:solidFill>
                          <a:latin typeface="Arial"/>
                        </a:rPr>
                        <a:t>Merma parcial</a:t>
                      </a:r>
                    </a:p>
                  </a:txBody>
                  <a:tcPr marL="82296" marR="82296" anchor="ctr">
                    <a:solidFill>
                      <a:srgbClr val="FFFFFF"/>
                    </a:solidFill>
                  </a:tcPr>
                </a:tc>
                <a:tc>
                  <a:txBody>
                    <a:bodyPr/>
                    <a:lstStyle/>
                    <a:p>
                      <a:pPr algn="r"/>
                      <a:r>
                        <a:rPr sz="1150" b="0">
                          <a:solidFill>
                            <a:srgbClr val="555045"/>
                          </a:solidFill>
                          <a:latin typeface="Arial"/>
                        </a:rPr>
                        <a:t>0,78</a:t>
                      </a:r>
                    </a:p>
                  </a:txBody>
                  <a:tcPr marL="82296" marR="82296" anchor="ctr">
                    <a:solidFill>
                      <a:srgbClr val="FFFFFF"/>
                    </a:solidFill>
                  </a:tcPr>
                </a:tc>
                <a:tc>
                  <a:txBody>
                    <a:bodyPr/>
                    <a:lstStyle/>
                    <a:p>
                      <a:pPr algn="r"/>
                      <a:r>
                        <a:rPr sz="1150" b="0">
                          <a:solidFill>
                            <a:srgbClr val="555045"/>
                          </a:solidFill>
                          <a:latin typeface="Arial"/>
                        </a:rPr>
                        <a:t>13.248</a:t>
                      </a:r>
                    </a:p>
                  </a:txBody>
                  <a:tcPr marL="82296" marR="82296" anchor="ctr">
                    <a:solidFill>
                      <a:srgbClr val="FFFFFF"/>
                    </a:solidFill>
                  </a:tcPr>
                </a:tc>
                <a:extLst>
                  <a:ext uri="{0D108BD9-81ED-4DB2-BD59-A6C34878D82A}">
                    <a16:rowId xmlns:a16="http://schemas.microsoft.com/office/drawing/2014/main" val="10002"/>
                  </a:ext>
                </a:extLst>
              </a:tr>
              <a:tr h="292608">
                <a:tc>
                  <a:txBody>
                    <a:bodyPr/>
                    <a:lstStyle/>
                    <a:p>
                      <a:pPr algn="l"/>
                      <a:r>
                        <a:rPr sz="1150" b="1">
                          <a:solidFill>
                            <a:srgbClr val="17150F"/>
                          </a:solidFill>
                          <a:latin typeface="Arial"/>
                        </a:rPr>
                        <a:t>Con merma</a:t>
                      </a:r>
                    </a:p>
                  </a:txBody>
                  <a:tcPr marL="82296" marR="82296" anchor="ctr">
                    <a:solidFill>
                      <a:srgbClr val="F7EEEF"/>
                    </a:solidFill>
                  </a:tcPr>
                </a:tc>
                <a:tc>
                  <a:txBody>
                    <a:bodyPr/>
                    <a:lstStyle/>
                    <a:p>
                      <a:pPr algn="r"/>
                      <a:r>
                        <a:rPr sz="1150" b="1">
                          <a:solidFill>
                            <a:srgbClr val="17150F"/>
                          </a:solidFill>
                          <a:latin typeface="Arial"/>
                        </a:rPr>
                        <a:t>0,64</a:t>
                      </a:r>
                    </a:p>
                  </a:txBody>
                  <a:tcPr marL="82296" marR="82296" anchor="ctr">
                    <a:solidFill>
                      <a:srgbClr val="F7EEEF"/>
                    </a:solidFill>
                  </a:tcPr>
                </a:tc>
                <a:tc>
                  <a:txBody>
                    <a:bodyPr/>
                    <a:lstStyle/>
                    <a:p>
                      <a:pPr algn="r"/>
                      <a:r>
                        <a:rPr sz="1150" b="1">
                          <a:solidFill>
                            <a:srgbClr val="17150F"/>
                          </a:solidFill>
                          <a:latin typeface="Arial"/>
                        </a:rPr>
                        <a:t>12.290</a:t>
                      </a:r>
                    </a:p>
                  </a:txBody>
                  <a:tcPr marL="82296" marR="82296" anchor="ctr">
                    <a:solidFill>
                      <a:srgbClr val="F7EEEF"/>
                    </a:solidFill>
                  </a:tcPr>
                </a:tc>
                <a:extLst>
                  <a:ext uri="{0D108BD9-81ED-4DB2-BD59-A6C34878D82A}">
                    <a16:rowId xmlns:a16="http://schemas.microsoft.com/office/drawing/2014/main" val="10003"/>
                  </a:ext>
                </a:extLst>
              </a:tr>
            </a:tbl>
          </a:graphicData>
        </a:graphic>
      </p:graphicFrame>
      <p:sp>
        <p:nvSpPr>
          <p:cNvPr id="8" name="TextBox 7"/>
          <p:cNvSpPr txBox="1"/>
          <p:nvPr/>
        </p:nvSpPr>
        <p:spPr>
          <a:xfrm>
            <a:off x="6675120" y="3015234"/>
            <a:ext cx="4739335" cy="2926080"/>
          </a:xfrm>
          <a:prstGeom prst="rect">
            <a:avLst/>
          </a:prstGeom>
          <a:noFill/>
        </p:spPr>
        <p:txBody>
          <a:bodyPr wrap="square" lIns="0" tIns="0" rIns="0" bIns="0">
            <a:spAutoFit/>
          </a:bodyPr>
          <a:lstStyle/>
          <a:p>
            <a:pPr algn="l">
              <a:lnSpc>
                <a:spcPct val="128000"/>
              </a:lnSpc>
              <a:spcBef>
                <a:spcPts val="0"/>
              </a:spcBef>
              <a:spcAft>
                <a:spcPts val="1400"/>
              </a:spcAft>
            </a:pPr>
            <a:r>
              <a:rPr sz="1250" b="1">
                <a:solidFill>
                  <a:srgbClr val="17150F"/>
                </a:solidFill>
                <a:latin typeface="Arial"/>
              </a:rPr>
              <a:t>Son 4.381 unidades semanales de diferencia por una decisión que no es técnica.</a:t>
            </a:r>
          </a:p>
          <a:p>
            <a:pPr algn="l">
              <a:lnSpc>
                <a:spcPct val="128000"/>
              </a:lnSpc>
              <a:spcBef>
                <a:spcPts val="0"/>
              </a:spcBef>
              <a:spcAft>
                <a:spcPts val="600"/>
              </a:spcAft>
            </a:pPr>
            <a:r>
              <a:rPr sz="1300" b="1">
                <a:solidFill>
                  <a:srgbClr val="8C2F39"/>
                </a:solidFill>
                <a:latin typeface="Arial"/>
              </a:rPr>
              <a:t>Una validación externa que salió bien</a:t>
            </a:r>
          </a:p>
          <a:p>
            <a:pPr algn="l">
              <a:lnSpc>
                <a:spcPct val="128000"/>
              </a:lnSpc>
              <a:spcBef>
                <a:spcPts val="0"/>
              </a:spcBef>
              <a:spcAft>
                <a:spcPts val="1200"/>
              </a:spcAft>
            </a:pPr>
            <a:r>
              <a:rPr sz="1250" b="0">
                <a:solidFill>
                  <a:srgbClr val="555045"/>
                </a:solidFill>
                <a:latin typeface="Arial"/>
              </a:rPr>
              <a:t>El fichero de tendencias dice si cada serie sube o baja, y ese dato nunca entra al modelo. Agrupando por él la variación que predice el modelo, el orden es el correcto: las que suben son las únicas con variación positiva y las que bajan las más negativas.</a:t>
            </a:r>
          </a:p>
          <a:p>
            <a:pPr algn="l">
              <a:lnSpc>
                <a:spcPct val="128000"/>
              </a:lnSpc>
              <a:spcBef>
                <a:spcPts val="0"/>
              </a:spcBef>
              <a:spcAft>
                <a:spcPts val="0"/>
              </a:spcAft>
            </a:pPr>
            <a:r>
              <a:rPr sz="1250" b="0">
                <a:solidFill>
                  <a:srgbClr val="555045"/>
                </a:solidFill>
                <a:latin typeface="Arial"/>
              </a:rPr>
              <a:t>Confirma que no hay error de signo. Las magnitudes son diminutas, que es lo esperable con autocorrelación cercana a cero.</a:t>
            </a:r>
          </a:p>
        </p:txBody>
      </p:sp>
      <p:sp>
        <p:nvSpPr>
          <p:cNvPr id="9" name="Rectangle 8"/>
          <p:cNvSpPr/>
          <p:nvPr/>
        </p:nvSpPr>
        <p:spPr>
          <a:xfrm>
            <a:off x="777240" y="6327648"/>
            <a:ext cx="10637215" cy="9525"/>
          </a:xfrm>
          <a:prstGeom prst="rect">
            <a:avLst/>
          </a:prstGeom>
          <a:solidFill>
            <a:srgbClr val="DCD8C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0" name="TextBox 9"/>
          <p:cNvSpPr txBox="1"/>
          <p:nvPr/>
        </p:nvSpPr>
        <p:spPr>
          <a:xfrm>
            <a:off x="777240" y="6428232"/>
            <a:ext cx="8686800" cy="274320"/>
          </a:xfrm>
          <a:prstGeom prst="rect">
            <a:avLst/>
          </a:prstGeom>
          <a:noFill/>
        </p:spPr>
        <p:txBody>
          <a:bodyPr wrap="square" lIns="0" tIns="0" rIns="0" bIns="0">
            <a:spAutoFit/>
          </a:bodyPr>
          <a:lstStyle/>
          <a:p>
            <a:pPr algn="l">
              <a:lnSpc>
                <a:spcPct val="122000"/>
              </a:lnSpc>
              <a:spcBef>
                <a:spcPts val="0"/>
              </a:spcBef>
              <a:spcAft>
                <a:spcPts val="0"/>
              </a:spcAft>
            </a:pPr>
            <a:r>
              <a:rPr sz="950" b="0">
                <a:solidFill>
                  <a:srgbClr val="8B8478"/>
                </a:solidFill>
                <a:latin typeface="Arial"/>
              </a:rPr>
              <a:t>Paso 16 · La entrega</a:t>
            </a:r>
          </a:p>
        </p:txBody>
      </p:sp>
      <p:sp>
        <p:nvSpPr>
          <p:cNvPr id="11" name="TextBox 10"/>
          <p:cNvSpPr txBox="1"/>
          <p:nvPr/>
        </p:nvSpPr>
        <p:spPr>
          <a:xfrm>
            <a:off x="10500055" y="6428232"/>
            <a:ext cx="914400" cy="274320"/>
          </a:xfrm>
          <a:prstGeom prst="rect">
            <a:avLst/>
          </a:prstGeom>
          <a:noFill/>
        </p:spPr>
        <p:txBody>
          <a:bodyPr wrap="square" lIns="0" tIns="0" rIns="0" bIns="0">
            <a:spAutoFit/>
          </a:bodyPr>
          <a:lstStyle/>
          <a:p>
            <a:pPr algn="r">
              <a:lnSpc>
                <a:spcPct val="122000"/>
              </a:lnSpc>
              <a:spcBef>
                <a:spcPts val="0"/>
              </a:spcBef>
              <a:spcAft>
                <a:spcPts val="0"/>
              </a:spcAft>
            </a:pPr>
            <a:r>
              <a:rPr sz="950" b="0">
                <a:solidFill>
                  <a:srgbClr val="8B8478"/>
                </a:solidFill>
                <a:latin typeface="Arial"/>
              </a:rPr>
              <a:t>48</a:t>
            </a:r>
          </a:p>
        </p:txBody>
      </p:sp>
    </p:spTree>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777240" y="475488"/>
            <a:ext cx="10637215" cy="237744"/>
          </a:xfrm>
          <a:prstGeom prst="rect">
            <a:avLst/>
          </a:prstGeom>
          <a:noFill/>
        </p:spPr>
        <p:txBody>
          <a:bodyPr wrap="square" lIns="0" tIns="0" rIns="0" bIns="0">
            <a:spAutoFit/>
          </a:bodyPr>
          <a:lstStyle/>
          <a:p>
            <a:pPr algn="l">
              <a:lnSpc>
                <a:spcPct val="122000"/>
              </a:lnSpc>
              <a:spcBef>
                <a:spcPts val="0"/>
              </a:spcBef>
              <a:spcAft>
                <a:spcPts val="0"/>
              </a:spcAft>
            </a:pPr>
            <a:r>
              <a:rPr sz="1050" b="1">
                <a:solidFill>
                  <a:srgbClr val="8C2F39"/>
                </a:solidFill>
                <a:latin typeface="Arial"/>
              </a:rPr>
              <a:t>PRÓXIMOS PASOS · FRENTE 1</a:t>
            </a:r>
          </a:p>
        </p:txBody>
      </p:sp>
      <p:sp>
        <p:nvSpPr>
          <p:cNvPr id="4" name="Rectangle 3"/>
          <p:cNvSpPr/>
          <p:nvPr/>
        </p:nvSpPr>
        <p:spPr>
          <a:xfrm>
            <a:off x="777240" y="768096"/>
            <a:ext cx="502920" cy="30480"/>
          </a:xfrm>
          <a:prstGeom prst="rect">
            <a:avLst/>
          </a:prstGeom>
          <a:solidFill>
            <a:srgbClr val="8C2F3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 name="TextBox 4"/>
          <p:cNvSpPr txBox="1"/>
          <p:nvPr/>
        </p:nvSpPr>
        <p:spPr>
          <a:xfrm>
            <a:off x="777240" y="914400"/>
            <a:ext cx="10637215" cy="445770"/>
          </a:xfrm>
          <a:prstGeom prst="rect">
            <a:avLst/>
          </a:prstGeom>
          <a:noFill/>
        </p:spPr>
        <p:txBody>
          <a:bodyPr wrap="square" lIns="0" tIns="0" rIns="0" bIns="0">
            <a:spAutoFit/>
          </a:bodyPr>
          <a:lstStyle/>
          <a:p>
            <a:pPr algn="l">
              <a:lnSpc>
                <a:spcPct val="106000"/>
              </a:lnSpc>
              <a:spcBef>
                <a:spcPts val="0"/>
              </a:spcBef>
              <a:spcAft>
                <a:spcPts val="0"/>
              </a:spcAft>
            </a:pPr>
            <a:r>
              <a:rPr sz="2700" b="1">
                <a:solidFill>
                  <a:srgbClr val="17150F"/>
                </a:solidFill>
                <a:latin typeface="Arial"/>
              </a:rPr>
              <a:t>Convertir el ahorro simulado en ahorro comprobado</a:t>
            </a:r>
          </a:p>
        </p:txBody>
      </p:sp>
      <p:sp>
        <p:nvSpPr>
          <p:cNvPr id="6" name="TextBox 5"/>
          <p:cNvSpPr txBox="1"/>
          <p:nvPr/>
        </p:nvSpPr>
        <p:spPr>
          <a:xfrm>
            <a:off x="777240" y="1506474"/>
            <a:ext cx="9966960" cy="283337"/>
          </a:xfrm>
          <a:prstGeom prst="rect">
            <a:avLst/>
          </a:prstGeom>
          <a:noFill/>
        </p:spPr>
        <p:txBody>
          <a:bodyPr wrap="square" lIns="0" tIns="0" rIns="0" bIns="0">
            <a:spAutoFit/>
          </a:bodyPr>
          <a:lstStyle/>
          <a:p>
            <a:pPr algn="l">
              <a:lnSpc>
                <a:spcPct val="130000"/>
              </a:lnSpc>
              <a:spcBef>
                <a:spcPts val="0"/>
              </a:spcBef>
              <a:spcAft>
                <a:spcPts val="0"/>
              </a:spcAft>
            </a:pPr>
            <a:r>
              <a:rPr sz="1450" b="0">
                <a:solidFill>
                  <a:srgbClr val="555045"/>
                </a:solidFill>
                <a:latin typeface="Arial"/>
              </a:rPr>
              <a:t>La simulación supone que pedir distinto no cambia lo que se vende. En tienda sí lo cambia.</a:t>
            </a:r>
          </a:p>
        </p:txBody>
      </p:sp>
      <p:graphicFrame>
        <p:nvGraphicFramePr>
          <p:cNvPr id="7" name="Table 6"/>
          <p:cNvGraphicFramePr>
            <a:graphicFrameLocks noGrp="1"/>
          </p:cNvGraphicFramePr>
          <p:nvPr/>
        </p:nvGraphicFramePr>
        <p:xfrm>
          <a:off x="777240" y="1990979"/>
          <a:ext cx="10637214" cy="1883664"/>
        </p:xfrm>
        <a:graphic>
          <a:graphicData uri="http://schemas.openxmlformats.org/drawingml/2006/table">
            <a:tbl>
              <a:tblPr bandRow="1">
                <a:tableStyleId>{5C22544A-7EE6-4342-B048-85BDC9FD1C3A}</a:tableStyleId>
              </a:tblPr>
              <a:tblGrid>
                <a:gridCol w="2340187">
                  <a:extLst>
                    <a:ext uri="{9D8B030D-6E8A-4147-A177-3AD203B41FA5}">
                      <a16:colId xmlns:a16="http://schemas.microsoft.com/office/drawing/2014/main" val="20000"/>
                    </a:ext>
                  </a:extLst>
                </a:gridCol>
                <a:gridCol w="8297027">
                  <a:extLst>
                    <a:ext uri="{9D8B030D-6E8A-4147-A177-3AD203B41FA5}">
                      <a16:colId xmlns:a16="http://schemas.microsoft.com/office/drawing/2014/main" val="20001"/>
                    </a:ext>
                  </a:extLst>
                </a:gridCol>
              </a:tblGrid>
              <a:tr h="347472">
                <a:tc>
                  <a:txBody>
                    <a:bodyPr/>
                    <a:lstStyle/>
                    <a:p>
                      <a:pPr algn="l"/>
                      <a:r>
                        <a:rPr sz="1100" b="1">
                          <a:solidFill>
                            <a:srgbClr val="8B8478"/>
                          </a:solidFill>
                          <a:latin typeface="Arial"/>
                        </a:rPr>
                        <a:t>Elemento</a:t>
                      </a:r>
                    </a:p>
                  </a:txBody>
                  <a:tcPr marL="82296" marR="82296" anchor="ctr">
                    <a:solidFill>
                      <a:srgbClr val="F4F2ED"/>
                    </a:solidFill>
                  </a:tcPr>
                </a:tc>
                <a:tc>
                  <a:txBody>
                    <a:bodyPr/>
                    <a:lstStyle/>
                    <a:p>
                      <a:pPr algn="r"/>
                      <a:r>
                        <a:rPr sz="1100" b="1">
                          <a:solidFill>
                            <a:srgbClr val="8B8478"/>
                          </a:solidFill>
                          <a:latin typeface="Arial"/>
                        </a:rPr>
                        <a:t>Propuesta</a:t>
                      </a:r>
                    </a:p>
                  </a:txBody>
                  <a:tcPr marL="82296" marR="82296" anchor="ctr">
                    <a:solidFill>
                      <a:srgbClr val="F4F2ED"/>
                    </a:solidFill>
                  </a:tcPr>
                </a:tc>
                <a:extLst>
                  <a:ext uri="{0D108BD9-81ED-4DB2-BD59-A6C34878D82A}">
                    <a16:rowId xmlns:a16="http://schemas.microsoft.com/office/drawing/2014/main" val="10000"/>
                  </a:ext>
                </a:extLst>
              </a:tr>
              <a:tr h="384048">
                <a:tc>
                  <a:txBody>
                    <a:bodyPr/>
                    <a:lstStyle/>
                    <a:p>
                      <a:pPr algn="l"/>
                      <a:r>
                        <a:rPr sz="1250" b="0">
                          <a:solidFill>
                            <a:srgbClr val="17150F"/>
                          </a:solidFill>
                          <a:latin typeface="Arial"/>
                        </a:rPr>
                        <a:t>Alcance</a:t>
                      </a:r>
                    </a:p>
                  </a:txBody>
                  <a:tcPr marL="82296" marR="82296" anchor="ctr">
                    <a:solidFill>
                      <a:srgbClr val="FFFFFF"/>
                    </a:solidFill>
                  </a:tcPr>
                </a:tc>
                <a:tc>
                  <a:txBody>
                    <a:bodyPr/>
                    <a:lstStyle/>
                    <a:p>
                      <a:pPr algn="r"/>
                      <a:r>
                        <a:rPr sz="1250" b="0">
                          <a:solidFill>
                            <a:srgbClr val="555045"/>
                          </a:solidFill>
                          <a:latin typeface="Arial"/>
                        </a:rPr>
                        <a:t>Seis u ocho tiendas emparejadas por volumen, durante seis u ocho semanas</a:t>
                      </a:r>
                    </a:p>
                  </a:txBody>
                  <a:tcPr marL="82296" marR="82296" anchor="ctr">
                    <a:solidFill>
                      <a:srgbClr val="FFFFFF"/>
                    </a:solidFill>
                  </a:tcPr>
                </a:tc>
                <a:extLst>
                  <a:ext uri="{0D108BD9-81ED-4DB2-BD59-A6C34878D82A}">
                    <a16:rowId xmlns:a16="http://schemas.microsoft.com/office/drawing/2014/main" val="10001"/>
                  </a:ext>
                </a:extLst>
              </a:tr>
              <a:tr h="384048">
                <a:tc>
                  <a:txBody>
                    <a:bodyPr/>
                    <a:lstStyle/>
                    <a:p>
                      <a:pPr algn="l"/>
                      <a:r>
                        <a:rPr sz="1250" b="0">
                          <a:solidFill>
                            <a:srgbClr val="17150F"/>
                          </a:solidFill>
                          <a:latin typeface="Arial"/>
                        </a:rPr>
                        <a:t>Diseño</a:t>
                      </a:r>
                    </a:p>
                  </a:txBody>
                  <a:tcPr marL="82296" marR="82296" anchor="ctr">
                    <a:solidFill>
                      <a:srgbClr val="FFFFFF"/>
                    </a:solidFill>
                  </a:tcPr>
                </a:tc>
                <a:tc>
                  <a:txBody>
                    <a:bodyPr/>
                    <a:lstStyle/>
                    <a:p>
                      <a:pPr algn="r"/>
                      <a:r>
                        <a:rPr sz="1250" b="0">
                          <a:solidFill>
                            <a:srgbClr val="555045"/>
                          </a:solidFill>
                          <a:latin typeface="Arial"/>
                        </a:rPr>
                        <a:t>La mitad aplica el pedido recomendado, la otra mitad sigue con el método actual</a:t>
                      </a:r>
                    </a:p>
                  </a:txBody>
                  <a:tcPr marL="82296" marR="82296" anchor="ctr">
                    <a:solidFill>
                      <a:srgbClr val="FFFFFF"/>
                    </a:solidFill>
                  </a:tcPr>
                </a:tc>
                <a:extLst>
                  <a:ext uri="{0D108BD9-81ED-4DB2-BD59-A6C34878D82A}">
                    <a16:rowId xmlns:a16="http://schemas.microsoft.com/office/drawing/2014/main" val="10002"/>
                  </a:ext>
                </a:extLst>
              </a:tr>
              <a:tr h="384048">
                <a:tc>
                  <a:txBody>
                    <a:bodyPr/>
                    <a:lstStyle/>
                    <a:p>
                      <a:pPr algn="l"/>
                      <a:r>
                        <a:rPr sz="1250" b="0">
                          <a:solidFill>
                            <a:srgbClr val="17150F"/>
                          </a:solidFill>
                          <a:latin typeface="Arial"/>
                        </a:rPr>
                        <a:t>Qué se mide</a:t>
                      </a:r>
                    </a:p>
                  </a:txBody>
                  <a:tcPr marL="82296" marR="82296" anchor="ctr">
                    <a:solidFill>
                      <a:srgbClr val="FFFFFF"/>
                    </a:solidFill>
                  </a:tcPr>
                </a:tc>
                <a:tc>
                  <a:txBody>
                    <a:bodyPr/>
                    <a:lstStyle/>
                    <a:p>
                      <a:pPr algn="r"/>
                      <a:r>
                        <a:rPr sz="1250" b="0">
                          <a:solidFill>
                            <a:srgbClr val="555045"/>
                          </a:solidFill>
                          <a:latin typeface="Arial"/>
                        </a:rPr>
                        <a:t>Unidades vendidas, sobrantes al cierre y roturas de stock, por tienda y producto</a:t>
                      </a:r>
                    </a:p>
                  </a:txBody>
                  <a:tcPr marL="82296" marR="82296" anchor="ctr">
                    <a:solidFill>
                      <a:srgbClr val="FFFFFF"/>
                    </a:solidFill>
                  </a:tcPr>
                </a:tc>
                <a:extLst>
                  <a:ext uri="{0D108BD9-81ED-4DB2-BD59-A6C34878D82A}">
                    <a16:rowId xmlns:a16="http://schemas.microsoft.com/office/drawing/2014/main" val="10003"/>
                  </a:ext>
                </a:extLst>
              </a:tr>
              <a:tr h="384048">
                <a:tc>
                  <a:txBody>
                    <a:bodyPr/>
                    <a:lstStyle/>
                    <a:p>
                      <a:pPr algn="l"/>
                      <a:r>
                        <a:rPr sz="1250" b="0">
                          <a:solidFill>
                            <a:srgbClr val="17150F"/>
                          </a:solidFill>
                          <a:latin typeface="Arial"/>
                        </a:rPr>
                        <a:t>Control adicional</a:t>
                      </a:r>
                    </a:p>
                  </a:txBody>
                  <a:tcPr marL="82296" marR="82296" anchor="ctr">
                    <a:solidFill>
                      <a:srgbClr val="FFFFFF"/>
                    </a:solidFill>
                  </a:tcPr>
                </a:tc>
                <a:tc>
                  <a:txBody>
                    <a:bodyPr/>
                    <a:lstStyle/>
                    <a:p>
                      <a:pPr algn="r"/>
                      <a:r>
                        <a:rPr sz="1250" b="0">
                          <a:solidFill>
                            <a:srgbClr val="555045"/>
                          </a:solidFill>
                          <a:latin typeface="Arial"/>
                        </a:rPr>
                        <a:t>Cobertura observada frente al nivel prometido, para validar la calibración</a:t>
                      </a:r>
                    </a:p>
                  </a:txBody>
                  <a:tcPr marL="82296" marR="82296" anchor="ctr">
                    <a:solidFill>
                      <a:srgbClr val="FFFFFF"/>
                    </a:solidFill>
                  </a:tcPr>
                </a:tc>
                <a:extLst>
                  <a:ext uri="{0D108BD9-81ED-4DB2-BD59-A6C34878D82A}">
                    <a16:rowId xmlns:a16="http://schemas.microsoft.com/office/drawing/2014/main" val="10004"/>
                  </a:ext>
                </a:extLst>
              </a:tr>
            </a:tbl>
          </a:graphicData>
        </a:graphic>
      </p:graphicFrame>
      <p:sp>
        <p:nvSpPr>
          <p:cNvPr id="8" name="Rectangle 7"/>
          <p:cNvSpPr/>
          <p:nvPr/>
        </p:nvSpPr>
        <p:spPr>
          <a:xfrm>
            <a:off x="777240" y="4304411"/>
            <a:ext cx="63500" cy="63500"/>
          </a:xfrm>
          <a:prstGeom prst="rect">
            <a:avLst/>
          </a:prstGeom>
          <a:solidFill>
            <a:srgbClr val="8C2F3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9" name="TextBox 8"/>
          <p:cNvSpPr txBox="1"/>
          <p:nvPr/>
        </p:nvSpPr>
        <p:spPr>
          <a:xfrm>
            <a:off x="978408" y="4203827"/>
            <a:ext cx="10436047" cy="479044"/>
          </a:xfrm>
          <a:prstGeom prst="rect">
            <a:avLst/>
          </a:prstGeom>
          <a:noFill/>
        </p:spPr>
        <p:txBody>
          <a:bodyPr wrap="square" lIns="0" tIns="0" rIns="0" bIns="0">
            <a:spAutoFit/>
          </a:bodyPr>
          <a:lstStyle/>
          <a:p>
            <a:pPr>
              <a:lnSpc>
                <a:spcPct val="124000"/>
              </a:lnSpc>
              <a:spcAft>
                <a:spcPts val="0"/>
              </a:spcAft>
            </a:pPr>
            <a:r>
              <a:rPr sz="1300" b="1">
                <a:solidFill>
                  <a:srgbClr val="17150F"/>
                </a:solidFill>
                <a:latin typeface="Arial"/>
              </a:rPr>
              <a:t>Separar por tienda y no por semana.</a:t>
            </a:r>
            <a:r>
              <a:rPr sz="1300" b="0">
                <a:solidFill>
                  <a:srgbClr val="555045"/>
                </a:solidFill>
                <a:latin typeface="Arial"/>
              </a:rPr>
              <a:t> Alternar semanas dentro de la misma tienda contamina el resultado, porque el inventario que sobra de una semana entra en la siguiente.</a:t>
            </a:r>
          </a:p>
        </p:txBody>
      </p:sp>
      <p:sp>
        <p:nvSpPr>
          <p:cNvPr id="10" name="Rectangle 9"/>
          <p:cNvSpPr/>
          <p:nvPr/>
        </p:nvSpPr>
        <p:spPr>
          <a:xfrm>
            <a:off x="777240" y="4911471"/>
            <a:ext cx="63500" cy="63500"/>
          </a:xfrm>
          <a:prstGeom prst="rect">
            <a:avLst/>
          </a:prstGeom>
          <a:solidFill>
            <a:srgbClr val="8C2F3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1" name="TextBox 10"/>
          <p:cNvSpPr txBox="1"/>
          <p:nvPr/>
        </p:nvSpPr>
        <p:spPr>
          <a:xfrm>
            <a:off x="978408" y="4810887"/>
            <a:ext cx="10436047" cy="479044"/>
          </a:xfrm>
          <a:prstGeom prst="rect">
            <a:avLst/>
          </a:prstGeom>
          <a:noFill/>
        </p:spPr>
        <p:txBody>
          <a:bodyPr wrap="square" lIns="0" tIns="0" rIns="0" bIns="0">
            <a:spAutoFit/>
          </a:bodyPr>
          <a:lstStyle/>
          <a:p>
            <a:pPr>
              <a:lnSpc>
                <a:spcPct val="124000"/>
              </a:lnSpc>
              <a:spcAft>
                <a:spcPts val="0"/>
              </a:spcAft>
            </a:pPr>
            <a:r>
              <a:rPr sz="1300" b="1">
                <a:solidFill>
                  <a:srgbClr val="17150F"/>
                </a:solidFill>
                <a:latin typeface="Arial"/>
              </a:rPr>
              <a:t>Tres cosas hay que cerrar antes de arrancar</a:t>
            </a:r>
            <a:r>
              <a:rPr sz="1300" b="0">
                <a:solidFill>
                  <a:srgbClr val="555045"/>
                </a:solidFill>
                <a:latin typeface="Arial"/>
              </a:rPr>
              <a:t>, todas de negocio: el porcentaje real de merma, el inventario con fecha y las restricciones de lote y redondeo.</a:t>
            </a:r>
          </a:p>
        </p:txBody>
      </p:sp>
      <p:sp>
        <p:nvSpPr>
          <p:cNvPr id="12" name="Rectangle 11"/>
          <p:cNvSpPr/>
          <p:nvPr/>
        </p:nvSpPr>
        <p:spPr>
          <a:xfrm>
            <a:off x="777240" y="5518531"/>
            <a:ext cx="63500" cy="63500"/>
          </a:xfrm>
          <a:prstGeom prst="rect">
            <a:avLst/>
          </a:prstGeom>
          <a:solidFill>
            <a:srgbClr val="8C2F3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3" name="TextBox 12"/>
          <p:cNvSpPr txBox="1"/>
          <p:nvPr/>
        </p:nvSpPr>
        <p:spPr>
          <a:xfrm>
            <a:off x="978408" y="5417947"/>
            <a:ext cx="10436047" cy="479044"/>
          </a:xfrm>
          <a:prstGeom prst="rect">
            <a:avLst/>
          </a:prstGeom>
          <a:noFill/>
        </p:spPr>
        <p:txBody>
          <a:bodyPr wrap="square" lIns="0" tIns="0" rIns="0" bIns="0">
            <a:spAutoFit/>
          </a:bodyPr>
          <a:lstStyle/>
          <a:p>
            <a:pPr>
              <a:lnSpc>
                <a:spcPct val="124000"/>
              </a:lnSpc>
              <a:spcAft>
                <a:spcPts val="0"/>
              </a:spcAft>
            </a:pPr>
            <a:r>
              <a:rPr sz="1300" b="1">
                <a:solidFill>
                  <a:srgbClr val="17150F"/>
                </a:solidFill>
                <a:latin typeface="Arial"/>
              </a:rPr>
              <a:t>El criterio de salida se fija antes de empezar.</a:t>
            </a:r>
            <a:r>
              <a:rPr sz="1300" b="0">
                <a:solidFill>
                  <a:srgbClr val="555045"/>
                </a:solidFill>
                <a:latin typeface="Arial"/>
              </a:rPr>
              <a:t> Decidirlo después de ver los números es la forma más común de convencerse de un resultado que no está.</a:t>
            </a:r>
          </a:p>
        </p:txBody>
      </p:sp>
      <p:sp>
        <p:nvSpPr>
          <p:cNvPr id="14" name="Rectangle 13"/>
          <p:cNvSpPr/>
          <p:nvPr/>
        </p:nvSpPr>
        <p:spPr>
          <a:xfrm>
            <a:off x="777240" y="6327648"/>
            <a:ext cx="10637215" cy="9525"/>
          </a:xfrm>
          <a:prstGeom prst="rect">
            <a:avLst/>
          </a:prstGeom>
          <a:solidFill>
            <a:srgbClr val="DCD8C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5" name="TextBox 14"/>
          <p:cNvSpPr txBox="1"/>
          <p:nvPr/>
        </p:nvSpPr>
        <p:spPr>
          <a:xfrm>
            <a:off x="777240" y="6428232"/>
            <a:ext cx="8686800" cy="274320"/>
          </a:xfrm>
          <a:prstGeom prst="rect">
            <a:avLst/>
          </a:prstGeom>
          <a:noFill/>
        </p:spPr>
        <p:txBody>
          <a:bodyPr wrap="square" lIns="0" tIns="0" rIns="0" bIns="0">
            <a:spAutoFit/>
          </a:bodyPr>
          <a:lstStyle/>
          <a:p>
            <a:pPr algn="l">
              <a:lnSpc>
                <a:spcPct val="122000"/>
              </a:lnSpc>
              <a:spcBef>
                <a:spcPts val="0"/>
              </a:spcBef>
              <a:spcAft>
                <a:spcPts val="0"/>
              </a:spcAft>
            </a:pPr>
            <a:r>
              <a:rPr sz="950" b="0">
                <a:solidFill>
                  <a:srgbClr val="8B8478"/>
                </a:solidFill>
                <a:latin typeface="Arial"/>
              </a:rPr>
              <a:t>Próximos pasos · Piloto</a:t>
            </a:r>
          </a:p>
        </p:txBody>
      </p:sp>
      <p:sp>
        <p:nvSpPr>
          <p:cNvPr id="16" name="TextBox 15"/>
          <p:cNvSpPr txBox="1"/>
          <p:nvPr/>
        </p:nvSpPr>
        <p:spPr>
          <a:xfrm>
            <a:off x="10500055" y="6428232"/>
            <a:ext cx="914400" cy="274320"/>
          </a:xfrm>
          <a:prstGeom prst="rect">
            <a:avLst/>
          </a:prstGeom>
          <a:noFill/>
        </p:spPr>
        <p:txBody>
          <a:bodyPr wrap="square" lIns="0" tIns="0" rIns="0" bIns="0">
            <a:spAutoFit/>
          </a:bodyPr>
          <a:lstStyle/>
          <a:p>
            <a:pPr algn="r">
              <a:lnSpc>
                <a:spcPct val="122000"/>
              </a:lnSpc>
              <a:spcBef>
                <a:spcPts val="0"/>
              </a:spcBef>
              <a:spcAft>
                <a:spcPts val="0"/>
              </a:spcAft>
            </a:pPr>
            <a:r>
              <a:rPr sz="950" b="0">
                <a:solidFill>
                  <a:srgbClr val="8B8478"/>
                </a:solidFill>
                <a:latin typeface="Arial"/>
              </a:rPr>
              <a:t>50</a:t>
            </a:r>
          </a:p>
        </p:txBody>
      </p:sp>
    </p:spTree>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777240" y="475488"/>
            <a:ext cx="10637215" cy="237744"/>
          </a:xfrm>
          <a:prstGeom prst="rect">
            <a:avLst/>
          </a:prstGeom>
          <a:noFill/>
        </p:spPr>
        <p:txBody>
          <a:bodyPr wrap="square" lIns="0" tIns="0" rIns="0" bIns="0">
            <a:spAutoFit/>
          </a:bodyPr>
          <a:lstStyle/>
          <a:p>
            <a:pPr algn="l">
              <a:lnSpc>
                <a:spcPct val="122000"/>
              </a:lnSpc>
              <a:spcBef>
                <a:spcPts val="0"/>
              </a:spcBef>
              <a:spcAft>
                <a:spcPts val="0"/>
              </a:spcAft>
            </a:pPr>
            <a:r>
              <a:rPr sz="1050" b="1">
                <a:solidFill>
                  <a:srgbClr val="8C2F39"/>
                </a:solidFill>
                <a:latin typeface="Arial"/>
              </a:rPr>
              <a:t>PRÓXIMOS PASOS · FRENTE 2</a:t>
            </a:r>
          </a:p>
        </p:txBody>
      </p:sp>
      <p:sp>
        <p:nvSpPr>
          <p:cNvPr id="4" name="Rectangle 3"/>
          <p:cNvSpPr/>
          <p:nvPr/>
        </p:nvSpPr>
        <p:spPr>
          <a:xfrm>
            <a:off x="777240" y="768096"/>
            <a:ext cx="502920" cy="30480"/>
          </a:xfrm>
          <a:prstGeom prst="rect">
            <a:avLst/>
          </a:prstGeom>
          <a:solidFill>
            <a:srgbClr val="8C2F3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 name="TextBox 4"/>
          <p:cNvSpPr txBox="1"/>
          <p:nvPr/>
        </p:nvSpPr>
        <p:spPr>
          <a:xfrm>
            <a:off x="777240" y="914400"/>
            <a:ext cx="10637215" cy="445770"/>
          </a:xfrm>
          <a:prstGeom prst="rect">
            <a:avLst/>
          </a:prstGeom>
          <a:noFill/>
        </p:spPr>
        <p:txBody>
          <a:bodyPr wrap="square" lIns="0" tIns="0" rIns="0" bIns="0">
            <a:spAutoFit/>
          </a:bodyPr>
          <a:lstStyle/>
          <a:p>
            <a:pPr algn="l">
              <a:lnSpc>
                <a:spcPct val="106000"/>
              </a:lnSpc>
              <a:spcBef>
                <a:spcPts val="0"/>
              </a:spcBef>
              <a:spcAft>
                <a:spcPts val="0"/>
              </a:spcAft>
            </a:pPr>
            <a:r>
              <a:rPr sz="2700" b="1">
                <a:solidFill>
                  <a:srgbClr val="17150F"/>
                </a:solidFill>
                <a:latin typeface="Arial"/>
              </a:rPr>
              <a:t>En GCP solo cambia de dónde se leen los datos</a:t>
            </a:r>
          </a:p>
        </p:txBody>
      </p:sp>
      <p:sp>
        <p:nvSpPr>
          <p:cNvPr id="6" name="TextBox 5"/>
          <p:cNvSpPr txBox="1"/>
          <p:nvPr/>
        </p:nvSpPr>
        <p:spPr>
          <a:xfrm>
            <a:off x="777240" y="1506474"/>
            <a:ext cx="9966960" cy="283337"/>
          </a:xfrm>
          <a:prstGeom prst="rect">
            <a:avLst/>
          </a:prstGeom>
          <a:noFill/>
        </p:spPr>
        <p:txBody>
          <a:bodyPr wrap="square" lIns="0" tIns="0" rIns="0" bIns="0">
            <a:spAutoFit/>
          </a:bodyPr>
          <a:lstStyle/>
          <a:p>
            <a:pPr algn="l">
              <a:lnSpc>
                <a:spcPct val="130000"/>
              </a:lnSpc>
              <a:spcBef>
                <a:spcPts val="0"/>
              </a:spcBef>
              <a:spcAft>
                <a:spcPts val="0"/>
              </a:spcAft>
            </a:pPr>
            <a:r>
              <a:rPr sz="1450" b="0">
                <a:solidFill>
                  <a:srgbClr val="555045"/>
                </a:solidFill>
                <a:latin typeface="Arial"/>
              </a:rPr>
              <a:t>La solución está por capas: modelado y decisión no saben de dónde vienen los datos, así que no se tocan.</a:t>
            </a:r>
          </a:p>
        </p:txBody>
      </p:sp>
      <p:sp>
        <p:nvSpPr>
          <p:cNvPr id="7" name="Rectangle 6"/>
          <p:cNvSpPr/>
          <p:nvPr/>
        </p:nvSpPr>
        <p:spPr>
          <a:xfrm>
            <a:off x="777240" y="1990979"/>
            <a:ext cx="1374604" cy="566928"/>
          </a:xfrm>
          <a:prstGeom prst="rect">
            <a:avLst/>
          </a:prstGeom>
          <a:solidFill>
            <a:srgbClr val="F4F2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8" name="TextBox 7"/>
          <p:cNvSpPr txBox="1"/>
          <p:nvPr/>
        </p:nvSpPr>
        <p:spPr>
          <a:xfrm>
            <a:off x="850392" y="2109851"/>
            <a:ext cx="1228300" cy="365760"/>
          </a:xfrm>
          <a:prstGeom prst="rect">
            <a:avLst/>
          </a:prstGeom>
          <a:noFill/>
        </p:spPr>
        <p:txBody>
          <a:bodyPr wrap="square" lIns="0" tIns="0" rIns="0" bIns="0">
            <a:spAutoFit/>
          </a:bodyPr>
          <a:lstStyle/>
          <a:p>
            <a:pPr algn="ctr">
              <a:lnSpc>
                <a:spcPct val="115000"/>
              </a:lnSpc>
              <a:spcBef>
                <a:spcPts val="0"/>
              </a:spcBef>
              <a:spcAft>
                <a:spcPts val="0"/>
              </a:spcAft>
            </a:pPr>
            <a:r>
              <a:rPr sz="1100" b="1">
                <a:solidFill>
                  <a:srgbClr val="17150F"/>
                </a:solidFill>
                <a:latin typeface="Arial"/>
              </a:rPr>
              <a:t>Punto de venta</a:t>
            </a:r>
          </a:p>
        </p:txBody>
      </p:sp>
      <p:sp>
        <p:nvSpPr>
          <p:cNvPr id="9" name="TextBox 8"/>
          <p:cNvSpPr txBox="1"/>
          <p:nvPr/>
        </p:nvSpPr>
        <p:spPr>
          <a:xfrm>
            <a:off x="2151844" y="2146427"/>
            <a:ext cx="169164" cy="274320"/>
          </a:xfrm>
          <a:prstGeom prst="rect">
            <a:avLst/>
          </a:prstGeom>
          <a:noFill/>
        </p:spPr>
        <p:txBody>
          <a:bodyPr wrap="square" lIns="0" tIns="0" rIns="0" bIns="0">
            <a:spAutoFit/>
          </a:bodyPr>
          <a:lstStyle/>
          <a:p>
            <a:pPr algn="ctr">
              <a:lnSpc>
                <a:spcPct val="122000"/>
              </a:lnSpc>
              <a:spcBef>
                <a:spcPts val="0"/>
              </a:spcBef>
              <a:spcAft>
                <a:spcPts val="0"/>
              </a:spcAft>
            </a:pPr>
            <a:r>
              <a:rPr sz="1500" b="1">
                <a:solidFill>
                  <a:srgbClr val="8C2F39"/>
                </a:solidFill>
                <a:latin typeface="Arial"/>
              </a:rPr>
              <a:t>›</a:t>
            </a:r>
          </a:p>
        </p:txBody>
      </p:sp>
      <p:sp>
        <p:nvSpPr>
          <p:cNvPr id="10" name="Rectangle 9"/>
          <p:cNvSpPr/>
          <p:nvPr/>
        </p:nvSpPr>
        <p:spPr>
          <a:xfrm>
            <a:off x="2321008" y="1990979"/>
            <a:ext cx="1374604" cy="566928"/>
          </a:xfrm>
          <a:prstGeom prst="rect">
            <a:avLst/>
          </a:prstGeom>
          <a:solidFill>
            <a:srgbClr val="F4F2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1" name="TextBox 10"/>
          <p:cNvSpPr txBox="1"/>
          <p:nvPr/>
        </p:nvSpPr>
        <p:spPr>
          <a:xfrm>
            <a:off x="2394160" y="2109851"/>
            <a:ext cx="1228300" cy="365760"/>
          </a:xfrm>
          <a:prstGeom prst="rect">
            <a:avLst/>
          </a:prstGeom>
          <a:noFill/>
        </p:spPr>
        <p:txBody>
          <a:bodyPr wrap="square" lIns="0" tIns="0" rIns="0" bIns="0">
            <a:spAutoFit/>
          </a:bodyPr>
          <a:lstStyle/>
          <a:p>
            <a:pPr algn="ctr">
              <a:lnSpc>
                <a:spcPct val="115000"/>
              </a:lnSpc>
              <a:spcBef>
                <a:spcPts val="0"/>
              </a:spcBef>
              <a:spcAft>
                <a:spcPts val="0"/>
              </a:spcAft>
            </a:pPr>
            <a:r>
              <a:rPr sz="1100" b="1">
                <a:solidFill>
                  <a:srgbClr val="17150F"/>
                </a:solidFill>
                <a:latin typeface="Arial"/>
              </a:rPr>
              <a:t>Cloud Storage</a:t>
            </a:r>
          </a:p>
        </p:txBody>
      </p:sp>
      <p:sp>
        <p:nvSpPr>
          <p:cNvPr id="12" name="TextBox 11"/>
          <p:cNvSpPr txBox="1"/>
          <p:nvPr/>
        </p:nvSpPr>
        <p:spPr>
          <a:xfrm>
            <a:off x="3695612" y="2146427"/>
            <a:ext cx="169164" cy="274320"/>
          </a:xfrm>
          <a:prstGeom prst="rect">
            <a:avLst/>
          </a:prstGeom>
          <a:noFill/>
        </p:spPr>
        <p:txBody>
          <a:bodyPr wrap="square" lIns="0" tIns="0" rIns="0" bIns="0">
            <a:spAutoFit/>
          </a:bodyPr>
          <a:lstStyle/>
          <a:p>
            <a:pPr algn="ctr">
              <a:lnSpc>
                <a:spcPct val="122000"/>
              </a:lnSpc>
              <a:spcBef>
                <a:spcPts val="0"/>
              </a:spcBef>
              <a:spcAft>
                <a:spcPts val="0"/>
              </a:spcAft>
            </a:pPr>
            <a:r>
              <a:rPr sz="1500" b="1">
                <a:solidFill>
                  <a:srgbClr val="8C2F39"/>
                </a:solidFill>
                <a:latin typeface="Arial"/>
              </a:rPr>
              <a:t>›</a:t>
            </a:r>
          </a:p>
        </p:txBody>
      </p:sp>
      <p:sp>
        <p:nvSpPr>
          <p:cNvPr id="13" name="Rectangle 12"/>
          <p:cNvSpPr/>
          <p:nvPr/>
        </p:nvSpPr>
        <p:spPr>
          <a:xfrm>
            <a:off x="3864776" y="1990979"/>
            <a:ext cx="1374604" cy="566928"/>
          </a:xfrm>
          <a:prstGeom prst="rect">
            <a:avLst/>
          </a:prstGeom>
          <a:solidFill>
            <a:srgbClr val="F4F2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4" name="TextBox 13"/>
          <p:cNvSpPr txBox="1"/>
          <p:nvPr/>
        </p:nvSpPr>
        <p:spPr>
          <a:xfrm>
            <a:off x="3937928" y="2109851"/>
            <a:ext cx="1228300" cy="365760"/>
          </a:xfrm>
          <a:prstGeom prst="rect">
            <a:avLst/>
          </a:prstGeom>
          <a:noFill/>
        </p:spPr>
        <p:txBody>
          <a:bodyPr wrap="square" lIns="0" tIns="0" rIns="0" bIns="0">
            <a:spAutoFit/>
          </a:bodyPr>
          <a:lstStyle/>
          <a:p>
            <a:pPr algn="ctr">
              <a:lnSpc>
                <a:spcPct val="115000"/>
              </a:lnSpc>
              <a:spcBef>
                <a:spcPts val="0"/>
              </a:spcBef>
              <a:spcAft>
                <a:spcPts val="0"/>
              </a:spcAft>
            </a:pPr>
            <a:r>
              <a:rPr sz="1100" b="1">
                <a:solidFill>
                  <a:srgbClr val="17150F"/>
                </a:solidFill>
                <a:latin typeface="Arial"/>
              </a:rPr>
              <a:t>BigQuery</a:t>
            </a:r>
          </a:p>
        </p:txBody>
      </p:sp>
      <p:sp>
        <p:nvSpPr>
          <p:cNvPr id="15" name="TextBox 14"/>
          <p:cNvSpPr txBox="1"/>
          <p:nvPr/>
        </p:nvSpPr>
        <p:spPr>
          <a:xfrm>
            <a:off x="5239380" y="2146427"/>
            <a:ext cx="169164" cy="274320"/>
          </a:xfrm>
          <a:prstGeom prst="rect">
            <a:avLst/>
          </a:prstGeom>
          <a:noFill/>
        </p:spPr>
        <p:txBody>
          <a:bodyPr wrap="square" lIns="0" tIns="0" rIns="0" bIns="0">
            <a:spAutoFit/>
          </a:bodyPr>
          <a:lstStyle/>
          <a:p>
            <a:pPr algn="ctr">
              <a:lnSpc>
                <a:spcPct val="122000"/>
              </a:lnSpc>
              <a:spcBef>
                <a:spcPts val="0"/>
              </a:spcBef>
              <a:spcAft>
                <a:spcPts val="0"/>
              </a:spcAft>
            </a:pPr>
            <a:r>
              <a:rPr sz="1500" b="1">
                <a:solidFill>
                  <a:srgbClr val="8C2F39"/>
                </a:solidFill>
                <a:latin typeface="Arial"/>
              </a:rPr>
              <a:t>›</a:t>
            </a:r>
          </a:p>
        </p:txBody>
      </p:sp>
      <p:sp>
        <p:nvSpPr>
          <p:cNvPr id="16" name="Rectangle 15"/>
          <p:cNvSpPr/>
          <p:nvPr/>
        </p:nvSpPr>
        <p:spPr>
          <a:xfrm>
            <a:off x="5408544" y="1990979"/>
            <a:ext cx="1374604" cy="566928"/>
          </a:xfrm>
          <a:prstGeom prst="rect">
            <a:avLst/>
          </a:prstGeom>
          <a:solidFill>
            <a:srgbClr val="F4F2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7" name="TextBox 16"/>
          <p:cNvSpPr txBox="1"/>
          <p:nvPr/>
        </p:nvSpPr>
        <p:spPr>
          <a:xfrm>
            <a:off x="5481696" y="2109851"/>
            <a:ext cx="1228300" cy="365760"/>
          </a:xfrm>
          <a:prstGeom prst="rect">
            <a:avLst/>
          </a:prstGeom>
          <a:noFill/>
        </p:spPr>
        <p:txBody>
          <a:bodyPr wrap="square" lIns="0" tIns="0" rIns="0" bIns="0">
            <a:spAutoFit/>
          </a:bodyPr>
          <a:lstStyle/>
          <a:p>
            <a:pPr algn="ctr">
              <a:lnSpc>
                <a:spcPct val="115000"/>
              </a:lnSpc>
              <a:spcBef>
                <a:spcPts val="0"/>
              </a:spcBef>
              <a:spcAft>
                <a:spcPts val="0"/>
              </a:spcAft>
            </a:pPr>
            <a:r>
              <a:rPr sz="1100" b="1">
                <a:solidFill>
                  <a:srgbClr val="17150F"/>
                </a:solidFill>
                <a:latin typeface="Arial"/>
              </a:rPr>
              <a:t>Cloud Scheduler</a:t>
            </a:r>
          </a:p>
        </p:txBody>
      </p:sp>
      <p:sp>
        <p:nvSpPr>
          <p:cNvPr id="18" name="TextBox 17"/>
          <p:cNvSpPr txBox="1"/>
          <p:nvPr/>
        </p:nvSpPr>
        <p:spPr>
          <a:xfrm>
            <a:off x="6783148" y="2146427"/>
            <a:ext cx="169164" cy="274320"/>
          </a:xfrm>
          <a:prstGeom prst="rect">
            <a:avLst/>
          </a:prstGeom>
          <a:noFill/>
        </p:spPr>
        <p:txBody>
          <a:bodyPr wrap="square" lIns="0" tIns="0" rIns="0" bIns="0">
            <a:spAutoFit/>
          </a:bodyPr>
          <a:lstStyle/>
          <a:p>
            <a:pPr algn="ctr">
              <a:lnSpc>
                <a:spcPct val="122000"/>
              </a:lnSpc>
              <a:spcBef>
                <a:spcPts val="0"/>
              </a:spcBef>
              <a:spcAft>
                <a:spcPts val="0"/>
              </a:spcAft>
            </a:pPr>
            <a:r>
              <a:rPr sz="1500" b="1">
                <a:solidFill>
                  <a:srgbClr val="8C2F39"/>
                </a:solidFill>
                <a:latin typeface="Arial"/>
              </a:rPr>
              <a:t>›</a:t>
            </a:r>
          </a:p>
        </p:txBody>
      </p:sp>
      <p:sp>
        <p:nvSpPr>
          <p:cNvPr id="19" name="Rectangle 18"/>
          <p:cNvSpPr/>
          <p:nvPr/>
        </p:nvSpPr>
        <p:spPr>
          <a:xfrm>
            <a:off x="6952312" y="1990979"/>
            <a:ext cx="1374604" cy="566928"/>
          </a:xfrm>
          <a:prstGeom prst="rect">
            <a:avLst/>
          </a:prstGeom>
          <a:solidFill>
            <a:srgbClr val="F4F2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0" name="TextBox 19"/>
          <p:cNvSpPr txBox="1"/>
          <p:nvPr/>
        </p:nvSpPr>
        <p:spPr>
          <a:xfrm>
            <a:off x="7025464" y="2109851"/>
            <a:ext cx="1228300" cy="365760"/>
          </a:xfrm>
          <a:prstGeom prst="rect">
            <a:avLst/>
          </a:prstGeom>
          <a:noFill/>
        </p:spPr>
        <p:txBody>
          <a:bodyPr wrap="square" lIns="0" tIns="0" rIns="0" bIns="0">
            <a:spAutoFit/>
          </a:bodyPr>
          <a:lstStyle/>
          <a:p>
            <a:pPr algn="ctr">
              <a:lnSpc>
                <a:spcPct val="115000"/>
              </a:lnSpc>
              <a:spcBef>
                <a:spcPts val="0"/>
              </a:spcBef>
              <a:spcAft>
                <a:spcPts val="0"/>
              </a:spcAft>
            </a:pPr>
            <a:r>
              <a:rPr sz="1100" b="1">
                <a:solidFill>
                  <a:srgbClr val="17150F"/>
                </a:solidFill>
                <a:latin typeface="Arial"/>
              </a:rPr>
              <a:t>Cloud Run Job</a:t>
            </a:r>
          </a:p>
        </p:txBody>
      </p:sp>
      <p:sp>
        <p:nvSpPr>
          <p:cNvPr id="21" name="TextBox 20"/>
          <p:cNvSpPr txBox="1"/>
          <p:nvPr/>
        </p:nvSpPr>
        <p:spPr>
          <a:xfrm>
            <a:off x="8326916" y="2146427"/>
            <a:ext cx="169164" cy="274320"/>
          </a:xfrm>
          <a:prstGeom prst="rect">
            <a:avLst/>
          </a:prstGeom>
          <a:noFill/>
        </p:spPr>
        <p:txBody>
          <a:bodyPr wrap="square" lIns="0" tIns="0" rIns="0" bIns="0">
            <a:spAutoFit/>
          </a:bodyPr>
          <a:lstStyle/>
          <a:p>
            <a:pPr algn="ctr">
              <a:lnSpc>
                <a:spcPct val="122000"/>
              </a:lnSpc>
              <a:spcBef>
                <a:spcPts val="0"/>
              </a:spcBef>
              <a:spcAft>
                <a:spcPts val="0"/>
              </a:spcAft>
            </a:pPr>
            <a:r>
              <a:rPr sz="1500" b="1">
                <a:solidFill>
                  <a:srgbClr val="8C2F39"/>
                </a:solidFill>
                <a:latin typeface="Arial"/>
              </a:rPr>
              <a:t>›</a:t>
            </a:r>
          </a:p>
        </p:txBody>
      </p:sp>
      <p:sp>
        <p:nvSpPr>
          <p:cNvPr id="22" name="Rectangle 21"/>
          <p:cNvSpPr/>
          <p:nvPr/>
        </p:nvSpPr>
        <p:spPr>
          <a:xfrm>
            <a:off x="8496080" y="1990979"/>
            <a:ext cx="1374604" cy="566928"/>
          </a:xfrm>
          <a:prstGeom prst="rect">
            <a:avLst/>
          </a:prstGeom>
          <a:solidFill>
            <a:srgbClr val="F4F2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3" name="TextBox 22"/>
          <p:cNvSpPr txBox="1"/>
          <p:nvPr/>
        </p:nvSpPr>
        <p:spPr>
          <a:xfrm>
            <a:off x="8569232" y="2109851"/>
            <a:ext cx="1228300" cy="365760"/>
          </a:xfrm>
          <a:prstGeom prst="rect">
            <a:avLst/>
          </a:prstGeom>
          <a:noFill/>
        </p:spPr>
        <p:txBody>
          <a:bodyPr wrap="square" lIns="0" tIns="0" rIns="0" bIns="0">
            <a:spAutoFit/>
          </a:bodyPr>
          <a:lstStyle/>
          <a:p>
            <a:pPr algn="ctr">
              <a:lnSpc>
                <a:spcPct val="115000"/>
              </a:lnSpc>
              <a:spcBef>
                <a:spcPts val="0"/>
              </a:spcBef>
              <a:spcAft>
                <a:spcPts val="0"/>
              </a:spcAft>
            </a:pPr>
            <a:r>
              <a:rPr sz="1100" b="1">
                <a:solidFill>
                  <a:srgbClr val="17150F"/>
                </a:solidFill>
                <a:latin typeface="Arial"/>
              </a:rPr>
              <a:t>Tabla de pedidos</a:t>
            </a:r>
          </a:p>
        </p:txBody>
      </p:sp>
      <p:sp>
        <p:nvSpPr>
          <p:cNvPr id="24" name="TextBox 23"/>
          <p:cNvSpPr txBox="1"/>
          <p:nvPr/>
        </p:nvSpPr>
        <p:spPr>
          <a:xfrm>
            <a:off x="9870684" y="2146427"/>
            <a:ext cx="169164" cy="274320"/>
          </a:xfrm>
          <a:prstGeom prst="rect">
            <a:avLst/>
          </a:prstGeom>
          <a:noFill/>
        </p:spPr>
        <p:txBody>
          <a:bodyPr wrap="square" lIns="0" tIns="0" rIns="0" bIns="0">
            <a:spAutoFit/>
          </a:bodyPr>
          <a:lstStyle/>
          <a:p>
            <a:pPr algn="ctr">
              <a:lnSpc>
                <a:spcPct val="122000"/>
              </a:lnSpc>
              <a:spcBef>
                <a:spcPts val="0"/>
              </a:spcBef>
              <a:spcAft>
                <a:spcPts val="0"/>
              </a:spcAft>
            </a:pPr>
            <a:r>
              <a:rPr sz="1500" b="1">
                <a:solidFill>
                  <a:srgbClr val="8C2F39"/>
                </a:solidFill>
                <a:latin typeface="Arial"/>
              </a:rPr>
              <a:t>›</a:t>
            </a:r>
          </a:p>
        </p:txBody>
      </p:sp>
      <p:sp>
        <p:nvSpPr>
          <p:cNvPr id="25" name="Rectangle 24"/>
          <p:cNvSpPr/>
          <p:nvPr/>
        </p:nvSpPr>
        <p:spPr>
          <a:xfrm>
            <a:off x="10039848" y="1990979"/>
            <a:ext cx="1374604" cy="566928"/>
          </a:xfrm>
          <a:prstGeom prst="rect">
            <a:avLst/>
          </a:prstGeom>
          <a:solidFill>
            <a:srgbClr val="F4F2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6" name="TextBox 25"/>
          <p:cNvSpPr txBox="1"/>
          <p:nvPr/>
        </p:nvSpPr>
        <p:spPr>
          <a:xfrm>
            <a:off x="10113000" y="2109851"/>
            <a:ext cx="1228300" cy="365760"/>
          </a:xfrm>
          <a:prstGeom prst="rect">
            <a:avLst/>
          </a:prstGeom>
          <a:noFill/>
        </p:spPr>
        <p:txBody>
          <a:bodyPr wrap="square" lIns="0" tIns="0" rIns="0" bIns="0">
            <a:spAutoFit/>
          </a:bodyPr>
          <a:lstStyle/>
          <a:p>
            <a:pPr algn="ctr">
              <a:lnSpc>
                <a:spcPct val="115000"/>
              </a:lnSpc>
              <a:spcBef>
                <a:spcPts val="0"/>
              </a:spcBef>
              <a:spcAft>
                <a:spcPts val="0"/>
              </a:spcAft>
            </a:pPr>
            <a:r>
              <a:rPr sz="1100" b="1">
                <a:solidFill>
                  <a:srgbClr val="17150F"/>
                </a:solidFill>
                <a:latin typeface="Arial"/>
              </a:rPr>
              <a:t>Looker Studio</a:t>
            </a:r>
          </a:p>
        </p:txBody>
      </p:sp>
      <p:sp>
        <p:nvSpPr>
          <p:cNvPr id="27" name="Rectangle 26"/>
          <p:cNvSpPr/>
          <p:nvPr/>
        </p:nvSpPr>
        <p:spPr>
          <a:xfrm>
            <a:off x="777240" y="3051683"/>
            <a:ext cx="63500" cy="63500"/>
          </a:xfrm>
          <a:prstGeom prst="rect">
            <a:avLst/>
          </a:prstGeom>
          <a:solidFill>
            <a:srgbClr val="8C2F3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8" name="TextBox 27"/>
          <p:cNvSpPr txBox="1"/>
          <p:nvPr/>
        </p:nvSpPr>
        <p:spPr>
          <a:xfrm>
            <a:off x="978408" y="2951099"/>
            <a:ext cx="10436047" cy="479044"/>
          </a:xfrm>
          <a:prstGeom prst="rect">
            <a:avLst/>
          </a:prstGeom>
          <a:noFill/>
        </p:spPr>
        <p:txBody>
          <a:bodyPr wrap="square" lIns="0" tIns="0" rIns="0" bIns="0">
            <a:spAutoFit/>
          </a:bodyPr>
          <a:lstStyle/>
          <a:p>
            <a:pPr>
              <a:lnSpc>
                <a:spcPct val="124000"/>
              </a:lnSpc>
              <a:spcAft>
                <a:spcPts val="0"/>
              </a:spcAft>
            </a:pPr>
            <a:r>
              <a:rPr sz="1300" b="1">
                <a:solidFill>
                  <a:srgbClr val="17150F"/>
                </a:solidFill>
                <a:latin typeface="Arial"/>
              </a:rPr>
              <a:t>Ingesta.</a:t>
            </a:r>
            <a:r>
              <a:rPr sz="1300" b="0">
                <a:solidFill>
                  <a:srgbClr val="555045"/>
                </a:solidFill>
                <a:latin typeface="Arial"/>
              </a:rPr>
              <a:t> El export del punto de venta cae en un bucket por fecha. Un load job lo lleva a BigQuery validando el mismo esquema que ya declara el código. Una capa curada construye encima el panel semanal.</a:t>
            </a:r>
          </a:p>
        </p:txBody>
      </p:sp>
      <p:sp>
        <p:nvSpPr>
          <p:cNvPr id="29" name="Rectangle 28"/>
          <p:cNvSpPr/>
          <p:nvPr/>
        </p:nvSpPr>
        <p:spPr>
          <a:xfrm>
            <a:off x="777240" y="3658743"/>
            <a:ext cx="63500" cy="63500"/>
          </a:xfrm>
          <a:prstGeom prst="rect">
            <a:avLst/>
          </a:prstGeom>
          <a:solidFill>
            <a:srgbClr val="8C2F3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0" name="TextBox 29"/>
          <p:cNvSpPr txBox="1"/>
          <p:nvPr/>
        </p:nvSpPr>
        <p:spPr>
          <a:xfrm>
            <a:off x="978408" y="3558159"/>
            <a:ext cx="10436047" cy="479044"/>
          </a:xfrm>
          <a:prstGeom prst="rect">
            <a:avLst/>
          </a:prstGeom>
          <a:noFill/>
        </p:spPr>
        <p:txBody>
          <a:bodyPr wrap="square" lIns="0" tIns="0" rIns="0" bIns="0">
            <a:spAutoFit/>
          </a:bodyPr>
          <a:lstStyle/>
          <a:p>
            <a:pPr>
              <a:lnSpc>
                <a:spcPct val="124000"/>
              </a:lnSpc>
              <a:spcAft>
                <a:spcPts val="0"/>
              </a:spcAft>
            </a:pPr>
            <a:r>
              <a:rPr sz="1300" b="1">
                <a:solidFill>
                  <a:srgbClr val="17150F"/>
                </a:solidFill>
                <a:latin typeface="Arial"/>
              </a:rPr>
              <a:t>Ejecución.</a:t>
            </a:r>
            <a:r>
              <a:rPr sz="1300" b="0">
                <a:solidFill>
                  <a:srgbClr val="555045"/>
                </a:solidFill>
                <a:latin typeface="Arial"/>
              </a:rPr>
              <a:t> Cloud Scheduler dispara una vez por semana tras el cierre. Para un lote de minutos, el sitio correcto es un Cloud Run Job y no una Cloud Function. La imagen queda versionada en Artifact Registry.</a:t>
            </a:r>
          </a:p>
        </p:txBody>
      </p:sp>
      <p:sp>
        <p:nvSpPr>
          <p:cNvPr id="31" name="Rectangle 30"/>
          <p:cNvSpPr/>
          <p:nvPr/>
        </p:nvSpPr>
        <p:spPr>
          <a:xfrm>
            <a:off x="777240" y="4265803"/>
            <a:ext cx="63500" cy="63500"/>
          </a:xfrm>
          <a:prstGeom prst="rect">
            <a:avLst/>
          </a:prstGeom>
          <a:solidFill>
            <a:srgbClr val="8C2F3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2" name="TextBox 31"/>
          <p:cNvSpPr txBox="1"/>
          <p:nvPr/>
        </p:nvSpPr>
        <p:spPr>
          <a:xfrm>
            <a:off x="978408" y="4165219"/>
            <a:ext cx="10436047" cy="479044"/>
          </a:xfrm>
          <a:prstGeom prst="rect">
            <a:avLst/>
          </a:prstGeom>
          <a:noFill/>
        </p:spPr>
        <p:txBody>
          <a:bodyPr wrap="square" lIns="0" tIns="0" rIns="0" bIns="0">
            <a:spAutoFit/>
          </a:bodyPr>
          <a:lstStyle/>
          <a:p>
            <a:pPr>
              <a:lnSpc>
                <a:spcPct val="124000"/>
              </a:lnSpc>
              <a:spcAft>
                <a:spcPts val="0"/>
              </a:spcAft>
            </a:pPr>
            <a:r>
              <a:rPr sz="1300" b="1">
                <a:solidFill>
                  <a:srgbClr val="17150F"/>
                </a:solidFill>
                <a:latin typeface="Arial"/>
              </a:rPr>
              <a:t>Salidas.</a:t>
            </a:r>
            <a:r>
              <a:rPr sz="1300" b="0">
                <a:solidFill>
                  <a:srgbClr val="555045"/>
                </a:solidFill>
                <a:latin typeface="Arial"/>
              </a:rPr>
              <a:t> Los pedidos van a una tabla de BigQuery con identificador de ejecución y versión del modelo, para poder comparar lo que se pidió con lo que después se vendió.</a:t>
            </a:r>
          </a:p>
        </p:txBody>
      </p:sp>
      <p:sp>
        <p:nvSpPr>
          <p:cNvPr id="33" name="Rectangle 32"/>
          <p:cNvSpPr/>
          <p:nvPr/>
        </p:nvSpPr>
        <p:spPr>
          <a:xfrm>
            <a:off x="777240" y="4872863"/>
            <a:ext cx="63500" cy="63500"/>
          </a:xfrm>
          <a:prstGeom prst="rect">
            <a:avLst/>
          </a:prstGeom>
          <a:solidFill>
            <a:srgbClr val="8C2F3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4" name="TextBox 33"/>
          <p:cNvSpPr txBox="1"/>
          <p:nvPr/>
        </p:nvSpPr>
        <p:spPr>
          <a:xfrm>
            <a:off x="978408" y="4772279"/>
            <a:ext cx="10436047" cy="700278"/>
          </a:xfrm>
          <a:prstGeom prst="rect">
            <a:avLst/>
          </a:prstGeom>
          <a:noFill/>
        </p:spPr>
        <p:txBody>
          <a:bodyPr wrap="square" lIns="0" tIns="0" rIns="0" bIns="0">
            <a:spAutoFit/>
          </a:bodyPr>
          <a:lstStyle/>
          <a:p>
            <a:pPr>
              <a:lnSpc>
                <a:spcPct val="124000"/>
              </a:lnSpc>
              <a:spcAft>
                <a:spcPts val="0"/>
              </a:spcAft>
            </a:pPr>
            <a:r>
              <a:rPr sz="1300" b="1">
                <a:solidFill>
                  <a:srgbClr val="17150F"/>
                </a:solidFill>
                <a:latin typeface="Arial"/>
              </a:rPr>
              <a:t>El informe en Looker Studio, tres vistas</a:t>
            </a:r>
            <a:r>
              <a:rPr sz="1300" b="0">
                <a:solidFill>
                  <a:srgbClr val="555045"/>
                </a:solidFill>
                <a:latin typeface="Arial"/>
              </a:rPr>
              <a:t>: el pedido de la semana filtrable por tienda, el servicio real frente al prometido, y el coste acumulado. El proceso ya devuelve código de error cuando una verificación falla, así que la alerta se conecta sin escribir nada nuevo.</a:t>
            </a:r>
          </a:p>
        </p:txBody>
      </p:sp>
      <p:sp>
        <p:nvSpPr>
          <p:cNvPr id="35" name="Rectangle 34"/>
          <p:cNvSpPr/>
          <p:nvPr/>
        </p:nvSpPr>
        <p:spPr>
          <a:xfrm>
            <a:off x="777240" y="6327648"/>
            <a:ext cx="10637215" cy="9525"/>
          </a:xfrm>
          <a:prstGeom prst="rect">
            <a:avLst/>
          </a:prstGeom>
          <a:solidFill>
            <a:srgbClr val="DCD8C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6" name="TextBox 35"/>
          <p:cNvSpPr txBox="1"/>
          <p:nvPr/>
        </p:nvSpPr>
        <p:spPr>
          <a:xfrm>
            <a:off x="777240" y="6428232"/>
            <a:ext cx="8686800" cy="274320"/>
          </a:xfrm>
          <a:prstGeom prst="rect">
            <a:avLst/>
          </a:prstGeom>
          <a:noFill/>
        </p:spPr>
        <p:txBody>
          <a:bodyPr wrap="square" lIns="0" tIns="0" rIns="0" bIns="0">
            <a:spAutoFit/>
          </a:bodyPr>
          <a:lstStyle/>
          <a:p>
            <a:pPr algn="l">
              <a:lnSpc>
                <a:spcPct val="122000"/>
              </a:lnSpc>
              <a:spcBef>
                <a:spcPts val="0"/>
              </a:spcBef>
              <a:spcAft>
                <a:spcPts val="0"/>
              </a:spcAft>
            </a:pPr>
            <a:r>
              <a:rPr sz="950" b="0">
                <a:solidFill>
                  <a:srgbClr val="8B8478"/>
                </a:solidFill>
                <a:latin typeface="Arial"/>
              </a:rPr>
              <a:t>Próximos pasos · Automatización</a:t>
            </a:r>
          </a:p>
        </p:txBody>
      </p:sp>
      <p:sp>
        <p:nvSpPr>
          <p:cNvPr id="37" name="TextBox 36"/>
          <p:cNvSpPr txBox="1"/>
          <p:nvPr/>
        </p:nvSpPr>
        <p:spPr>
          <a:xfrm>
            <a:off x="10500055" y="6428232"/>
            <a:ext cx="914400" cy="274320"/>
          </a:xfrm>
          <a:prstGeom prst="rect">
            <a:avLst/>
          </a:prstGeom>
          <a:noFill/>
        </p:spPr>
        <p:txBody>
          <a:bodyPr wrap="square" lIns="0" tIns="0" rIns="0" bIns="0">
            <a:spAutoFit/>
          </a:bodyPr>
          <a:lstStyle/>
          <a:p>
            <a:pPr algn="r">
              <a:lnSpc>
                <a:spcPct val="122000"/>
              </a:lnSpc>
              <a:spcBef>
                <a:spcPts val="0"/>
              </a:spcBef>
              <a:spcAft>
                <a:spcPts val="0"/>
              </a:spcAft>
            </a:pPr>
            <a:r>
              <a:rPr sz="950" b="0">
                <a:solidFill>
                  <a:srgbClr val="8B8478"/>
                </a:solidFill>
                <a:latin typeface="Arial"/>
              </a:rPr>
              <a:t>51</a:t>
            </a:r>
          </a:p>
        </p:txBody>
      </p:sp>
    </p:spTree>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858000"/>
          </a:xfrm>
          <a:prstGeom prst="rect">
            <a:avLst/>
          </a:prstGeom>
          <a:solidFill>
            <a:srgbClr val="F4F2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Rectangle 2"/>
          <p:cNvSpPr/>
          <p:nvPr/>
        </p:nvSpPr>
        <p:spPr>
          <a:xfrm>
            <a:off x="0" y="0"/>
            <a:ext cx="114300" cy="6858000"/>
          </a:xfrm>
          <a:prstGeom prst="rect">
            <a:avLst/>
          </a:prstGeom>
          <a:solidFill>
            <a:srgbClr val="8C2F3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TextBox 3"/>
          <p:cNvSpPr txBox="1"/>
          <p:nvPr/>
        </p:nvSpPr>
        <p:spPr>
          <a:xfrm>
            <a:off x="777240" y="822960"/>
            <a:ext cx="10058400" cy="274320"/>
          </a:xfrm>
          <a:prstGeom prst="rect">
            <a:avLst/>
          </a:prstGeom>
          <a:noFill/>
        </p:spPr>
        <p:txBody>
          <a:bodyPr wrap="square" lIns="0" tIns="0" rIns="0" bIns="0">
            <a:spAutoFit/>
          </a:bodyPr>
          <a:lstStyle/>
          <a:p>
            <a:pPr algn="l">
              <a:lnSpc>
                <a:spcPct val="122000"/>
              </a:lnSpc>
              <a:spcBef>
                <a:spcPts val="0"/>
              </a:spcBef>
              <a:spcAft>
                <a:spcPts val="0"/>
              </a:spcAft>
            </a:pPr>
            <a:r>
              <a:rPr sz="1200" b="1">
                <a:solidFill>
                  <a:srgbClr val="8C2F39"/>
                </a:solidFill>
                <a:latin typeface="Arial"/>
              </a:rPr>
              <a:t>PARA LLEVARSE</a:t>
            </a:r>
          </a:p>
        </p:txBody>
      </p:sp>
      <p:sp>
        <p:nvSpPr>
          <p:cNvPr id="5" name="TextBox 4"/>
          <p:cNvSpPr txBox="1"/>
          <p:nvPr/>
        </p:nvSpPr>
        <p:spPr>
          <a:xfrm>
            <a:off x="777240" y="1280160"/>
            <a:ext cx="10058400" cy="731520"/>
          </a:xfrm>
          <a:prstGeom prst="rect">
            <a:avLst/>
          </a:prstGeom>
          <a:noFill/>
        </p:spPr>
        <p:txBody>
          <a:bodyPr wrap="square" lIns="0" tIns="0" rIns="0" bIns="0">
            <a:spAutoFit/>
          </a:bodyPr>
          <a:lstStyle/>
          <a:p>
            <a:pPr algn="l">
              <a:lnSpc>
                <a:spcPct val="105000"/>
              </a:lnSpc>
              <a:spcBef>
                <a:spcPts val="0"/>
              </a:spcBef>
              <a:spcAft>
                <a:spcPts val="0"/>
              </a:spcAft>
            </a:pPr>
            <a:r>
              <a:rPr sz="3400" b="1">
                <a:solidFill>
                  <a:srgbClr val="17150F"/>
                </a:solidFill>
                <a:latin typeface="Arial"/>
              </a:rPr>
              <a:t>Cuatro mensajes</a:t>
            </a:r>
          </a:p>
        </p:txBody>
      </p:sp>
      <p:sp>
        <p:nvSpPr>
          <p:cNvPr id="6" name="Rectangle 5"/>
          <p:cNvSpPr/>
          <p:nvPr/>
        </p:nvSpPr>
        <p:spPr>
          <a:xfrm>
            <a:off x="777240" y="2286000"/>
            <a:ext cx="10637215" cy="914400"/>
          </a:xfrm>
          <a:prstGeom prst="rect">
            <a:avLst/>
          </a:prstGeom>
          <a:solidFill>
            <a:srgbClr val="FFFFFF"/>
          </a:solidFill>
          <a:ln w="9525">
            <a:solidFill>
              <a:srgbClr val="DCD8C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7" name="TextBox 6"/>
          <p:cNvSpPr txBox="1"/>
          <p:nvPr/>
        </p:nvSpPr>
        <p:spPr>
          <a:xfrm>
            <a:off x="1014984" y="2468880"/>
            <a:ext cx="365760" cy="548640"/>
          </a:xfrm>
          <a:prstGeom prst="rect">
            <a:avLst/>
          </a:prstGeom>
          <a:noFill/>
        </p:spPr>
        <p:txBody>
          <a:bodyPr wrap="square" lIns="0" tIns="0" rIns="0" bIns="0">
            <a:spAutoFit/>
          </a:bodyPr>
          <a:lstStyle/>
          <a:p>
            <a:pPr algn="l">
              <a:lnSpc>
                <a:spcPct val="100000"/>
              </a:lnSpc>
              <a:spcBef>
                <a:spcPts val="0"/>
              </a:spcBef>
              <a:spcAft>
                <a:spcPts val="0"/>
              </a:spcAft>
            </a:pPr>
            <a:r>
              <a:rPr sz="2200" b="1">
                <a:solidFill>
                  <a:srgbClr val="8C2F39"/>
                </a:solidFill>
                <a:latin typeface="Arial"/>
              </a:rPr>
              <a:t>1</a:t>
            </a:r>
          </a:p>
        </p:txBody>
      </p:sp>
      <p:sp>
        <p:nvSpPr>
          <p:cNvPr id="8" name="TextBox 7"/>
          <p:cNvSpPr txBox="1"/>
          <p:nvPr/>
        </p:nvSpPr>
        <p:spPr>
          <a:xfrm>
            <a:off x="1490472" y="2441448"/>
            <a:ext cx="9631375" cy="640080"/>
          </a:xfrm>
          <a:prstGeom prst="rect">
            <a:avLst/>
          </a:prstGeom>
          <a:noFill/>
        </p:spPr>
        <p:txBody>
          <a:bodyPr wrap="square" lIns="0" tIns="0" rIns="0" bIns="0">
            <a:spAutoFit/>
          </a:bodyPr>
          <a:lstStyle/>
          <a:p>
            <a:pPr algn="l">
              <a:lnSpc>
                <a:spcPct val="115000"/>
              </a:lnSpc>
              <a:spcBef>
                <a:spcPts val="0"/>
              </a:spcBef>
              <a:spcAft>
                <a:spcPts val="400"/>
              </a:spcAft>
            </a:pPr>
            <a:r>
              <a:rPr sz="1500" b="1">
                <a:solidFill>
                  <a:srgbClr val="17150F"/>
                </a:solidFill>
                <a:latin typeface="Arial"/>
              </a:rPr>
              <a:t>La decisión no es el pronóstico, es el cuantil</a:t>
            </a:r>
          </a:p>
          <a:p>
            <a:pPr algn="l">
              <a:lnSpc>
                <a:spcPct val="125000"/>
              </a:lnSpc>
              <a:spcBef>
                <a:spcPts val="0"/>
              </a:spcBef>
              <a:spcAft>
                <a:spcPts val="0"/>
              </a:spcAft>
            </a:pPr>
            <a:r>
              <a:rPr sz="1250" b="0">
                <a:solidFill>
                  <a:srgbClr val="555045"/>
                </a:solidFill>
                <a:latin typeface="Arial"/>
              </a:rPr>
              <a:t>Cada producto pide el nivel que marcan sus dos costes. El colchón va del 2,7 % al 6,3 % según el margen, sin que nadie lo decida a mano.</a:t>
            </a:r>
          </a:p>
        </p:txBody>
      </p:sp>
      <p:sp>
        <p:nvSpPr>
          <p:cNvPr id="9" name="Rectangle 8"/>
          <p:cNvSpPr/>
          <p:nvPr/>
        </p:nvSpPr>
        <p:spPr>
          <a:xfrm>
            <a:off x="777240" y="3291840"/>
            <a:ext cx="10637215" cy="914400"/>
          </a:xfrm>
          <a:prstGeom prst="rect">
            <a:avLst/>
          </a:prstGeom>
          <a:solidFill>
            <a:srgbClr val="FFFFFF"/>
          </a:solidFill>
          <a:ln w="9525">
            <a:solidFill>
              <a:srgbClr val="DCD8C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0" name="TextBox 9"/>
          <p:cNvSpPr txBox="1"/>
          <p:nvPr/>
        </p:nvSpPr>
        <p:spPr>
          <a:xfrm>
            <a:off x="1014984" y="3474720"/>
            <a:ext cx="365760" cy="548640"/>
          </a:xfrm>
          <a:prstGeom prst="rect">
            <a:avLst/>
          </a:prstGeom>
          <a:noFill/>
        </p:spPr>
        <p:txBody>
          <a:bodyPr wrap="square" lIns="0" tIns="0" rIns="0" bIns="0">
            <a:spAutoFit/>
          </a:bodyPr>
          <a:lstStyle/>
          <a:p>
            <a:pPr algn="l">
              <a:lnSpc>
                <a:spcPct val="100000"/>
              </a:lnSpc>
              <a:spcBef>
                <a:spcPts val="0"/>
              </a:spcBef>
              <a:spcAft>
                <a:spcPts val="0"/>
              </a:spcAft>
            </a:pPr>
            <a:r>
              <a:rPr sz="2200" b="1">
                <a:solidFill>
                  <a:srgbClr val="8C2F39"/>
                </a:solidFill>
                <a:latin typeface="Arial"/>
              </a:rPr>
              <a:t>2</a:t>
            </a:r>
          </a:p>
        </p:txBody>
      </p:sp>
      <p:sp>
        <p:nvSpPr>
          <p:cNvPr id="11" name="TextBox 10"/>
          <p:cNvSpPr txBox="1"/>
          <p:nvPr/>
        </p:nvSpPr>
        <p:spPr>
          <a:xfrm>
            <a:off x="1490472" y="3447288"/>
            <a:ext cx="9631375" cy="640080"/>
          </a:xfrm>
          <a:prstGeom prst="rect">
            <a:avLst/>
          </a:prstGeom>
          <a:noFill/>
        </p:spPr>
        <p:txBody>
          <a:bodyPr wrap="square" lIns="0" tIns="0" rIns="0" bIns="0">
            <a:spAutoFit/>
          </a:bodyPr>
          <a:lstStyle/>
          <a:p>
            <a:pPr algn="l">
              <a:lnSpc>
                <a:spcPct val="115000"/>
              </a:lnSpc>
              <a:spcBef>
                <a:spcPts val="0"/>
              </a:spcBef>
              <a:spcAft>
                <a:spcPts val="400"/>
              </a:spcAft>
            </a:pPr>
            <a:r>
              <a:rPr sz="1500" b="1">
                <a:solidFill>
                  <a:srgbClr val="17150F"/>
                </a:solidFill>
                <a:latin typeface="Arial"/>
              </a:rPr>
              <a:t>La regla aporta más que el modelo</a:t>
            </a:r>
          </a:p>
          <a:p>
            <a:pPr algn="l">
              <a:lnSpc>
                <a:spcPct val="125000"/>
              </a:lnSpc>
              <a:spcBef>
                <a:spcPts val="0"/>
              </a:spcBef>
              <a:spcAft>
                <a:spcPts val="0"/>
              </a:spcAft>
            </a:pPr>
            <a:r>
              <a:rPr sz="1250" b="0">
                <a:solidFill>
                  <a:srgbClr val="555045"/>
                </a:solidFill>
                <a:latin typeface="Arial"/>
              </a:rPr>
              <a:t>Seis de cada diez pesos del ahorro vienen de cambiar la regla de pedido. El modelo aporta uno de cada diez. Es incómodo y dice dónde poner el esfuerzo.</a:t>
            </a:r>
          </a:p>
        </p:txBody>
      </p:sp>
      <p:sp>
        <p:nvSpPr>
          <p:cNvPr id="12" name="Rectangle 11"/>
          <p:cNvSpPr/>
          <p:nvPr/>
        </p:nvSpPr>
        <p:spPr>
          <a:xfrm>
            <a:off x="777240" y="4297680"/>
            <a:ext cx="10637215" cy="914400"/>
          </a:xfrm>
          <a:prstGeom prst="rect">
            <a:avLst/>
          </a:prstGeom>
          <a:solidFill>
            <a:srgbClr val="FFFFFF"/>
          </a:solidFill>
          <a:ln w="9525">
            <a:solidFill>
              <a:srgbClr val="DCD8C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3" name="TextBox 12"/>
          <p:cNvSpPr txBox="1"/>
          <p:nvPr/>
        </p:nvSpPr>
        <p:spPr>
          <a:xfrm>
            <a:off x="1014984" y="4480560"/>
            <a:ext cx="365760" cy="548640"/>
          </a:xfrm>
          <a:prstGeom prst="rect">
            <a:avLst/>
          </a:prstGeom>
          <a:noFill/>
        </p:spPr>
        <p:txBody>
          <a:bodyPr wrap="square" lIns="0" tIns="0" rIns="0" bIns="0">
            <a:spAutoFit/>
          </a:bodyPr>
          <a:lstStyle/>
          <a:p>
            <a:pPr algn="l">
              <a:lnSpc>
                <a:spcPct val="100000"/>
              </a:lnSpc>
              <a:spcBef>
                <a:spcPts val="0"/>
              </a:spcBef>
              <a:spcAft>
                <a:spcPts val="0"/>
              </a:spcAft>
            </a:pPr>
            <a:r>
              <a:rPr sz="2200" b="1">
                <a:solidFill>
                  <a:srgbClr val="8C2F39"/>
                </a:solidFill>
                <a:latin typeface="Arial"/>
              </a:rPr>
              <a:t>3</a:t>
            </a:r>
          </a:p>
        </p:txBody>
      </p:sp>
      <p:sp>
        <p:nvSpPr>
          <p:cNvPr id="14" name="TextBox 13"/>
          <p:cNvSpPr txBox="1"/>
          <p:nvPr/>
        </p:nvSpPr>
        <p:spPr>
          <a:xfrm>
            <a:off x="1490472" y="4453128"/>
            <a:ext cx="9631375" cy="640080"/>
          </a:xfrm>
          <a:prstGeom prst="rect">
            <a:avLst/>
          </a:prstGeom>
          <a:noFill/>
        </p:spPr>
        <p:txBody>
          <a:bodyPr wrap="square" lIns="0" tIns="0" rIns="0" bIns="0">
            <a:spAutoFit/>
          </a:bodyPr>
          <a:lstStyle/>
          <a:p>
            <a:pPr algn="l">
              <a:lnSpc>
                <a:spcPct val="115000"/>
              </a:lnSpc>
              <a:spcBef>
                <a:spcPts val="0"/>
              </a:spcBef>
              <a:spcAft>
                <a:spcPts val="400"/>
              </a:spcAft>
            </a:pPr>
            <a:r>
              <a:rPr sz="1500" b="1">
                <a:solidFill>
                  <a:srgbClr val="17150F"/>
                </a:solidFill>
                <a:latin typeface="Arial"/>
              </a:rPr>
              <a:t>El resultado depende de un supuesto de negocio</a:t>
            </a:r>
          </a:p>
          <a:p>
            <a:pPr algn="l">
              <a:lnSpc>
                <a:spcPct val="125000"/>
              </a:lnSpc>
              <a:spcBef>
                <a:spcPts val="0"/>
              </a:spcBef>
              <a:spcAft>
                <a:spcPts val="0"/>
              </a:spcAft>
            </a:pPr>
            <a:r>
              <a:rPr sz="1250" b="0">
                <a:solidFill>
                  <a:srgbClr val="555045"/>
                </a:solidFill>
                <a:latin typeface="Arial"/>
              </a:rPr>
              <a:t>Si el sobrante se guarda, el ahorro es del 92,6 %. Si se tira, del 5,2 %. Recomendamos planificar con el segundo y medir la merma real en el piloto.</a:t>
            </a:r>
          </a:p>
        </p:txBody>
      </p:sp>
      <p:sp>
        <p:nvSpPr>
          <p:cNvPr id="15" name="Rectangle 14"/>
          <p:cNvSpPr/>
          <p:nvPr/>
        </p:nvSpPr>
        <p:spPr>
          <a:xfrm>
            <a:off x="777240" y="5303520"/>
            <a:ext cx="10637215" cy="914400"/>
          </a:xfrm>
          <a:prstGeom prst="rect">
            <a:avLst/>
          </a:prstGeom>
          <a:solidFill>
            <a:srgbClr val="FFFFFF"/>
          </a:solidFill>
          <a:ln w="9525">
            <a:solidFill>
              <a:srgbClr val="DCD8C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6" name="TextBox 15"/>
          <p:cNvSpPr txBox="1"/>
          <p:nvPr/>
        </p:nvSpPr>
        <p:spPr>
          <a:xfrm>
            <a:off x="1014984" y="5486400"/>
            <a:ext cx="365760" cy="548640"/>
          </a:xfrm>
          <a:prstGeom prst="rect">
            <a:avLst/>
          </a:prstGeom>
          <a:noFill/>
        </p:spPr>
        <p:txBody>
          <a:bodyPr wrap="square" lIns="0" tIns="0" rIns="0" bIns="0">
            <a:spAutoFit/>
          </a:bodyPr>
          <a:lstStyle/>
          <a:p>
            <a:pPr algn="l">
              <a:lnSpc>
                <a:spcPct val="100000"/>
              </a:lnSpc>
              <a:spcBef>
                <a:spcPts val="0"/>
              </a:spcBef>
              <a:spcAft>
                <a:spcPts val="0"/>
              </a:spcAft>
            </a:pPr>
            <a:r>
              <a:rPr sz="2200" b="1">
                <a:solidFill>
                  <a:srgbClr val="8C2F39"/>
                </a:solidFill>
                <a:latin typeface="Arial"/>
              </a:rPr>
              <a:t>4</a:t>
            </a:r>
          </a:p>
        </p:txBody>
      </p:sp>
      <p:sp>
        <p:nvSpPr>
          <p:cNvPr id="17" name="TextBox 16"/>
          <p:cNvSpPr txBox="1"/>
          <p:nvPr/>
        </p:nvSpPr>
        <p:spPr>
          <a:xfrm>
            <a:off x="1490472" y="5458968"/>
            <a:ext cx="9631375" cy="640080"/>
          </a:xfrm>
          <a:prstGeom prst="rect">
            <a:avLst/>
          </a:prstGeom>
          <a:noFill/>
        </p:spPr>
        <p:txBody>
          <a:bodyPr wrap="square" lIns="0" tIns="0" rIns="0" bIns="0">
            <a:spAutoFit/>
          </a:bodyPr>
          <a:lstStyle/>
          <a:p>
            <a:pPr algn="l">
              <a:lnSpc>
                <a:spcPct val="115000"/>
              </a:lnSpc>
              <a:spcBef>
                <a:spcPts val="0"/>
              </a:spcBef>
              <a:spcAft>
                <a:spcPts val="400"/>
              </a:spcAft>
            </a:pPr>
            <a:r>
              <a:rPr sz="1500" b="1">
                <a:solidFill>
                  <a:srgbClr val="17150F"/>
                </a:solidFill>
                <a:latin typeface="Arial"/>
              </a:rPr>
              <a:t>Lo que se entrega ya se puede ejecutar</a:t>
            </a:r>
          </a:p>
          <a:p>
            <a:pPr algn="l">
              <a:lnSpc>
                <a:spcPct val="125000"/>
              </a:lnSpc>
              <a:spcBef>
                <a:spcPts val="0"/>
              </a:spcBef>
              <a:spcAft>
                <a:spcPts val="0"/>
              </a:spcAft>
            </a:pPr>
            <a:r>
              <a:rPr sz="1250" b="0">
                <a:solidFill>
                  <a:srgbClr val="555045"/>
                </a:solidFill>
                <a:latin typeface="Arial"/>
              </a:rPr>
              <a:t>12.290 unidades para la semana 14, tienda por tienda y producto por producto, con doce verificaciones en verde.</a:t>
            </a:r>
          </a:p>
        </p:txBody>
      </p:sp>
      <p:sp>
        <p:nvSpPr>
          <p:cNvPr id="18" name="TextBox 17"/>
          <p:cNvSpPr txBox="1"/>
          <p:nvPr/>
        </p:nvSpPr>
        <p:spPr>
          <a:xfrm>
            <a:off x="10500055" y="6428232"/>
            <a:ext cx="914400" cy="274320"/>
          </a:xfrm>
          <a:prstGeom prst="rect">
            <a:avLst/>
          </a:prstGeom>
          <a:noFill/>
        </p:spPr>
        <p:txBody>
          <a:bodyPr wrap="square" lIns="0" tIns="0" rIns="0" bIns="0">
            <a:spAutoFit/>
          </a:bodyPr>
          <a:lstStyle/>
          <a:p>
            <a:pPr algn="r">
              <a:lnSpc>
                <a:spcPct val="122000"/>
              </a:lnSpc>
              <a:spcBef>
                <a:spcPts val="0"/>
              </a:spcBef>
              <a:spcAft>
                <a:spcPts val="0"/>
              </a:spcAft>
            </a:pPr>
            <a:r>
              <a:rPr sz="950" b="0">
                <a:solidFill>
                  <a:srgbClr val="8B8478"/>
                </a:solidFill>
                <a:latin typeface="Arial"/>
              </a:rPr>
              <a:t>52</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235</TotalTime>
  <Words>5309</Words>
  <Application>Microsoft Macintosh PowerPoint</Application>
  <PresentationFormat>Widescreen</PresentationFormat>
  <Paragraphs>765</Paragraphs>
  <Slides>44</Slides>
  <Notes>0</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44</vt:i4>
      </vt:variant>
    </vt:vector>
  </HeadingPairs>
  <TitlesOfParts>
    <vt:vector size="47" baseType="lpstr">
      <vt:lpstr>Arial</vt:lpstr>
      <vt:lpstr>Calibri</vt:lpstr>
      <vt:lpstr>Office Theme</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vector>
  </TitlesOfParts>
  <Manager/>
  <Company/>
  <LinksUpToDate>false</LinksUpToDate>
  <SharedDoc>false</SharedDoc>
  <HyperlinkBase/>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Danilo Melo</cp:lastModifiedBy>
  <cp:revision>8</cp:revision>
  <dcterms:created xsi:type="dcterms:W3CDTF">2013-01-27T09:14:16Z</dcterms:created>
  <dcterms:modified xsi:type="dcterms:W3CDTF">2026-09-12T17:45:31Z</dcterms:modified>
  <cp:category/>
</cp:coreProperties>
</file>