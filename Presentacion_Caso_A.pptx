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417320"/>
            <a:ext cx="10058400" cy="274320"/>
          </a:xfrm>
          <a:prstGeom prst="rect">
            <a:avLst/>
          </a:prstGeom>
          <a:noFill/>
        </p:spPr>
        <p:txBody>
          <a:bodyPr wrap="square" lIns="0" rIns="0" tIns="0" bIns="0">
            <a:spAutoFit/>
          </a:bodyPr>
          <a:lstStyle/>
          <a:p>
            <a:pPr algn="l">
              <a:lnSpc>
                <a:spcPct val="122000"/>
              </a:lnSpc>
              <a:spcBef>
                <a:spcPts val="0"/>
              </a:spcBef>
              <a:spcAft>
                <a:spcPts val="0"/>
              </a:spcAft>
            </a:pPr>
            <a:r>
              <a:rPr sz="1200" b="1">
                <a:solidFill>
                  <a:srgbClr val="8C2F39"/>
                </a:solidFill>
                <a:latin typeface="Arial"/>
              </a:rPr>
              <a:t>CASO A  ·  OPTIMIZACIÓN DE ABASTECIMIENTO</a:t>
            </a:r>
          </a:p>
        </p:txBody>
      </p:sp>
      <p:sp>
        <p:nvSpPr>
          <p:cNvPr id="5" name="TextBox 4"/>
          <p:cNvSpPr txBox="1"/>
          <p:nvPr/>
        </p:nvSpPr>
        <p:spPr>
          <a:xfrm>
            <a:off x="777240" y="1965960"/>
            <a:ext cx="9692640" cy="2011680"/>
          </a:xfrm>
          <a:prstGeom prst="rect">
            <a:avLst/>
          </a:prstGeom>
          <a:noFill/>
        </p:spPr>
        <p:txBody>
          <a:bodyPr wrap="square" lIns="0" rIns="0" tIns="0" bIns="0">
            <a:spAutoFit/>
          </a:bodyPr>
          <a:lstStyle/>
          <a:p>
            <a:pPr algn="l">
              <a:lnSpc>
                <a:spcPct val="106000"/>
              </a:lnSpc>
              <a:spcBef>
                <a:spcPts val="0"/>
              </a:spcBef>
              <a:spcAft>
                <a:spcPts val="0"/>
              </a:spcAft>
            </a:pPr>
            <a:r>
              <a:rPr sz="4000" b="1">
                <a:solidFill>
                  <a:srgbClr val="17150F"/>
                </a:solidFill>
                <a:latin typeface="Arial"/>
              </a:rPr>
              <a:t>Cuánto pedir cada semana,
producto por producto
y tienda por tienda</a:t>
            </a:r>
          </a:p>
        </p:txBody>
      </p:sp>
      <p:sp>
        <p:nvSpPr>
          <p:cNvPr id="6" name="TextBox 5"/>
          <p:cNvSpPr txBox="1"/>
          <p:nvPr/>
        </p:nvSpPr>
        <p:spPr>
          <a:xfrm>
            <a:off x="777240" y="4343400"/>
            <a:ext cx="8595360" cy="914400"/>
          </a:xfrm>
          <a:prstGeom prst="rect">
            <a:avLst/>
          </a:prstGeom>
          <a:noFill/>
        </p:spPr>
        <p:txBody>
          <a:bodyPr wrap="square" lIns="0" rIns="0" tIns="0" bIns="0">
            <a:spAutoFit/>
          </a:bodyPr>
          <a:lstStyle/>
          <a:p>
            <a:pPr algn="l">
              <a:lnSpc>
                <a:spcPct val="135000"/>
              </a:lnSpc>
              <a:spcBef>
                <a:spcPts val="0"/>
              </a:spcBef>
              <a:spcAft>
                <a:spcPts val="0"/>
              </a:spcAft>
            </a:pPr>
            <a:r>
              <a:rPr sz="1550" b="0">
                <a:solidFill>
                  <a:srgbClr val="555045"/>
                </a:solidFill>
                <a:latin typeface="Arial"/>
              </a:rPr>
              <a:t>El entregable no es un pronóstico. Es la cantidad que cada tienda ejecuta, calculada a partir de lo que cuesta quedarse corto y lo que cuesta que sobre.</a:t>
            </a:r>
          </a:p>
        </p:txBody>
      </p:sp>
      <p:sp>
        <p:nvSpPr>
          <p:cNvPr id="7" name="Rectangle 6"/>
          <p:cNvSpPr/>
          <p:nvPr/>
        </p:nvSpPr>
        <p:spPr>
          <a:xfrm>
            <a:off x="777240" y="5440680"/>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5669280"/>
            <a:ext cx="9144000" cy="548640"/>
          </a:xfrm>
          <a:prstGeom prst="rect">
            <a:avLst/>
          </a:prstGeom>
          <a:noFill/>
        </p:spPr>
        <p:txBody>
          <a:bodyPr wrap="square" lIns="0" rIns="0" tIns="0" bIns="0">
            <a:spAutoFit/>
          </a:bodyPr>
          <a:lstStyle/>
          <a:p>
            <a:pPr algn="l">
              <a:lnSpc>
                <a:spcPct val="122000"/>
              </a:lnSpc>
              <a:spcBef>
                <a:spcPts val="0"/>
              </a:spcBef>
              <a:spcAft>
                <a:spcPts val="200"/>
              </a:spcAft>
            </a:pPr>
            <a:r>
              <a:rPr sz="1250" b="0">
                <a:solidFill>
                  <a:srgbClr val="8B8478"/>
                </a:solidFill>
                <a:latin typeface="Arial"/>
              </a:rPr>
              <a:t>Prueba técnica · Data Scientist Senior</a:t>
            </a:r>
          </a:p>
          <a:p>
            <a:pPr algn="l">
              <a:lnSpc>
                <a:spcPct val="122000"/>
              </a:lnSpc>
              <a:spcBef>
                <a:spcPts val="0"/>
              </a:spcBef>
              <a:spcAft>
                <a:spcPts val="0"/>
              </a:spcAft>
            </a:pPr>
            <a:r>
              <a:rPr sz="1250" b="0">
                <a:solidFill>
                  <a:srgbClr val="8B8478"/>
                </a:solidFill>
                <a:latin typeface="Arial"/>
              </a:rPr>
              <a:t>20 tiendas · 8 productos · 13 semanas · 2.080 observaciones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RESUMEN EJECUTIVO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445770"/>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Qué se propone y cuánto vale</a:t>
            </a:r>
          </a:p>
        </p:txBody>
      </p:sp>
      <p:sp>
        <p:nvSpPr>
          <p:cNvPr id="6" name="TextBox 5"/>
          <p:cNvSpPr txBox="1"/>
          <p:nvPr/>
        </p:nvSpPr>
        <p:spPr>
          <a:xfrm>
            <a:off x="777240" y="1506474"/>
            <a:ext cx="9966960" cy="530098"/>
          </a:xfrm>
          <a:prstGeom prst="rect">
            <a:avLst/>
          </a:prstGeom>
          <a:noFill/>
        </p:spPr>
        <p:txBody>
          <a:bodyPr wrap="square" lIns="0" rIns="0" tIns="0" bIns="0">
            <a:spAutoFit/>
          </a:bodyPr>
          <a:lstStyle/>
          <a:p>
            <a:pPr algn="l">
              <a:lnSpc>
                <a:spcPct val="130000"/>
              </a:lnSpc>
              <a:spcBef>
                <a:spcPts val="0"/>
              </a:spcBef>
              <a:spcAft>
                <a:spcPts val="0"/>
              </a:spcAft>
            </a:pPr>
            <a:r>
              <a:rPr sz="1450" b="0">
                <a:solidFill>
                  <a:srgbClr val="555045"/>
                </a:solidFill>
                <a:latin typeface="Arial"/>
              </a:rPr>
              <a:t>Una política de pedido que calcula, para cada producto y tienda, cuántas unidades tener en estantería según lo que cuesta la venta perdida frente a lo que cuesta la merma.</a:t>
            </a:r>
          </a:p>
        </p:txBody>
      </p:sp>
      <p:sp>
        <p:nvSpPr>
          <p:cNvPr id="7" name="Rectangle 6"/>
          <p:cNvSpPr/>
          <p:nvPr/>
        </p:nvSpPr>
        <p:spPr>
          <a:xfrm>
            <a:off x="777240" y="2237740"/>
            <a:ext cx="2549575" cy="11430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1832" y="2365756"/>
            <a:ext cx="2220391" cy="960120"/>
          </a:xfrm>
          <a:prstGeom prst="rect">
            <a:avLst/>
          </a:prstGeom>
          <a:noFill/>
        </p:spPr>
        <p:txBody>
          <a:bodyPr wrap="square" lIns="0" rIns="0" tIns="0" bIns="0">
            <a:spAutoFit/>
          </a:bodyPr>
          <a:lstStyle/>
          <a:p>
            <a:pPr algn="l">
              <a:lnSpc>
                <a:spcPct val="122000"/>
              </a:lnSpc>
              <a:spcBef>
                <a:spcPts val="0"/>
              </a:spcBef>
              <a:spcAft>
                <a:spcPts val="300"/>
              </a:spcAft>
            </a:pPr>
            <a:r>
              <a:rPr sz="950" b="1">
                <a:solidFill>
                  <a:srgbClr val="8B8478"/>
                </a:solidFill>
                <a:latin typeface="Arial"/>
              </a:rPr>
              <a:t>PEDIDO SEMANA 14</a:t>
            </a:r>
          </a:p>
          <a:p>
            <a:pPr algn="l">
              <a:lnSpc>
                <a:spcPct val="100000"/>
              </a:lnSpc>
              <a:spcBef>
                <a:spcPts val="0"/>
              </a:spcBef>
              <a:spcAft>
                <a:spcPts val="300"/>
              </a:spcAft>
            </a:pPr>
            <a:r>
              <a:rPr sz="2500" b="1">
                <a:solidFill>
                  <a:srgbClr val="17150F"/>
                </a:solidFill>
                <a:latin typeface="Arial"/>
              </a:rPr>
              <a:t>12.290</a:t>
            </a:r>
          </a:p>
          <a:p>
            <a:pPr algn="l">
              <a:lnSpc>
                <a:spcPct val="120000"/>
              </a:lnSpc>
              <a:spcBef>
                <a:spcPts val="0"/>
              </a:spcBef>
              <a:spcAft>
                <a:spcPts val="0"/>
              </a:spcAft>
            </a:pPr>
            <a:r>
              <a:rPr sz="1050" b="0">
                <a:solidFill>
                  <a:srgbClr val="555045"/>
                </a:solidFill>
                <a:latin typeface="Arial"/>
              </a:rPr>
              <a:t>unidades listas para ejecutar</a:t>
            </a:r>
          </a:p>
        </p:txBody>
      </p:sp>
      <p:sp>
        <p:nvSpPr>
          <p:cNvPr id="9" name="Rectangle 8"/>
          <p:cNvSpPr/>
          <p:nvPr/>
        </p:nvSpPr>
        <p:spPr>
          <a:xfrm>
            <a:off x="3473119" y="2237740"/>
            <a:ext cx="2549575" cy="11430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37711" y="2365756"/>
            <a:ext cx="2220391" cy="960120"/>
          </a:xfrm>
          <a:prstGeom prst="rect">
            <a:avLst/>
          </a:prstGeom>
          <a:noFill/>
        </p:spPr>
        <p:txBody>
          <a:bodyPr wrap="square" lIns="0" rIns="0" tIns="0" bIns="0">
            <a:spAutoFit/>
          </a:bodyPr>
          <a:lstStyle/>
          <a:p>
            <a:pPr algn="l">
              <a:lnSpc>
                <a:spcPct val="122000"/>
              </a:lnSpc>
              <a:spcBef>
                <a:spcPts val="0"/>
              </a:spcBef>
              <a:spcAft>
                <a:spcPts val="300"/>
              </a:spcAft>
            </a:pPr>
            <a:r>
              <a:rPr sz="950" b="1">
                <a:solidFill>
                  <a:srgbClr val="8B8478"/>
                </a:solidFill>
                <a:latin typeface="Arial"/>
              </a:rPr>
              <a:t>AHORRO MEDIDO</a:t>
            </a:r>
          </a:p>
          <a:p>
            <a:pPr algn="l">
              <a:lnSpc>
                <a:spcPct val="100000"/>
              </a:lnSpc>
              <a:spcBef>
                <a:spcPts val="0"/>
              </a:spcBef>
              <a:spcAft>
                <a:spcPts val="300"/>
              </a:spcAft>
            </a:pPr>
            <a:r>
              <a:rPr sz="2500" b="1">
                <a:solidFill>
                  <a:srgbClr val="17150F"/>
                </a:solidFill>
                <a:latin typeface="Arial"/>
              </a:rPr>
              <a:t>17,8 %</a:t>
            </a:r>
          </a:p>
          <a:p>
            <a:pPr algn="l">
              <a:lnSpc>
                <a:spcPct val="120000"/>
              </a:lnSpc>
              <a:spcBef>
                <a:spcPts val="0"/>
              </a:spcBef>
              <a:spcAft>
                <a:spcPts val="0"/>
              </a:spcAft>
            </a:pPr>
            <a:r>
              <a:rPr sz="1050" b="0">
                <a:solidFill>
                  <a:srgbClr val="555045"/>
                </a:solidFill>
                <a:latin typeface="Arial"/>
              </a:rPr>
              <a:t>frente a la práctica actual</a:t>
            </a:r>
          </a:p>
        </p:txBody>
      </p:sp>
      <p:sp>
        <p:nvSpPr>
          <p:cNvPr id="11" name="Rectangle 10"/>
          <p:cNvSpPr/>
          <p:nvPr/>
        </p:nvSpPr>
        <p:spPr>
          <a:xfrm>
            <a:off x="6168998" y="2237740"/>
            <a:ext cx="2549575" cy="11430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33590" y="2365756"/>
            <a:ext cx="2220391" cy="960120"/>
          </a:xfrm>
          <a:prstGeom prst="rect">
            <a:avLst/>
          </a:prstGeom>
          <a:noFill/>
        </p:spPr>
        <p:txBody>
          <a:bodyPr wrap="square" lIns="0" rIns="0" tIns="0" bIns="0">
            <a:spAutoFit/>
          </a:bodyPr>
          <a:lstStyle/>
          <a:p>
            <a:pPr algn="l">
              <a:lnSpc>
                <a:spcPct val="122000"/>
              </a:lnSpc>
              <a:spcBef>
                <a:spcPts val="0"/>
              </a:spcBef>
              <a:spcAft>
                <a:spcPts val="300"/>
              </a:spcAft>
            </a:pPr>
            <a:r>
              <a:rPr sz="950" b="1">
                <a:solidFill>
                  <a:srgbClr val="8B8478"/>
                </a:solidFill>
                <a:latin typeface="Arial"/>
              </a:rPr>
              <a:t>SERVICIO REAL</a:t>
            </a:r>
          </a:p>
          <a:p>
            <a:pPr algn="l">
              <a:lnSpc>
                <a:spcPct val="100000"/>
              </a:lnSpc>
              <a:spcBef>
                <a:spcPts val="0"/>
              </a:spcBef>
              <a:spcAft>
                <a:spcPts val="300"/>
              </a:spcAft>
            </a:pPr>
            <a:r>
              <a:rPr sz="2500" b="1">
                <a:solidFill>
                  <a:srgbClr val="17150F"/>
                </a:solidFill>
                <a:latin typeface="Arial"/>
              </a:rPr>
              <a:t>96,1 %</a:t>
            </a:r>
          </a:p>
          <a:p>
            <a:pPr algn="l">
              <a:lnSpc>
                <a:spcPct val="120000"/>
              </a:lnSpc>
              <a:spcBef>
                <a:spcPts val="0"/>
              </a:spcBef>
              <a:spcAft>
                <a:spcPts val="0"/>
              </a:spcAft>
            </a:pPr>
            <a:r>
              <a:rPr sz="1050" b="0">
                <a:solidFill>
                  <a:srgbClr val="555045"/>
                </a:solidFill>
                <a:latin typeface="Arial"/>
              </a:rPr>
              <a:t>sube desde el 93,1 % de hoy</a:t>
            </a:r>
          </a:p>
        </p:txBody>
      </p:sp>
      <p:sp>
        <p:nvSpPr>
          <p:cNvPr id="13" name="Rectangle 12"/>
          <p:cNvSpPr/>
          <p:nvPr/>
        </p:nvSpPr>
        <p:spPr>
          <a:xfrm>
            <a:off x="8864877" y="2237740"/>
            <a:ext cx="2549575" cy="11430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29469" y="2365756"/>
            <a:ext cx="2220391" cy="960120"/>
          </a:xfrm>
          <a:prstGeom prst="rect">
            <a:avLst/>
          </a:prstGeom>
          <a:noFill/>
        </p:spPr>
        <p:txBody>
          <a:bodyPr wrap="square" lIns="0" rIns="0" tIns="0" bIns="0">
            <a:spAutoFit/>
          </a:bodyPr>
          <a:lstStyle/>
          <a:p>
            <a:pPr algn="l">
              <a:lnSpc>
                <a:spcPct val="122000"/>
              </a:lnSpc>
              <a:spcBef>
                <a:spcPts val="0"/>
              </a:spcBef>
              <a:spcAft>
                <a:spcPts val="300"/>
              </a:spcAft>
            </a:pPr>
            <a:r>
              <a:rPr sz="950" b="1">
                <a:solidFill>
                  <a:srgbClr val="8B8478"/>
                </a:solidFill>
                <a:latin typeface="Arial"/>
              </a:rPr>
              <a:t>ORDEN ANUAL</a:t>
            </a:r>
          </a:p>
          <a:p>
            <a:pPr algn="l">
              <a:lnSpc>
                <a:spcPct val="100000"/>
              </a:lnSpc>
              <a:spcBef>
                <a:spcPts val="0"/>
              </a:spcBef>
              <a:spcAft>
                <a:spcPts val="300"/>
              </a:spcAft>
            </a:pPr>
            <a:r>
              <a:rPr sz="2500" b="1">
                <a:solidFill>
                  <a:srgbClr val="17150F"/>
                </a:solidFill>
                <a:latin typeface="Arial"/>
              </a:rPr>
              <a:t>8,7 M</a:t>
            </a:r>
          </a:p>
          <a:p>
            <a:pPr algn="l">
              <a:lnSpc>
                <a:spcPct val="120000"/>
              </a:lnSpc>
              <a:spcBef>
                <a:spcPts val="0"/>
              </a:spcBef>
              <a:spcAft>
                <a:spcPts val="0"/>
              </a:spcAft>
            </a:pPr>
            <a:r>
              <a:rPr sz="1050" b="0">
                <a:solidFill>
                  <a:srgbClr val="555045"/>
                </a:solidFill>
                <a:latin typeface="Arial"/>
              </a:rPr>
              <a:t>hipótesis, no compromiso</a:t>
            </a:r>
          </a:p>
        </p:txBody>
      </p:sp>
      <p:sp>
        <p:nvSpPr>
          <p:cNvPr id="15" name="Rectangle 14"/>
          <p:cNvSpPr/>
          <p:nvPr/>
        </p:nvSpPr>
        <p:spPr>
          <a:xfrm>
            <a:off x="777240" y="381050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8408" y="3709924"/>
            <a:ext cx="10436047" cy="530098"/>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La regla aporta más que el modelo.</a:t>
            </a:r>
            <a:r>
              <a:rPr sz="1450" b="0">
                <a:solidFill>
                  <a:srgbClr val="555045"/>
                </a:solidFill>
                <a:latin typeface="Arial"/>
              </a:rPr>
              <a:t> Seis de cada diez pesos del ahorro vienen de pedir por nivel de servicio, no de predecir mejor.</a:t>
            </a:r>
          </a:p>
        </p:txBody>
      </p:sp>
      <p:sp>
        <p:nvSpPr>
          <p:cNvPr id="17" name="Rectangle 16"/>
          <p:cNvSpPr/>
          <p:nvPr/>
        </p:nvSpPr>
        <p:spPr>
          <a:xfrm>
            <a:off x="777240" y="446862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78408" y="4368038"/>
            <a:ext cx="10436047" cy="283337"/>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Cada producto se protege distinto</a:t>
            </a:r>
            <a:r>
              <a:rPr sz="1450" b="0">
                <a:solidFill>
                  <a:srgbClr val="555045"/>
                </a:solidFill>
                <a:latin typeface="Arial"/>
              </a:rPr>
              <a:t>, y el orden lo fija su margen. Ningún colchón se decide a mano.</a:t>
            </a:r>
          </a:p>
        </p:txBody>
      </p:sp>
      <p:sp>
        <p:nvSpPr>
          <p:cNvPr id="19" name="Rectangle 18"/>
          <p:cNvSpPr/>
          <p:nvPr/>
        </p:nvSpPr>
        <p:spPr>
          <a:xfrm>
            <a:off x="777240" y="4879975"/>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4779391"/>
            <a:ext cx="10436047" cy="530098"/>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El resultado depende de un supuesto de negocio</a:t>
            </a:r>
            <a:r>
              <a:rPr sz="1450" b="0">
                <a:solidFill>
                  <a:srgbClr val="555045"/>
                </a:solidFill>
                <a:latin typeface="Arial"/>
              </a:rPr>
              <a:t>: si el sobrante se guarda o se tira. Recomendamos el escenario conservador.</a:t>
            </a:r>
          </a:p>
        </p:txBody>
      </p:sp>
      <p:sp>
        <p:nvSpPr>
          <p:cNvPr id="21" name="Rectangle 20"/>
          <p:cNvSpPr/>
          <p:nvPr/>
        </p:nvSpPr>
        <p:spPr>
          <a:xfrm>
            <a:off x="777240" y="5538089"/>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5437505"/>
            <a:ext cx="10436047" cy="283337"/>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Todo es reproducible y verificado</a:t>
            </a:r>
            <a:r>
              <a:rPr sz="1450" b="0">
                <a:solidFill>
                  <a:srgbClr val="555045"/>
                </a:solidFill>
                <a:latin typeface="Arial"/>
              </a:rPr>
              <a:t>: once informes que se regeneran solos y veinte comprobaciones automáticas.</a:t>
            </a:r>
          </a:p>
        </p:txBody>
      </p:sp>
      <p:sp>
        <p:nvSpPr>
          <p:cNvPr id="23" name="Rectangle 22"/>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Caso A · Optimización de abastecimiento</a:t>
            </a:r>
          </a:p>
        </p:txBody>
      </p:sp>
      <p:sp>
        <p:nvSpPr>
          <p:cNvPr id="25" name="TextBox 24"/>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EL ENCARGO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445770"/>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Tres cosas pedidas, tres cosas entregadas</a:t>
            </a:r>
          </a:p>
        </p:txBody>
      </p:sp>
      <p:graphicFrame>
        <p:nvGraphicFramePr>
          <p:cNvPr id="6" name="Table 5"/>
          <p:cNvGraphicFramePr>
            <a:graphicFrameLocks noGrp="1"/>
          </p:cNvGraphicFramePr>
          <p:nvPr/>
        </p:nvGraphicFramePr>
        <p:xfrm>
          <a:off x="777240" y="1506474"/>
          <a:ext cx="10637214" cy="1719072"/>
        </p:xfrm>
        <a:graphic>
          <a:graphicData uri="http://schemas.openxmlformats.org/drawingml/2006/table">
            <a:tbl>
              <a:tblPr bandRow="1">
                <a:tableStyleId>{5C22544A-7EE6-4342-B048-85BDC9FD1C3A}</a:tableStyleId>
              </a:tblPr>
              <a:tblGrid>
                <a:gridCol w="4042141"/>
                <a:gridCol w="4254886"/>
                <a:gridCol w="2340187"/>
              </a:tblGrid>
              <a:tr h="347472">
                <a:tc>
                  <a:txBody>
                    <a:bodyPr/>
                    <a:lstStyle/>
                    <a:p>
                      <a:pPr algn="l"/>
                      <a:r>
                        <a:rPr sz="1150" b="1">
                          <a:solidFill>
                            <a:srgbClr val="8B8478"/>
                          </a:solidFill>
                          <a:latin typeface="Arial"/>
                        </a:rPr>
                        <a:t>Lo que se pide</a:t>
                      </a:r>
                    </a:p>
                  </a:txBody>
                  <a:tcPr marL="82296" marR="82296" anchor="ctr">
                    <a:solidFill>
                      <a:srgbClr val="F4F2ED"/>
                    </a:solidFill>
                  </a:tcPr>
                </a:tc>
                <a:tc>
                  <a:txBody>
                    <a:bodyPr/>
                    <a:lstStyle/>
                    <a:p>
                      <a:pPr algn="r"/>
                      <a:r>
                        <a:rPr sz="1150" b="1">
                          <a:solidFill>
                            <a:srgbClr val="8B8478"/>
                          </a:solidFill>
                          <a:latin typeface="Arial"/>
                        </a:rPr>
                        <a:t>Lo que se entrega</a:t>
                      </a:r>
                    </a:p>
                  </a:txBody>
                  <a:tcPr marL="82296" marR="82296" anchor="ctr">
                    <a:solidFill>
                      <a:srgbClr val="F4F2ED"/>
                    </a:solidFill>
                  </a:tcPr>
                </a:tc>
                <a:tc>
                  <a:txBody>
                    <a:bodyPr/>
                    <a:lstStyle/>
                    <a:p>
                      <a:pPr algn="r"/>
                      <a:r>
                        <a:rPr sz="1150" b="1">
                          <a:solidFill>
                            <a:srgbClr val="8B8478"/>
                          </a:solidFill>
                          <a:latin typeface="Arial"/>
                        </a:rPr>
                        <a:t>Dónde está</a:t>
                      </a:r>
                    </a:p>
                  </a:txBody>
                  <a:tcPr marL="82296" marR="82296" anchor="ctr">
                    <a:solidFill>
                      <a:srgbClr val="F4F2ED"/>
                    </a:solidFill>
                  </a:tcPr>
                </a:tc>
              </a:tr>
              <a:tr h="457200">
                <a:tc>
                  <a:txBody>
                    <a:bodyPr/>
                    <a:lstStyle/>
                    <a:p>
                      <a:pPr algn="l"/>
                      <a:r>
                        <a:rPr sz="1300" b="0">
                          <a:solidFill>
                            <a:srgbClr val="17150F"/>
                          </a:solidFill>
                          <a:latin typeface="Arial"/>
                        </a:rPr>
                        <a:t>Pronóstico semanal de demanda por SKU y tienda</a:t>
                      </a:r>
                    </a:p>
                  </a:txBody>
                  <a:tcPr marL="82296" marR="82296" anchor="ctr">
                    <a:solidFill>
                      <a:srgbClr val="FFFFFF"/>
                    </a:solidFill>
                  </a:tcPr>
                </a:tc>
                <a:tc>
                  <a:txBody>
                    <a:bodyPr/>
                    <a:lstStyle/>
                    <a:p>
                      <a:pPr algn="r"/>
                      <a:r>
                        <a:rPr sz="1300" b="0">
                          <a:solidFill>
                            <a:srgbClr val="555045"/>
                          </a:solidFill>
                          <a:latin typeface="Arial"/>
                        </a:rPr>
                        <a:t>Regresión cuantílica relativa, 17 niveles entrenados</a:t>
                      </a:r>
                    </a:p>
                  </a:txBody>
                  <a:tcPr marL="82296" marR="82296" anchor="ctr">
                    <a:solidFill>
                      <a:srgbClr val="FFFFFF"/>
                    </a:solidFill>
                  </a:tcPr>
                </a:tc>
                <a:tc>
                  <a:txBody>
                    <a:bodyPr/>
                    <a:lstStyle/>
                    <a:p>
                      <a:pPr algn="r"/>
                      <a:r>
                        <a:rPr sz="1300" b="0">
                          <a:solidFill>
                            <a:srgbClr val="555045"/>
                          </a:solidFill>
                          <a:latin typeface="Arial"/>
                        </a:rPr>
                        <a:t>Pasos 10 y 11</a:t>
                      </a:r>
                    </a:p>
                  </a:txBody>
                  <a:tcPr marL="82296" marR="82296" anchor="ctr">
                    <a:solidFill>
                      <a:srgbClr val="FFFFFF"/>
                    </a:solidFill>
                  </a:tcPr>
                </a:tc>
              </a:tr>
              <a:tr h="457200">
                <a:tc>
                  <a:txBody>
                    <a:bodyPr/>
                    <a:lstStyle/>
                    <a:p>
                      <a:pPr algn="l"/>
                      <a:r>
                        <a:rPr sz="1300" b="0">
                          <a:solidFill>
                            <a:srgbClr val="17150F"/>
                          </a:solidFill>
                          <a:latin typeface="Arial"/>
                        </a:rPr>
                        <a:t>Una política de pedido que use la incertidumbre y los márgenes</a:t>
                      </a:r>
                    </a:p>
                  </a:txBody>
                  <a:tcPr marL="82296" marR="82296" anchor="ctr">
                    <a:solidFill>
                      <a:srgbClr val="FFFFFF"/>
                    </a:solidFill>
                  </a:tcPr>
                </a:tc>
                <a:tc>
                  <a:txBody>
                    <a:bodyPr/>
                    <a:lstStyle/>
                    <a:p>
                      <a:pPr algn="r"/>
                      <a:r>
                        <a:rPr sz="1300" b="0">
                          <a:solidFill>
                            <a:srgbClr val="555045"/>
                          </a:solidFill>
                          <a:latin typeface="Arial"/>
                        </a:rPr>
                        <a:t>Nivel de servicio por producto derivado de sus costes</a:t>
                      </a:r>
                    </a:p>
                  </a:txBody>
                  <a:tcPr marL="82296" marR="82296" anchor="ctr">
                    <a:solidFill>
                      <a:srgbClr val="FFFFFF"/>
                    </a:solidFill>
                  </a:tcPr>
                </a:tc>
                <a:tc>
                  <a:txBody>
                    <a:bodyPr/>
                    <a:lstStyle/>
                    <a:p>
                      <a:pPr algn="r"/>
                      <a:r>
                        <a:rPr sz="1300" b="0">
                          <a:solidFill>
                            <a:srgbClr val="555045"/>
                          </a:solidFill>
                          <a:latin typeface="Arial"/>
                        </a:rPr>
                        <a:t>Pasos 9 y 14</a:t>
                      </a:r>
                    </a:p>
                  </a:txBody>
                  <a:tcPr marL="82296" marR="82296" anchor="ctr">
                    <a:solidFill>
                      <a:srgbClr val="FFFFFF"/>
                    </a:solidFill>
                  </a:tcPr>
                </a:tc>
              </a:tr>
              <a:tr h="457200">
                <a:tc>
                  <a:txBody>
                    <a:bodyPr/>
                    <a:lstStyle/>
                    <a:p>
                      <a:pPr algn="l"/>
                      <a:r>
                        <a:rPr sz="1300" b="0">
                          <a:solidFill>
                            <a:srgbClr val="17150F"/>
                          </a:solidFill>
                          <a:latin typeface="Arial"/>
                        </a:rPr>
                        <a:t>Decidir si el pedido es agresivo o conservador</a:t>
                      </a:r>
                    </a:p>
                  </a:txBody>
                  <a:tcPr marL="82296" marR="82296" anchor="ctr">
                    <a:solidFill>
                      <a:srgbClr val="FFFFFF"/>
                    </a:solidFill>
                  </a:tcPr>
                </a:tc>
                <a:tc>
                  <a:txBody>
                    <a:bodyPr/>
                    <a:lstStyle/>
                    <a:p>
                      <a:pPr algn="r"/>
                      <a:r>
                        <a:rPr sz="1300" b="0">
                          <a:solidFill>
                            <a:srgbClr val="555045"/>
                          </a:solidFill>
                          <a:latin typeface="Arial"/>
                        </a:rPr>
                        <a:t>Colchón del 2,7 % al 6,3 % según el margen del producto</a:t>
                      </a:r>
                    </a:p>
                  </a:txBody>
                  <a:tcPr marL="82296" marR="82296" anchor="ctr">
                    <a:solidFill>
                      <a:srgbClr val="FFFFFF"/>
                    </a:solidFill>
                  </a:tcPr>
                </a:tc>
                <a:tc>
                  <a:txBody>
                    <a:bodyPr/>
                    <a:lstStyle/>
                    <a:p>
                      <a:pPr algn="r"/>
                      <a:r>
                        <a:rPr sz="1300" b="0">
                          <a:solidFill>
                            <a:srgbClr val="555045"/>
                          </a:solidFill>
                          <a:latin typeface="Arial"/>
                        </a:rPr>
                        <a:t>Paso 14</a:t>
                      </a:r>
                    </a:p>
                  </a:txBody>
                  <a:tcPr marL="82296" marR="82296" anchor="ctr">
                    <a:solidFill>
                      <a:srgbClr val="FFFFFF"/>
                    </a:solidFill>
                  </a:tcPr>
                </a:tc>
              </a:tr>
            </a:tbl>
          </a:graphicData>
        </a:graphic>
      </p:graphicFrame>
      <p:sp>
        <p:nvSpPr>
          <p:cNvPr id="7" name="TextBox 6"/>
          <p:cNvSpPr txBox="1"/>
          <p:nvPr/>
        </p:nvSpPr>
        <p:spPr>
          <a:xfrm>
            <a:off x="777240" y="3591306"/>
            <a:ext cx="10637215" cy="445008"/>
          </a:xfrm>
          <a:prstGeom prst="rect">
            <a:avLst/>
          </a:prstGeom>
          <a:noFill/>
        </p:spPr>
        <p:txBody>
          <a:bodyPr wrap="square" lIns="0" rIns="0" tIns="0" bIns="0">
            <a:spAutoFit/>
          </a:bodyPr>
          <a:lstStyle/>
          <a:p>
            <a:pPr>
              <a:lnSpc>
                <a:spcPct val="126000"/>
              </a:lnSpc>
              <a:spcAft>
                <a:spcPts val="0"/>
              </a:spcAft>
            </a:pPr>
            <a:r>
              <a:rPr sz="1200" b="0">
                <a:solidFill>
                  <a:srgbClr val="8B8478"/>
                </a:solidFill>
                <a:latin typeface="Arial"/>
              </a:rPr>
              <a:t>El proyecto se desarrolló en dieciséis pasos. Cada uno deja un informe con los hechos, generado por código y sin una sola cifra escrita a mano, y una memoria con la interpretación.</a:t>
            </a:r>
          </a:p>
        </p:txBody>
      </p:sp>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El encargo</a:t>
            </a:r>
          </a:p>
        </p:txBody>
      </p:sp>
      <p:sp>
        <p:nvSpPr>
          <p:cNvPr id="10" name="TextBox 9"/>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EL PROBLEMA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445770"/>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Equivocarse por arriba y por abajo no cuesta lo mismo</a:t>
            </a:r>
          </a:p>
        </p:txBody>
      </p:sp>
      <p:sp>
        <p:nvSpPr>
          <p:cNvPr id="6" name="TextBox 5"/>
          <p:cNvSpPr txBox="1"/>
          <p:nvPr/>
        </p:nvSpPr>
        <p:spPr>
          <a:xfrm>
            <a:off x="777240" y="1506474"/>
            <a:ext cx="9966960" cy="283337"/>
          </a:xfrm>
          <a:prstGeom prst="rect">
            <a:avLst/>
          </a:prstGeom>
          <a:noFill/>
        </p:spPr>
        <p:txBody>
          <a:bodyPr wrap="square" lIns="0" rIns="0" tIns="0" bIns="0">
            <a:spAutoFit/>
          </a:bodyPr>
          <a:lstStyle/>
          <a:p>
            <a:pPr algn="l">
              <a:lnSpc>
                <a:spcPct val="130000"/>
              </a:lnSpc>
              <a:spcBef>
                <a:spcPts val="0"/>
              </a:spcBef>
              <a:spcAft>
                <a:spcPts val="0"/>
              </a:spcAft>
            </a:pPr>
            <a:r>
              <a:rPr sz="1450" b="0">
                <a:solidFill>
                  <a:srgbClr val="555045"/>
                </a:solidFill>
                <a:latin typeface="Arial"/>
              </a:rPr>
              <a:t>Por eso la cantidad correcta nunca es la demanda esperada. Ejemplo con un Tinto.</a:t>
            </a:r>
          </a:p>
        </p:txBody>
      </p:sp>
      <p:sp>
        <p:nvSpPr>
          <p:cNvPr id="7" name="Rectangle 6"/>
          <p:cNvSpPr/>
          <p:nvPr/>
        </p:nvSpPr>
        <p:spPr>
          <a:xfrm>
            <a:off x="777240" y="1990979"/>
            <a:ext cx="5208879" cy="18288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33272" y="2210435"/>
            <a:ext cx="4696815" cy="1463040"/>
          </a:xfrm>
          <a:prstGeom prst="rect">
            <a:avLst/>
          </a:prstGeom>
          <a:noFill/>
        </p:spPr>
        <p:txBody>
          <a:bodyPr wrap="square" lIns="0" rIns="0" tIns="0" bIns="0">
            <a:spAutoFit/>
          </a:bodyPr>
          <a:lstStyle/>
          <a:p>
            <a:pPr algn="l">
              <a:lnSpc>
                <a:spcPct val="122000"/>
              </a:lnSpc>
              <a:spcBef>
                <a:spcPts val="0"/>
              </a:spcBef>
              <a:spcAft>
                <a:spcPts val="600"/>
              </a:spcAft>
            </a:pPr>
            <a:r>
              <a:rPr sz="1050" b="1">
                <a:solidFill>
                  <a:srgbClr val="BC5A26"/>
                </a:solidFill>
                <a:latin typeface="Arial"/>
              </a:rPr>
              <a:t>SI FALTA UNA UNIDAD</a:t>
            </a:r>
          </a:p>
          <a:p>
            <a:pPr algn="l">
              <a:lnSpc>
                <a:spcPct val="100000"/>
              </a:lnSpc>
              <a:spcBef>
                <a:spcPts val="0"/>
              </a:spcBef>
              <a:spcAft>
                <a:spcPts val="800"/>
              </a:spcAft>
            </a:pPr>
            <a:r>
              <a:rPr sz="3000" b="1">
                <a:solidFill>
                  <a:srgbClr val="17150F"/>
                </a:solidFill>
                <a:latin typeface="Arial"/>
              </a:rPr>
              <a:t>1.700 pesos</a:t>
            </a:r>
          </a:p>
          <a:p>
            <a:pPr algn="l">
              <a:lnSpc>
                <a:spcPct val="128000"/>
              </a:lnSpc>
              <a:spcBef>
                <a:spcPts val="0"/>
              </a:spcBef>
              <a:spcAft>
                <a:spcPts val="0"/>
              </a:spcAft>
            </a:pPr>
            <a:r>
              <a:rPr sz="1300" b="0">
                <a:solidFill>
                  <a:srgbClr val="555045"/>
                </a:solidFill>
                <a:latin typeface="Arial"/>
              </a:rPr>
              <a:t>Es el margen que se deja de ganar. El cliente quería el producto y no estaba.</a:t>
            </a:r>
          </a:p>
        </p:txBody>
      </p:sp>
      <p:sp>
        <p:nvSpPr>
          <p:cNvPr id="9" name="Rectangle 8"/>
          <p:cNvSpPr/>
          <p:nvPr/>
        </p:nvSpPr>
        <p:spPr>
          <a:xfrm>
            <a:off x="6205575" y="1990979"/>
            <a:ext cx="5208879" cy="18288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1607" y="2210435"/>
            <a:ext cx="4696815" cy="1463040"/>
          </a:xfrm>
          <a:prstGeom prst="rect">
            <a:avLst/>
          </a:prstGeom>
          <a:noFill/>
        </p:spPr>
        <p:txBody>
          <a:bodyPr wrap="square" lIns="0" rIns="0" tIns="0" bIns="0">
            <a:spAutoFit/>
          </a:bodyPr>
          <a:lstStyle/>
          <a:p>
            <a:pPr algn="l">
              <a:lnSpc>
                <a:spcPct val="122000"/>
              </a:lnSpc>
              <a:spcBef>
                <a:spcPts val="0"/>
              </a:spcBef>
              <a:spcAft>
                <a:spcPts val="600"/>
              </a:spcAft>
            </a:pPr>
            <a:r>
              <a:rPr sz="1050" b="1">
                <a:solidFill>
                  <a:srgbClr val="3E6B7E"/>
                </a:solidFill>
                <a:latin typeface="Arial"/>
              </a:rPr>
              <a:t>SI SOBRA UNA UNIDAD</a:t>
            </a:r>
          </a:p>
          <a:p>
            <a:pPr algn="l">
              <a:lnSpc>
                <a:spcPct val="100000"/>
              </a:lnSpc>
              <a:spcBef>
                <a:spcPts val="0"/>
              </a:spcBef>
              <a:spcAft>
                <a:spcPts val="800"/>
              </a:spcAft>
            </a:pPr>
            <a:r>
              <a:rPr sz="3000" b="1">
                <a:solidFill>
                  <a:srgbClr val="17150F"/>
                </a:solidFill>
                <a:latin typeface="Arial"/>
              </a:rPr>
              <a:t>810 pesos</a:t>
            </a:r>
          </a:p>
          <a:p>
            <a:pPr algn="l">
              <a:lnSpc>
                <a:spcPct val="128000"/>
              </a:lnSpc>
              <a:spcBef>
                <a:spcPts val="0"/>
              </a:spcBef>
              <a:spcAft>
                <a:spcPts val="0"/>
              </a:spcAft>
            </a:pPr>
            <a:r>
              <a:rPr sz="1300" b="0">
                <a:solidFill>
                  <a:srgbClr val="555045"/>
                </a:solidFill>
                <a:latin typeface="Arial"/>
              </a:rPr>
              <a:t>Es el producto que se descarta al cierre más el almacenaje. Un tinto no se guarda para mañana.</a:t>
            </a:r>
          </a:p>
        </p:txBody>
      </p:sp>
      <p:sp>
        <p:nvSpPr>
          <p:cNvPr id="11" name="Rectangle 10"/>
          <p:cNvSpPr/>
          <p:nvPr/>
        </p:nvSpPr>
        <p:spPr>
          <a:xfrm>
            <a:off x="777240" y="4249547"/>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148963"/>
            <a:ext cx="10436047" cy="283337"/>
          </a:xfrm>
          <a:prstGeom prst="rect">
            <a:avLst/>
          </a:prstGeom>
          <a:noFill/>
        </p:spPr>
        <p:txBody>
          <a:bodyPr wrap="square" lIns="0" rIns="0" tIns="0" bIns="0">
            <a:spAutoFit/>
          </a:bodyPr>
          <a:lstStyle/>
          <a:p>
            <a:pPr>
              <a:lnSpc>
                <a:spcPct val="124000"/>
              </a:lnSpc>
              <a:spcAft>
                <a:spcPts val="0"/>
              </a:spcAft>
            </a:pPr>
            <a:r>
              <a:rPr sz="1450" b="0">
                <a:solidFill>
                  <a:srgbClr val="555045"/>
                </a:solidFill>
                <a:latin typeface="Arial"/>
              </a:rPr>
              <a:t>Quedarse corto cuesta algo más del </a:t>
            </a:r>
            <a:r>
              <a:rPr sz="1450" b="1">
                <a:solidFill>
                  <a:srgbClr val="17150F"/>
                </a:solidFill>
                <a:latin typeface="Arial"/>
              </a:rPr>
              <a:t>doble</a:t>
            </a:r>
            <a:r>
              <a:rPr sz="1450" b="0">
                <a:solidFill>
                  <a:srgbClr val="555045"/>
                </a:solidFill>
                <a:latin typeface="Arial"/>
              </a:rPr>
              <a:t> que pasarse, así que conviene pedir por encima de lo esperado.</a:t>
            </a:r>
          </a:p>
        </p:txBody>
      </p:sp>
      <p:sp>
        <p:nvSpPr>
          <p:cNvPr id="13" name="Rectangle 12"/>
          <p:cNvSpPr/>
          <p:nvPr/>
        </p:nvSpPr>
        <p:spPr>
          <a:xfrm>
            <a:off x="777240" y="4660900"/>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560316"/>
            <a:ext cx="10436047" cy="283337"/>
          </a:xfrm>
          <a:prstGeom prst="rect">
            <a:avLst/>
          </a:prstGeom>
          <a:noFill/>
        </p:spPr>
        <p:txBody>
          <a:bodyPr wrap="square" lIns="0" rIns="0" tIns="0" bIns="0">
            <a:spAutoFit/>
          </a:bodyPr>
          <a:lstStyle/>
          <a:p>
            <a:pPr>
              <a:lnSpc>
                <a:spcPct val="124000"/>
              </a:lnSpc>
              <a:spcAft>
                <a:spcPts val="0"/>
              </a:spcAft>
            </a:pPr>
            <a:r>
              <a:rPr sz="1450" b="0">
                <a:solidFill>
                  <a:srgbClr val="555045"/>
                </a:solidFill>
                <a:latin typeface="Arial"/>
              </a:rPr>
              <a:t>Pero solo hasta cierto punto, y </a:t>
            </a:r>
            <a:r>
              <a:rPr sz="1450" b="1">
                <a:solidFill>
                  <a:srgbClr val="17150F"/>
                </a:solidFill>
                <a:latin typeface="Arial"/>
              </a:rPr>
              <a:t>ese punto es distinto en cada producto</a:t>
            </a:r>
            <a:r>
              <a:rPr sz="1450" b="0">
                <a:solidFill>
                  <a:srgbClr val="555045"/>
                </a:solidFill>
                <a:latin typeface="Arial"/>
              </a:rPr>
              <a:t> porque sus dos costes lo son.</a:t>
            </a:r>
          </a:p>
        </p:txBody>
      </p:sp>
      <p:sp>
        <p:nvSpPr>
          <p:cNvPr id="15" name="Rectangle 1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El problema</a:t>
            </a:r>
          </a:p>
        </p:txBody>
      </p:sp>
      <p:sp>
        <p:nvSpPr>
          <p:cNvPr id="17" name="TextBox 16"/>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LOS DATOS DE PARTIDA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445770"/>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Cinco tablas, trece semanas, ciento sesenta series</a:t>
            </a:r>
          </a:p>
        </p:txBody>
      </p:sp>
      <p:graphicFrame>
        <p:nvGraphicFramePr>
          <p:cNvPr id="6" name="Table 5"/>
          <p:cNvGraphicFramePr>
            <a:graphicFrameLocks noGrp="1"/>
          </p:cNvGraphicFramePr>
          <p:nvPr/>
        </p:nvGraphicFramePr>
        <p:xfrm>
          <a:off x="777240" y="1506474"/>
          <a:ext cx="10637214" cy="2267712"/>
        </p:xfrm>
        <a:graphic>
          <a:graphicData uri="http://schemas.openxmlformats.org/drawingml/2006/table">
            <a:tbl>
              <a:tblPr bandRow="1">
                <a:tableStyleId>{5C22544A-7EE6-4342-B048-85BDC9FD1C3A}</a:tableStyleId>
              </a:tblPr>
              <a:tblGrid>
                <a:gridCol w="2765675"/>
                <a:gridCol w="4254886"/>
                <a:gridCol w="3616653"/>
              </a:tblGrid>
              <a:tr h="347472">
                <a:tc>
                  <a:txBody>
                    <a:bodyPr/>
                    <a:lstStyle/>
                    <a:p>
                      <a:pPr algn="l"/>
                      <a:r>
                        <a:rPr sz="1100" b="1">
                          <a:solidFill>
                            <a:srgbClr val="8B8478"/>
                          </a:solidFill>
                          <a:latin typeface="Arial"/>
                        </a:rPr>
                        <a:t>Tabla</a:t>
                      </a:r>
                    </a:p>
                  </a:txBody>
                  <a:tcPr marL="82296" marR="82296" anchor="ctr">
                    <a:solidFill>
                      <a:srgbClr val="F4F2ED"/>
                    </a:solidFill>
                  </a:tcPr>
                </a:tc>
                <a:tc>
                  <a:txBody>
                    <a:bodyPr/>
                    <a:lstStyle/>
                    <a:p>
                      <a:pPr algn="r"/>
                      <a:r>
                        <a:rPr sz="1100" b="1">
                          <a:solidFill>
                            <a:srgbClr val="8B8478"/>
                          </a:solidFill>
                          <a:latin typeface="Arial"/>
                        </a:rPr>
                        <a:t>Contenido</a:t>
                      </a:r>
                    </a:p>
                  </a:txBody>
                  <a:tcPr marL="82296" marR="82296" anchor="ctr">
                    <a:solidFill>
                      <a:srgbClr val="F4F2ED"/>
                    </a:solidFill>
                  </a:tcPr>
                </a:tc>
                <a:tc>
                  <a:txBody>
                    <a:bodyPr/>
                    <a:lstStyle/>
                    <a:p>
                      <a:pPr algn="r"/>
                      <a:r>
                        <a:rPr sz="1100" b="1">
                          <a:solidFill>
                            <a:srgbClr val="8B8478"/>
                          </a:solidFill>
                          <a:latin typeface="Arial"/>
                        </a:rPr>
                        <a:t>Uso en el proyecto</a:t>
                      </a:r>
                    </a:p>
                  </a:txBody>
                  <a:tcPr marL="82296" marR="82296" anchor="ctr">
                    <a:solidFill>
                      <a:srgbClr val="F4F2ED"/>
                    </a:solidFill>
                  </a:tcPr>
                </a:tc>
              </a:tr>
              <a:tr h="384048">
                <a:tc>
                  <a:txBody>
                    <a:bodyPr/>
                    <a:lstStyle/>
                    <a:p>
                      <a:pPr algn="l"/>
                      <a:r>
                        <a:rPr sz="1250" b="0">
                          <a:solidFill>
                            <a:srgbClr val="17150F"/>
                          </a:solidFill>
                          <a:latin typeface="Arial"/>
                        </a:rPr>
                        <a:t>ventas_historicas</a:t>
                      </a:r>
                    </a:p>
                  </a:txBody>
                  <a:tcPr marL="82296" marR="82296" anchor="ctr">
                    <a:solidFill>
                      <a:srgbClr val="FFFFFF"/>
                    </a:solidFill>
                  </a:tcPr>
                </a:tc>
                <a:tc>
                  <a:txBody>
                    <a:bodyPr/>
                    <a:lstStyle/>
                    <a:p>
                      <a:pPr algn="r"/>
                      <a:r>
                        <a:rPr sz="1250" b="0">
                          <a:solidFill>
                            <a:srgbClr val="555045"/>
                          </a:solidFill>
                          <a:latin typeface="Arial"/>
                        </a:rPr>
                        <a:t>Ventas diarias por tienda y producto</a:t>
                      </a:r>
                    </a:p>
                  </a:txBody>
                  <a:tcPr marL="82296" marR="82296" anchor="ctr">
                    <a:solidFill>
                      <a:srgbClr val="FFFFFF"/>
                    </a:solidFill>
                  </a:tcPr>
                </a:tc>
                <a:tc>
                  <a:txBody>
                    <a:bodyPr/>
                    <a:lstStyle/>
                    <a:p>
                      <a:pPr algn="r"/>
                      <a:r>
                        <a:rPr sz="1250" b="0">
                          <a:solidFill>
                            <a:srgbClr val="555045"/>
                          </a:solidFill>
                          <a:latin typeface="Arial"/>
                        </a:rPr>
                        <a:t>Objetivo a predecir</a:t>
                      </a:r>
                    </a:p>
                  </a:txBody>
                  <a:tcPr marL="82296" marR="82296" anchor="ctr">
                    <a:solidFill>
                      <a:srgbClr val="FFFFFF"/>
                    </a:solidFill>
                  </a:tcPr>
                </a:tc>
              </a:tr>
              <a:tr h="384048">
                <a:tc>
                  <a:txBody>
                    <a:bodyPr/>
                    <a:lstStyle/>
                    <a:p>
                      <a:pPr algn="l"/>
                      <a:r>
                        <a:rPr sz="1250" b="0">
                          <a:solidFill>
                            <a:srgbClr val="17150F"/>
                          </a:solidFill>
                          <a:latin typeface="Arial"/>
                        </a:rPr>
                        <a:t>catalogo_productos</a:t>
                      </a:r>
                    </a:p>
                  </a:txBody>
                  <a:tcPr marL="82296" marR="82296" anchor="ctr">
                    <a:solidFill>
                      <a:srgbClr val="FFFFFF"/>
                    </a:solidFill>
                  </a:tcPr>
                </a:tc>
                <a:tc>
                  <a:txBody>
                    <a:bodyPr/>
                    <a:lstStyle/>
                    <a:p>
                      <a:pPr algn="r"/>
                      <a:r>
                        <a:rPr sz="1250" b="0">
                          <a:solidFill>
                            <a:srgbClr val="555045"/>
                          </a:solidFill>
                          <a:latin typeface="Arial"/>
                        </a:rPr>
                        <a:t>Precio, coste unitario y almacenaje</a:t>
                      </a:r>
                    </a:p>
                  </a:txBody>
                  <a:tcPr marL="82296" marR="82296" anchor="ctr">
                    <a:solidFill>
                      <a:srgbClr val="FFFFFF"/>
                    </a:solidFill>
                  </a:tcPr>
                </a:tc>
                <a:tc>
                  <a:txBody>
                    <a:bodyPr/>
                    <a:lstStyle/>
                    <a:p>
                      <a:pPr algn="r"/>
                      <a:r>
                        <a:rPr sz="1250" b="0">
                          <a:solidFill>
                            <a:srgbClr val="555045"/>
                          </a:solidFill>
                          <a:latin typeface="Arial"/>
                        </a:rPr>
                        <a:t>Calcula el nivel de servicio</a:t>
                      </a:r>
                    </a:p>
                  </a:txBody>
                  <a:tcPr marL="82296" marR="82296" anchor="ctr">
                    <a:solidFill>
                      <a:srgbClr val="FFFFFF"/>
                    </a:solidFill>
                  </a:tcPr>
                </a:tc>
              </a:tr>
              <a:tr h="384048">
                <a:tc>
                  <a:txBody>
                    <a:bodyPr/>
                    <a:lstStyle/>
                    <a:p>
                      <a:pPr algn="l"/>
                      <a:r>
                        <a:rPr sz="1250" b="0">
                          <a:solidFill>
                            <a:srgbClr val="17150F"/>
                          </a:solidFill>
                          <a:latin typeface="Arial"/>
                        </a:rPr>
                        <a:t>inventario_actual</a:t>
                      </a:r>
                    </a:p>
                  </a:txBody>
                  <a:tcPr marL="82296" marR="82296" anchor="ctr">
                    <a:solidFill>
                      <a:srgbClr val="FFFFFF"/>
                    </a:solidFill>
                  </a:tcPr>
                </a:tc>
                <a:tc>
                  <a:txBody>
                    <a:bodyPr/>
                    <a:lstStyle/>
                    <a:p>
                      <a:pPr algn="r"/>
                      <a:r>
                        <a:rPr sz="1250" b="0">
                          <a:solidFill>
                            <a:srgbClr val="555045"/>
                          </a:solidFill>
                          <a:latin typeface="Arial"/>
                        </a:rPr>
                        <a:t>Stock disponible por serie</a:t>
                      </a:r>
                    </a:p>
                  </a:txBody>
                  <a:tcPr marL="82296" marR="82296" anchor="ctr">
                    <a:solidFill>
                      <a:srgbClr val="FFFFFF"/>
                    </a:solidFill>
                  </a:tcPr>
                </a:tc>
                <a:tc>
                  <a:txBody>
                    <a:bodyPr/>
                    <a:lstStyle/>
                    <a:p>
                      <a:pPr algn="r"/>
                      <a:r>
                        <a:rPr sz="1250" b="0">
                          <a:solidFill>
                            <a:srgbClr val="555045"/>
                          </a:solidFill>
                          <a:latin typeface="Arial"/>
                        </a:rPr>
                        <a:t>Se resta del objetivo</a:t>
                      </a:r>
                    </a:p>
                  </a:txBody>
                  <a:tcPr marL="82296" marR="82296" anchor="ctr">
                    <a:solidFill>
                      <a:srgbClr val="FFFFFF"/>
                    </a:solidFill>
                  </a:tcPr>
                </a:tc>
              </a:tr>
              <a:tr h="384048">
                <a:tc>
                  <a:txBody>
                    <a:bodyPr/>
                    <a:lstStyle/>
                    <a:p>
                      <a:pPr algn="l"/>
                      <a:r>
                        <a:rPr sz="1250" b="0">
                          <a:solidFill>
                            <a:srgbClr val="17150F"/>
                          </a:solidFill>
                          <a:latin typeface="Arial"/>
                        </a:rPr>
                        <a:t>maestro_tiendas</a:t>
                      </a:r>
                    </a:p>
                  </a:txBody>
                  <a:tcPr marL="82296" marR="82296" anchor="ctr">
                    <a:solidFill>
                      <a:srgbClr val="FFFFFF"/>
                    </a:solidFill>
                  </a:tcPr>
                </a:tc>
                <a:tc>
                  <a:txBody>
                    <a:bodyPr/>
                    <a:lstStyle/>
                    <a:p>
                      <a:pPr algn="r"/>
                      <a:r>
                        <a:rPr sz="1250" b="0">
                          <a:solidFill>
                            <a:srgbClr val="555045"/>
                          </a:solidFill>
                          <a:latin typeface="Arial"/>
                        </a:rPr>
                        <a:t>Ciudad y superficie</a:t>
                      </a:r>
                    </a:p>
                  </a:txBody>
                  <a:tcPr marL="82296" marR="82296" anchor="ctr">
                    <a:solidFill>
                      <a:srgbClr val="FFFFFF"/>
                    </a:solidFill>
                  </a:tcPr>
                </a:tc>
                <a:tc>
                  <a:txBody>
                    <a:bodyPr/>
                    <a:lstStyle/>
                    <a:p>
                      <a:pPr algn="r"/>
                      <a:r>
                        <a:rPr sz="1250" b="0">
                          <a:solidFill>
                            <a:srgbClr val="555045"/>
                          </a:solidFill>
                          <a:latin typeface="Arial"/>
                        </a:rPr>
                        <a:t>Superficie entra al modelo, ciudad no</a:t>
                      </a:r>
                    </a:p>
                  </a:txBody>
                  <a:tcPr marL="82296" marR="82296" anchor="ctr">
                    <a:solidFill>
                      <a:srgbClr val="FFFFFF"/>
                    </a:solidFill>
                  </a:tcPr>
                </a:tc>
              </a:tr>
              <a:tr h="384048">
                <a:tc>
                  <a:txBody>
                    <a:bodyPr/>
                    <a:lstStyle/>
                    <a:p>
                      <a:pPr algn="l"/>
                      <a:r>
                        <a:rPr sz="1250" b="0">
                          <a:solidFill>
                            <a:srgbClr val="17150F"/>
                          </a:solidFill>
                          <a:latin typeface="Arial"/>
                        </a:rPr>
                        <a:t>ground_truth_trends</a:t>
                      </a:r>
                    </a:p>
                  </a:txBody>
                  <a:tcPr marL="82296" marR="82296" anchor="ctr">
                    <a:solidFill>
                      <a:srgbClr val="FFFFFF"/>
                    </a:solidFill>
                  </a:tcPr>
                </a:tc>
                <a:tc>
                  <a:txBody>
                    <a:bodyPr/>
                    <a:lstStyle/>
                    <a:p>
                      <a:pPr algn="r"/>
                      <a:r>
                        <a:rPr sz="1250" b="0">
                          <a:solidFill>
                            <a:srgbClr val="555045"/>
                          </a:solidFill>
                          <a:latin typeface="Arial"/>
                        </a:rPr>
                        <a:t>Patrón real de cada serie</a:t>
                      </a:r>
                    </a:p>
                  </a:txBody>
                  <a:tcPr marL="82296" marR="82296" anchor="ctr">
                    <a:solidFill>
                      <a:srgbClr val="FFFFFF"/>
                    </a:solidFill>
                  </a:tcPr>
                </a:tc>
                <a:tc>
                  <a:txBody>
                    <a:bodyPr/>
                    <a:lstStyle/>
                    <a:p>
                      <a:pPr algn="r"/>
                      <a:r>
                        <a:rPr sz="1250" b="0">
                          <a:solidFill>
                            <a:srgbClr val="555045"/>
                          </a:solidFill>
                          <a:latin typeface="Arial"/>
                        </a:rPr>
                        <a:t>Solo contraste, nunca predictor</a:t>
                      </a:r>
                    </a:p>
                  </a:txBody>
                  <a:tcPr marL="82296" marR="82296" anchor="ctr">
                    <a:solidFill>
                      <a:srgbClr val="FFFFFF"/>
                    </a:solidFill>
                  </a:tcPr>
                </a:tc>
              </a:tr>
            </a:tbl>
          </a:graphicData>
        </a:graphic>
      </p:graphicFrame>
      <p:sp>
        <p:nvSpPr>
          <p:cNvPr id="7" name="Rectangle 6"/>
          <p:cNvSpPr/>
          <p:nvPr/>
        </p:nvSpPr>
        <p:spPr>
          <a:xfrm>
            <a:off x="777240" y="4085082"/>
            <a:ext cx="2549575" cy="105156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1832" y="4213098"/>
            <a:ext cx="2220391" cy="868680"/>
          </a:xfrm>
          <a:prstGeom prst="rect">
            <a:avLst/>
          </a:prstGeom>
          <a:noFill/>
        </p:spPr>
        <p:txBody>
          <a:bodyPr wrap="square" lIns="0" rIns="0" tIns="0" bIns="0">
            <a:spAutoFit/>
          </a:bodyPr>
          <a:lstStyle/>
          <a:p>
            <a:pPr algn="l">
              <a:lnSpc>
                <a:spcPct val="122000"/>
              </a:lnSpc>
              <a:spcBef>
                <a:spcPts val="0"/>
              </a:spcBef>
              <a:spcAft>
                <a:spcPts val="300"/>
              </a:spcAft>
            </a:pPr>
            <a:r>
              <a:rPr sz="950" b="1">
                <a:solidFill>
                  <a:srgbClr val="8B8478"/>
                </a:solidFill>
                <a:latin typeface="Arial"/>
              </a:rPr>
              <a:t>OBSERVACIONES DIARIAS</a:t>
            </a:r>
          </a:p>
          <a:p>
            <a:pPr algn="l">
              <a:lnSpc>
                <a:spcPct val="100000"/>
              </a:lnSpc>
              <a:spcBef>
                <a:spcPts val="0"/>
              </a:spcBef>
              <a:spcAft>
                <a:spcPts val="300"/>
              </a:spcAft>
            </a:pPr>
            <a:r>
              <a:rPr sz="2500" b="1">
                <a:solidFill>
                  <a:srgbClr val="17150F"/>
                </a:solidFill>
                <a:latin typeface="Arial"/>
              </a:rPr>
              <a:t>14.560</a:t>
            </a:r>
          </a:p>
          <a:p>
            <a:pPr algn="l">
              <a:lnSpc>
                <a:spcPct val="120000"/>
              </a:lnSpc>
              <a:spcBef>
                <a:spcPts val="0"/>
              </a:spcBef>
              <a:spcAft>
                <a:spcPts val="0"/>
              </a:spcAft>
            </a:pPr>
            <a:r>
              <a:rPr sz="1050" b="0">
                <a:solidFill>
                  <a:srgbClr val="555045"/>
                </a:solidFill>
                <a:latin typeface="Arial"/>
              </a:rPr>
              <a:t>del 1 de enero al 31 de marzo</a:t>
            </a:r>
          </a:p>
        </p:txBody>
      </p:sp>
      <p:sp>
        <p:nvSpPr>
          <p:cNvPr id="9" name="Rectangle 8"/>
          <p:cNvSpPr/>
          <p:nvPr/>
        </p:nvSpPr>
        <p:spPr>
          <a:xfrm>
            <a:off x="3473119" y="4085082"/>
            <a:ext cx="2549575" cy="105156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37711" y="4213098"/>
            <a:ext cx="2220391" cy="868680"/>
          </a:xfrm>
          <a:prstGeom prst="rect">
            <a:avLst/>
          </a:prstGeom>
          <a:noFill/>
        </p:spPr>
        <p:txBody>
          <a:bodyPr wrap="square" lIns="0" rIns="0" tIns="0" bIns="0">
            <a:spAutoFit/>
          </a:bodyPr>
          <a:lstStyle/>
          <a:p>
            <a:pPr algn="l">
              <a:lnSpc>
                <a:spcPct val="122000"/>
              </a:lnSpc>
              <a:spcBef>
                <a:spcPts val="0"/>
              </a:spcBef>
              <a:spcAft>
                <a:spcPts val="300"/>
              </a:spcAft>
            </a:pPr>
            <a:r>
              <a:rPr sz="950" b="1">
                <a:solidFill>
                  <a:srgbClr val="8B8478"/>
                </a:solidFill>
                <a:latin typeface="Arial"/>
              </a:rPr>
              <a:t>PANEL SEMANAL</a:t>
            </a:r>
          </a:p>
          <a:p>
            <a:pPr algn="l">
              <a:lnSpc>
                <a:spcPct val="100000"/>
              </a:lnSpc>
              <a:spcBef>
                <a:spcPts val="0"/>
              </a:spcBef>
              <a:spcAft>
                <a:spcPts val="300"/>
              </a:spcAft>
            </a:pPr>
            <a:r>
              <a:rPr sz="2500" b="1">
                <a:solidFill>
                  <a:srgbClr val="17150F"/>
                </a:solidFill>
                <a:latin typeface="Arial"/>
              </a:rPr>
              <a:t>2.080</a:t>
            </a:r>
          </a:p>
          <a:p>
            <a:pPr algn="l">
              <a:lnSpc>
                <a:spcPct val="120000"/>
              </a:lnSpc>
              <a:spcBef>
                <a:spcPts val="0"/>
              </a:spcBef>
              <a:spcAft>
                <a:spcPts val="0"/>
              </a:spcAft>
            </a:pPr>
            <a:r>
              <a:rPr sz="1050" b="0">
                <a:solidFill>
                  <a:srgbClr val="555045"/>
                </a:solidFill>
                <a:latin typeface="Arial"/>
              </a:rPr>
              <a:t>160 series × 13 semanas</a:t>
            </a:r>
          </a:p>
        </p:txBody>
      </p:sp>
      <p:sp>
        <p:nvSpPr>
          <p:cNvPr id="11" name="Rectangle 10"/>
          <p:cNvSpPr/>
          <p:nvPr/>
        </p:nvSpPr>
        <p:spPr>
          <a:xfrm>
            <a:off x="6168998" y="4085082"/>
            <a:ext cx="2549575" cy="105156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33590" y="4213098"/>
            <a:ext cx="2220391" cy="868680"/>
          </a:xfrm>
          <a:prstGeom prst="rect">
            <a:avLst/>
          </a:prstGeom>
          <a:noFill/>
        </p:spPr>
        <p:txBody>
          <a:bodyPr wrap="square" lIns="0" rIns="0" tIns="0" bIns="0">
            <a:spAutoFit/>
          </a:bodyPr>
          <a:lstStyle/>
          <a:p>
            <a:pPr algn="l">
              <a:lnSpc>
                <a:spcPct val="122000"/>
              </a:lnSpc>
              <a:spcBef>
                <a:spcPts val="0"/>
              </a:spcBef>
              <a:spcAft>
                <a:spcPts val="300"/>
              </a:spcAft>
            </a:pPr>
            <a:r>
              <a:rPr sz="950" b="1">
                <a:solidFill>
                  <a:srgbClr val="8B8478"/>
                </a:solidFill>
                <a:latin typeface="Arial"/>
              </a:rPr>
              <a:t>SERIES ACTIVAS</a:t>
            </a:r>
          </a:p>
          <a:p>
            <a:pPr algn="l">
              <a:lnSpc>
                <a:spcPct val="100000"/>
              </a:lnSpc>
              <a:spcBef>
                <a:spcPts val="0"/>
              </a:spcBef>
              <a:spcAft>
                <a:spcPts val="300"/>
              </a:spcAft>
            </a:pPr>
            <a:r>
              <a:rPr sz="2500" b="1">
                <a:solidFill>
                  <a:srgbClr val="17150F"/>
                </a:solidFill>
                <a:latin typeface="Arial"/>
              </a:rPr>
              <a:t>160</a:t>
            </a:r>
          </a:p>
          <a:p>
            <a:pPr algn="l">
              <a:lnSpc>
                <a:spcPct val="120000"/>
              </a:lnSpc>
              <a:spcBef>
                <a:spcPts val="0"/>
              </a:spcBef>
              <a:spcAft>
                <a:spcPts val="0"/>
              </a:spcAft>
            </a:pPr>
            <a:r>
              <a:rPr sz="1050" b="0">
                <a:solidFill>
                  <a:srgbClr val="555045"/>
                </a:solidFill>
                <a:latin typeface="Arial"/>
              </a:rPr>
              <a:t>20 tiendas × 8 productos</a:t>
            </a:r>
          </a:p>
        </p:txBody>
      </p:sp>
      <p:sp>
        <p:nvSpPr>
          <p:cNvPr id="13" name="Rectangle 12"/>
          <p:cNvSpPr/>
          <p:nvPr/>
        </p:nvSpPr>
        <p:spPr>
          <a:xfrm>
            <a:off x="8864877" y="4085082"/>
            <a:ext cx="2549575" cy="105156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29469" y="4213098"/>
            <a:ext cx="2220391" cy="868680"/>
          </a:xfrm>
          <a:prstGeom prst="rect">
            <a:avLst/>
          </a:prstGeom>
          <a:noFill/>
        </p:spPr>
        <p:txBody>
          <a:bodyPr wrap="square" lIns="0" rIns="0" tIns="0" bIns="0">
            <a:spAutoFit/>
          </a:bodyPr>
          <a:lstStyle/>
          <a:p>
            <a:pPr algn="l">
              <a:lnSpc>
                <a:spcPct val="122000"/>
              </a:lnSpc>
              <a:spcBef>
                <a:spcPts val="0"/>
              </a:spcBef>
              <a:spcAft>
                <a:spcPts val="300"/>
              </a:spcAft>
            </a:pPr>
            <a:r>
              <a:rPr sz="950" b="1">
                <a:solidFill>
                  <a:srgbClr val="8B8478"/>
                </a:solidFill>
                <a:latin typeface="Arial"/>
              </a:rPr>
              <a:t>SEMANAS COMPLETAS</a:t>
            </a:r>
          </a:p>
          <a:p>
            <a:pPr algn="l">
              <a:lnSpc>
                <a:spcPct val="100000"/>
              </a:lnSpc>
              <a:spcBef>
                <a:spcPts val="0"/>
              </a:spcBef>
              <a:spcAft>
                <a:spcPts val="300"/>
              </a:spcAft>
            </a:pPr>
            <a:r>
              <a:rPr sz="2500" b="1">
                <a:solidFill>
                  <a:srgbClr val="17150F"/>
                </a:solidFill>
                <a:latin typeface="Arial"/>
              </a:rPr>
              <a:t>13</a:t>
            </a:r>
          </a:p>
          <a:p>
            <a:pPr algn="l">
              <a:lnSpc>
                <a:spcPct val="120000"/>
              </a:lnSpc>
              <a:spcBef>
                <a:spcPts val="0"/>
              </a:spcBef>
              <a:spcAft>
                <a:spcPts val="0"/>
              </a:spcAft>
            </a:pPr>
            <a:r>
              <a:rPr sz="1050" b="0">
                <a:solidFill>
                  <a:srgbClr val="555045"/>
                </a:solidFill>
                <a:latin typeface="Arial"/>
              </a:rPr>
              <a:t>sin periodos parciales</a:t>
            </a:r>
          </a:p>
        </p:txBody>
      </p:sp>
      <p:sp>
        <p:nvSpPr>
          <p:cNvPr id="15" name="Rectangle 1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Los datos de partida</a:t>
            </a:r>
          </a:p>
        </p:txBody>
      </p:sp>
      <p:sp>
        <p:nvSpPr>
          <p:cNvPr id="17" name="TextBox 16"/>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651760"/>
            <a:ext cx="9144000" cy="914400"/>
          </a:xfrm>
          <a:prstGeom prst="rect">
            <a:avLst/>
          </a:prstGeom>
          <a:noFill/>
        </p:spPr>
        <p:txBody>
          <a:bodyPr wrap="square" lIns="0" rIns="0" tIns="0" bIns="0">
            <a:spAutoFit/>
          </a:bodyPr>
          <a:lstStyle/>
          <a:p>
            <a:pPr algn="l">
              <a:lnSpc>
                <a:spcPct val="105000"/>
              </a:lnSpc>
              <a:spcBef>
                <a:spcPts val="0"/>
              </a:spcBef>
              <a:spcAft>
                <a:spcPts val="1000"/>
              </a:spcAft>
            </a:pPr>
            <a:r>
              <a:rPr sz="3400" b="1">
                <a:solidFill>
                  <a:srgbClr val="17150F"/>
                </a:solidFill>
                <a:latin typeface="Arial"/>
              </a:rPr>
              <a:t>Entender el dato</a:t>
            </a:r>
          </a:p>
          <a:p>
            <a:pPr algn="l">
              <a:lnSpc>
                <a:spcPct val="130000"/>
              </a:lnSpc>
              <a:spcBef>
                <a:spcPts val="0"/>
              </a:spcBef>
              <a:spcAft>
                <a:spcPts val="600"/>
              </a:spcAft>
            </a:pPr>
            <a:r>
              <a:rPr sz="1550" b="0">
                <a:solidFill>
                  <a:srgbClr val="555045"/>
                </a:solidFill>
                <a:latin typeface="Arial"/>
              </a:rPr>
              <a:t>Pasos 1 a 4 · Auditoría y análisis univariado</a:t>
            </a:r>
          </a:p>
        </p:txBody>
      </p:sp>
      <p:sp>
        <p:nvSpPr>
          <p:cNvPr id="5" name="TextBox 4"/>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PASOS 1 Y 2 · AUDITORÍA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445770"/>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Antes de modelar, comprobar que el dato aguanta</a:t>
            </a:r>
          </a:p>
        </p:txBody>
      </p:sp>
      <p:sp>
        <p:nvSpPr>
          <p:cNvPr id="6" name="TextBox 5"/>
          <p:cNvSpPr txBox="1"/>
          <p:nvPr/>
        </p:nvSpPr>
        <p:spPr>
          <a:xfrm>
            <a:off x="777240" y="1506474"/>
            <a:ext cx="9966960" cy="283337"/>
          </a:xfrm>
          <a:prstGeom prst="rect">
            <a:avLst/>
          </a:prstGeom>
          <a:noFill/>
        </p:spPr>
        <p:txBody>
          <a:bodyPr wrap="square" lIns="0" rIns="0" tIns="0" bIns="0">
            <a:spAutoFit/>
          </a:bodyPr>
          <a:lstStyle/>
          <a:p>
            <a:pPr algn="l">
              <a:lnSpc>
                <a:spcPct val="130000"/>
              </a:lnSpc>
              <a:spcBef>
                <a:spcPts val="0"/>
              </a:spcBef>
              <a:spcAft>
                <a:spcPts val="0"/>
              </a:spcAft>
            </a:pPr>
            <a:r>
              <a:rPr sz="1450" b="0">
                <a:solidFill>
                  <a:srgbClr val="555045"/>
                </a:solidFill>
                <a:latin typeface="Arial"/>
              </a:rPr>
              <a:t>El informe 01 publica cada comprobación en cada ejecución. Si alguna falla, el proceso se detiene.</a:t>
            </a:r>
          </a:p>
        </p:txBody>
      </p:sp>
      <p:sp>
        <p:nvSpPr>
          <p:cNvPr id="7" name="Rectangle 6"/>
          <p:cNvSpPr/>
          <p:nvPr/>
        </p:nvSpPr>
        <p:spPr>
          <a:xfrm>
            <a:off x="777240" y="209156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78408" y="1990979"/>
            <a:ext cx="10436047" cy="283337"/>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Integridad referencial.</a:t>
            </a:r>
            <a:r>
              <a:rPr sz="1450" b="0">
                <a:solidFill>
                  <a:srgbClr val="555045"/>
                </a:solidFill>
                <a:latin typeface="Arial"/>
              </a:rPr>
              <a:t> Todas las series de ventas existen en catálogo, tiendas e inventario, y al revés.</a:t>
            </a:r>
          </a:p>
        </p:txBody>
      </p:sp>
      <p:sp>
        <p:nvSpPr>
          <p:cNvPr id="9" name="Rectangle 8"/>
          <p:cNvSpPr/>
          <p:nvPr/>
        </p:nvSpPr>
        <p:spPr>
          <a:xfrm>
            <a:off x="777240" y="2502916"/>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2402332"/>
            <a:ext cx="10436047" cy="283337"/>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Esquema declarado.</a:t>
            </a:r>
            <a:r>
              <a:rPr sz="1450" b="0">
                <a:solidFill>
                  <a:srgbClr val="555045"/>
                </a:solidFill>
                <a:latin typeface="Arial"/>
              </a:rPr>
              <a:t> Tipos, rangos y claves se validan contra un esquema, no contra la confianza.</a:t>
            </a:r>
          </a:p>
        </p:txBody>
      </p:sp>
      <p:sp>
        <p:nvSpPr>
          <p:cNvPr id="11" name="Rectangle 10"/>
          <p:cNvSpPr/>
          <p:nvPr/>
        </p:nvSpPr>
        <p:spPr>
          <a:xfrm>
            <a:off x="777240" y="2914269"/>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2813685"/>
            <a:ext cx="10436047" cy="283337"/>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Calendario continuo.</a:t>
            </a:r>
            <a:r>
              <a:rPr sz="1450" b="0">
                <a:solidFill>
                  <a:srgbClr val="555045"/>
                </a:solidFill>
                <a:latin typeface="Arial"/>
              </a:rPr>
              <a:t> Trece semanas completas de lunes a domingo, sin huecos ni semanas parciales.</a:t>
            </a:r>
          </a:p>
        </p:txBody>
      </p:sp>
      <p:sp>
        <p:nvSpPr>
          <p:cNvPr id="13" name="Rectangle 12"/>
          <p:cNvSpPr/>
          <p:nvPr/>
        </p:nvSpPr>
        <p:spPr>
          <a:xfrm>
            <a:off x="777240" y="332562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3225038"/>
            <a:ext cx="10436047" cy="283337"/>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Sin duplicados.</a:t>
            </a:r>
            <a:r>
              <a:rPr sz="1450" b="0">
                <a:solidFill>
                  <a:srgbClr val="555045"/>
                </a:solidFill>
                <a:latin typeface="Arial"/>
              </a:rPr>
              <a:t> Una sola observación por tienda, producto y día.</a:t>
            </a:r>
          </a:p>
        </p:txBody>
      </p:sp>
      <p:sp>
        <p:nvSpPr>
          <p:cNvPr id="15" name="Rectangle 14"/>
          <p:cNvSpPr/>
          <p:nvPr/>
        </p:nvSpPr>
        <p:spPr>
          <a:xfrm>
            <a:off x="777240" y="3736975"/>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8408" y="3636391"/>
            <a:ext cx="10436047" cy="283337"/>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La agregación conserva el total.</a:t>
            </a:r>
            <a:r>
              <a:rPr sz="1450" b="0">
                <a:solidFill>
                  <a:srgbClr val="555045"/>
                </a:solidFill>
                <a:latin typeface="Arial"/>
              </a:rPr>
              <a:t> Sumar a semana no pierde ni inventa unidades: se verifica la suma.</a:t>
            </a:r>
          </a:p>
        </p:txBody>
      </p:sp>
      <p:sp>
        <p:nvSpPr>
          <p:cNvPr id="17" name="TextBox 16"/>
          <p:cNvSpPr txBox="1"/>
          <p:nvPr/>
        </p:nvSpPr>
        <p:spPr>
          <a:xfrm>
            <a:off x="777240" y="4230624"/>
            <a:ext cx="10637215" cy="445008"/>
          </a:xfrm>
          <a:prstGeom prst="rect">
            <a:avLst/>
          </a:prstGeom>
          <a:noFill/>
        </p:spPr>
        <p:txBody>
          <a:bodyPr wrap="square" lIns="0" rIns="0" tIns="0" bIns="0">
            <a:spAutoFit/>
          </a:bodyPr>
          <a:lstStyle/>
          <a:p>
            <a:pPr>
              <a:lnSpc>
                <a:spcPct val="126000"/>
              </a:lnSpc>
              <a:spcAft>
                <a:spcPts val="0"/>
              </a:spcAft>
            </a:pPr>
            <a:r>
              <a:rPr sz="1200" b="1">
                <a:solidFill>
                  <a:srgbClr val="17150F"/>
                </a:solidFill>
                <a:latin typeface="Arial"/>
              </a:rPr>
              <a:t>Por qué importa.</a:t>
            </a:r>
            <a:r>
              <a:rPr sz="1200" b="0">
                <a:solidFill>
                  <a:srgbClr val="8B8478"/>
                </a:solidFill>
                <a:latin typeface="Arial"/>
              </a:rPr>
              <a:t> Un hueco en el calendario haría que los rezagos cruzaran periodos sin que nadie se entere, y todas las métricas posteriores serían falsas sin dar ningún síntoma.</a:t>
            </a:r>
          </a:p>
        </p:txBody>
      </p:sp>
      <p:sp>
        <p:nvSpPr>
          <p:cNvPr id="18" name="Rectangle 1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Pasos 1-2 · Auditoría</a:t>
            </a:r>
          </a:p>
        </p:txBody>
      </p:sp>
      <p:sp>
        <p:nvSpPr>
          <p:cNvPr id="20" name="TextBox 19"/>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445770"/>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La demanda semanal se modela tal cual, sin transformar</a:t>
            </a:r>
          </a:p>
        </p:txBody>
      </p:sp>
      <p:pic>
        <p:nvPicPr>
          <p:cNvPr id="6" name="Picture 5" descr="01_distribucion_semanal.png"/>
          <p:cNvPicPr>
            <a:picLocks noChangeAspect="1"/>
          </p:cNvPicPr>
          <p:nvPr/>
        </p:nvPicPr>
        <p:blipFill>
          <a:blip r:embed="rId2"/>
          <a:stretch>
            <a:fillRect/>
          </a:stretch>
        </p:blipFill>
        <p:spPr>
          <a:xfrm>
            <a:off x="777240" y="1506474"/>
            <a:ext cx="5852160" cy="3251200"/>
          </a:xfrm>
          <a:prstGeom prst="rect">
            <a:avLst/>
          </a:prstGeom>
        </p:spPr>
      </p:pic>
      <p:graphicFrame>
        <p:nvGraphicFramePr>
          <p:cNvPr id="7" name="Table 6"/>
          <p:cNvGraphicFramePr>
            <a:graphicFrameLocks noGrp="1"/>
          </p:cNvGraphicFramePr>
          <p:nvPr/>
        </p:nvGraphicFramePr>
        <p:xfrm>
          <a:off x="6949440" y="1597914"/>
          <a:ext cx="4465014" cy="1993392"/>
        </p:xfrm>
        <a:graphic>
          <a:graphicData uri="http://schemas.openxmlformats.org/drawingml/2006/table">
            <a:tbl>
              <a:tblPr bandRow="1">
                <a:tableStyleId>{5C22544A-7EE6-4342-B048-85BDC9FD1C3A}</a:tableStyleId>
              </a:tblPr>
              <a:tblGrid>
                <a:gridCol w="1875306"/>
                <a:gridCol w="1294854"/>
                <a:gridCol w="1294854"/>
              </a:tblGrid>
              <a:tr h="347472">
                <a:tc>
                  <a:txBody>
                    <a:bodyPr/>
                    <a:lstStyle/>
                    <a:p>
                      <a:pPr algn="l"/>
                      <a:r>
                        <a:rPr sz="1050" b="1">
                          <a:solidFill>
                            <a:srgbClr val="8B8478"/>
                          </a:solidFill>
                          <a:latin typeface="Arial"/>
                        </a:rPr>
                        <a:t/>
                      </a:r>
                    </a:p>
                  </a:txBody>
                  <a:tcPr marL="82296" marR="82296" anchor="ctr">
                    <a:solidFill>
                      <a:srgbClr val="F4F2ED"/>
                    </a:solidFill>
                  </a:tcPr>
                </a:tc>
                <a:tc>
                  <a:txBody>
                    <a:bodyPr/>
                    <a:lstStyle/>
                    <a:p>
                      <a:pPr algn="r"/>
                      <a:r>
                        <a:rPr sz="1050" b="1">
                          <a:solidFill>
                            <a:srgbClr val="8B8478"/>
                          </a:solidFill>
                          <a:latin typeface="Arial"/>
                        </a:rPr>
                        <a:t>Diario</a:t>
                      </a:r>
                    </a:p>
                  </a:txBody>
                  <a:tcPr marL="82296" marR="82296" anchor="ctr">
                    <a:solidFill>
                      <a:srgbClr val="F4F2ED"/>
                    </a:solidFill>
                  </a:tcPr>
                </a:tc>
                <a:tc>
                  <a:txBody>
                    <a:bodyPr/>
                    <a:lstStyle/>
                    <a:p>
                      <a:pPr algn="r"/>
                      <a:r>
                        <a:rPr sz="1050" b="1">
                          <a:solidFill>
                            <a:srgbClr val="8B8478"/>
                          </a:solidFill>
                          <a:latin typeface="Arial"/>
                        </a:rPr>
                        <a:t>Semanal</a:t>
                      </a:r>
                    </a:p>
                  </a:txBody>
                  <a:tcPr marL="82296" marR="82296" anchor="ctr">
                    <a:solidFill>
                      <a:srgbClr val="F4F2ED"/>
                    </a:solidFill>
                  </a:tcPr>
                </a:tc>
              </a:tr>
              <a:tr h="329184">
                <a:tc>
                  <a:txBody>
                    <a:bodyPr/>
                    <a:lstStyle/>
                    <a:p>
                      <a:pPr algn="l"/>
                      <a:r>
                        <a:rPr sz="1200" b="0">
                          <a:solidFill>
                            <a:srgbClr val="17150F"/>
                          </a:solidFill>
                          <a:latin typeface="Arial"/>
                        </a:rPr>
                        <a:t>Media</a:t>
                      </a:r>
                    </a:p>
                  </a:txBody>
                  <a:tcPr marL="82296" marR="82296" anchor="ctr">
                    <a:solidFill>
                      <a:srgbClr val="FFFFFF"/>
                    </a:solidFill>
                  </a:tcPr>
                </a:tc>
                <a:tc>
                  <a:txBody>
                    <a:bodyPr/>
                    <a:lstStyle/>
                    <a:p>
                      <a:pPr algn="r"/>
                      <a:r>
                        <a:rPr sz="1200" b="0">
                          <a:solidFill>
                            <a:srgbClr val="555045"/>
                          </a:solidFill>
                          <a:latin typeface="Arial"/>
                        </a:rPr>
                        <a:t>13,2</a:t>
                      </a:r>
                    </a:p>
                  </a:txBody>
                  <a:tcPr marL="82296" marR="82296" anchor="ctr">
                    <a:solidFill>
                      <a:srgbClr val="FFFFFF"/>
                    </a:solidFill>
                  </a:tcPr>
                </a:tc>
                <a:tc>
                  <a:txBody>
                    <a:bodyPr/>
                    <a:lstStyle/>
                    <a:p>
                      <a:pPr algn="r"/>
                      <a:r>
                        <a:rPr sz="1200" b="0">
                          <a:solidFill>
                            <a:srgbClr val="555045"/>
                          </a:solidFill>
                          <a:latin typeface="Arial"/>
                        </a:rPr>
                        <a:t>92,2</a:t>
                      </a:r>
                    </a:p>
                  </a:txBody>
                  <a:tcPr marL="82296" marR="82296" anchor="ctr">
                    <a:solidFill>
                      <a:srgbClr val="FFFFFF"/>
                    </a:solidFill>
                  </a:tcPr>
                </a:tc>
              </a:tr>
              <a:tr h="329184">
                <a:tc>
                  <a:txBody>
                    <a:bodyPr/>
                    <a:lstStyle/>
                    <a:p>
                      <a:pPr algn="l"/>
                      <a:r>
                        <a:rPr sz="1200" b="0">
                          <a:solidFill>
                            <a:srgbClr val="17150F"/>
                          </a:solidFill>
                          <a:latin typeface="Arial"/>
                        </a:rPr>
                        <a:t>Coef. variación</a:t>
                      </a:r>
                    </a:p>
                  </a:txBody>
                  <a:tcPr marL="82296" marR="82296" anchor="ctr">
                    <a:solidFill>
                      <a:srgbClr val="FFFFFF"/>
                    </a:solidFill>
                  </a:tcPr>
                </a:tc>
                <a:tc>
                  <a:txBody>
                    <a:bodyPr/>
                    <a:lstStyle/>
                    <a:p>
                      <a:pPr algn="r"/>
                      <a:r>
                        <a:rPr sz="1200" b="0">
                          <a:solidFill>
                            <a:srgbClr val="555045"/>
                          </a:solidFill>
                          <a:latin typeface="Arial"/>
                        </a:rPr>
                        <a:t>0,591</a:t>
                      </a:r>
                    </a:p>
                  </a:txBody>
                  <a:tcPr marL="82296" marR="82296" anchor="ctr">
                    <a:solidFill>
                      <a:srgbClr val="FFFFFF"/>
                    </a:solidFill>
                  </a:tcPr>
                </a:tc>
                <a:tc>
                  <a:txBody>
                    <a:bodyPr/>
                    <a:lstStyle/>
                    <a:p>
                      <a:pPr algn="r"/>
                      <a:r>
                        <a:rPr sz="1200" b="0">
                          <a:solidFill>
                            <a:srgbClr val="555045"/>
                          </a:solidFill>
                          <a:latin typeface="Arial"/>
                        </a:rPr>
                        <a:t>0,449</a:t>
                      </a:r>
                    </a:p>
                  </a:txBody>
                  <a:tcPr marL="82296" marR="82296" anchor="ctr">
                    <a:solidFill>
                      <a:srgbClr val="FFFFFF"/>
                    </a:solidFill>
                  </a:tcPr>
                </a:tc>
              </a:tr>
              <a:tr h="329184">
                <a:tc>
                  <a:txBody>
                    <a:bodyPr/>
                    <a:lstStyle/>
                    <a:p>
                      <a:pPr algn="l"/>
                      <a:r>
                        <a:rPr sz="1200" b="0">
                          <a:solidFill>
                            <a:srgbClr val="17150F"/>
                          </a:solidFill>
                          <a:latin typeface="Arial"/>
                        </a:rPr>
                        <a:t>Asimetría</a:t>
                      </a:r>
                    </a:p>
                  </a:txBody>
                  <a:tcPr marL="82296" marR="82296" anchor="ctr">
                    <a:solidFill>
                      <a:srgbClr val="FFFFFF"/>
                    </a:solidFill>
                  </a:tcPr>
                </a:tc>
                <a:tc>
                  <a:txBody>
                    <a:bodyPr/>
                    <a:lstStyle/>
                    <a:p>
                      <a:pPr algn="r"/>
                      <a:r>
                        <a:rPr sz="1200" b="0">
                          <a:solidFill>
                            <a:srgbClr val="555045"/>
                          </a:solidFill>
                          <a:latin typeface="Arial"/>
                        </a:rPr>
                        <a:t>1,020</a:t>
                      </a:r>
                    </a:p>
                  </a:txBody>
                  <a:tcPr marL="82296" marR="82296" anchor="ctr">
                    <a:solidFill>
                      <a:srgbClr val="FFFFFF"/>
                    </a:solidFill>
                  </a:tcPr>
                </a:tc>
                <a:tc>
                  <a:txBody>
                    <a:bodyPr/>
                    <a:lstStyle/>
                    <a:p>
                      <a:pPr algn="r"/>
                      <a:r>
                        <a:rPr sz="1200" b="0">
                          <a:solidFill>
                            <a:srgbClr val="555045"/>
                          </a:solidFill>
                          <a:latin typeface="Arial"/>
                        </a:rPr>
                        <a:t>0,673</a:t>
                      </a:r>
                    </a:p>
                  </a:txBody>
                  <a:tcPr marL="82296" marR="82296" anchor="ctr">
                    <a:solidFill>
                      <a:srgbClr val="FFFFFF"/>
                    </a:solidFill>
                  </a:tcPr>
                </a:tc>
              </a:tr>
              <a:tr h="329184">
                <a:tc>
                  <a:txBody>
                    <a:bodyPr/>
                    <a:lstStyle/>
                    <a:p>
                      <a:pPr algn="l"/>
                      <a:r>
                        <a:rPr sz="1200" b="0">
                          <a:solidFill>
                            <a:srgbClr val="17150F"/>
                          </a:solidFill>
                          <a:latin typeface="Arial"/>
                        </a:rPr>
                        <a:t>Ceros</a:t>
                      </a:r>
                    </a:p>
                  </a:txBody>
                  <a:tcPr marL="82296" marR="82296" anchor="ctr">
                    <a:solidFill>
                      <a:srgbClr val="FFFFFF"/>
                    </a:solidFill>
                  </a:tcPr>
                </a:tc>
                <a:tc>
                  <a:txBody>
                    <a:bodyPr/>
                    <a:lstStyle/>
                    <a:p>
                      <a:pPr algn="r"/>
                      <a:r>
                        <a:rPr sz="1200" b="0">
                          <a:solidFill>
                            <a:srgbClr val="555045"/>
                          </a:solidFill>
                          <a:latin typeface="Arial"/>
                        </a:rPr>
                        <a:t>26</a:t>
                      </a:r>
                    </a:p>
                  </a:txBody>
                  <a:tcPr marL="82296" marR="82296" anchor="ctr">
                    <a:solidFill>
                      <a:srgbClr val="FFFFFF"/>
                    </a:solidFill>
                  </a:tcPr>
                </a:tc>
                <a:tc>
                  <a:txBody>
                    <a:bodyPr/>
                    <a:lstStyle/>
                    <a:p>
                      <a:pPr algn="r"/>
                      <a:r>
                        <a:rPr sz="1200" b="0">
                          <a:solidFill>
                            <a:srgbClr val="555045"/>
                          </a:solidFill>
                          <a:latin typeface="Arial"/>
                        </a:rPr>
                        <a:t>0</a:t>
                      </a:r>
                    </a:p>
                  </a:txBody>
                  <a:tcPr marL="82296" marR="82296" anchor="ctr">
                    <a:solidFill>
                      <a:srgbClr val="FFFFFF"/>
                    </a:solidFill>
                  </a:tcPr>
                </a:tc>
              </a:tr>
              <a:tr h="329184">
                <a:tc>
                  <a:txBody>
                    <a:bodyPr/>
                    <a:lstStyle/>
                    <a:p>
                      <a:pPr algn="l"/>
                      <a:r>
                        <a:rPr sz="1200" b="0">
                          <a:solidFill>
                            <a:srgbClr val="17150F"/>
                          </a:solidFill>
                          <a:latin typeface="Arial"/>
                        </a:rPr>
                        <a:t>Atípicos</a:t>
                      </a:r>
                    </a:p>
                  </a:txBody>
                  <a:tcPr marL="82296" marR="82296" anchor="ctr">
                    <a:solidFill>
                      <a:srgbClr val="FFFFFF"/>
                    </a:solidFill>
                  </a:tcPr>
                </a:tc>
                <a:tc>
                  <a:txBody>
                    <a:bodyPr/>
                    <a:lstStyle/>
                    <a:p>
                      <a:pPr algn="r"/>
                      <a:r>
                        <a:rPr sz="1200" b="0">
                          <a:solidFill>
                            <a:srgbClr val="555045"/>
                          </a:solidFill>
                          <a:latin typeface="Arial"/>
                        </a:rPr>
                        <a:t>127</a:t>
                      </a:r>
                    </a:p>
                  </a:txBody>
                  <a:tcPr marL="82296" marR="82296" anchor="ctr">
                    <a:solidFill>
                      <a:srgbClr val="FFFFFF"/>
                    </a:solidFill>
                  </a:tcPr>
                </a:tc>
                <a:tc>
                  <a:txBody>
                    <a:bodyPr/>
                    <a:lstStyle/>
                    <a:p>
                      <a:pPr algn="r"/>
                      <a:r>
                        <a:rPr sz="1200" b="0">
                          <a:solidFill>
                            <a:srgbClr val="555045"/>
                          </a:solidFill>
                          <a:latin typeface="Arial"/>
                        </a:rPr>
                        <a:t>3</a:t>
                      </a:r>
                    </a:p>
                  </a:txBody>
                  <a:tcPr marL="82296" marR="82296" anchor="ctr">
                    <a:solidFill>
                      <a:srgbClr val="FFFFFF"/>
                    </a:solidFill>
                  </a:tcPr>
                </a:tc>
              </a:tr>
            </a:tbl>
          </a:graphicData>
        </a:graphic>
      </p:graphicFrame>
      <p:sp>
        <p:nvSpPr>
          <p:cNvPr id="8" name="TextBox 7"/>
          <p:cNvSpPr txBox="1"/>
          <p:nvPr/>
        </p:nvSpPr>
        <p:spPr>
          <a:xfrm>
            <a:off x="6949440" y="4112514"/>
            <a:ext cx="4465015" cy="2011680"/>
          </a:xfrm>
          <a:prstGeom prst="rect">
            <a:avLst/>
          </a:prstGeom>
          <a:noFill/>
        </p:spPr>
        <p:txBody>
          <a:bodyPr wrap="square" lIns="0" rIns="0" tIns="0" bIns="0">
            <a:spAutoFit/>
          </a:bodyPr>
          <a:lstStyle/>
          <a:p>
            <a:pPr algn="l">
              <a:lnSpc>
                <a:spcPct val="130000"/>
              </a:lnSpc>
              <a:spcBef>
                <a:spcPts val="0"/>
              </a:spcBef>
              <a:spcAft>
                <a:spcPts val="1000"/>
              </a:spcAft>
            </a:pPr>
            <a:r>
              <a:rPr sz="1300" b="0">
                <a:solidFill>
                  <a:srgbClr val="555045"/>
                </a:solidFill>
                <a:latin typeface="Arial"/>
              </a:rPr>
              <a:t>Al pasar de día a semana la variable cambia de carácter: campana con cola derecha corta y sin masa pegada al cero.</a:t>
            </a:r>
          </a:p>
          <a:p>
            <a:pPr algn="l">
              <a:lnSpc>
                <a:spcPct val="130000"/>
              </a:lnSpc>
              <a:spcBef>
                <a:spcPts val="0"/>
              </a:spcBef>
              <a:spcAft>
                <a:spcPts val="0"/>
              </a:spcAft>
            </a:pPr>
            <a:r>
              <a:rPr sz="1300" b="1">
                <a:solidFill>
                  <a:srgbClr val="17150F"/>
                </a:solidFill>
                <a:latin typeface="Arial"/>
              </a:rPr>
              <a:t>No hace falta transformación logarítmica, ni modelos de conteo, ni tratamiento de atípicos.</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1" name="TextBox 10"/>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445770"/>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Agregar a semana elimina la señal dominante del dato diario</a:t>
            </a:r>
          </a:p>
        </p:txBody>
      </p:sp>
      <p:pic>
        <p:nvPicPr>
          <p:cNvPr id="6" name="Picture 5" descr="02_ciclo_dia_semana.png"/>
          <p:cNvPicPr>
            <a:picLocks noChangeAspect="1"/>
          </p:cNvPicPr>
          <p:nvPr/>
        </p:nvPicPr>
        <p:blipFill>
          <a:blip r:embed="rId2"/>
          <a:stretch>
            <a:fillRect/>
          </a:stretch>
        </p:blipFill>
        <p:spPr>
          <a:xfrm>
            <a:off x="777240" y="1506474"/>
            <a:ext cx="5852160" cy="3251200"/>
          </a:xfrm>
          <a:prstGeom prst="rect">
            <a:avLst/>
          </a:prstGeom>
        </p:spPr>
      </p:pic>
      <p:sp>
        <p:nvSpPr>
          <p:cNvPr id="7" name="TextBox 6"/>
          <p:cNvSpPr txBox="1"/>
          <p:nvPr/>
        </p:nvSpPr>
        <p:spPr>
          <a:xfrm>
            <a:off x="6949440" y="1689354"/>
            <a:ext cx="4465015" cy="3657600"/>
          </a:xfrm>
          <a:prstGeom prst="rect">
            <a:avLst/>
          </a:prstGeom>
          <a:noFill/>
        </p:spPr>
        <p:txBody>
          <a:bodyPr wrap="square" lIns="0" rIns="0" tIns="0" bIns="0">
            <a:spAutoFit/>
          </a:bodyPr>
          <a:lstStyle/>
          <a:p>
            <a:pPr algn="l">
              <a:lnSpc>
                <a:spcPct val="132000"/>
              </a:lnSpc>
              <a:spcBef>
                <a:spcPts val="0"/>
              </a:spcBef>
              <a:spcAft>
                <a:spcPts val="1200"/>
              </a:spcAft>
            </a:pPr>
            <a:r>
              <a:rPr sz="1400" b="0">
                <a:solidFill>
                  <a:srgbClr val="555045"/>
                </a:solidFill>
                <a:latin typeface="Arial"/>
              </a:rPr>
              <a:t>El fin de semana vende 1,25 veces la media y el jueves 0,82. Una amplitud de 1,54 veces entre el día más alto y el más bajo.</a:t>
            </a:r>
          </a:p>
          <a:p>
            <a:pPr algn="l">
              <a:lnSpc>
                <a:spcPct val="132000"/>
              </a:lnSpc>
              <a:spcBef>
                <a:spcPts val="0"/>
              </a:spcBef>
              <a:spcAft>
                <a:spcPts val="1200"/>
              </a:spcAft>
            </a:pPr>
            <a:r>
              <a:rPr sz="1400" b="0">
                <a:solidFill>
                  <a:srgbClr val="555045"/>
                </a:solidFill>
                <a:latin typeface="Arial"/>
              </a:rPr>
              <a:t>Cada semana del periodo contiene exactamente un día de cada tipo, así que al sumar el ciclo se anula por construcción.</a:t>
            </a:r>
          </a:p>
          <a:p>
            <a:pPr algn="l">
              <a:lnSpc>
                <a:spcPct val="132000"/>
              </a:lnSpc>
              <a:spcBef>
                <a:spcPts val="0"/>
              </a:spcBef>
              <a:spcAft>
                <a:spcPts val="0"/>
              </a:spcAft>
            </a:pPr>
            <a:r>
              <a:rPr sz="1400" b="1">
                <a:solidFill>
                  <a:srgbClr val="17150F"/>
                </a:solidFill>
                <a:latin typeface="Arial"/>
              </a:rPr>
              <a:t>La agregación semanal no pierde señal útil y retira una fuente de variación grande.</a:t>
            </a:r>
          </a:p>
        </p:txBody>
      </p:sp>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0" name="TextBox 9"/>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445770"/>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El hallazgo que definió el proyecto: no hay memoria semanal</a:t>
            </a:r>
          </a:p>
        </p:txBody>
      </p:sp>
      <p:pic>
        <p:nvPicPr>
          <p:cNvPr id="6" name="Picture 5" descr="03_autocorrelacion.png"/>
          <p:cNvPicPr>
            <a:picLocks noChangeAspect="1"/>
          </p:cNvPicPr>
          <p:nvPr/>
        </p:nvPicPr>
        <p:blipFill>
          <a:blip r:embed="rId2"/>
          <a:stretch>
            <a:fillRect/>
          </a:stretch>
        </p:blipFill>
        <p:spPr>
          <a:xfrm>
            <a:off x="777240" y="1506474"/>
            <a:ext cx="5852160" cy="2234461"/>
          </a:xfrm>
          <a:prstGeom prst="rect">
            <a:avLst/>
          </a:prstGeom>
        </p:spPr>
      </p:pic>
      <p:graphicFrame>
        <p:nvGraphicFramePr>
          <p:cNvPr id="7" name="Table 6"/>
          <p:cNvGraphicFramePr>
            <a:graphicFrameLocks noGrp="1"/>
          </p:cNvGraphicFramePr>
          <p:nvPr/>
        </p:nvGraphicFramePr>
        <p:xfrm>
          <a:off x="6949440" y="1597914"/>
          <a:ext cx="4465013" cy="1005840"/>
        </p:xfrm>
        <a:graphic>
          <a:graphicData uri="http://schemas.openxmlformats.org/drawingml/2006/table">
            <a:tbl>
              <a:tblPr bandRow="1">
                <a:tableStyleId>{5C22544A-7EE6-4342-B048-85BDC9FD1C3A}</a:tableStyleId>
              </a:tblPr>
              <a:tblGrid>
                <a:gridCol w="1428804"/>
                <a:gridCol w="1339504"/>
                <a:gridCol w="1696705"/>
              </a:tblGrid>
              <a:tr h="347472">
                <a:tc>
                  <a:txBody>
                    <a:bodyPr/>
                    <a:lstStyle/>
                    <a:p>
                      <a:pPr algn="l"/>
                      <a:r>
                        <a:rPr sz="1050" b="1">
                          <a:solidFill>
                            <a:srgbClr val="8B8478"/>
                          </a:solidFill>
                          <a:latin typeface="Arial"/>
                        </a:rPr>
                        <a:t>Nivel</a:t>
                      </a:r>
                    </a:p>
                  </a:txBody>
                  <a:tcPr marL="82296" marR="82296" anchor="ctr">
                    <a:solidFill>
                      <a:srgbClr val="F4F2ED"/>
                    </a:solidFill>
                  </a:tcPr>
                </a:tc>
                <a:tc>
                  <a:txBody>
                    <a:bodyPr/>
                    <a:lstStyle/>
                    <a:p>
                      <a:pPr algn="r"/>
                      <a:r>
                        <a:rPr sz="1050" b="1">
                          <a:solidFill>
                            <a:srgbClr val="8B8478"/>
                          </a:solidFill>
                          <a:latin typeface="Arial"/>
                        </a:rPr>
                        <a:t>Rezago 1</a:t>
                      </a:r>
                    </a:p>
                  </a:txBody>
                  <a:tcPr marL="82296" marR="82296" anchor="ctr">
                    <a:solidFill>
                      <a:srgbClr val="F4F2ED"/>
                    </a:solidFill>
                  </a:tcPr>
                </a:tc>
                <a:tc>
                  <a:txBody>
                    <a:bodyPr/>
                    <a:lstStyle/>
                    <a:p>
                      <a:pPr algn="r"/>
                      <a:r>
                        <a:rPr sz="1050" b="1">
                          <a:solidFill>
                            <a:srgbClr val="8B8478"/>
                          </a:solidFill>
                          <a:latin typeface="Arial"/>
                        </a:rPr>
                        <a:t>Significativos</a:t>
                      </a:r>
                    </a:p>
                  </a:txBody>
                  <a:tcPr marL="82296" marR="82296" anchor="ctr">
                    <a:solidFill>
                      <a:srgbClr val="F4F2ED"/>
                    </a:solidFill>
                  </a:tcPr>
                </a:tc>
              </a:tr>
              <a:tr h="329184">
                <a:tc>
                  <a:txBody>
                    <a:bodyPr/>
                    <a:lstStyle/>
                    <a:p>
                      <a:pPr algn="l"/>
                      <a:r>
                        <a:rPr sz="1200" b="0">
                          <a:solidFill>
                            <a:srgbClr val="17150F"/>
                          </a:solidFill>
                          <a:latin typeface="Arial"/>
                        </a:rPr>
                        <a:t>Diario</a:t>
                      </a:r>
                    </a:p>
                  </a:txBody>
                  <a:tcPr marL="82296" marR="82296" anchor="ctr">
                    <a:solidFill>
                      <a:srgbClr val="FFFFFF"/>
                    </a:solidFill>
                  </a:tcPr>
                </a:tc>
                <a:tc>
                  <a:txBody>
                    <a:bodyPr/>
                    <a:lstStyle/>
                    <a:p>
                      <a:pPr algn="r"/>
                      <a:r>
                        <a:rPr sz="1200" b="0">
                          <a:solidFill>
                            <a:srgbClr val="555045"/>
                          </a:solidFill>
                          <a:latin typeface="Arial"/>
                        </a:rPr>
                        <a:t>0,153</a:t>
                      </a:r>
                    </a:p>
                  </a:txBody>
                  <a:tcPr marL="82296" marR="82296" anchor="ctr">
                    <a:solidFill>
                      <a:srgbClr val="FFFFFF"/>
                    </a:solidFill>
                  </a:tcPr>
                </a:tc>
                <a:tc>
                  <a:txBody>
                    <a:bodyPr/>
                    <a:lstStyle/>
                    <a:p>
                      <a:pPr algn="r"/>
                      <a:r>
                        <a:rPr sz="1200" b="0">
                          <a:solidFill>
                            <a:srgbClr val="555045"/>
                          </a:solidFill>
                          <a:latin typeface="Arial"/>
                        </a:rPr>
                        <a:t>7, 14, 21</a:t>
                      </a:r>
                    </a:p>
                  </a:txBody>
                  <a:tcPr marL="82296" marR="82296" anchor="ctr">
                    <a:solidFill>
                      <a:srgbClr val="FFFFFF"/>
                    </a:solidFill>
                  </a:tcPr>
                </a:tc>
              </a:tr>
              <a:tr h="329184">
                <a:tc>
                  <a:txBody>
                    <a:bodyPr/>
                    <a:lstStyle/>
                    <a:p>
                      <a:pPr algn="l"/>
                      <a:r>
                        <a:rPr sz="1200" b="0">
                          <a:solidFill>
                            <a:srgbClr val="17150F"/>
                          </a:solidFill>
                          <a:latin typeface="Arial"/>
                        </a:rPr>
                        <a:t>Semanal</a:t>
                      </a:r>
                    </a:p>
                  </a:txBody>
                  <a:tcPr marL="82296" marR="82296" anchor="ctr">
                    <a:solidFill>
                      <a:srgbClr val="FFFFFF"/>
                    </a:solidFill>
                  </a:tcPr>
                </a:tc>
                <a:tc>
                  <a:txBody>
                    <a:bodyPr/>
                    <a:lstStyle/>
                    <a:p>
                      <a:pPr algn="r"/>
                      <a:r>
                        <a:rPr sz="1200" b="0">
                          <a:solidFill>
                            <a:srgbClr val="555045"/>
                          </a:solidFill>
                          <a:latin typeface="Arial"/>
                        </a:rPr>
                        <a:t>0,101</a:t>
                      </a:r>
                    </a:p>
                  </a:txBody>
                  <a:tcPr marL="82296" marR="82296" anchor="ctr">
                    <a:solidFill>
                      <a:srgbClr val="FFFFFF"/>
                    </a:solidFill>
                  </a:tcPr>
                </a:tc>
                <a:tc>
                  <a:txBody>
                    <a:bodyPr/>
                    <a:lstStyle/>
                    <a:p>
                      <a:pPr algn="r"/>
                      <a:r>
                        <a:rPr sz="1200" b="0">
                          <a:solidFill>
                            <a:srgbClr val="555045"/>
                          </a:solidFill>
                          <a:latin typeface="Arial"/>
                        </a:rPr>
                        <a:t>ninguno</a:t>
                      </a:r>
                    </a:p>
                  </a:txBody>
                  <a:tcPr marL="82296" marR="82296" anchor="ctr">
                    <a:solidFill>
                      <a:srgbClr val="FFFFFF"/>
                    </a:solidFill>
                  </a:tcPr>
                </a:tc>
              </a:tr>
            </a:tbl>
          </a:graphicData>
        </a:graphic>
      </p:graphicFrame>
      <p:sp>
        <p:nvSpPr>
          <p:cNvPr id="8" name="TextBox 7"/>
          <p:cNvSpPr txBox="1"/>
          <p:nvPr/>
        </p:nvSpPr>
        <p:spPr>
          <a:xfrm>
            <a:off x="6949440" y="2923794"/>
            <a:ext cx="4465015" cy="2926080"/>
          </a:xfrm>
          <a:prstGeom prst="rect">
            <a:avLst/>
          </a:prstGeom>
          <a:noFill/>
        </p:spPr>
        <p:txBody>
          <a:bodyPr wrap="square" lIns="0" rIns="0" tIns="0" bIns="0">
            <a:spAutoFit/>
          </a:bodyPr>
          <a:lstStyle/>
          <a:p>
            <a:pPr algn="l">
              <a:lnSpc>
                <a:spcPct val="130000"/>
              </a:lnSpc>
              <a:spcBef>
                <a:spcPts val="0"/>
              </a:spcBef>
              <a:spcAft>
                <a:spcPts val="1200"/>
              </a:spcAft>
            </a:pPr>
            <a:r>
              <a:rPr sz="1300" b="0">
                <a:solidFill>
                  <a:srgbClr val="555045"/>
                </a:solidFill>
                <a:latin typeface="Arial"/>
              </a:rPr>
              <a:t>Los rezagos diarios significativos son múltiplos de siete: es el mismo ciclo de fin de semana visto de otra forma, no memoria de la serie.</a:t>
            </a:r>
          </a:p>
          <a:p>
            <a:pPr algn="l">
              <a:lnSpc>
                <a:spcPct val="130000"/>
              </a:lnSpc>
              <a:spcBef>
                <a:spcPts val="0"/>
              </a:spcBef>
              <a:spcAft>
                <a:spcPts val="1000"/>
              </a:spcAft>
            </a:pPr>
            <a:r>
              <a:rPr sz="1300" b="1">
                <a:solidFill>
                  <a:srgbClr val="17150F"/>
                </a:solidFill>
                <a:latin typeface="Arial"/>
              </a:rPr>
              <a:t>Consecuencia 1. Pedir lo mismo que la semana pasada es un rival débil, no una buena referencia.</a:t>
            </a:r>
          </a:p>
          <a:p>
            <a:pPr algn="l">
              <a:lnSpc>
                <a:spcPct val="130000"/>
              </a:lnSpc>
              <a:spcBef>
                <a:spcPts val="0"/>
              </a:spcBef>
              <a:spcAft>
                <a:spcPts val="0"/>
              </a:spcAft>
            </a:pPr>
            <a:r>
              <a:rPr sz="1300" b="1">
                <a:solidFill>
                  <a:srgbClr val="17150F"/>
                </a:solidFill>
                <a:latin typeface="Arial"/>
              </a:rPr>
              <a:t>Consecuencia 2. Las variables útiles serán medias móviles, que promedian el ruido, y no el rezago de una semana.</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1" name="TextBox 10"/>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445770"/>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El techo de lo predecible, y por qué el R² no sirve aquí</a:t>
            </a:r>
          </a:p>
        </p:txBody>
      </p:sp>
      <p:pic>
        <p:nvPicPr>
          <p:cNvPr id="6" name="Picture 5" descr="04_descomposicion_varianza.png"/>
          <p:cNvPicPr>
            <a:picLocks noChangeAspect="1"/>
          </p:cNvPicPr>
          <p:nvPr/>
        </p:nvPicPr>
        <p:blipFill>
          <a:blip r:embed="rId2"/>
          <a:stretch>
            <a:fillRect/>
          </a:stretch>
        </p:blipFill>
        <p:spPr>
          <a:xfrm>
            <a:off x="777240" y="1506474"/>
            <a:ext cx="5852160" cy="2289976"/>
          </a:xfrm>
          <a:prstGeom prst="rect">
            <a:avLst/>
          </a:prstGeom>
        </p:spPr>
      </p:pic>
      <p:graphicFrame>
        <p:nvGraphicFramePr>
          <p:cNvPr id="7" name="Table 6"/>
          <p:cNvGraphicFramePr>
            <a:graphicFrameLocks noGrp="1"/>
          </p:cNvGraphicFramePr>
          <p:nvPr/>
        </p:nvGraphicFramePr>
        <p:xfrm>
          <a:off x="6949440" y="1597914"/>
          <a:ext cx="4465014" cy="1335024"/>
        </p:xfrm>
        <a:graphic>
          <a:graphicData uri="http://schemas.openxmlformats.org/drawingml/2006/table">
            <a:tbl>
              <a:tblPr bandRow="1">
                <a:tableStyleId>{5C22544A-7EE6-4342-B048-85BDC9FD1C3A}</a:tableStyleId>
              </a:tblPr>
              <a:tblGrid>
                <a:gridCol w="2768309"/>
                <a:gridCol w="1696705"/>
              </a:tblGrid>
              <a:tr h="347472">
                <a:tc>
                  <a:txBody>
                    <a:bodyPr/>
                    <a:lstStyle/>
                    <a:p>
                      <a:pPr algn="l"/>
                      <a:r>
                        <a:rPr sz="1100" b="1">
                          <a:solidFill>
                            <a:srgbClr val="8B8478"/>
                          </a:solidFill>
                          <a:latin typeface="Arial"/>
                        </a:rPr>
                        <a:t>Fuente de varianza</a:t>
                      </a:r>
                    </a:p>
                  </a:txBody>
                  <a:tcPr marL="82296" marR="82296" anchor="ctr">
                    <a:solidFill>
                      <a:srgbClr val="F4F2ED"/>
                    </a:solidFill>
                  </a:tcPr>
                </a:tc>
                <a:tc>
                  <a:txBody>
                    <a:bodyPr/>
                    <a:lstStyle/>
                    <a:p>
                      <a:pPr algn="r"/>
                      <a:r>
                        <a:rPr sz="1100" b="1">
                          <a:solidFill>
                            <a:srgbClr val="8B8478"/>
                          </a:solidFill>
                          <a:latin typeface="Arial"/>
                        </a:rPr>
                        <a:t>Peso</a:t>
                      </a:r>
                    </a:p>
                  </a:txBody>
                  <a:tcPr marL="82296" marR="82296" anchor="ctr">
                    <a:solidFill>
                      <a:srgbClr val="F4F2ED"/>
                    </a:solidFill>
                  </a:tcPr>
                </a:tc>
              </a:tr>
              <a:tr h="329184">
                <a:tc>
                  <a:txBody>
                    <a:bodyPr/>
                    <a:lstStyle/>
                    <a:p>
                      <a:pPr algn="l"/>
                      <a:r>
                        <a:rPr sz="1250" b="0">
                          <a:solidFill>
                            <a:srgbClr val="17150F"/>
                          </a:solidFill>
                          <a:latin typeface="Arial"/>
                        </a:rPr>
                        <a:t>Diferencias entre series</a:t>
                      </a:r>
                    </a:p>
                  </a:txBody>
                  <a:tcPr marL="82296" marR="82296" anchor="ctr">
                    <a:solidFill>
                      <a:srgbClr val="FFFFFF"/>
                    </a:solidFill>
                  </a:tcPr>
                </a:tc>
                <a:tc>
                  <a:txBody>
                    <a:bodyPr/>
                    <a:lstStyle/>
                    <a:p>
                      <a:pPr algn="r"/>
                      <a:r>
                        <a:rPr sz="1250" b="0">
                          <a:solidFill>
                            <a:srgbClr val="555045"/>
                          </a:solidFill>
                          <a:latin typeface="Arial"/>
                        </a:rPr>
                        <a:t>90,0 %</a:t>
                      </a:r>
                    </a:p>
                  </a:txBody>
                  <a:tcPr marL="82296" marR="82296" anchor="ctr">
                    <a:solidFill>
                      <a:srgbClr val="FFFFFF"/>
                    </a:solidFill>
                  </a:tcPr>
                </a:tc>
              </a:tr>
              <a:tr h="329184">
                <a:tc>
                  <a:txBody>
                    <a:bodyPr/>
                    <a:lstStyle/>
                    <a:p>
                      <a:pPr algn="l"/>
                      <a:r>
                        <a:rPr sz="1250" b="1">
                          <a:solidFill>
                            <a:srgbClr val="17150F"/>
                          </a:solidFill>
                          <a:latin typeface="Arial"/>
                        </a:rPr>
                        <a:t>Tendencia de cada serie</a:t>
                      </a:r>
                    </a:p>
                  </a:txBody>
                  <a:tcPr marL="82296" marR="82296" anchor="ctr">
                    <a:solidFill>
                      <a:srgbClr val="F7EEEF"/>
                    </a:solidFill>
                  </a:tcPr>
                </a:tc>
                <a:tc>
                  <a:txBody>
                    <a:bodyPr/>
                    <a:lstStyle/>
                    <a:p>
                      <a:pPr algn="r"/>
                      <a:r>
                        <a:rPr sz="1250" b="1">
                          <a:solidFill>
                            <a:srgbClr val="17150F"/>
                          </a:solidFill>
                          <a:latin typeface="Arial"/>
                        </a:rPr>
                        <a:t>3,6 %</a:t>
                      </a:r>
                    </a:p>
                  </a:txBody>
                  <a:tcPr marL="82296" marR="82296" anchor="ctr">
                    <a:solidFill>
                      <a:srgbClr val="F7EEEF"/>
                    </a:solidFill>
                  </a:tcPr>
                </a:tc>
              </a:tr>
              <a:tr h="329184">
                <a:tc>
                  <a:txBody>
                    <a:bodyPr/>
                    <a:lstStyle/>
                    <a:p>
                      <a:pPr algn="l"/>
                      <a:r>
                        <a:rPr sz="1250" b="0">
                          <a:solidFill>
                            <a:srgbClr val="17150F"/>
                          </a:solidFill>
                          <a:latin typeface="Arial"/>
                        </a:rPr>
                        <a:t>Ruido irrecuperable</a:t>
                      </a:r>
                    </a:p>
                  </a:txBody>
                  <a:tcPr marL="82296" marR="82296" anchor="ctr">
                    <a:solidFill>
                      <a:srgbClr val="FFFFFF"/>
                    </a:solidFill>
                  </a:tcPr>
                </a:tc>
                <a:tc>
                  <a:txBody>
                    <a:bodyPr/>
                    <a:lstStyle/>
                    <a:p>
                      <a:pPr algn="r"/>
                      <a:r>
                        <a:rPr sz="1250" b="0">
                          <a:solidFill>
                            <a:srgbClr val="555045"/>
                          </a:solidFill>
                          <a:latin typeface="Arial"/>
                        </a:rPr>
                        <a:t>6,5 %</a:t>
                      </a:r>
                    </a:p>
                  </a:txBody>
                  <a:tcPr marL="82296" marR="82296" anchor="ctr">
                    <a:solidFill>
                      <a:srgbClr val="FFFFFF"/>
                    </a:solidFill>
                  </a:tcPr>
                </a:tc>
              </a:tr>
            </a:tbl>
          </a:graphicData>
        </a:graphic>
      </p:graphicFrame>
      <p:sp>
        <p:nvSpPr>
          <p:cNvPr id="8" name="TextBox 7"/>
          <p:cNvSpPr txBox="1"/>
          <p:nvPr/>
        </p:nvSpPr>
        <p:spPr>
          <a:xfrm>
            <a:off x="6949440" y="3289554"/>
            <a:ext cx="4465015" cy="2743200"/>
          </a:xfrm>
          <a:prstGeom prst="rect">
            <a:avLst/>
          </a:prstGeom>
          <a:noFill/>
        </p:spPr>
        <p:txBody>
          <a:bodyPr wrap="square" lIns="0" rIns="0" tIns="0" bIns="0">
            <a:spAutoFit/>
          </a:bodyPr>
          <a:lstStyle/>
          <a:p>
            <a:pPr algn="l">
              <a:lnSpc>
                <a:spcPct val="130000"/>
              </a:lnSpc>
              <a:spcBef>
                <a:spcPts val="0"/>
              </a:spcBef>
              <a:spcAft>
                <a:spcPts val="1200"/>
              </a:spcAft>
            </a:pPr>
            <a:r>
              <a:rPr sz="1300" b="0">
                <a:solidFill>
                  <a:srgbClr val="555045"/>
                </a:solidFill>
                <a:latin typeface="Arial"/>
              </a:rPr>
              <a:t>Predecir la media de cada serie ya da un R² de 0,900. Un modelo que reporte 0,88 estaría por debajo de una tabla de medias hecha en una hoja de cálculo.</a:t>
            </a:r>
          </a:p>
          <a:p>
            <a:pPr algn="l">
              <a:lnSpc>
                <a:spcPct val="130000"/>
              </a:lnSpc>
              <a:spcBef>
                <a:spcPts val="0"/>
              </a:spcBef>
              <a:spcAft>
                <a:spcPts val="1200"/>
              </a:spcAft>
            </a:pPr>
            <a:r>
              <a:rPr sz="1300" b="1">
                <a:solidFill>
                  <a:srgbClr val="17150F"/>
                </a:solidFill>
                <a:latin typeface="Arial"/>
              </a:rPr>
              <a:t>El R² queda descartado como métrica principal. Se mide con error porcentual ponderado y pérdida pinball.</a:t>
            </a:r>
          </a:p>
          <a:p>
            <a:pPr algn="l">
              <a:lnSpc>
                <a:spcPct val="130000"/>
              </a:lnSpc>
              <a:spcBef>
                <a:spcPts val="0"/>
              </a:spcBef>
              <a:spcAft>
                <a:spcPts val="0"/>
              </a:spcAft>
            </a:pPr>
            <a:r>
              <a:rPr sz="1300" b="1">
                <a:solidFill>
                  <a:srgbClr val="17150F"/>
                </a:solidFill>
                <a:latin typeface="Arial"/>
              </a:rPr>
              <a:t>El trabajo del modelo es ese 3,6 % de tendencia. Todo lo demás lo resuelve la identidad de la serie.</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1" name="TextBox 10"/>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445770"/>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Ese 3,6 % es exactamente donde está el caso de negocio</a:t>
            </a:r>
          </a:p>
        </p:txBody>
      </p:sp>
      <p:pic>
        <p:nvPicPr>
          <p:cNvPr id="6" name="Picture 5" descr="05_tendencias_por_serie.png"/>
          <p:cNvPicPr>
            <a:picLocks noChangeAspect="1"/>
          </p:cNvPicPr>
          <p:nvPr/>
        </p:nvPicPr>
        <p:blipFill>
          <a:blip r:embed="rId2"/>
          <a:stretch>
            <a:fillRect/>
          </a:stretch>
        </p:blipFill>
        <p:spPr>
          <a:xfrm>
            <a:off x="777240" y="1506474"/>
            <a:ext cx="5852160" cy="3251200"/>
          </a:xfrm>
          <a:prstGeom prst="rect">
            <a:avLst/>
          </a:prstGeom>
        </p:spPr>
      </p:pic>
      <p:graphicFrame>
        <p:nvGraphicFramePr>
          <p:cNvPr id="7" name="Table 6"/>
          <p:cNvGraphicFramePr>
            <a:graphicFrameLocks noGrp="1"/>
          </p:cNvGraphicFramePr>
          <p:nvPr/>
        </p:nvGraphicFramePr>
        <p:xfrm>
          <a:off x="6949440" y="1597914"/>
          <a:ext cx="4465013" cy="1335024"/>
        </p:xfrm>
        <a:graphic>
          <a:graphicData uri="http://schemas.openxmlformats.org/drawingml/2006/table">
            <a:tbl>
              <a:tblPr bandRow="1">
                <a:tableStyleId>{5C22544A-7EE6-4342-B048-85BDC9FD1C3A}</a:tableStyleId>
              </a:tblPr>
              <a:tblGrid>
                <a:gridCol w="2053906"/>
                <a:gridCol w="982303"/>
                <a:gridCol w="1428804"/>
              </a:tblGrid>
              <a:tr h="347472">
                <a:tc>
                  <a:txBody>
                    <a:bodyPr/>
                    <a:lstStyle/>
                    <a:p>
                      <a:pPr algn="l"/>
                      <a:r>
                        <a:rPr sz="1050" b="1">
                          <a:solidFill>
                            <a:srgbClr val="8B8478"/>
                          </a:solidFill>
                          <a:latin typeface="Arial"/>
                        </a:rPr>
                        <a:t>Grupo</a:t>
                      </a:r>
                    </a:p>
                  </a:txBody>
                  <a:tcPr marL="82296" marR="82296" anchor="ctr">
                    <a:solidFill>
                      <a:srgbClr val="F4F2ED"/>
                    </a:solidFill>
                  </a:tcPr>
                </a:tc>
                <a:tc>
                  <a:txBody>
                    <a:bodyPr/>
                    <a:lstStyle/>
                    <a:p>
                      <a:pPr algn="r"/>
                      <a:r>
                        <a:rPr sz="1050" b="1">
                          <a:solidFill>
                            <a:srgbClr val="8B8478"/>
                          </a:solidFill>
                          <a:latin typeface="Arial"/>
                        </a:rPr>
                        <a:t>Series</a:t>
                      </a:r>
                    </a:p>
                  </a:txBody>
                  <a:tcPr marL="82296" marR="82296" anchor="ctr">
                    <a:solidFill>
                      <a:srgbClr val="F4F2ED"/>
                    </a:solidFill>
                  </a:tcPr>
                </a:tc>
                <a:tc>
                  <a:txBody>
                    <a:bodyPr/>
                    <a:lstStyle/>
                    <a:p>
                      <a:pPr algn="r"/>
                      <a:r>
                        <a:rPr sz="1050" b="1">
                          <a:solidFill>
                            <a:srgbClr val="8B8478"/>
                          </a:solidFill>
                          <a:latin typeface="Arial"/>
                        </a:rPr>
                        <a:t>Recorrido</a:t>
                      </a:r>
                    </a:p>
                  </a:txBody>
                  <a:tcPr marL="82296" marR="82296" anchor="ctr">
                    <a:solidFill>
                      <a:srgbClr val="F4F2ED"/>
                    </a:solidFill>
                  </a:tcPr>
                </a:tc>
              </a:tr>
              <a:tr h="329184">
                <a:tc>
                  <a:txBody>
                    <a:bodyPr/>
                    <a:lstStyle/>
                    <a:p>
                      <a:pPr algn="l"/>
                      <a:r>
                        <a:rPr sz="1200" b="0">
                          <a:solidFill>
                            <a:srgbClr val="17150F"/>
                          </a:solidFill>
                          <a:latin typeface="Arial"/>
                        </a:rPr>
                        <a:t>Crecen más de 20 %</a:t>
                      </a:r>
                    </a:p>
                  </a:txBody>
                  <a:tcPr marL="82296" marR="82296" anchor="ctr">
                    <a:solidFill>
                      <a:srgbClr val="FFFFFF"/>
                    </a:solidFill>
                  </a:tcPr>
                </a:tc>
                <a:tc>
                  <a:txBody>
                    <a:bodyPr/>
                    <a:lstStyle/>
                    <a:p>
                      <a:pPr algn="r"/>
                      <a:r>
                        <a:rPr sz="1200" b="0">
                          <a:solidFill>
                            <a:srgbClr val="555045"/>
                          </a:solidFill>
                          <a:latin typeface="Arial"/>
                        </a:rPr>
                        <a:t>36</a:t>
                      </a:r>
                    </a:p>
                  </a:txBody>
                  <a:tcPr marL="82296" marR="82296" anchor="ctr">
                    <a:solidFill>
                      <a:srgbClr val="FFFFFF"/>
                    </a:solidFill>
                  </a:tcPr>
                </a:tc>
                <a:tc>
                  <a:txBody>
                    <a:bodyPr/>
                    <a:lstStyle/>
                    <a:p>
                      <a:pPr algn="r"/>
                      <a:r>
                        <a:rPr sz="1200" b="0">
                          <a:solidFill>
                            <a:srgbClr val="555045"/>
                          </a:solidFill>
                          <a:latin typeface="Arial"/>
                        </a:rPr>
                        <a:t>hasta +61 %</a:t>
                      </a:r>
                    </a:p>
                  </a:txBody>
                  <a:tcPr marL="82296" marR="82296" anchor="ctr">
                    <a:solidFill>
                      <a:srgbClr val="FFFFFF"/>
                    </a:solidFill>
                  </a:tcPr>
                </a:tc>
              </a:tr>
              <a:tr h="329184">
                <a:tc>
                  <a:txBody>
                    <a:bodyPr/>
                    <a:lstStyle/>
                    <a:p>
                      <a:pPr algn="l"/>
                      <a:r>
                        <a:rPr sz="1200" b="0">
                          <a:solidFill>
                            <a:srgbClr val="17150F"/>
                          </a:solidFill>
                          <a:latin typeface="Arial"/>
                        </a:rPr>
                        <a:t>Planas</a:t>
                      </a:r>
                    </a:p>
                  </a:txBody>
                  <a:tcPr marL="82296" marR="82296" anchor="ctr">
                    <a:solidFill>
                      <a:srgbClr val="FFFFFF"/>
                    </a:solidFill>
                  </a:tcPr>
                </a:tc>
                <a:tc>
                  <a:txBody>
                    <a:bodyPr/>
                    <a:lstStyle/>
                    <a:p>
                      <a:pPr algn="r"/>
                      <a:r>
                        <a:rPr sz="1200" b="0">
                          <a:solidFill>
                            <a:srgbClr val="555045"/>
                          </a:solidFill>
                          <a:latin typeface="Arial"/>
                        </a:rPr>
                        <a:t>33</a:t>
                      </a:r>
                    </a:p>
                  </a:txBody>
                  <a:tcPr marL="82296" marR="82296" anchor="ctr">
                    <a:solidFill>
                      <a:srgbClr val="FFFFFF"/>
                    </a:solidFill>
                  </a:tcPr>
                </a:tc>
                <a:tc>
                  <a:txBody>
                    <a:bodyPr/>
                    <a:lstStyle/>
                    <a:p>
                      <a:pPr algn="r"/>
                      <a:r>
                        <a:rPr sz="1200" b="0">
                          <a:solidFill>
                            <a:srgbClr val="555045"/>
                          </a:solidFill>
                          <a:latin typeface="Arial"/>
                        </a:rPr>
                        <a:t>±5 %</a:t>
                      </a:r>
                    </a:p>
                  </a:txBody>
                  <a:tcPr marL="82296" marR="82296" anchor="ctr">
                    <a:solidFill>
                      <a:srgbClr val="FFFFFF"/>
                    </a:solidFill>
                  </a:tcPr>
                </a:tc>
              </a:tr>
              <a:tr h="329184">
                <a:tc>
                  <a:txBody>
                    <a:bodyPr/>
                    <a:lstStyle/>
                    <a:p>
                      <a:pPr algn="l"/>
                      <a:r>
                        <a:rPr sz="1200" b="0">
                          <a:solidFill>
                            <a:srgbClr val="17150F"/>
                          </a:solidFill>
                          <a:latin typeface="Arial"/>
                        </a:rPr>
                        <a:t>Caen más de 20 %</a:t>
                      </a:r>
                    </a:p>
                  </a:txBody>
                  <a:tcPr marL="82296" marR="82296" anchor="ctr">
                    <a:solidFill>
                      <a:srgbClr val="FFFFFF"/>
                    </a:solidFill>
                  </a:tcPr>
                </a:tc>
                <a:tc>
                  <a:txBody>
                    <a:bodyPr/>
                    <a:lstStyle/>
                    <a:p>
                      <a:pPr algn="r"/>
                      <a:r>
                        <a:rPr sz="1200" b="0">
                          <a:solidFill>
                            <a:srgbClr val="555045"/>
                          </a:solidFill>
                          <a:latin typeface="Arial"/>
                        </a:rPr>
                        <a:t>33</a:t>
                      </a:r>
                    </a:p>
                  </a:txBody>
                  <a:tcPr marL="82296" marR="82296" anchor="ctr">
                    <a:solidFill>
                      <a:srgbClr val="FFFFFF"/>
                    </a:solidFill>
                  </a:tcPr>
                </a:tc>
                <a:tc>
                  <a:txBody>
                    <a:bodyPr/>
                    <a:lstStyle/>
                    <a:p>
                      <a:pPr algn="r"/>
                      <a:r>
                        <a:rPr sz="1200" b="0">
                          <a:solidFill>
                            <a:srgbClr val="555045"/>
                          </a:solidFill>
                          <a:latin typeface="Arial"/>
                        </a:rPr>
                        <a:t>hasta −55 %</a:t>
                      </a:r>
                    </a:p>
                  </a:txBody>
                  <a:tcPr marL="82296" marR="82296" anchor="ctr">
                    <a:solidFill>
                      <a:srgbClr val="FFFFFF"/>
                    </a:solidFill>
                  </a:tcPr>
                </a:tc>
              </a:tr>
            </a:tbl>
          </a:graphicData>
        </a:graphic>
      </p:graphicFrame>
      <p:sp>
        <p:nvSpPr>
          <p:cNvPr id="8" name="TextBox 7"/>
          <p:cNvSpPr txBox="1"/>
          <p:nvPr/>
        </p:nvSpPr>
        <p:spPr>
          <a:xfrm>
            <a:off x="6949440" y="3289554"/>
            <a:ext cx="4465015" cy="2743200"/>
          </a:xfrm>
          <a:prstGeom prst="rect">
            <a:avLst/>
          </a:prstGeom>
          <a:noFill/>
        </p:spPr>
        <p:txBody>
          <a:bodyPr wrap="square" lIns="0" rIns="0" tIns="0" bIns="0">
            <a:spAutoFit/>
          </a:bodyPr>
          <a:lstStyle/>
          <a:p>
            <a:pPr algn="l">
              <a:lnSpc>
                <a:spcPct val="130000"/>
              </a:lnSpc>
              <a:spcBef>
                <a:spcPts val="0"/>
              </a:spcBef>
              <a:spcAft>
                <a:spcPts val="1200"/>
              </a:spcAft>
            </a:pPr>
            <a:r>
              <a:rPr sz="1300" b="0">
                <a:solidFill>
                  <a:srgbClr val="555045"/>
                </a:solidFill>
                <a:latin typeface="Arial"/>
              </a:rPr>
              <a:t>69 de las 160 series se mueven más de un 20 % en trece semanas, y las subidas compensan a las bajadas: no hay deriva global que aprovechar.</a:t>
            </a:r>
          </a:p>
          <a:p>
            <a:pPr algn="l">
              <a:lnSpc>
                <a:spcPct val="130000"/>
              </a:lnSpc>
              <a:spcBef>
                <a:spcPts val="0"/>
              </a:spcBef>
              <a:spcAft>
                <a:spcPts val="0"/>
              </a:spcAft>
            </a:pPr>
            <a:r>
              <a:rPr sz="1300" b="1">
                <a:solidFill>
                  <a:srgbClr val="17150F"/>
                </a:solidFill>
                <a:latin typeface="Arial"/>
              </a:rPr>
              <a:t>En esas 69 series, quien pide mirando el histórico se queda corto en las que suben y acumula merma en las que bajan.</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1" name="TextBox 10"/>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445770"/>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Qué variables de contexto entran y cuáles se descartan</a:t>
            </a:r>
          </a:p>
        </p:txBody>
      </p:sp>
      <p:pic>
        <p:nvPicPr>
          <p:cNvPr id="6" name="Picture 5" descr="07_tamano_vs_demanda.png"/>
          <p:cNvPicPr>
            <a:picLocks noChangeAspect="1"/>
          </p:cNvPicPr>
          <p:nvPr/>
        </p:nvPicPr>
        <p:blipFill>
          <a:blip r:embed="rId2"/>
          <a:stretch>
            <a:fillRect/>
          </a:stretch>
        </p:blipFill>
        <p:spPr>
          <a:xfrm>
            <a:off x="777240" y="1506474"/>
            <a:ext cx="5852160" cy="3413760"/>
          </a:xfrm>
          <a:prstGeom prst="rect">
            <a:avLst/>
          </a:prstGeom>
        </p:spPr>
      </p:pic>
      <p:sp>
        <p:nvSpPr>
          <p:cNvPr id="7" name="Rectangle 6"/>
          <p:cNvSpPr/>
          <p:nvPr/>
        </p:nvSpPr>
        <p:spPr>
          <a:xfrm>
            <a:off x="6949440" y="169849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50608" y="1597914"/>
            <a:ext cx="4263847" cy="674751"/>
          </a:xfrm>
          <a:prstGeom prst="rect">
            <a:avLst/>
          </a:prstGeom>
          <a:noFill/>
        </p:spPr>
        <p:txBody>
          <a:bodyPr wrap="square" lIns="0" rIns="0" tIns="0" bIns="0">
            <a:spAutoFit/>
          </a:bodyPr>
          <a:lstStyle/>
          <a:p>
            <a:pPr>
              <a:lnSpc>
                <a:spcPct val="124000"/>
              </a:lnSpc>
              <a:spcAft>
                <a:spcPts val="0"/>
              </a:spcAft>
            </a:pPr>
            <a:r>
              <a:rPr sz="1250" b="1">
                <a:solidFill>
                  <a:srgbClr val="17150F"/>
                </a:solidFill>
                <a:latin typeface="Arial"/>
              </a:rPr>
              <a:t>La superficie entra.</a:t>
            </a:r>
            <a:r>
              <a:rPr sz="1250" b="0">
                <a:solidFill>
                  <a:srgbClr val="555045"/>
                </a:solidFill>
                <a:latin typeface="Arial"/>
              </a:rPr>
              <a:t> Correlación 0,976 con la demanda de la tienda. Permite además estimar una tienda nueva sin historial.</a:t>
            </a:r>
          </a:p>
        </p:txBody>
      </p:sp>
      <p:sp>
        <p:nvSpPr>
          <p:cNvPr id="9" name="Rectangle 8"/>
          <p:cNvSpPr/>
          <p:nvPr/>
        </p:nvSpPr>
        <p:spPr>
          <a:xfrm>
            <a:off x="6949440" y="2501265"/>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50608" y="2400681"/>
            <a:ext cx="4263847" cy="674751"/>
          </a:xfrm>
          <a:prstGeom prst="rect">
            <a:avLst/>
          </a:prstGeom>
          <a:noFill/>
        </p:spPr>
        <p:txBody>
          <a:bodyPr wrap="square" lIns="0" rIns="0" tIns="0" bIns="0">
            <a:spAutoFit/>
          </a:bodyPr>
          <a:lstStyle/>
          <a:p>
            <a:pPr>
              <a:lnSpc>
                <a:spcPct val="124000"/>
              </a:lnSpc>
              <a:spcAft>
                <a:spcPts val="0"/>
              </a:spcAft>
            </a:pPr>
            <a:r>
              <a:rPr sz="1250" b="1">
                <a:solidFill>
                  <a:srgbClr val="17150F"/>
                </a:solidFill>
                <a:latin typeface="Arial"/>
              </a:rPr>
              <a:t>La ciudad se descarta.</a:t>
            </a:r>
            <a:r>
              <a:rPr sz="1250" b="0">
                <a:solidFill>
                  <a:srgbClr val="555045"/>
                </a:solidFill>
                <a:latin typeface="Arial"/>
              </a:rPr>
              <a:t> Sobre el residuo del tamaño no aporta nada, y con una sola tienda en Cali cualquier conclusión sería indefendible.</a:t>
            </a:r>
          </a:p>
        </p:txBody>
      </p:sp>
      <p:sp>
        <p:nvSpPr>
          <p:cNvPr id="11" name="Rectangle 10"/>
          <p:cNvSpPr/>
          <p:nvPr/>
        </p:nvSpPr>
        <p:spPr>
          <a:xfrm>
            <a:off x="6949440" y="330403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50608" y="3203448"/>
            <a:ext cx="4263847" cy="462026"/>
          </a:xfrm>
          <a:prstGeom prst="rect">
            <a:avLst/>
          </a:prstGeom>
          <a:noFill/>
        </p:spPr>
        <p:txBody>
          <a:bodyPr wrap="square" lIns="0" rIns="0" tIns="0" bIns="0">
            <a:spAutoFit/>
          </a:bodyPr>
          <a:lstStyle/>
          <a:p>
            <a:pPr>
              <a:lnSpc>
                <a:spcPct val="124000"/>
              </a:lnSpc>
              <a:spcAft>
                <a:spcPts val="0"/>
              </a:spcAft>
            </a:pPr>
            <a:r>
              <a:rPr sz="1250" b="1">
                <a:solidFill>
                  <a:srgbClr val="17150F"/>
                </a:solidFill>
                <a:latin typeface="Arial"/>
              </a:rPr>
              <a:t>Precio y coste se quedan fuera del modelo.</a:t>
            </a:r>
            <a:r>
              <a:rPr sz="1250" b="0">
                <a:solidFill>
                  <a:srgbClr val="555045"/>
                </a:solidFill>
                <a:latin typeface="Arial"/>
              </a:rPr>
              <a:t> Su sitio es la capa de costes, no la matriz de entrada.</a:t>
            </a:r>
          </a:p>
        </p:txBody>
      </p:sp>
      <p:sp>
        <p:nvSpPr>
          <p:cNvPr id="13" name="Rectangle 12"/>
          <p:cNvSpPr/>
          <p:nvPr/>
        </p:nvSpPr>
        <p:spPr>
          <a:xfrm>
            <a:off x="6949440" y="3894074"/>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50608" y="3793490"/>
            <a:ext cx="4263847" cy="674751"/>
          </a:xfrm>
          <a:prstGeom prst="rect">
            <a:avLst/>
          </a:prstGeom>
          <a:noFill/>
        </p:spPr>
        <p:txBody>
          <a:bodyPr wrap="square" lIns="0" rIns="0" tIns="0" bIns="0">
            <a:spAutoFit/>
          </a:bodyPr>
          <a:lstStyle/>
          <a:p>
            <a:pPr>
              <a:lnSpc>
                <a:spcPct val="124000"/>
              </a:lnSpc>
              <a:spcAft>
                <a:spcPts val="0"/>
              </a:spcAft>
            </a:pPr>
            <a:r>
              <a:rPr sz="1250" b="1">
                <a:solidFill>
                  <a:srgbClr val="17150F"/>
                </a:solidFill>
                <a:latin typeface="Arial"/>
              </a:rPr>
              <a:t>Producto y tienda con indicadoras.</a:t>
            </a:r>
            <a:r>
              <a:rPr sz="1250" b="0">
                <a:solidFill>
                  <a:srgbClr val="555045"/>
                </a:solidFill>
                <a:latin typeface="Arial"/>
              </a:rPr>
              <a:t> El diseño está balanceado, así que codificar por frecuencia devolvería una constante.</a:t>
            </a:r>
          </a:p>
        </p:txBody>
      </p:sp>
      <p:sp>
        <p:nvSpPr>
          <p:cNvPr id="15" name="Rectangle 1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7" name="TextBox 16"/>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PASOS 3 Y 4 · UNIVARIADO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836676"/>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Las etiquetas de tendencia no describen lo que hacen las series</a:t>
            </a:r>
          </a:p>
        </p:txBody>
      </p:sp>
      <p:pic>
        <p:nvPicPr>
          <p:cNvPr id="6" name="Picture 5" descr="08_patrones_ejemplo.png"/>
          <p:cNvPicPr>
            <a:picLocks noChangeAspect="1"/>
          </p:cNvPicPr>
          <p:nvPr/>
        </p:nvPicPr>
        <p:blipFill>
          <a:blip r:embed="rId2"/>
          <a:stretch>
            <a:fillRect/>
          </a:stretch>
        </p:blipFill>
        <p:spPr>
          <a:xfrm>
            <a:off x="777240" y="1897380"/>
            <a:ext cx="5852160" cy="1560576"/>
          </a:xfrm>
          <a:prstGeom prst="rect">
            <a:avLst/>
          </a:prstGeom>
        </p:spPr>
      </p:pic>
      <p:graphicFrame>
        <p:nvGraphicFramePr>
          <p:cNvPr id="7" name="Table 6"/>
          <p:cNvGraphicFramePr>
            <a:graphicFrameLocks noGrp="1"/>
          </p:cNvGraphicFramePr>
          <p:nvPr/>
        </p:nvGraphicFramePr>
        <p:xfrm>
          <a:off x="6949440" y="1988820"/>
          <a:ext cx="4465013" cy="1591056"/>
        </p:xfrm>
        <a:graphic>
          <a:graphicData uri="http://schemas.openxmlformats.org/drawingml/2006/table">
            <a:tbl>
              <a:tblPr bandRow="1">
                <a:tableStyleId>{5C22544A-7EE6-4342-B048-85BDC9FD1C3A}</a:tableStyleId>
              </a:tblPr>
              <a:tblGrid>
                <a:gridCol w="1696705"/>
                <a:gridCol w="1071603"/>
                <a:gridCol w="1696705"/>
              </a:tblGrid>
              <a:tr h="347472">
                <a:tc>
                  <a:txBody>
                    <a:bodyPr/>
                    <a:lstStyle/>
                    <a:p>
                      <a:pPr algn="l"/>
                      <a:r>
                        <a:rPr sz="1050" b="1">
                          <a:solidFill>
                            <a:srgbClr val="8B8478"/>
                          </a:solidFill>
                          <a:latin typeface="Arial"/>
                        </a:rPr>
                        <a:t>Patrón</a:t>
                      </a:r>
                    </a:p>
                  </a:txBody>
                  <a:tcPr marL="82296" marR="82296" anchor="ctr">
                    <a:solidFill>
                      <a:srgbClr val="F4F2ED"/>
                    </a:solidFill>
                  </a:tcPr>
                </a:tc>
                <a:tc>
                  <a:txBody>
                    <a:bodyPr/>
                    <a:lstStyle/>
                    <a:p>
                      <a:pPr algn="r"/>
                      <a:r>
                        <a:rPr sz="1050" b="1">
                          <a:solidFill>
                            <a:srgbClr val="8B8478"/>
                          </a:solidFill>
                          <a:latin typeface="Arial"/>
                        </a:rPr>
                        <a:t>Series</a:t>
                      </a:r>
                    </a:p>
                  </a:txBody>
                  <a:tcPr marL="82296" marR="82296" anchor="ctr">
                    <a:solidFill>
                      <a:srgbClr val="F4F2ED"/>
                    </a:solidFill>
                  </a:tcPr>
                </a:tc>
                <a:tc>
                  <a:txBody>
                    <a:bodyPr/>
                    <a:lstStyle/>
                    <a:p>
                      <a:pPr algn="r"/>
                      <a:r>
                        <a:rPr sz="1050" b="1">
                          <a:solidFill>
                            <a:srgbClr val="8B8478"/>
                          </a:solidFill>
                          <a:latin typeface="Arial"/>
                        </a:rPr>
                        <a:t>Cambio mediano</a:t>
                      </a:r>
                    </a:p>
                  </a:txBody>
                  <a:tcPr marL="82296" marR="82296" anchor="ctr">
                    <a:solidFill>
                      <a:srgbClr val="F4F2ED"/>
                    </a:solidFill>
                  </a:tcPr>
                </a:tc>
              </a:tr>
              <a:tr h="310896">
                <a:tc>
                  <a:txBody>
                    <a:bodyPr/>
                    <a:lstStyle/>
                    <a:p>
                      <a:pPr algn="l"/>
                      <a:r>
                        <a:rPr sz="1200" b="0">
                          <a:solidFill>
                            <a:srgbClr val="17150F"/>
                          </a:solidFill>
                          <a:latin typeface="Arial"/>
                        </a:rPr>
                        <a:t>down</a:t>
                      </a:r>
                    </a:p>
                  </a:txBody>
                  <a:tcPr marL="82296" marR="82296" anchor="ctr">
                    <a:solidFill>
                      <a:srgbClr val="FFFFFF"/>
                    </a:solidFill>
                  </a:tcPr>
                </a:tc>
                <a:tc>
                  <a:txBody>
                    <a:bodyPr/>
                    <a:lstStyle/>
                    <a:p>
                      <a:pPr algn="r"/>
                      <a:r>
                        <a:rPr sz="1200" b="0">
                          <a:solidFill>
                            <a:srgbClr val="555045"/>
                          </a:solidFill>
                          <a:latin typeface="Arial"/>
                        </a:rPr>
                        <a:t>44</a:t>
                      </a:r>
                    </a:p>
                  </a:txBody>
                  <a:tcPr marL="82296" marR="82296" anchor="ctr">
                    <a:solidFill>
                      <a:srgbClr val="FFFFFF"/>
                    </a:solidFill>
                  </a:tcPr>
                </a:tc>
                <a:tc>
                  <a:txBody>
                    <a:bodyPr/>
                    <a:lstStyle/>
                    <a:p>
                      <a:pPr algn="r"/>
                      <a:r>
                        <a:rPr sz="1200" b="0">
                          <a:solidFill>
                            <a:srgbClr val="555045"/>
                          </a:solidFill>
                          <a:latin typeface="Arial"/>
                        </a:rPr>
                        <a:t>−1,0 %</a:t>
                      </a:r>
                    </a:p>
                  </a:txBody>
                  <a:tcPr marL="82296" marR="82296" anchor="ctr">
                    <a:solidFill>
                      <a:srgbClr val="FFFFFF"/>
                    </a:solidFill>
                  </a:tcPr>
                </a:tc>
              </a:tr>
              <a:tr h="310896">
                <a:tc>
                  <a:txBody>
                    <a:bodyPr/>
                    <a:lstStyle/>
                    <a:p>
                      <a:pPr algn="l"/>
                      <a:r>
                        <a:rPr sz="1200" b="0">
                          <a:solidFill>
                            <a:srgbClr val="17150F"/>
                          </a:solidFill>
                          <a:latin typeface="Arial"/>
                        </a:rPr>
                        <a:t>seasonal</a:t>
                      </a:r>
                    </a:p>
                  </a:txBody>
                  <a:tcPr marL="82296" marR="82296" anchor="ctr">
                    <a:solidFill>
                      <a:srgbClr val="FFFFFF"/>
                    </a:solidFill>
                  </a:tcPr>
                </a:tc>
                <a:tc>
                  <a:txBody>
                    <a:bodyPr/>
                    <a:lstStyle/>
                    <a:p>
                      <a:pPr algn="r"/>
                      <a:r>
                        <a:rPr sz="1200" b="0">
                          <a:solidFill>
                            <a:srgbClr val="555045"/>
                          </a:solidFill>
                          <a:latin typeface="Arial"/>
                        </a:rPr>
                        <a:t>57</a:t>
                      </a:r>
                    </a:p>
                  </a:txBody>
                  <a:tcPr marL="82296" marR="82296" anchor="ctr">
                    <a:solidFill>
                      <a:srgbClr val="FFFFFF"/>
                    </a:solidFill>
                  </a:tcPr>
                </a:tc>
                <a:tc>
                  <a:txBody>
                    <a:bodyPr/>
                    <a:lstStyle/>
                    <a:p>
                      <a:pPr algn="r"/>
                      <a:r>
                        <a:rPr sz="1200" b="0">
                          <a:solidFill>
                            <a:srgbClr val="555045"/>
                          </a:solidFill>
                          <a:latin typeface="Arial"/>
                        </a:rPr>
                        <a:t>−2,5 %</a:t>
                      </a:r>
                    </a:p>
                  </a:txBody>
                  <a:tcPr marL="82296" marR="82296" anchor="ctr">
                    <a:solidFill>
                      <a:srgbClr val="FFFFFF"/>
                    </a:solidFill>
                  </a:tcPr>
                </a:tc>
              </a:tr>
              <a:tr h="310896">
                <a:tc>
                  <a:txBody>
                    <a:bodyPr/>
                    <a:lstStyle/>
                    <a:p>
                      <a:pPr algn="l"/>
                      <a:r>
                        <a:rPr sz="1200" b="0">
                          <a:solidFill>
                            <a:srgbClr val="17150F"/>
                          </a:solidFill>
                          <a:latin typeface="Arial"/>
                        </a:rPr>
                        <a:t>random</a:t>
                      </a:r>
                    </a:p>
                  </a:txBody>
                  <a:tcPr marL="82296" marR="82296" anchor="ctr">
                    <a:solidFill>
                      <a:srgbClr val="FFFFFF"/>
                    </a:solidFill>
                  </a:tcPr>
                </a:tc>
                <a:tc>
                  <a:txBody>
                    <a:bodyPr/>
                    <a:lstStyle/>
                    <a:p>
                      <a:pPr algn="r"/>
                      <a:r>
                        <a:rPr sz="1200" b="0">
                          <a:solidFill>
                            <a:srgbClr val="555045"/>
                          </a:solidFill>
                          <a:latin typeface="Arial"/>
                        </a:rPr>
                        <a:t>32</a:t>
                      </a:r>
                    </a:p>
                  </a:txBody>
                  <a:tcPr marL="82296" marR="82296" anchor="ctr">
                    <a:solidFill>
                      <a:srgbClr val="FFFFFF"/>
                    </a:solidFill>
                  </a:tcPr>
                </a:tc>
                <a:tc>
                  <a:txBody>
                    <a:bodyPr/>
                    <a:lstStyle/>
                    <a:p>
                      <a:pPr algn="r"/>
                      <a:r>
                        <a:rPr sz="1200" b="0">
                          <a:solidFill>
                            <a:srgbClr val="555045"/>
                          </a:solidFill>
                          <a:latin typeface="Arial"/>
                        </a:rPr>
                        <a:t>+2,8 %</a:t>
                      </a:r>
                    </a:p>
                  </a:txBody>
                  <a:tcPr marL="82296" marR="82296" anchor="ctr">
                    <a:solidFill>
                      <a:srgbClr val="FFFFFF"/>
                    </a:solidFill>
                  </a:tcPr>
                </a:tc>
              </a:tr>
              <a:tr h="310896">
                <a:tc>
                  <a:txBody>
                    <a:bodyPr/>
                    <a:lstStyle/>
                    <a:p>
                      <a:pPr algn="l"/>
                      <a:r>
                        <a:rPr sz="1200" b="0">
                          <a:solidFill>
                            <a:srgbClr val="17150F"/>
                          </a:solidFill>
                          <a:latin typeface="Arial"/>
                        </a:rPr>
                        <a:t>up</a:t>
                      </a:r>
                    </a:p>
                  </a:txBody>
                  <a:tcPr marL="82296" marR="82296" anchor="ctr">
                    <a:solidFill>
                      <a:srgbClr val="FFFFFF"/>
                    </a:solidFill>
                  </a:tcPr>
                </a:tc>
                <a:tc>
                  <a:txBody>
                    <a:bodyPr/>
                    <a:lstStyle/>
                    <a:p>
                      <a:pPr algn="r"/>
                      <a:r>
                        <a:rPr sz="1200" b="0">
                          <a:solidFill>
                            <a:srgbClr val="555045"/>
                          </a:solidFill>
                          <a:latin typeface="Arial"/>
                        </a:rPr>
                        <a:t>27</a:t>
                      </a:r>
                    </a:p>
                  </a:txBody>
                  <a:tcPr marL="82296" marR="82296" anchor="ctr">
                    <a:solidFill>
                      <a:srgbClr val="FFFFFF"/>
                    </a:solidFill>
                  </a:tcPr>
                </a:tc>
                <a:tc>
                  <a:txBody>
                    <a:bodyPr/>
                    <a:lstStyle/>
                    <a:p>
                      <a:pPr algn="r"/>
                      <a:r>
                        <a:rPr sz="1200" b="0">
                          <a:solidFill>
                            <a:srgbClr val="555045"/>
                          </a:solidFill>
                          <a:latin typeface="Arial"/>
                        </a:rPr>
                        <a:t>+3,5 %</a:t>
                      </a:r>
                    </a:p>
                  </a:txBody>
                  <a:tcPr marL="82296" marR="82296" anchor="ctr">
                    <a:solidFill>
                      <a:srgbClr val="FFFFFF"/>
                    </a:solidFill>
                  </a:tcPr>
                </a:tc>
              </a:tr>
            </a:tbl>
          </a:graphicData>
        </a:graphic>
      </p:graphicFrame>
      <p:sp>
        <p:nvSpPr>
          <p:cNvPr id="8" name="TextBox 7"/>
          <p:cNvSpPr txBox="1"/>
          <p:nvPr/>
        </p:nvSpPr>
        <p:spPr>
          <a:xfrm>
            <a:off x="6949440" y="3954780"/>
            <a:ext cx="4465015" cy="2377440"/>
          </a:xfrm>
          <a:prstGeom prst="rect">
            <a:avLst/>
          </a:prstGeom>
          <a:noFill/>
        </p:spPr>
        <p:txBody>
          <a:bodyPr wrap="square" lIns="0" rIns="0" tIns="0" bIns="0">
            <a:spAutoFit/>
          </a:bodyPr>
          <a:lstStyle/>
          <a:p>
            <a:pPr algn="l">
              <a:lnSpc>
                <a:spcPct val="130000"/>
              </a:lnSpc>
              <a:spcBef>
                <a:spcPts val="0"/>
              </a:spcBef>
              <a:spcAft>
                <a:spcPts val="1200"/>
              </a:spcAft>
            </a:pPr>
            <a:r>
              <a:rPr sz="1300" b="0">
                <a:solidFill>
                  <a:srgbClr val="555045"/>
                </a:solidFill>
                <a:latin typeface="Arial"/>
              </a:rPr>
              <a:t>El contraste de Kruskal-Wallis da p = 0,453: la etiqueta explica el 1,6 % de la variación observada. El panel etiquetado «up» tiene la recta ajustada descendente.</a:t>
            </a:r>
          </a:p>
          <a:p>
            <a:pPr algn="l">
              <a:lnSpc>
                <a:spcPct val="130000"/>
              </a:lnSpc>
              <a:spcBef>
                <a:spcPts val="0"/>
              </a:spcBef>
              <a:spcAft>
                <a:spcPts val="0"/>
              </a:spcAft>
            </a:pPr>
            <a:r>
              <a:rPr sz="1300" b="1">
                <a:solidFill>
                  <a:srgbClr val="17150F"/>
                </a:solidFill>
                <a:latin typeface="Arial"/>
              </a:rPr>
              <a:t>El fichero sigue excluido del modelo, y además su valor como herramienta de diagnóstico es mucho menor de lo esperado.</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Pasos 3-4 · Univariado</a:t>
            </a:r>
          </a:p>
        </p:txBody>
      </p:sp>
      <p:sp>
        <p:nvSpPr>
          <p:cNvPr id="11" name="TextBox 10"/>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651760"/>
            <a:ext cx="9144000" cy="914400"/>
          </a:xfrm>
          <a:prstGeom prst="rect">
            <a:avLst/>
          </a:prstGeom>
          <a:noFill/>
        </p:spPr>
        <p:txBody>
          <a:bodyPr wrap="square" lIns="0" rIns="0" tIns="0" bIns="0">
            <a:spAutoFit/>
          </a:bodyPr>
          <a:lstStyle/>
          <a:p>
            <a:pPr algn="l">
              <a:lnSpc>
                <a:spcPct val="105000"/>
              </a:lnSpc>
              <a:spcBef>
                <a:spcPts val="0"/>
              </a:spcBef>
              <a:spcAft>
                <a:spcPts val="1000"/>
              </a:spcAft>
            </a:pPr>
            <a:r>
              <a:rPr sz="3400" b="1">
                <a:solidFill>
                  <a:srgbClr val="17150F"/>
                </a:solidFill>
                <a:latin typeface="Arial"/>
              </a:rPr>
              <a:t>Preparar el terreno</a:t>
            </a:r>
          </a:p>
          <a:p>
            <a:pPr algn="l">
              <a:lnSpc>
                <a:spcPct val="130000"/>
              </a:lnSpc>
              <a:spcBef>
                <a:spcPts val="0"/>
              </a:spcBef>
              <a:spcAft>
                <a:spcPts val="600"/>
              </a:spcAft>
            </a:pPr>
            <a:r>
              <a:rPr sz="1550" b="0">
                <a:solidFill>
                  <a:srgbClr val="555045"/>
                </a:solidFill>
                <a:latin typeface="Arial"/>
              </a:rPr>
              <a:t>Pasos 5 a 8 · Variables, particiones y líneas base</a:t>
            </a:r>
          </a:p>
        </p:txBody>
      </p:sp>
      <p:sp>
        <p:nvSpPr>
          <p:cNvPr id="5" name="TextBox 4"/>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PASOS 5 A 8 · DISEÑO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445770"/>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Las particiones se congelan antes de modelar</a:t>
            </a:r>
          </a:p>
        </p:txBody>
      </p:sp>
      <p:sp>
        <p:nvSpPr>
          <p:cNvPr id="6" name="TextBox 5"/>
          <p:cNvSpPr txBox="1"/>
          <p:nvPr/>
        </p:nvSpPr>
        <p:spPr>
          <a:xfrm>
            <a:off x="777240" y="1506474"/>
            <a:ext cx="9966960" cy="283337"/>
          </a:xfrm>
          <a:prstGeom prst="rect">
            <a:avLst/>
          </a:prstGeom>
          <a:noFill/>
        </p:spPr>
        <p:txBody>
          <a:bodyPr wrap="square" lIns="0" rIns="0" tIns="0" bIns="0">
            <a:spAutoFit/>
          </a:bodyPr>
          <a:lstStyle/>
          <a:p>
            <a:pPr algn="l">
              <a:lnSpc>
                <a:spcPct val="130000"/>
              </a:lnSpc>
              <a:spcBef>
                <a:spcPts val="0"/>
              </a:spcBef>
              <a:spcAft>
                <a:spcPts val="0"/>
              </a:spcAft>
            </a:pPr>
            <a:r>
              <a:rPr sz="1450" b="0">
                <a:solidFill>
                  <a:srgbClr val="555045"/>
                </a:solidFill>
                <a:latin typeface="Arial"/>
              </a:rPr>
              <a:t>Ajustarlas después de ver resultados invalidaría toda la evaluación.</a:t>
            </a:r>
          </a:p>
        </p:txBody>
      </p:sp>
      <p:graphicFrame>
        <p:nvGraphicFramePr>
          <p:cNvPr id="7" name="Table 6"/>
          <p:cNvGraphicFramePr>
            <a:graphicFrameLocks noGrp="1"/>
          </p:cNvGraphicFramePr>
          <p:nvPr/>
        </p:nvGraphicFramePr>
        <p:xfrm>
          <a:off x="777240" y="1990979"/>
          <a:ext cx="10637213" cy="1883664"/>
        </p:xfrm>
        <a:graphic>
          <a:graphicData uri="http://schemas.openxmlformats.org/drawingml/2006/table">
            <a:tbl>
              <a:tblPr bandRow="1">
                <a:tableStyleId>{5C22544A-7EE6-4342-B048-85BDC9FD1C3A}</a:tableStyleId>
              </a:tblPr>
              <a:tblGrid>
                <a:gridCol w="2978420"/>
                <a:gridCol w="1489210"/>
                <a:gridCol w="1276465"/>
                <a:gridCol w="4893118"/>
              </a:tblGrid>
              <a:tr h="347472">
                <a:tc>
                  <a:txBody>
                    <a:bodyPr/>
                    <a:lstStyle/>
                    <a:p>
                      <a:pPr algn="l"/>
                      <a:r>
                        <a:rPr sz="1150" b="1">
                          <a:solidFill>
                            <a:srgbClr val="8B8478"/>
                          </a:solidFill>
                          <a:latin typeface="Arial"/>
                        </a:rPr>
                        <a:t>Periodo</a:t>
                      </a:r>
                    </a:p>
                  </a:txBody>
                  <a:tcPr marL="82296" marR="82296" anchor="ctr">
                    <a:solidFill>
                      <a:srgbClr val="F4F2ED"/>
                    </a:solidFill>
                  </a:tcPr>
                </a:tc>
                <a:tc>
                  <a:txBody>
                    <a:bodyPr/>
                    <a:lstStyle/>
                    <a:p>
                      <a:pPr algn="r"/>
                      <a:r>
                        <a:rPr sz="1150" b="1">
                          <a:solidFill>
                            <a:srgbClr val="8B8478"/>
                          </a:solidFill>
                          <a:latin typeface="Arial"/>
                        </a:rPr>
                        <a:t>Semanas</a:t>
                      </a:r>
                    </a:p>
                  </a:txBody>
                  <a:tcPr marL="82296" marR="82296" anchor="ctr">
                    <a:solidFill>
                      <a:srgbClr val="F4F2ED"/>
                    </a:solidFill>
                  </a:tcPr>
                </a:tc>
                <a:tc>
                  <a:txBody>
                    <a:bodyPr/>
                    <a:lstStyle/>
                    <a:p>
                      <a:pPr algn="r"/>
                      <a:r>
                        <a:rPr sz="1150" b="1">
                          <a:solidFill>
                            <a:srgbClr val="8B8478"/>
                          </a:solidFill>
                          <a:latin typeface="Arial"/>
                        </a:rPr>
                        <a:t>Filas</a:t>
                      </a:r>
                    </a:p>
                  </a:txBody>
                  <a:tcPr marL="82296" marR="82296" anchor="ctr">
                    <a:solidFill>
                      <a:srgbClr val="F4F2ED"/>
                    </a:solidFill>
                  </a:tcPr>
                </a:tc>
                <a:tc>
                  <a:txBody>
                    <a:bodyPr/>
                    <a:lstStyle/>
                    <a:p>
                      <a:pPr algn="r"/>
                      <a:r>
                        <a:rPr sz="1150" b="1">
                          <a:solidFill>
                            <a:srgbClr val="8B8478"/>
                          </a:solidFill>
                          <a:latin typeface="Arial"/>
                        </a:rPr>
                        <a:t>Uso</a:t>
                      </a:r>
                    </a:p>
                  </a:txBody>
                  <a:tcPr marL="82296" marR="82296" anchor="ctr">
                    <a:solidFill>
                      <a:srgbClr val="F4F2ED"/>
                    </a:solidFill>
                  </a:tcPr>
                </a:tc>
              </a:tr>
              <a:tr h="384048">
                <a:tc>
                  <a:txBody>
                    <a:bodyPr/>
                    <a:lstStyle/>
                    <a:p>
                      <a:pPr algn="l"/>
                      <a:r>
                        <a:rPr sz="1300" b="0">
                          <a:solidFill>
                            <a:srgbClr val="17150F"/>
                          </a:solidFill>
                          <a:latin typeface="Arial"/>
                        </a:rPr>
                        <a:t>Historia de los rezagos</a:t>
                      </a:r>
                    </a:p>
                  </a:txBody>
                  <a:tcPr marL="82296" marR="82296" anchor="ctr">
                    <a:solidFill>
                      <a:srgbClr val="FFFFFF"/>
                    </a:solidFill>
                  </a:tcPr>
                </a:tc>
                <a:tc>
                  <a:txBody>
                    <a:bodyPr/>
                    <a:lstStyle/>
                    <a:p>
                      <a:pPr algn="r"/>
                      <a:r>
                        <a:rPr sz="1300" b="0">
                          <a:solidFill>
                            <a:srgbClr val="555045"/>
                          </a:solidFill>
                          <a:latin typeface="Arial"/>
                        </a:rPr>
                        <a:t>1 a 4</a:t>
                      </a:r>
                    </a:p>
                  </a:txBody>
                  <a:tcPr marL="82296" marR="82296" anchor="ctr">
                    <a:solidFill>
                      <a:srgbClr val="FFFFFF"/>
                    </a:solidFill>
                  </a:tcPr>
                </a:tc>
                <a:tc>
                  <a:txBody>
                    <a:bodyPr/>
                    <a:lstStyle/>
                    <a:p>
                      <a:pPr algn="r"/>
                      <a:r>
                        <a:rPr sz="1300" b="0">
                          <a:solidFill>
                            <a:srgbClr val="555045"/>
                          </a:solidFill>
                          <a:latin typeface="Arial"/>
                        </a:rPr>
                        <a:t>—</a:t>
                      </a:r>
                    </a:p>
                  </a:txBody>
                  <a:tcPr marL="82296" marR="82296" anchor="ctr">
                    <a:solidFill>
                      <a:srgbClr val="FFFFFF"/>
                    </a:solidFill>
                  </a:tcPr>
                </a:tc>
                <a:tc>
                  <a:txBody>
                    <a:bodyPr/>
                    <a:lstStyle/>
                    <a:p>
                      <a:pPr algn="r"/>
                      <a:r>
                        <a:rPr sz="1300" b="0">
                          <a:solidFill>
                            <a:srgbClr val="555045"/>
                          </a:solidFill>
                          <a:latin typeface="Arial"/>
                        </a:rPr>
                        <a:t>No genera filas utilizables</a:t>
                      </a:r>
                    </a:p>
                  </a:txBody>
                  <a:tcPr marL="82296" marR="82296" anchor="ctr">
                    <a:solidFill>
                      <a:srgbClr val="FFFFFF"/>
                    </a:solidFill>
                  </a:tcPr>
                </a:tc>
              </a:tr>
              <a:tr h="384048">
                <a:tc>
                  <a:txBody>
                    <a:bodyPr/>
                    <a:lstStyle/>
                    <a:p>
                      <a:pPr algn="l"/>
                      <a:r>
                        <a:rPr sz="1300" b="0">
                          <a:solidFill>
                            <a:srgbClr val="17150F"/>
                          </a:solidFill>
                          <a:latin typeface="Arial"/>
                        </a:rPr>
                        <a:t>Entrenamiento</a:t>
                      </a:r>
                    </a:p>
                  </a:txBody>
                  <a:tcPr marL="82296" marR="82296" anchor="ctr">
                    <a:solidFill>
                      <a:srgbClr val="FFFFFF"/>
                    </a:solidFill>
                  </a:tcPr>
                </a:tc>
                <a:tc>
                  <a:txBody>
                    <a:bodyPr/>
                    <a:lstStyle/>
                    <a:p>
                      <a:pPr algn="r"/>
                      <a:r>
                        <a:rPr sz="1300" b="0">
                          <a:solidFill>
                            <a:srgbClr val="555045"/>
                          </a:solidFill>
                          <a:latin typeface="Arial"/>
                        </a:rPr>
                        <a:t>5 a 10</a:t>
                      </a:r>
                    </a:p>
                  </a:txBody>
                  <a:tcPr marL="82296" marR="82296" anchor="ctr">
                    <a:solidFill>
                      <a:srgbClr val="FFFFFF"/>
                    </a:solidFill>
                  </a:tcPr>
                </a:tc>
                <a:tc>
                  <a:txBody>
                    <a:bodyPr/>
                    <a:lstStyle/>
                    <a:p>
                      <a:pPr algn="r"/>
                      <a:r>
                        <a:rPr sz="1300" b="0">
                          <a:solidFill>
                            <a:srgbClr val="555045"/>
                          </a:solidFill>
                          <a:latin typeface="Arial"/>
                        </a:rPr>
                        <a:t>960</a:t>
                      </a:r>
                    </a:p>
                  </a:txBody>
                  <a:tcPr marL="82296" marR="82296" anchor="ctr">
                    <a:solidFill>
                      <a:srgbClr val="FFFFFF"/>
                    </a:solidFill>
                  </a:tcPr>
                </a:tc>
                <a:tc>
                  <a:txBody>
                    <a:bodyPr/>
                    <a:lstStyle/>
                    <a:p>
                      <a:pPr algn="r"/>
                      <a:r>
                        <a:rPr sz="1300" b="0">
                          <a:solidFill>
                            <a:srgbClr val="555045"/>
                          </a:solidFill>
                          <a:latin typeface="Arial"/>
                        </a:rPr>
                        <a:t>El modelo aprende aquí</a:t>
                      </a:r>
                    </a:p>
                  </a:txBody>
                  <a:tcPr marL="82296" marR="82296" anchor="ctr">
                    <a:solidFill>
                      <a:srgbClr val="FFFFFF"/>
                    </a:solidFill>
                  </a:tcPr>
                </a:tc>
              </a:tr>
              <a:tr h="384048">
                <a:tc>
                  <a:txBody>
                    <a:bodyPr/>
                    <a:lstStyle/>
                    <a:p>
                      <a:pPr algn="l"/>
                      <a:r>
                        <a:rPr sz="1300" b="1">
                          <a:solidFill>
                            <a:srgbClr val="17150F"/>
                          </a:solidFill>
                          <a:latin typeface="Arial"/>
                        </a:rPr>
                        <a:t>Prueba</a:t>
                      </a:r>
                    </a:p>
                  </a:txBody>
                  <a:tcPr marL="82296" marR="82296" anchor="ctr">
                    <a:solidFill>
                      <a:srgbClr val="F7EEEF"/>
                    </a:solidFill>
                  </a:tcPr>
                </a:tc>
                <a:tc>
                  <a:txBody>
                    <a:bodyPr/>
                    <a:lstStyle/>
                    <a:p>
                      <a:pPr algn="r"/>
                      <a:r>
                        <a:rPr sz="1300" b="1">
                          <a:solidFill>
                            <a:srgbClr val="17150F"/>
                          </a:solidFill>
                          <a:latin typeface="Arial"/>
                        </a:rPr>
                        <a:t>11 a 13</a:t>
                      </a:r>
                    </a:p>
                  </a:txBody>
                  <a:tcPr marL="82296" marR="82296" anchor="ctr">
                    <a:solidFill>
                      <a:srgbClr val="F7EEEF"/>
                    </a:solidFill>
                  </a:tcPr>
                </a:tc>
                <a:tc>
                  <a:txBody>
                    <a:bodyPr/>
                    <a:lstStyle/>
                    <a:p>
                      <a:pPr algn="r"/>
                      <a:r>
                        <a:rPr sz="1300" b="1">
                          <a:solidFill>
                            <a:srgbClr val="17150F"/>
                          </a:solidFill>
                          <a:latin typeface="Arial"/>
                        </a:rPr>
                        <a:t>480</a:t>
                      </a:r>
                    </a:p>
                  </a:txBody>
                  <a:tcPr marL="82296" marR="82296" anchor="ctr">
                    <a:solidFill>
                      <a:srgbClr val="F7EEEF"/>
                    </a:solidFill>
                  </a:tcPr>
                </a:tc>
                <a:tc>
                  <a:txBody>
                    <a:bodyPr/>
                    <a:lstStyle/>
                    <a:p>
                      <a:pPr algn="r"/>
                      <a:r>
                        <a:rPr sz="1300" b="1">
                          <a:solidFill>
                            <a:srgbClr val="17150F"/>
                          </a:solidFill>
                          <a:latin typeface="Arial"/>
                        </a:rPr>
                        <a:t>Intacta hasta el final</a:t>
                      </a:r>
                    </a:p>
                  </a:txBody>
                  <a:tcPr marL="82296" marR="82296" anchor="ctr">
                    <a:solidFill>
                      <a:srgbClr val="F7EEEF"/>
                    </a:solidFill>
                  </a:tcPr>
                </a:tc>
              </a:tr>
              <a:tr h="384048">
                <a:tc>
                  <a:txBody>
                    <a:bodyPr/>
                    <a:lstStyle/>
                    <a:p>
                      <a:pPr algn="l"/>
                      <a:r>
                        <a:rPr sz="1300" b="0">
                          <a:solidFill>
                            <a:srgbClr val="17150F"/>
                          </a:solidFill>
                          <a:latin typeface="Arial"/>
                        </a:rPr>
                        <a:t>Predicción</a:t>
                      </a:r>
                    </a:p>
                  </a:txBody>
                  <a:tcPr marL="82296" marR="82296" anchor="ctr">
                    <a:solidFill>
                      <a:srgbClr val="FFFFFF"/>
                    </a:solidFill>
                  </a:tcPr>
                </a:tc>
                <a:tc>
                  <a:txBody>
                    <a:bodyPr/>
                    <a:lstStyle/>
                    <a:p>
                      <a:pPr algn="r"/>
                      <a:r>
                        <a:rPr sz="1300" b="0">
                          <a:solidFill>
                            <a:srgbClr val="555045"/>
                          </a:solidFill>
                          <a:latin typeface="Arial"/>
                        </a:rPr>
                        <a:t>14</a:t>
                      </a:r>
                    </a:p>
                  </a:txBody>
                  <a:tcPr marL="82296" marR="82296" anchor="ctr">
                    <a:solidFill>
                      <a:srgbClr val="FFFFFF"/>
                    </a:solidFill>
                  </a:tcPr>
                </a:tc>
                <a:tc>
                  <a:txBody>
                    <a:bodyPr/>
                    <a:lstStyle/>
                    <a:p>
                      <a:pPr algn="r"/>
                      <a:r>
                        <a:rPr sz="1300" b="0">
                          <a:solidFill>
                            <a:srgbClr val="555045"/>
                          </a:solidFill>
                          <a:latin typeface="Arial"/>
                        </a:rPr>
                        <a:t>160</a:t>
                      </a:r>
                    </a:p>
                  </a:txBody>
                  <a:tcPr marL="82296" marR="82296" anchor="ctr">
                    <a:solidFill>
                      <a:srgbClr val="FFFFFF"/>
                    </a:solidFill>
                  </a:tcPr>
                </a:tc>
                <a:tc>
                  <a:txBody>
                    <a:bodyPr/>
                    <a:lstStyle/>
                    <a:p>
                      <a:pPr algn="r"/>
                      <a:r>
                        <a:rPr sz="1300" b="0">
                          <a:solidFill>
                            <a:srgbClr val="555045"/>
                          </a:solidFill>
                          <a:latin typeface="Arial"/>
                        </a:rPr>
                        <a:t>Se entrega, sin observación real</a:t>
                      </a:r>
                    </a:p>
                  </a:txBody>
                  <a:tcPr marL="82296" marR="82296" anchor="ctr">
                    <a:solidFill>
                      <a:srgbClr val="FFFFFF"/>
                    </a:solidFill>
                  </a:tcPr>
                </a:tc>
              </a:tr>
            </a:tbl>
          </a:graphicData>
        </a:graphic>
      </p:graphicFrame>
      <p:sp>
        <p:nvSpPr>
          <p:cNvPr id="8" name="Rectangle 7"/>
          <p:cNvSpPr/>
          <p:nvPr/>
        </p:nvSpPr>
        <p:spPr>
          <a:xfrm>
            <a:off x="777240" y="4304411"/>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4203827"/>
            <a:ext cx="10436047" cy="530098"/>
          </a:xfrm>
          <a:prstGeom prst="rect">
            <a:avLst/>
          </a:prstGeom>
          <a:noFill/>
        </p:spPr>
        <p:txBody>
          <a:bodyPr wrap="square" lIns="0" rIns="0" tIns="0" bIns="0">
            <a:spAutoFit/>
          </a:bodyPr>
          <a:lstStyle/>
          <a:p>
            <a:pPr>
              <a:lnSpc>
                <a:spcPct val="124000"/>
              </a:lnSpc>
              <a:spcAft>
                <a:spcPts val="0"/>
              </a:spcAft>
            </a:pPr>
            <a:r>
              <a:rPr sz="1450" b="0">
                <a:solidFill>
                  <a:srgbClr val="555045"/>
                </a:solidFill>
                <a:latin typeface="Arial"/>
              </a:rPr>
              <a:t>Dentro de entrenamiento, </a:t>
            </a:r>
            <a:r>
              <a:rPr sz="1450" b="1">
                <a:solidFill>
                  <a:srgbClr val="17150F"/>
                </a:solidFill>
                <a:latin typeface="Arial"/>
              </a:rPr>
              <a:t>tres pliegues de ventana expansiva</a:t>
            </a:r>
            <a:r>
              <a:rPr sz="1450" b="0">
                <a:solidFill>
                  <a:srgbClr val="555045"/>
                </a:solidFill>
                <a:latin typeface="Arial"/>
              </a:rPr>
              <a:t>: ajusta con 5-7 y valida 8, luego 5-8 y valida 9, luego 5-9 y valida 10.</a:t>
            </a:r>
          </a:p>
        </p:txBody>
      </p:sp>
      <p:sp>
        <p:nvSpPr>
          <p:cNvPr id="10" name="Rectangle 9"/>
          <p:cNvSpPr/>
          <p:nvPr/>
        </p:nvSpPr>
        <p:spPr>
          <a:xfrm>
            <a:off x="777240" y="4962525"/>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861941"/>
            <a:ext cx="10436047" cy="283337"/>
          </a:xfrm>
          <a:prstGeom prst="rect">
            <a:avLst/>
          </a:prstGeom>
          <a:noFill/>
        </p:spPr>
        <p:txBody>
          <a:bodyPr wrap="square" lIns="0" rIns="0" tIns="0" bIns="0">
            <a:spAutoFit/>
          </a:bodyPr>
          <a:lstStyle/>
          <a:p>
            <a:pPr>
              <a:lnSpc>
                <a:spcPct val="124000"/>
              </a:lnSpc>
              <a:spcAft>
                <a:spcPts val="0"/>
              </a:spcAft>
            </a:pPr>
            <a:r>
              <a:rPr sz="1450" b="0">
                <a:solidFill>
                  <a:srgbClr val="555045"/>
                </a:solidFill>
                <a:latin typeface="Arial"/>
              </a:rPr>
              <a:t>Los hiperparámetros y la longitud de la media móvil </a:t>
            </a:r>
            <a:r>
              <a:rPr sz="1450" b="1">
                <a:solidFill>
                  <a:srgbClr val="17150F"/>
                </a:solidFill>
                <a:latin typeface="Arial"/>
              </a:rPr>
              <a:t>se eligen en validación</a:t>
            </a:r>
            <a:r>
              <a:rPr sz="1450" b="0">
                <a:solidFill>
                  <a:srgbClr val="555045"/>
                </a:solidFill>
                <a:latin typeface="Arial"/>
              </a:rPr>
              <a:t>, nunca en prueba.</a:t>
            </a:r>
          </a:p>
        </p:txBody>
      </p:sp>
      <p:sp>
        <p:nvSpPr>
          <p:cNvPr id="12" name="Rectangle 11"/>
          <p:cNvSpPr/>
          <p:nvPr/>
        </p:nvSpPr>
        <p:spPr>
          <a:xfrm>
            <a:off x="777240" y="537387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5273294"/>
            <a:ext cx="10436047" cy="530098"/>
          </a:xfrm>
          <a:prstGeom prst="rect">
            <a:avLst/>
          </a:prstGeom>
          <a:noFill/>
        </p:spPr>
        <p:txBody>
          <a:bodyPr wrap="square" lIns="0" rIns="0" tIns="0" bIns="0">
            <a:spAutoFit/>
          </a:bodyPr>
          <a:lstStyle/>
          <a:p>
            <a:pPr>
              <a:lnSpc>
                <a:spcPct val="124000"/>
              </a:lnSpc>
              <a:spcAft>
                <a:spcPts val="0"/>
              </a:spcAft>
            </a:pPr>
            <a:r>
              <a:rPr sz="1450" b="0">
                <a:solidFill>
                  <a:srgbClr val="555045"/>
                </a:solidFill>
                <a:latin typeface="Arial"/>
              </a:rPr>
              <a:t>Las semanas </a:t>
            </a:r>
            <a:r>
              <a:rPr sz="1450" b="1">
                <a:solidFill>
                  <a:srgbClr val="17150F"/>
                </a:solidFill>
                <a:latin typeface="Arial"/>
              </a:rPr>
              <a:t>se deducen del panel</a:t>
            </a:r>
            <a:r>
              <a:rPr sz="1450" b="0">
                <a:solidFill>
                  <a:srgbClr val="555045"/>
                </a:solidFill>
                <a:latin typeface="Arial"/>
              </a:rPr>
              <a:t>: no hay ninguna constante con el número de semanas, así que el diseño se recalcula solo si llegan más datos.</a:t>
            </a:r>
          </a:p>
        </p:txBody>
      </p:sp>
      <p:sp>
        <p:nvSpPr>
          <p:cNvPr id="14" name="Rectangle 13"/>
          <p:cNvSpPr/>
          <p:nvPr/>
        </p:nvSpPr>
        <p:spPr>
          <a:xfrm>
            <a:off x="777240" y="603199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8" y="5931408"/>
            <a:ext cx="10436047" cy="283337"/>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Limitación declarada.</a:t>
            </a:r>
            <a:r>
              <a:rPr sz="1450" b="0">
                <a:solidFill>
                  <a:srgbClr val="555045"/>
                </a:solidFill>
                <a:latin typeface="Arial"/>
              </a:rPr>
              <a:t> El univariado se hizo sobre las trece semanas. Queda escrita en vez de disimularse.</a:t>
            </a:r>
          </a:p>
        </p:txBody>
      </p:sp>
      <p:sp>
        <p:nvSpPr>
          <p:cNvPr id="16" name="Rectangle 15"/>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Pasos 5-8 · Diseño experimental</a:t>
            </a:r>
          </a:p>
        </p:txBody>
      </p:sp>
      <p:sp>
        <p:nvSpPr>
          <p:cNvPr id="18" name="TextBox 17"/>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PASOS 5 A 8 · VARIABLES</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836676"/>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Trece variables, todas calculadas de la semana anterior hacia atrás</a:t>
            </a:r>
          </a:p>
        </p:txBody>
      </p:sp>
      <p:graphicFrame>
        <p:nvGraphicFramePr>
          <p:cNvPr id="6" name="Table 5"/>
          <p:cNvGraphicFramePr>
            <a:graphicFrameLocks noGrp="1"/>
          </p:cNvGraphicFramePr>
          <p:nvPr/>
        </p:nvGraphicFramePr>
        <p:xfrm>
          <a:off x="777240" y="1897380"/>
          <a:ext cx="10637214" cy="2267712"/>
        </p:xfrm>
        <a:graphic>
          <a:graphicData uri="http://schemas.openxmlformats.org/drawingml/2006/table">
            <a:tbl>
              <a:tblPr bandRow="1">
                <a:tableStyleId>{5C22544A-7EE6-4342-B048-85BDC9FD1C3A}</a:tableStyleId>
              </a:tblPr>
              <a:tblGrid>
                <a:gridCol w="2552931"/>
                <a:gridCol w="3616653"/>
                <a:gridCol w="4467630"/>
              </a:tblGrid>
              <a:tr h="347472">
                <a:tc>
                  <a:txBody>
                    <a:bodyPr/>
                    <a:lstStyle/>
                    <a:p>
                      <a:pPr algn="l"/>
                      <a:r>
                        <a:rPr sz="1100" b="1">
                          <a:solidFill>
                            <a:srgbClr val="8B8478"/>
                          </a:solidFill>
                          <a:latin typeface="Arial"/>
                        </a:rPr>
                        <a:t>Familia</a:t>
                      </a:r>
                    </a:p>
                  </a:txBody>
                  <a:tcPr marL="82296" marR="82296" anchor="ctr">
                    <a:solidFill>
                      <a:srgbClr val="F4F2ED"/>
                    </a:solidFill>
                  </a:tcPr>
                </a:tc>
                <a:tc>
                  <a:txBody>
                    <a:bodyPr/>
                    <a:lstStyle/>
                    <a:p>
                      <a:pPr algn="r"/>
                      <a:r>
                        <a:rPr sz="1100" b="1">
                          <a:solidFill>
                            <a:srgbClr val="8B8478"/>
                          </a:solidFill>
                          <a:latin typeface="Arial"/>
                        </a:rPr>
                        <a:t>Variables</a:t>
                      </a:r>
                    </a:p>
                  </a:txBody>
                  <a:tcPr marL="82296" marR="82296" anchor="ctr">
                    <a:solidFill>
                      <a:srgbClr val="F4F2ED"/>
                    </a:solidFill>
                  </a:tcPr>
                </a:tc>
                <a:tc>
                  <a:txBody>
                    <a:bodyPr/>
                    <a:lstStyle/>
                    <a:p>
                      <a:pPr algn="r"/>
                      <a:r>
                        <a:rPr sz="1100" b="1">
                          <a:solidFill>
                            <a:srgbClr val="8B8478"/>
                          </a:solidFill>
                          <a:latin typeface="Arial"/>
                        </a:rPr>
                        <a:t>Qué capturan</a:t>
                      </a:r>
                    </a:p>
                  </a:txBody>
                  <a:tcPr marL="82296" marR="82296" anchor="ctr">
                    <a:solidFill>
                      <a:srgbClr val="F4F2ED"/>
                    </a:solidFill>
                  </a:tcPr>
                </a:tc>
              </a:tr>
              <a:tr h="384048">
                <a:tc>
                  <a:txBody>
                    <a:bodyPr/>
                    <a:lstStyle/>
                    <a:p>
                      <a:pPr algn="l"/>
                      <a:r>
                        <a:rPr sz="1250" b="0">
                          <a:solidFill>
                            <a:srgbClr val="17150F"/>
                          </a:solidFill>
                          <a:latin typeface="Arial"/>
                        </a:rPr>
                        <a:t>Rezagos</a:t>
                      </a:r>
                    </a:p>
                  </a:txBody>
                  <a:tcPr marL="82296" marR="82296" anchor="ctr">
                    <a:solidFill>
                      <a:srgbClr val="FFFFFF"/>
                    </a:solidFill>
                  </a:tcPr>
                </a:tc>
                <a:tc>
                  <a:txBody>
                    <a:bodyPr/>
                    <a:lstStyle/>
                    <a:p>
                      <a:pPr algn="r"/>
                      <a:r>
                        <a:rPr sz="1250" b="0">
                          <a:solidFill>
                            <a:srgbClr val="555045"/>
                          </a:solidFill>
                          <a:latin typeface="Arial"/>
                        </a:rPr>
                        <a:t>rezago_1 a rezago_4</a:t>
                      </a:r>
                    </a:p>
                  </a:txBody>
                  <a:tcPr marL="82296" marR="82296" anchor="ctr">
                    <a:solidFill>
                      <a:srgbClr val="FFFFFF"/>
                    </a:solidFill>
                  </a:tcPr>
                </a:tc>
                <a:tc>
                  <a:txBody>
                    <a:bodyPr/>
                    <a:lstStyle/>
                    <a:p>
                      <a:pPr algn="r"/>
                      <a:r>
                        <a:rPr sz="1250" b="0">
                          <a:solidFill>
                            <a:srgbClr val="555045"/>
                          </a:solidFill>
                          <a:latin typeface="Arial"/>
                        </a:rPr>
                        <a:t>El dato crudo de cada semana previa</a:t>
                      </a:r>
                    </a:p>
                  </a:txBody>
                  <a:tcPr marL="82296" marR="82296" anchor="ctr">
                    <a:solidFill>
                      <a:srgbClr val="FFFFFF"/>
                    </a:solidFill>
                  </a:tcPr>
                </a:tc>
              </a:tr>
              <a:tr h="384048">
                <a:tc>
                  <a:txBody>
                    <a:bodyPr/>
                    <a:lstStyle/>
                    <a:p>
                      <a:pPr algn="l"/>
                      <a:r>
                        <a:rPr sz="1250" b="0">
                          <a:solidFill>
                            <a:srgbClr val="17150F"/>
                          </a:solidFill>
                          <a:latin typeface="Arial"/>
                        </a:rPr>
                        <a:t>Medias móviles</a:t>
                      </a:r>
                    </a:p>
                  </a:txBody>
                  <a:tcPr marL="82296" marR="82296" anchor="ctr">
                    <a:solidFill>
                      <a:srgbClr val="FFFFFF"/>
                    </a:solidFill>
                  </a:tcPr>
                </a:tc>
                <a:tc>
                  <a:txBody>
                    <a:bodyPr/>
                    <a:lstStyle/>
                    <a:p>
                      <a:pPr algn="r"/>
                      <a:r>
                        <a:rPr sz="1250" b="0">
                          <a:solidFill>
                            <a:srgbClr val="555045"/>
                          </a:solidFill>
                          <a:latin typeface="Arial"/>
                        </a:rPr>
                        <a:t>media_2, media_3, media_4</a:t>
                      </a:r>
                    </a:p>
                  </a:txBody>
                  <a:tcPr marL="82296" marR="82296" anchor="ctr">
                    <a:solidFill>
                      <a:srgbClr val="FFFFFF"/>
                    </a:solidFill>
                  </a:tcPr>
                </a:tc>
                <a:tc>
                  <a:txBody>
                    <a:bodyPr/>
                    <a:lstStyle/>
                    <a:p>
                      <a:pPr algn="r"/>
                      <a:r>
                        <a:rPr sz="1250" b="0">
                          <a:solidFill>
                            <a:srgbClr val="555045"/>
                          </a:solidFill>
                          <a:latin typeface="Arial"/>
                        </a:rPr>
                        <a:t>El nivel reciente, promediando el ruido</a:t>
                      </a:r>
                    </a:p>
                  </a:txBody>
                  <a:tcPr marL="82296" marR="82296" anchor="ctr">
                    <a:solidFill>
                      <a:srgbClr val="FFFFFF"/>
                    </a:solidFill>
                  </a:tcPr>
                </a:tc>
              </a:tr>
              <a:tr h="384048">
                <a:tc>
                  <a:txBody>
                    <a:bodyPr/>
                    <a:lstStyle/>
                    <a:p>
                      <a:pPr algn="l"/>
                      <a:r>
                        <a:rPr sz="1250" b="0">
                          <a:solidFill>
                            <a:srgbClr val="17150F"/>
                          </a:solidFill>
                          <a:latin typeface="Arial"/>
                        </a:rPr>
                        <a:t>Desviaciones móviles</a:t>
                      </a:r>
                    </a:p>
                  </a:txBody>
                  <a:tcPr marL="82296" marR="82296" anchor="ctr">
                    <a:solidFill>
                      <a:srgbClr val="FFFFFF"/>
                    </a:solidFill>
                  </a:tcPr>
                </a:tc>
                <a:tc>
                  <a:txBody>
                    <a:bodyPr/>
                    <a:lstStyle/>
                    <a:p>
                      <a:pPr algn="r"/>
                      <a:r>
                        <a:rPr sz="1250" b="0">
                          <a:solidFill>
                            <a:srgbClr val="555045"/>
                          </a:solidFill>
                          <a:latin typeface="Arial"/>
                        </a:rPr>
                        <a:t>desv_2, desv_3, desv_4</a:t>
                      </a:r>
                    </a:p>
                  </a:txBody>
                  <a:tcPr marL="82296" marR="82296" anchor="ctr">
                    <a:solidFill>
                      <a:srgbClr val="FFFFFF"/>
                    </a:solidFill>
                  </a:tcPr>
                </a:tc>
                <a:tc>
                  <a:txBody>
                    <a:bodyPr/>
                    <a:lstStyle/>
                    <a:p>
                      <a:pPr algn="r"/>
                      <a:r>
                        <a:rPr sz="1250" b="0">
                          <a:solidFill>
                            <a:srgbClr val="555045"/>
                          </a:solidFill>
                          <a:latin typeface="Arial"/>
                        </a:rPr>
                        <a:t>La volatilidad propia de la serie</a:t>
                      </a:r>
                    </a:p>
                  </a:txBody>
                  <a:tcPr marL="82296" marR="82296" anchor="ctr">
                    <a:solidFill>
                      <a:srgbClr val="FFFFFF"/>
                    </a:solidFill>
                  </a:tcPr>
                </a:tc>
              </a:tr>
              <a:tr h="384048">
                <a:tc>
                  <a:txBody>
                    <a:bodyPr/>
                    <a:lstStyle/>
                    <a:p>
                      <a:pPr algn="l"/>
                      <a:r>
                        <a:rPr sz="1250" b="0">
                          <a:solidFill>
                            <a:srgbClr val="17150F"/>
                          </a:solidFill>
                          <a:latin typeface="Arial"/>
                        </a:rPr>
                        <a:t>Dirección</a:t>
                      </a:r>
                    </a:p>
                  </a:txBody>
                  <a:tcPr marL="82296" marR="82296" anchor="ctr">
                    <a:solidFill>
                      <a:srgbClr val="FFFFFF"/>
                    </a:solidFill>
                  </a:tcPr>
                </a:tc>
                <a:tc>
                  <a:txBody>
                    <a:bodyPr/>
                    <a:lstStyle/>
                    <a:p>
                      <a:pPr algn="r"/>
                      <a:r>
                        <a:rPr sz="1250" b="0">
                          <a:solidFill>
                            <a:srgbClr val="555045"/>
                          </a:solidFill>
                          <a:latin typeface="Arial"/>
                        </a:rPr>
                        <a:t>pendiente</a:t>
                      </a:r>
                    </a:p>
                  </a:txBody>
                  <a:tcPr marL="82296" marR="82296" anchor="ctr">
                    <a:solidFill>
                      <a:srgbClr val="FFFFFF"/>
                    </a:solidFill>
                  </a:tcPr>
                </a:tc>
                <a:tc>
                  <a:txBody>
                    <a:bodyPr/>
                    <a:lstStyle/>
                    <a:p>
                      <a:pPr algn="r"/>
                      <a:r>
                        <a:rPr sz="1250" b="0">
                          <a:solidFill>
                            <a:srgbClr val="555045"/>
                          </a:solidFill>
                          <a:latin typeface="Arial"/>
                        </a:rPr>
                        <a:t>Hacia dónde va la serie</a:t>
                      </a:r>
                    </a:p>
                  </a:txBody>
                  <a:tcPr marL="82296" marR="82296" anchor="ctr">
                    <a:solidFill>
                      <a:srgbClr val="FFFFFF"/>
                    </a:solidFill>
                  </a:tcPr>
                </a:tc>
              </a:tr>
              <a:tr h="384048">
                <a:tc>
                  <a:txBody>
                    <a:bodyPr/>
                    <a:lstStyle/>
                    <a:p>
                      <a:pPr algn="l"/>
                      <a:r>
                        <a:rPr sz="1250" b="0">
                          <a:solidFill>
                            <a:srgbClr val="17150F"/>
                          </a:solidFill>
                          <a:latin typeface="Arial"/>
                        </a:rPr>
                        <a:t>Derivadas</a:t>
                      </a:r>
                    </a:p>
                  </a:txBody>
                  <a:tcPr marL="82296" marR="82296" anchor="ctr">
                    <a:solidFill>
                      <a:srgbClr val="FFFFFF"/>
                    </a:solidFill>
                  </a:tcPr>
                </a:tc>
                <a:tc>
                  <a:txBody>
                    <a:bodyPr/>
                    <a:lstStyle/>
                    <a:p>
                      <a:pPr algn="r"/>
                      <a:r>
                        <a:rPr sz="1250" b="0">
                          <a:solidFill>
                            <a:srgbClr val="555045"/>
                          </a:solidFill>
                          <a:latin typeface="Arial"/>
                        </a:rPr>
                        <a:t>razon_ultima, cv_reciente</a:t>
                      </a:r>
                    </a:p>
                  </a:txBody>
                  <a:tcPr marL="82296" marR="82296" anchor="ctr">
                    <a:solidFill>
                      <a:srgbClr val="FFFFFF"/>
                    </a:solidFill>
                  </a:tcPr>
                </a:tc>
                <a:tc>
                  <a:txBody>
                    <a:bodyPr/>
                    <a:lstStyle/>
                    <a:p>
                      <a:pPr algn="r"/>
                      <a:r>
                        <a:rPr sz="1250" b="0">
                          <a:solidFill>
                            <a:srgbClr val="555045"/>
                          </a:solidFill>
                          <a:latin typeface="Arial"/>
                        </a:rPr>
                        <a:t>Posición y dispersión relativas</a:t>
                      </a:r>
                    </a:p>
                  </a:txBody>
                  <a:tcPr marL="82296" marR="82296" anchor="ctr">
                    <a:solidFill>
                      <a:srgbClr val="FFFFFF"/>
                    </a:solidFill>
                  </a:tcPr>
                </a:tc>
              </a:tr>
            </a:tbl>
          </a:graphicData>
        </a:graphic>
      </p:graphicFrame>
      <p:sp>
        <p:nvSpPr>
          <p:cNvPr id="7" name="Rectangle 6"/>
          <p:cNvSpPr/>
          <p:nvPr/>
        </p:nvSpPr>
        <p:spPr>
          <a:xfrm>
            <a:off x="777240" y="457657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78408" y="4475988"/>
            <a:ext cx="10436047" cy="530098"/>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La prueba antifuga es automática.</a:t>
            </a:r>
            <a:r>
              <a:rPr sz="1450" b="0">
                <a:solidFill>
                  <a:srgbClr val="555045"/>
                </a:solidFill>
                <a:latin typeface="Arial"/>
              </a:rPr>
              <a:t> Reconstruye todas las variables ocultando lo posterior al corte y exige que las filas anteriores salgan idénticas.</a:t>
            </a:r>
          </a:p>
        </p:txBody>
      </p:sp>
      <p:sp>
        <p:nvSpPr>
          <p:cNvPr id="9" name="Rectangle 8"/>
          <p:cNvSpPr/>
          <p:nvPr/>
        </p:nvSpPr>
        <p:spPr>
          <a:xfrm>
            <a:off x="777240" y="5234686"/>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5134102"/>
            <a:ext cx="10436047" cy="530098"/>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Las correlaciones marginales engañan.</a:t>
            </a:r>
            <a:r>
              <a:rPr sz="1450" b="0">
                <a:solidFill>
                  <a:srgbClr val="555045"/>
                </a:solidFill>
                <a:latin typeface="Arial"/>
              </a:rPr>
              <a:t> Todas pasan de 0,90 con el objetivo, pero al restar la media de cada serie caen a cero: reflejan el nivel, no predicen.</a:t>
            </a:r>
          </a:p>
        </p:txBody>
      </p:sp>
      <p:sp>
        <p:nvSpPr>
          <p:cNvPr id="11" name="Rectangle 10"/>
          <p:cNvSpPr/>
          <p:nvPr/>
        </p:nvSpPr>
        <p:spPr>
          <a:xfrm>
            <a:off x="777240" y="5892800"/>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5792216"/>
            <a:ext cx="10436047" cy="530098"/>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Rezagos y medias móviles son linealmente dependientes.</a:t>
            </a:r>
            <a:r>
              <a:rPr sz="1450" b="0">
                <a:solidFill>
                  <a:srgbClr val="555045"/>
                </a:solidFill>
                <a:latin typeface="Arial"/>
              </a:rPr>
              <a:t> Un modelo lineal no puede recibir ambos: media_2 es la semisuma de rezago_1 y rezago_2.</a:t>
            </a:r>
          </a:p>
        </p:txBody>
      </p:sp>
      <p:sp>
        <p:nvSpPr>
          <p:cNvPr id="13" name="Rectangle 12"/>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Pasos 5-8 · Variables</a:t>
            </a:r>
          </a:p>
        </p:txBody>
      </p:sp>
      <p:sp>
        <p:nvSpPr>
          <p:cNvPr id="15" name="TextBox 14"/>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PASOS 5 A 8 · LÍNEAS BASE</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445770"/>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El listón: media móvil de cuatro semanas, 11,91 % de error</a:t>
            </a:r>
          </a:p>
        </p:txBody>
      </p:sp>
      <p:pic>
        <p:nvPicPr>
          <p:cNvPr id="6" name="Picture 5" descr="09_lineas_base.png"/>
          <p:cNvPicPr>
            <a:picLocks noChangeAspect="1"/>
          </p:cNvPicPr>
          <p:nvPr/>
        </p:nvPicPr>
        <p:blipFill>
          <a:blip r:embed="rId2"/>
          <a:stretch>
            <a:fillRect/>
          </a:stretch>
        </p:blipFill>
        <p:spPr>
          <a:xfrm>
            <a:off x="777240" y="1506474"/>
            <a:ext cx="5852160" cy="3080084"/>
          </a:xfrm>
          <a:prstGeom prst="rect">
            <a:avLst/>
          </a:prstGeom>
        </p:spPr>
      </p:pic>
      <p:graphicFrame>
        <p:nvGraphicFramePr>
          <p:cNvPr id="7" name="Table 6"/>
          <p:cNvGraphicFramePr>
            <a:graphicFrameLocks noGrp="1"/>
          </p:cNvGraphicFramePr>
          <p:nvPr/>
        </p:nvGraphicFramePr>
        <p:xfrm>
          <a:off x="6949440" y="1597914"/>
          <a:ext cx="4465013" cy="1591056"/>
        </p:xfrm>
        <a:graphic>
          <a:graphicData uri="http://schemas.openxmlformats.org/drawingml/2006/table">
            <a:tbl>
              <a:tblPr bandRow="1">
                <a:tableStyleId>{5C22544A-7EE6-4342-B048-85BDC9FD1C3A}</a:tableStyleId>
              </a:tblPr>
              <a:tblGrid>
                <a:gridCol w="2053906"/>
                <a:gridCol w="1250204"/>
                <a:gridCol w="1160903"/>
              </a:tblGrid>
              <a:tr h="347472">
                <a:tc>
                  <a:txBody>
                    <a:bodyPr/>
                    <a:lstStyle/>
                    <a:p>
                      <a:pPr algn="l"/>
                      <a:r>
                        <a:rPr sz="1050" b="1">
                          <a:solidFill>
                            <a:srgbClr val="8B8478"/>
                          </a:solidFill>
                          <a:latin typeface="Arial"/>
                        </a:rPr>
                        <a:t>Línea base</a:t>
                      </a:r>
                    </a:p>
                  </a:txBody>
                  <a:tcPr marL="82296" marR="82296" anchor="ctr">
                    <a:solidFill>
                      <a:srgbClr val="F4F2ED"/>
                    </a:solidFill>
                  </a:tcPr>
                </a:tc>
                <a:tc>
                  <a:txBody>
                    <a:bodyPr/>
                    <a:lstStyle/>
                    <a:p>
                      <a:pPr algn="r"/>
                      <a:r>
                        <a:rPr sz="1050" b="1">
                          <a:solidFill>
                            <a:srgbClr val="8B8478"/>
                          </a:solidFill>
                          <a:latin typeface="Arial"/>
                        </a:rPr>
                        <a:t>WAPE</a:t>
                      </a:r>
                    </a:p>
                  </a:txBody>
                  <a:tcPr marL="82296" marR="82296" anchor="ctr">
                    <a:solidFill>
                      <a:srgbClr val="F4F2ED"/>
                    </a:solidFill>
                  </a:tcPr>
                </a:tc>
                <a:tc>
                  <a:txBody>
                    <a:bodyPr/>
                    <a:lstStyle/>
                    <a:p>
                      <a:pPr algn="r"/>
                      <a:r>
                        <a:rPr sz="1050" b="1">
                          <a:solidFill>
                            <a:srgbClr val="8B8478"/>
                          </a:solidFill>
                          <a:latin typeface="Arial"/>
                        </a:rPr>
                        <a:t>R²</a:t>
                      </a:r>
                    </a:p>
                  </a:txBody>
                  <a:tcPr marL="82296" marR="82296" anchor="ctr">
                    <a:solidFill>
                      <a:srgbClr val="F4F2ED"/>
                    </a:solidFill>
                  </a:tcPr>
                </a:tc>
              </a:tr>
              <a:tr h="310896">
                <a:tc>
                  <a:txBody>
                    <a:bodyPr/>
                    <a:lstStyle/>
                    <a:p>
                      <a:pPr algn="l"/>
                      <a:r>
                        <a:rPr sz="1200" b="1">
                          <a:solidFill>
                            <a:srgbClr val="17150F"/>
                          </a:solidFill>
                          <a:latin typeface="Arial"/>
                        </a:rPr>
                        <a:t>Media móvil 4</a:t>
                      </a:r>
                    </a:p>
                  </a:txBody>
                  <a:tcPr marL="82296" marR="82296" anchor="ctr">
                    <a:solidFill>
                      <a:srgbClr val="F7EEEF"/>
                    </a:solidFill>
                  </a:tcPr>
                </a:tc>
                <a:tc>
                  <a:txBody>
                    <a:bodyPr/>
                    <a:lstStyle/>
                    <a:p>
                      <a:pPr algn="r"/>
                      <a:r>
                        <a:rPr sz="1200" b="1">
                          <a:solidFill>
                            <a:srgbClr val="17150F"/>
                          </a:solidFill>
                          <a:latin typeface="Arial"/>
                        </a:rPr>
                        <a:t>11,91 %</a:t>
                      </a:r>
                    </a:p>
                  </a:txBody>
                  <a:tcPr marL="82296" marR="82296" anchor="ctr">
                    <a:solidFill>
                      <a:srgbClr val="F7EEEF"/>
                    </a:solidFill>
                  </a:tcPr>
                </a:tc>
                <a:tc>
                  <a:txBody>
                    <a:bodyPr/>
                    <a:lstStyle/>
                    <a:p>
                      <a:pPr algn="r"/>
                      <a:r>
                        <a:rPr sz="1200" b="1">
                          <a:solidFill>
                            <a:srgbClr val="17150F"/>
                          </a:solidFill>
                          <a:latin typeface="Arial"/>
                        </a:rPr>
                        <a:t>0,899</a:t>
                      </a:r>
                    </a:p>
                  </a:txBody>
                  <a:tcPr marL="82296" marR="82296" anchor="ctr">
                    <a:solidFill>
                      <a:srgbClr val="F7EEEF"/>
                    </a:solidFill>
                  </a:tcPr>
                </a:tc>
              </a:tr>
              <a:tr h="310896">
                <a:tc>
                  <a:txBody>
                    <a:bodyPr/>
                    <a:lstStyle/>
                    <a:p>
                      <a:pPr algn="l"/>
                      <a:r>
                        <a:rPr sz="1200" b="0">
                          <a:solidFill>
                            <a:srgbClr val="17150F"/>
                          </a:solidFill>
                          <a:latin typeface="Arial"/>
                        </a:rPr>
                        <a:t>Persistencia</a:t>
                      </a:r>
                    </a:p>
                  </a:txBody>
                  <a:tcPr marL="82296" marR="82296" anchor="ctr">
                    <a:solidFill>
                      <a:srgbClr val="FFFFFF"/>
                    </a:solidFill>
                  </a:tcPr>
                </a:tc>
                <a:tc>
                  <a:txBody>
                    <a:bodyPr/>
                    <a:lstStyle/>
                    <a:p>
                      <a:pPr algn="r"/>
                      <a:r>
                        <a:rPr sz="1200" b="0">
                          <a:solidFill>
                            <a:srgbClr val="555045"/>
                          </a:solidFill>
                          <a:latin typeface="Arial"/>
                        </a:rPr>
                        <a:t>13,40 %</a:t>
                      </a:r>
                    </a:p>
                  </a:txBody>
                  <a:tcPr marL="82296" marR="82296" anchor="ctr">
                    <a:solidFill>
                      <a:srgbClr val="FFFFFF"/>
                    </a:solidFill>
                  </a:tcPr>
                </a:tc>
                <a:tc>
                  <a:txBody>
                    <a:bodyPr/>
                    <a:lstStyle/>
                    <a:p>
                      <a:pPr algn="r"/>
                      <a:r>
                        <a:rPr sz="1200" b="0">
                          <a:solidFill>
                            <a:srgbClr val="555045"/>
                          </a:solidFill>
                          <a:latin typeface="Arial"/>
                        </a:rPr>
                        <a:t>0,876</a:t>
                      </a:r>
                    </a:p>
                  </a:txBody>
                  <a:tcPr marL="82296" marR="82296" anchor="ctr">
                    <a:solidFill>
                      <a:srgbClr val="FFFFFF"/>
                    </a:solidFill>
                  </a:tcPr>
                </a:tc>
              </a:tr>
              <a:tr h="310896">
                <a:tc>
                  <a:txBody>
                    <a:bodyPr/>
                    <a:lstStyle/>
                    <a:p>
                      <a:pPr algn="l"/>
                      <a:r>
                        <a:rPr sz="1200" b="0">
                          <a:solidFill>
                            <a:srgbClr val="17150F"/>
                          </a:solidFill>
                          <a:latin typeface="Arial"/>
                        </a:rPr>
                        <a:t>Media histórica</a:t>
                      </a:r>
                    </a:p>
                  </a:txBody>
                  <a:tcPr marL="82296" marR="82296" anchor="ctr">
                    <a:solidFill>
                      <a:srgbClr val="FFFFFF"/>
                    </a:solidFill>
                  </a:tcPr>
                </a:tc>
                <a:tc>
                  <a:txBody>
                    <a:bodyPr/>
                    <a:lstStyle/>
                    <a:p>
                      <a:pPr algn="r"/>
                      <a:r>
                        <a:rPr sz="1200" b="0">
                          <a:solidFill>
                            <a:srgbClr val="555045"/>
                          </a:solidFill>
                          <a:latin typeface="Arial"/>
                        </a:rPr>
                        <a:t>13,99 %</a:t>
                      </a:r>
                    </a:p>
                  </a:txBody>
                  <a:tcPr marL="82296" marR="82296" anchor="ctr">
                    <a:solidFill>
                      <a:srgbClr val="FFFFFF"/>
                    </a:solidFill>
                  </a:tcPr>
                </a:tc>
                <a:tc>
                  <a:txBody>
                    <a:bodyPr/>
                    <a:lstStyle/>
                    <a:p>
                      <a:pPr algn="r"/>
                      <a:r>
                        <a:rPr sz="1200" b="0">
                          <a:solidFill>
                            <a:srgbClr val="555045"/>
                          </a:solidFill>
                          <a:latin typeface="Arial"/>
                        </a:rPr>
                        <a:t>0,856</a:t>
                      </a:r>
                    </a:p>
                  </a:txBody>
                  <a:tcPr marL="82296" marR="82296" anchor="ctr">
                    <a:solidFill>
                      <a:srgbClr val="FFFFFF"/>
                    </a:solidFill>
                  </a:tcPr>
                </a:tc>
              </a:tr>
              <a:tr h="310896">
                <a:tc>
                  <a:txBody>
                    <a:bodyPr/>
                    <a:lstStyle/>
                    <a:p>
                      <a:pPr algn="l"/>
                      <a:r>
                        <a:rPr sz="1200" b="0">
                          <a:solidFill>
                            <a:srgbClr val="17150F"/>
                          </a:solidFill>
                          <a:latin typeface="Arial"/>
                        </a:rPr>
                        <a:t>Deriva</a:t>
                      </a:r>
                    </a:p>
                  </a:txBody>
                  <a:tcPr marL="82296" marR="82296" anchor="ctr">
                    <a:solidFill>
                      <a:srgbClr val="FFFFFF"/>
                    </a:solidFill>
                  </a:tcPr>
                </a:tc>
                <a:tc>
                  <a:txBody>
                    <a:bodyPr/>
                    <a:lstStyle/>
                    <a:p>
                      <a:pPr algn="r"/>
                      <a:r>
                        <a:rPr sz="1200" b="0">
                          <a:solidFill>
                            <a:srgbClr val="555045"/>
                          </a:solidFill>
                          <a:latin typeface="Arial"/>
                        </a:rPr>
                        <a:t>15,51 %</a:t>
                      </a:r>
                    </a:p>
                  </a:txBody>
                  <a:tcPr marL="82296" marR="82296" anchor="ctr">
                    <a:solidFill>
                      <a:srgbClr val="FFFFFF"/>
                    </a:solidFill>
                  </a:tcPr>
                </a:tc>
                <a:tc>
                  <a:txBody>
                    <a:bodyPr/>
                    <a:lstStyle/>
                    <a:p>
                      <a:pPr algn="r"/>
                      <a:r>
                        <a:rPr sz="1200" b="0">
                          <a:solidFill>
                            <a:srgbClr val="555045"/>
                          </a:solidFill>
                          <a:latin typeface="Arial"/>
                        </a:rPr>
                        <a:t>0,833</a:t>
                      </a:r>
                    </a:p>
                  </a:txBody>
                  <a:tcPr marL="82296" marR="82296" anchor="ctr">
                    <a:solidFill>
                      <a:srgbClr val="FFFFFF"/>
                    </a:solidFill>
                  </a:tcPr>
                </a:tc>
              </a:tr>
            </a:tbl>
          </a:graphicData>
        </a:graphic>
      </p:graphicFrame>
      <p:sp>
        <p:nvSpPr>
          <p:cNvPr id="8" name="TextBox 7"/>
          <p:cNvSpPr txBox="1"/>
          <p:nvPr/>
        </p:nvSpPr>
        <p:spPr>
          <a:xfrm>
            <a:off x="6949440" y="3472434"/>
            <a:ext cx="4465015" cy="2560320"/>
          </a:xfrm>
          <a:prstGeom prst="rect">
            <a:avLst/>
          </a:prstGeom>
          <a:noFill/>
        </p:spPr>
        <p:txBody>
          <a:bodyPr wrap="square" lIns="0" rIns="0" tIns="0" bIns="0">
            <a:spAutoFit/>
          </a:bodyPr>
          <a:lstStyle/>
          <a:p>
            <a:pPr algn="l">
              <a:lnSpc>
                <a:spcPct val="130000"/>
              </a:lnSpc>
              <a:spcBef>
                <a:spcPts val="0"/>
              </a:spcBef>
              <a:spcAft>
                <a:spcPts val="1200"/>
              </a:spcAft>
            </a:pPr>
            <a:r>
              <a:rPr sz="1300" b="0">
                <a:solidFill>
                  <a:srgbClr val="555045"/>
                </a:solidFill>
                <a:latin typeface="Arial"/>
              </a:rPr>
              <a:t>La deriva es la peor, y eso es un hallazgo. Estimar la pendiente con cuatro semanas y proyectarla una hacia adelante es casi todo ruido.</a:t>
            </a:r>
          </a:p>
          <a:p>
            <a:pPr algn="l">
              <a:lnSpc>
                <a:spcPct val="130000"/>
              </a:lnSpc>
              <a:spcBef>
                <a:spcPts val="0"/>
              </a:spcBef>
              <a:spcAft>
                <a:spcPts val="0"/>
              </a:spcAft>
            </a:pPr>
            <a:r>
              <a:rPr sz="1300" b="1">
                <a:solidFill>
                  <a:srgbClr val="17150F"/>
                </a:solidFill>
                <a:latin typeface="Arial"/>
              </a:rPr>
              <a:t>Cualquier modelo se mide contra el 11,91 %. Una mejora del 5 al 10 % sería buena; una mejora muy superior debe hacer sospechar de fuga antes que celebrarse.</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Pasos 5-8 · Líneas base</a:t>
            </a:r>
          </a:p>
        </p:txBody>
      </p:sp>
      <p:sp>
        <p:nvSpPr>
          <p:cNvPr id="11" name="TextBox 10"/>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PASOS 5 A 8 · LÍNEAS BASE</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836676"/>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Cuántas semanas mirar: el barrido se hace en validación, no en prueba</a:t>
            </a:r>
          </a:p>
        </p:txBody>
      </p:sp>
      <p:pic>
        <p:nvPicPr>
          <p:cNvPr id="6" name="Picture 5" descr="10_barrido_ventana.png"/>
          <p:cNvPicPr>
            <a:picLocks noChangeAspect="1"/>
          </p:cNvPicPr>
          <p:nvPr/>
        </p:nvPicPr>
        <p:blipFill>
          <a:blip r:embed="rId2"/>
          <a:stretch>
            <a:fillRect/>
          </a:stretch>
        </p:blipFill>
        <p:spPr>
          <a:xfrm>
            <a:off x="777240" y="1897380"/>
            <a:ext cx="5852160" cy="3251200"/>
          </a:xfrm>
          <a:prstGeom prst="rect">
            <a:avLst/>
          </a:prstGeom>
        </p:spPr>
      </p:pic>
      <p:sp>
        <p:nvSpPr>
          <p:cNvPr id="7" name="TextBox 6"/>
          <p:cNvSpPr txBox="1"/>
          <p:nvPr/>
        </p:nvSpPr>
        <p:spPr>
          <a:xfrm>
            <a:off x="6949440" y="2125980"/>
            <a:ext cx="4465015" cy="3657600"/>
          </a:xfrm>
          <a:prstGeom prst="rect">
            <a:avLst/>
          </a:prstGeom>
          <a:noFill/>
        </p:spPr>
        <p:txBody>
          <a:bodyPr wrap="square" lIns="0" rIns="0" tIns="0" bIns="0">
            <a:spAutoFit/>
          </a:bodyPr>
          <a:lstStyle/>
          <a:p>
            <a:pPr algn="l">
              <a:lnSpc>
                <a:spcPct val="132000"/>
              </a:lnSpc>
              <a:spcBef>
                <a:spcPts val="0"/>
              </a:spcBef>
              <a:spcAft>
                <a:spcPts val="1400"/>
              </a:spcAft>
            </a:pPr>
            <a:r>
              <a:rPr sz="1400" b="0">
                <a:solidFill>
                  <a:srgbClr val="555045"/>
                </a:solidFill>
                <a:latin typeface="Arial"/>
              </a:rPr>
              <a:t>La curva tiene forma de U con mínimo en 4 y 5 semanas. Por debajo entra ruido, por encima entra historia desfasada.</a:t>
            </a:r>
          </a:p>
          <a:p>
            <a:pPr algn="l">
              <a:lnSpc>
                <a:spcPct val="130000"/>
              </a:lnSpc>
              <a:spcBef>
                <a:spcPts val="0"/>
              </a:spcBef>
              <a:spcAft>
                <a:spcPts val="800"/>
              </a:spcAft>
            </a:pPr>
            <a:r>
              <a:rPr sz="1400" b="1">
                <a:solidFill>
                  <a:srgbClr val="8C2F39"/>
                </a:solidFill>
                <a:latin typeface="Arial"/>
              </a:rPr>
              <a:t>Un error corregido, y documentado</a:t>
            </a:r>
          </a:p>
          <a:p>
            <a:pPr algn="l">
              <a:lnSpc>
                <a:spcPct val="132000"/>
              </a:lnSpc>
              <a:spcBef>
                <a:spcPts val="0"/>
              </a:spcBef>
              <a:spcAft>
                <a:spcPts val="1200"/>
              </a:spcAft>
            </a:pPr>
            <a:r>
              <a:rPr sz="1350" b="0">
                <a:solidFill>
                  <a:srgbClr val="555045"/>
                </a:solidFill>
                <a:latin typeface="Arial"/>
              </a:rPr>
              <a:t>En una primera versión este barrido se hizo sobre las semanas de prueba y elegía una ventana de 3, con 11,87 %. Esa cifra estaba inflada porque el parámetro se ajustaba contra el propio conjunto de evaluación.</a:t>
            </a:r>
          </a:p>
          <a:p>
            <a:pPr algn="l">
              <a:lnSpc>
                <a:spcPct val="132000"/>
              </a:lnSpc>
              <a:spcBef>
                <a:spcPts val="0"/>
              </a:spcBef>
              <a:spcAft>
                <a:spcPts val="0"/>
              </a:spcAft>
            </a:pPr>
            <a:r>
              <a:rPr sz="1350" b="1">
                <a:solidFill>
                  <a:srgbClr val="17150F"/>
                </a:solidFill>
                <a:latin typeface="Arial"/>
              </a:rPr>
              <a:t>Corregido el procedimiento, la ventana pasa a 4 y el listón sube a 11,91 %.</a:t>
            </a:r>
          </a:p>
        </p:txBody>
      </p:sp>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Pasos 5-8 · Líneas base</a:t>
            </a:r>
          </a:p>
        </p:txBody>
      </p:sp>
      <p:sp>
        <p:nvSpPr>
          <p:cNvPr id="10" name="TextBox 9"/>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651760"/>
            <a:ext cx="9144000" cy="914400"/>
          </a:xfrm>
          <a:prstGeom prst="rect">
            <a:avLst/>
          </a:prstGeom>
          <a:noFill/>
        </p:spPr>
        <p:txBody>
          <a:bodyPr wrap="square" lIns="0" rIns="0" tIns="0" bIns="0">
            <a:spAutoFit/>
          </a:bodyPr>
          <a:lstStyle/>
          <a:p>
            <a:pPr algn="l">
              <a:lnSpc>
                <a:spcPct val="105000"/>
              </a:lnSpc>
              <a:spcBef>
                <a:spcPts val="0"/>
              </a:spcBef>
              <a:spcAft>
                <a:spcPts val="1000"/>
              </a:spcAft>
            </a:pPr>
            <a:r>
              <a:rPr sz="3400" b="1">
                <a:solidFill>
                  <a:srgbClr val="17150F"/>
                </a:solidFill>
                <a:latin typeface="Arial"/>
              </a:rPr>
              <a:t>La economía de la decisión</a:t>
            </a:r>
          </a:p>
          <a:p>
            <a:pPr algn="l">
              <a:lnSpc>
                <a:spcPct val="130000"/>
              </a:lnSpc>
              <a:spcBef>
                <a:spcPts val="0"/>
              </a:spcBef>
              <a:spcAft>
                <a:spcPts val="600"/>
              </a:spcAft>
            </a:pPr>
            <a:r>
              <a:rPr sz="1550" b="0">
                <a:solidFill>
                  <a:srgbClr val="555045"/>
                </a:solidFill>
                <a:latin typeface="Arial"/>
              </a:rPr>
              <a:t>Paso 9 · Costes y niveles de servicio</a:t>
            </a:r>
          </a:p>
        </p:txBody>
      </p:sp>
      <p:sp>
        <p:nvSpPr>
          <p:cNvPr id="5" name="TextBox 4"/>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PASO 9 · COSTES</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445770"/>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El nivel de servicio no se elige: sale de dos precios</a:t>
            </a:r>
          </a:p>
        </p:txBody>
      </p:sp>
      <p:sp>
        <p:nvSpPr>
          <p:cNvPr id="6" name="TextBox 5"/>
          <p:cNvSpPr txBox="1"/>
          <p:nvPr/>
        </p:nvSpPr>
        <p:spPr>
          <a:xfrm>
            <a:off x="777240" y="1506474"/>
            <a:ext cx="9966960" cy="283337"/>
          </a:xfrm>
          <a:prstGeom prst="rect">
            <a:avLst/>
          </a:prstGeom>
          <a:noFill/>
        </p:spPr>
        <p:txBody>
          <a:bodyPr wrap="square" lIns="0" rIns="0" tIns="0" bIns="0">
            <a:spAutoFit/>
          </a:bodyPr>
          <a:lstStyle/>
          <a:p>
            <a:pPr algn="l">
              <a:lnSpc>
                <a:spcPct val="130000"/>
              </a:lnSpc>
              <a:spcBef>
                <a:spcPts val="0"/>
              </a:spcBef>
              <a:spcAft>
                <a:spcPts val="0"/>
              </a:spcAft>
            </a:pPr>
            <a:r>
              <a:rPr sz="1450" b="0">
                <a:solidFill>
                  <a:srgbClr val="555045"/>
                </a:solidFill>
                <a:latin typeface="Arial"/>
              </a:rPr>
              <a:t>Este paso se ejecuta antes de entrenar, porque decide cuántos modelos hacen falta y cuáles.</a:t>
            </a:r>
          </a:p>
        </p:txBody>
      </p:sp>
      <p:sp>
        <p:nvSpPr>
          <p:cNvPr id="7" name="Rectangle 6"/>
          <p:cNvSpPr/>
          <p:nvPr/>
        </p:nvSpPr>
        <p:spPr>
          <a:xfrm>
            <a:off x="777240" y="1990979"/>
            <a:ext cx="10637215" cy="132588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228723"/>
            <a:ext cx="9997135" cy="914400"/>
          </a:xfrm>
          <a:prstGeom prst="rect">
            <a:avLst/>
          </a:prstGeom>
          <a:noFill/>
        </p:spPr>
        <p:txBody>
          <a:bodyPr wrap="square" lIns="0" rIns="0" tIns="0" bIns="0">
            <a:spAutoFit/>
          </a:bodyPr>
          <a:lstStyle/>
          <a:p>
            <a:pPr algn="l">
              <a:lnSpc>
                <a:spcPct val="120000"/>
              </a:lnSpc>
              <a:spcBef>
                <a:spcPts val="0"/>
              </a:spcBef>
              <a:spcAft>
                <a:spcPts val="1000"/>
              </a:spcAft>
            </a:pPr>
            <a:r>
              <a:rPr sz="1900" b="1">
                <a:solidFill>
                  <a:srgbClr val="17150F"/>
                </a:solidFill>
                <a:latin typeface="Arial"/>
              </a:rPr>
              <a:t>nivel de servicio  =  margen perdido  ÷  ( margen perdido  +  coste del sobrante )</a:t>
            </a:r>
          </a:p>
          <a:p>
            <a:pPr algn="l">
              <a:lnSpc>
                <a:spcPct val="120000"/>
              </a:lnSpc>
              <a:spcBef>
                <a:spcPts val="0"/>
              </a:spcBef>
              <a:spcAft>
                <a:spcPts val="0"/>
              </a:spcAft>
            </a:pPr>
            <a:r>
              <a:rPr sz="1600" b="1">
                <a:solidFill>
                  <a:srgbClr val="8C2F39"/>
                </a:solidFill>
                <a:latin typeface="Arial"/>
              </a:rPr>
              <a:t>Para el Tinto:   1.700 ÷ ( 1.700 + 810 )  =  0,68</a:t>
            </a:r>
          </a:p>
        </p:txBody>
      </p:sp>
      <p:sp>
        <p:nvSpPr>
          <p:cNvPr id="9" name="Rectangle 8"/>
          <p:cNvSpPr/>
          <p:nvPr/>
        </p:nvSpPr>
        <p:spPr>
          <a:xfrm>
            <a:off x="777240" y="373748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3636899"/>
            <a:ext cx="10436047" cy="283337"/>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En esa expresión no aparece la demanda.</a:t>
            </a:r>
            <a:r>
              <a:rPr sz="1450" b="0">
                <a:solidFill>
                  <a:srgbClr val="555045"/>
                </a:solidFill>
                <a:latin typeface="Arial"/>
              </a:rPr>
              <a:t> Depende solo de dos precios, y cada producto tiene los suyos.</a:t>
            </a:r>
          </a:p>
        </p:txBody>
      </p:sp>
      <p:sp>
        <p:nvSpPr>
          <p:cNvPr id="11" name="Rectangle 10"/>
          <p:cNvSpPr/>
          <p:nvPr/>
        </p:nvSpPr>
        <p:spPr>
          <a:xfrm>
            <a:off x="777240" y="4148836"/>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048252"/>
            <a:ext cx="10436047" cy="530098"/>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Si mañana cambia el precio del Tinto, no hay que reentrenar nada</a:t>
            </a:r>
            <a:r>
              <a:rPr sz="1450" b="0">
                <a:solidFill>
                  <a:srgbClr val="555045"/>
                </a:solidFill>
                <a:latin typeface="Arial"/>
              </a:rPr>
              <a:t>: se recalcula el nivel y el pedido se ajusta solo.</a:t>
            </a:r>
          </a:p>
        </p:txBody>
      </p:sp>
      <p:sp>
        <p:nvSpPr>
          <p:cNvPr id="13" name="Rectangle 12"/>
          <p:cNvSpPr/>
          <p:nvPr/>
        </p:nvSpPr>
        <p:spPr>
          <a:xfrm>
            <a:off x="777240" y="4806950"/>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706366"/>
            <a:ext cx="10436047" cy="283337"/>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El mismo modelo sirve para los ocho productos</a:t>
            </a:r>
            <a:r>
              <a:rPr sz="1450" b="0">
                <a:solidFill>
                  <a:srgbClr val="555045"/>
                </a:solidFill>
                <a:latin typeface="Arial"/>
              </a:rPr>
              <a:t> con políticas distintas.</a:t>
            </a:r>
          </a:p>
        </p:txBody>
      </p:sp>
      <p:sp>
        <p:nvSpPr>
          <p:cNvPr id="15" name="Rectangle 14"/>
          <p:cNvSpPr/>
          <p:nvPr/>
        </p:nvSpPr>
        <p:spPr>
          <a:xfrm>
            <a:off x="777240" y="521830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8408" y="5117719"/>
            <a:ext cx="10436047" cy="283337"/>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La conversación con negocio queda separada de la técnica.</a:t>
            </a:r>
            <a:r>
              <a:rPr sz="1450" b="0">
                <a:solidFill>
                  <a:srgbClr val="555045"/>
                </a:solidFill>
                <a:latin typeface="Arial"/>
              </a:rPr>
              <a:t> Discutir costes no es discutir algoritmos.</a:t>
            </a:r>
          </a:p>
        </p:txBody>
      </p:sp>
      <p:sp>
        <p:nvSpPr>
          <p:cNvPr id="17" name="Rectangle 16"/>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Paso 9 · Costes y niveles</a:t>
            </a:r>
          </a:p>
        </p:txBody>
      </p:sp>
      <p:sp>
        <p:nvSpPr>
          <p:cNvPr id="19" name="TextBox 18"/>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PASO 9 · COSTES</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445770"/>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Con el coste del enunciado los ocho productos salen iguales</a:t>
            </a:r>
          </a:p>
        </p:txBody>
      </p:sp>
      <p:pic>
        <p:nvPicPr>
          <p:cNvPr id="6" name="Picture 5" descr="11_niveles_por_escenario.png"/>
          <p:cNvPicPr>
            <a:picLocks noChangeAspect="1"/>
          </p:cNvPicPr>
          <p:nvPr/>
        </p:nvPicPr>
        <p:blipFill>
          <a:blip r:embed="rId2"/>
          <a:stretch>
            <a:fillRect/>
          </a:stretch>
        </p:blipFill>
        <p:spPr>
          <a:xfrm>
            <a:off x="777240" y="1506474"/>
            <a:ext cx="5852160" cy="3204754"/>
          </a:xfrm>
          <a:prstGeom prst="rect">
            <a:avLst/>
          </a:prstGeom>
        </p:spPr>
      </p:pic>
      <p:graphicFrame>
        <p:nvGraphicFramePr>
          <p:cNvPr id="7" name="Table 6"/>
          <p:cNvGraphicFramePr>
            <a:graphicFrameLocks noGrp="1"/>
          </p:cNvGraphicFramePr>
          <p:nvPr/>
        </p:nvGraphicFramePr>
        <p:xfrm>
          <a:off x="6949440" y="1597914"/>
          <a:ext cx="4465014" cy="2542032"/>
        </p:xfrm>
        <a:graphic>
          <a:graphicData uri="http://schemas.openxmlformats.org/drawingml/2006/table">
            <a:tbl>
              <a:tblPr bandRow="1">
                <a:tableStyleId>{5C22544A-7EE6-4342-B048-85BDC9FD1C3A}</a:tableStyleId>
              </a:tblPr>
              <a:tblGrid>
                <a:gridCol w="1964606"/>
                <a:gridCol w="1250204"/>
                <a:gridCol w="1250204"/>
              </a:tblGrid>
              <a:tr h="347472">
                <a:tc>
                  <a:txBody>
                    <a:bodyPr/>
                    <a:lstStyle/>
                    <a:p>
                      <a:pPr algn="l"/>
                      <a:r>
                        <a:rPr sz="1000" b="1">
                          <a:solidFill>
                            <a:srgbClr val="8B8478"/>
                          </a:solidFill>
                          <a:latin typeface="Arial"/>
                        </a:rPr>
                        <a:t>Producto</a:t>
                      </a:r>
                    </a:p>
                  </a:txBody>
                  <a:tcPr marL="82296" marR="82296" anchor="ctr">
                    <a:solidFill>
                      <a:srgbClr val="F4F2ED"/>
                    </a:solidFill>
                  </a:tcPr>
                </a:tc>
                <a:tc>
                  <a:txBody>
                    <a:bodyPr/>
                    <a:lstStyle/>
                    <a:p>
                      <a:pPr algn="r"/>
                      <a:r>
                        <a:rPr sz="1000" b="1">
                          <a:solidFill>
                            <a:srgbClr val="8B8478"/>
                          </a:solidFill>
                          <a:latin typeface="Arial"/>
                        </a:rPr>
                        <a:t>Sin merma</a:t>
                      </a:r>
                    </a:p>
                  </a:txBody>
                  <a:tcPr marL="82296" marR="82296" anchor="ctr">
                    <a:solidFill>
                      <a:srgbClr val="F4F2ED"/>
                    </a:solidFill>
                  </a:tcPr>
                </a:tc>
                <a:tc>
                  <a:txBody>
                    <a:bodyPr/>
                    <a:lstStyle/>
                    <a:p>
                      <a:pPr algn="r"/>
                      <a:r>
                        <a:rPr sz="1000" b="1">
                          <a:solidFill>
                            <a:srgbClr val="8B8478"/>
                          </a:solidFill>
                          <a:latin typeface="Arial"/>
                        </a:rPr>
                        <a:t>Con merma</a:t>
                      </a:r>
                    </a:p>
                  </a:txBody>
                  <a:tcPr marL="82296" marR="82296" anchor="ctr">
                    <a:solidFill>
                      <a:srgbClr val="F4F2ED"/>
                    </a:solidFill>
                  </a:tcPr>
                </a:tc>
              </a:tr>
              <a:tr h="274320">
                <a:tc>
                  <a:txBody>
                    <a:bodyPr/>
                    <a:lstStyle/>
                    <a:p>
                      <a:pPr algn="l"/>
                      <a:r>
                        <a:rPr sz="1150" b="0">
                          <a:solidFill>
                            <a:srgbClr val="17150F"/>
                          </a:solidFill>
                          <a:latin typeface="Arial"/>
                        </a:rPr>
                        <a:t>Cappuccino</a:t>
                      </a:r>
                    </a:p>
                  </a:txBody>
                  <a:tcPr marL="82296" marR="82296" anchor="ctr">
                    <a:solidFill>
                      <a:srgbClr val="FFFFFF"/>
                    </a:solidFill>
                  </a:tcPr>
                </a:tc>
                <a:tc>
                  <a:txBody>
                    <a:bodyPr/>
                    <a:lstStyle/>
                    <a:p>
                      <a:pPr algn="r"/>
                      <a:r>
                        <a:rPr sz="1150" b="0">
                          <a:solidFill>
                            <a:srgbClr val="555045"/>
                          </a:solidFill>
                          <a:latin typeface="Arial"/>
                        </a:rPr>
                        <a:t>0,995</a:t>
                      </a:r>
                    </a:p>
                  </a:txBody>
                  <a:tcPr marL="82296" marR="82296" anchor="ctr">
                    <a:solidFill>
                      <a:srgbClr val="FFFFFF"/>
                    </a:solidFill>
                  </a:tcPr>
                </a:tc>
                <a:tc>
                  <a:txBody>
                    <a:bodyPr/>
                    <a:lstStyle/>
                    <a:p>
                      <a:pPr algn="r"/>
                      <a:r>
                        <a:rPr sz="1150" b="0">
                          <a:solidFill>
                            <a:srgbClr val="555045"/>
                          </a:solidFill>
                          <a:latin typeface="Arial"/>
                        </a:rPr>
                        <a:t>0,66</a:t>
                      </a:r>
                    </a:p>
                  </a:txBody>
                  <a:tcPr marL="82296" marR="82296" anchor="ctr">
                    <a:solidFill>
                      <a:srgbClr val="FFFFFF"/>
                    </a:solidFill>
                  </a:tcPr>
                </a:tc>
              </a:tr>
              <a:tr h="274320">
                <a:tc>
                  <a:txBody>
                    <a:bodyPr/>
                    <a:lstStyle/>
                    <a:p>
                      <a:pPr algn="l"/>
                      <a:r>
                        <a:rPr sz="1150" b="0">
                          <a:solidFill>
                            <a:srgbClr val="17150F"/>
                          </a:solidFill>
                          <a:latin typeface="Arial"/>
                        </a:rPr>
                        <a:t>Tinto</a:t>
                      </a:r>
                    </a:p>
                  </a:txBody>
                  <a:tcPr marL="82296" marR="82296" anchor="ctr">
                    <a:solidFill>
                      <a:srgbClr val="FFFFFF"/>
                    </a:solidFill>
                  </a:tcPr>
                </a:tc>
                <a:tc>
                  <a:txBody>
                    <a:bodyPr/>
                    <a:lstStyle/>
                    <a:p>
                      <a:pPr algn="r"/>
                      <a:r>
                        <a:rPr sz="1150" b="0">
                          <a:solidFill>
                            <a:srgbClr val="555045"/>
                          </a:solidFill>
                          <a:latin typeface="Arial"/>
                        </a:rPr>
                        <a:t>0,994</a:t>
                      </a:r>
                    </a:p>
                  </a:txBody>
                  <a:tcPr marL="82296" marR="82296" anchor="ctr">
                    <a:solidFill>
                      <a:srgbClr val="FFFFFF"/>
                    </a:solidFill>
                  </a:tcPr>
                </a:tc>
                <a:tc>
                  <a:txBody>
                    <a:bodyPr/>
                    <a:lstStyle/>
                    <a:p>
                      <a:pPr algn="r"/>
                      <a:r>
                        <a:rPr sz="1150" b="0">
                          <a:solidFill>
                            <a:srgbClr val="555045"/>
                          </a:solidFill>
                          <a:latin typeface="Arial"/>
                        </a:rPr>
                        <a:t>0,68</a:t>
                      </a:r>
                    </a:p>
                  </a:txBody>
                  <a:tcPr marL="82296" marR="82296" anchor="ctr">
                    <a:solidFill>
                      <a:srgbClr val="FFFFFF"/>
                    </a:solidFill>
                  </a:tcPr>
                </a:tc>
              </a:tr>
              <a:tr h="274320">
                <a:tc>
                  <a:txBody>
                    <a:bodyPr/>
                    <a:lstStyle/>
                    <a:p>
                      <a:pPr algn="l"/>
                      <a:r>
                        <a:rPr sz="1150" b="0">
                          <a:solidFill>
                            <a:srgbClr val="17150F"/>
                          </a:solidFill>
                          <a:latin typeface="Arial"/>
                        </a:rPr>
                        <a:t>Café con Leche</a:t>
                      </a:r>
                    </a:p>
                  </a:txBody>
                  <a:tcPr marL="82296" marR="82296" anchor="ctr">
                    <a:solidFill>
                      <a:srgbClr val="FFFFFF"/>
                    </a:solidFill>
                  </a:tcPr>
                </a:tc>
                <a:tc>
                  <a:txBody>
                    <a:bodyPr/>
                    <a:lstStyle/>
                    <a:p>
                      <a:pPr algn="r"/>
                      <a:r>
                        <a:rPr sz="1150" b="0">
                          <a:solidFill>
                            <a:srgbClr val="555045"/>
                          </a:solidFill>
                          <a:latin typeface="Arial"/>
                        </a:rPr>
                        <a:t>0,994</a:t>
                      </a:r>
                    </a:p>
                  </a:txBody>
                  <a:tcPr marL="82296" marR="82296" anchor="ctr">
                    <a:solidFill>
                      <a:srgbClr val="FFFFFF"/>
                    </a:solidFill>
                  </a:tcPr>
                </a:tc>
                <a:tc>
                  <a:txBody>
                    <a:bodyPr/>
                    <a:lstStyle/>
                    <a:p>
                      <a:pPr algn="r"/>
                      <a:r>
                        <a:rPr sz="1150" b="0">
                          <a:solidFill>
                            <a:srgbClr val="555045"/>
                          </a:solidFill>
                          <a:latin typeface="Arial"/>
                        </a:rPr>
                        <a:t>0,65</a:t>
                      </a:r>
                    </a:p>
                  </a:txBody>
                  <a:tcPr marL="82296" marR="82296" anchor="ctr">
                    <a:solidFill>
                      <a:srgbClr val="FFFFFF"/>
                    </a:solidFill>
                  </a:tcPr>
                </a:tc>
              </a:tr>
              <a:tr h="274320">
                <a:tc>
                  <a:txBody>
                    <a:bodyPr/>
                    <a:lstStyle/>
                    <a:p>
                      <a:pPr algn="l"/>
                      <a:r>
                        <a:rPr sz="1150" b="0">
                          <a:solidFill>
                            <a:srgbClr val="17150F"/>
                          </a:solidFill>
                          <a:latin typeface="Arial"/>
                        </a:rPr>
                        <a:t>Croissant</a:t>
                      </a:r>
                    </a:p>
                  </a:txBody>
                  <a:tcPr marL="82296" marR="82296" anchor="ctr">
                    <a:solidFill>
                      <a:srgbClr val="FFFFFF"/>
                    </a:solidFill>
                  </a:tcPr>
                </a:tc>
                <a:tc>
                  <a:txBody>
                    <a:bodyPr/>
                    <a:lstStyle/>
                    <a:p>
                      <a:pPr algn="r"/>
                      <a:r>
                        <a:rPr sz="1150" b="0">
                          <a:solidFill>
                            <a:srgbClr val="555045"/>
                          </a:solidFill>
                          <a:latin typeface="Arial"/>
                        </a:rPr>
                        <a:t>0,989</a:t>
                      </a:r>
                    </a:p>
                  </a:txBody>
                  <a:tcPr marL="82296" marR="82296" anchor="ctr">
                    <a:solidFill>
                      <a:srgbClr val="FFFFFF"/>
                    </a:solidFill>
                  </a:tcPr>
                </a:tc>
                <a:tc>
                  <a:txBody>
                    <a:bodyPr/>
                    <a:lstStyle/>
                    <a:p>
                      <a:pPr algn="r"/>
                      <a:r>
                        <a:rPr sz="1150" b="0">
                          <a:solidFill>
                            <a:srgbClr val="555045"/>
                          </a:solidFill>
                          <a:latin typeface="Arial"/>
                        </a:rPr>
                        <a:t>0,65</a:t>
                      </a:r>
                    </a:p>
                  </a:txBody>
                  <a:tcPr marL="82296" marR="82296" anchor="ctr">
                    <a:solidFill>
                      <a:srgbClr val="FFFFFF"/>
                    </a:solidFill>
                  </a:tcPr>
                </a:tc>
              </a:tr>
              <a:tr h="274320">
                <a:tc>
                  <a:txBody>
                    <a:bodyPr/>
                    <a:lstStyle/>
                    <a:p>
                      <a:pPr algn="l"/>
                      <a:r>
                        <a:rPr sz="1150" b="0">
                          <a:solidFill>
                            <a:srgbClr val="17150F"/>
                          </a:solidFill>
                          <a:latin typeface="Arial"/>
                        </a:rPr>
                        <a:t>Pan de Bono</a:t>
                      </a:r>
                    </a:p>
                  </a:txBody>
                  <a:tcPr marL="82296" marR="82296" anchor="ctr">
                    <a:solidFill>
                      <a:srgbClr val="FFFFFF"/>
                    </a:solidFill>
                  </a:tcPr>
                </a:tc>
                <a:tc>
                  <a:txBody>
                    <a:bodyPr/>
                    <a:lstStyle/>
                    <a:p>
                      <a:pPr algn="r"/>
                      <a:r>
                        <a:rPr sz="1150" b="0">
                          <a:solidFill>
                            <a:srgbClr val="555045"/>
                          </a:solidFill>
                          <a:latin typeface="Arial"/>
                        </a:rPr>
                        <a:t>0,989</a:t>
                      </a:r>
                    </a:p>
                  </a:txBody>
                  <a:tcPr marL="82296" marR="82296" anchor="ctr">
                    <a:solidFill>
                      <a:srgbClr val="FFFFFF"/>
                    </a:solidFill>
                  </a:tcPr>
                </a:tc>
                <a:tc>
                  <a:txBody>
                    <a:bodyPr/>
                    <a:lstStyle/>
                    <a:p>
                      <a:pPr algn="r"/>
                      <a:r>
                        <a:rPr sz="1150" b="0">
                          <a:solidFill>
                            <a:srgbClr val="555045"/>
                          </a:solidFill>
                          <a:latin typeface="Arial"/>
                        </a:rPr>
                        <a:t>0,64</a:t>
                      </a:r>
                    </a:p>
                  </a:txBody>
                  <a:tcPr marL="82296" marR="82296" anchor="ctr">
                    <a:solidFill>
                      <a:srgbClr val="FFFFFF"/>
                    </a:solidFill>
                  </a:tcPr>
                </a:tc>
              </a:tr>
              <a:tr h="274320">
                <a:tc>
                  <a:txBody>
                    <a:bodyPr/>
                    <a:lstStyle/>
                    <a:p>
                      <a:pPr algn="l"/>
                      <a:r>
                        <a:rPr sz="1150" b="0">
                          <a:solidFill>
                            <a:srgbClr val="17150F"/>
                          </a:solidFill>
                          <a:latin typeface="Arial"/>
                        </a:rPr>
                        <a:t>Buñuelo</a:t>
                      </a:r>
                    </a:p>
                  </a:txBody>
                  <a:tcPr marL="82296" marR="82296" anchor="ctr">
                    <a:solidFill>
                      <a:srgbClr val="FFFFFF"/>
                    </a:solidFill>
                  </a:tcPr>
                </a:tc>
                <a:tc>
                  <a:txBody>
                    <a:bodyPr/>
                    <a:lstStyle/>
                    <a:p>
                      <a:pPr algn="r"/>
                      <a:r>
                        <a:rPr sz="1150" b="0">
                          <a:solidFill>
                            <a:srgbClr val="555045"/>
                          </a:solidFill>
                          <a:latin typeface="Arial"/>
                        </a:rPr>
                        <a:t>0,988</a:t>
                      </a:r>
                    </a:p>
                  </a:txBody>
                  <a:tcPr marL="82296" marR="82296" anchor="ctr">
                    <a:solidFill>
                      <a:srgbClr val="FFFFFF"/>
                    </a:solidFill>
                  </a:tcPr>
                </a:tc>
                <a:tc>
                  <a:txBody>
                    <a:bodyPr/>
                    <a:lstStyle/>
                    <a:p>
                      <a:pPr algn="r"/>
                      <a:r>
                        <a:rPr sz="1150" b="0">
                          <a:solidFill>
                            <a:srgbClr val="555045"/>
                          </a:solidFill>
                          <a:latin typeface="Arial"/>
                        </a:rPr>
                        <a:t>0,67</a:t>
                      </a:r>
                    </a:p>
                  </a:txBody>
                  <a:tcPr marL="82296" marR="82296" anchor="ctr">
                    <a:solidFill>
                      <a:srgbClr val="FFFFFF"/>
                    </a:solidFill>
                  </a:tcPr>
                </a:tc>
              </a:tr>
              <a:tr h="274320">
                <a:tc>
                  <a:txBody>
                    <a:bodyPr/>
                    <a:lstStyle/>
                    <a:p>
                      <a:pPr algn="l"/>
                      <a:r>
                        <a:rPr sz="1150" b="0">
                          <a:solidFill>
                            <a:srgbClr val="17150F"/>
                          </a:solidFill>
                          <a:latin typeface="Arial"/>
                        </a:rPr>
                        <a:t>Pastel de Pollo</a:t>
                      </a:r>
                    </a:p>
                  </a:txBody>
                  <a:tcPr marL="82296" marR="82296" anchor="ctr">
                    <a:solidFill>
                      <a:srgbClr val="FFFFFF"/>
                    </a:solidFill>
                  </a:tcPr>
                </a:tc>
                <a:tc>
                  <a:txBody>
                    <a:bodyPr/>
                    <a:lstStyle/>
                    <a:p>
                      <a:pPr algn="r"/>
                      <a:r>
                        <a:rPr sz="1150" b="0">
                          <a:solidFill>
                            <a:srgbClr val="555045"/>
                          </a:solidFill>
                          <a:latin typeface="Arial"/>
                        </a:rPr>
                        <a:t>0,985</a:t>
                      </a:r>
                    </a:p>
                  </a:txBody>
                  <a:tcPr marL="82296" marR="82296" anchor="ctr">
                    <a:solidFill>
                      <a:srgbClr val="FFFFFF"/>
                    </a:solidFill>
                  </a:tcPr>
                </a:tc>
                <a:tc>
                  <a:txBody>
                    <a:bodyPr/>
                    <a:lstStyle/>
                    <a:p>
                      <a:pPr algn="r"/>
                      <a:r>
                        <a:rPr sz="1150" b="0">
                          <a:solidFill>
                            <a:srgbClr val="555045"/>
                          </a:solidFill>
                          <a:latin typeface="Arial"/>
                        </a:rPr>
                        <a:t>0,57</a:t>
                      </a:r>
                    </a:p>
                  </a:txBody>
                  <a:tcPr marL="82296" marR="82296" anchor="ctr">
                    <a:solidFill>
                      <a:srgbClr val="FFFFFF"/>
                    </a:solidFill>
                  </a:tcPr>
                </a:tc>
              </a:tr>
              <a:tr h="274320">
                <a:tc>
                  <a:txBody>
                    <a:bodyPr/>
                    <a:lstStyle/>
                    <a:p>
                      <a:pPr algn="l"/>
                      <a:r>
                        <a:rPr sz="1150" b="0">
                          <a:solidFill>
                            <a:srgbClr val="17150F"/>
                          </a:solidFill>
                          <a:latin typeface="Arial"/>
                        </a:rPr>
                        <a:t>Jugo de Naranja</a:t>
                      </a:r>
                    </a:p>
                  </a:txBody>
                  <a:tcPr marL="82296" marR="82296" anchor="ctr">
                    <a:solidFill>
                      <a:srgbClr val="FFFFFF"/>
                    </a:solidFill>
                  </a:tcPr>
                </a:tc>
                <a:tc>
                  <a:txBody>
                    <a:bodyPr/>
                    <a:lstStyle/>
                    <a:p>
                      <a:pPr algn="r"/>
                      <a:r>
                        <a:rPr sz="1150" b="0">
                          <a:solidFill>
                            <a:srgbClr val="555045"/>
                          </a:solidFill>
                          <a:latin typeface="Arial"/>
                        </a:rPr>
                        <a:t>0,984</a:t>
                      </a:r>
                    </a:p>
                  </a:txBody>
                  <a:tcPr marL="82296" marR="82296" anchor="ctr">
                    <a:solidFill>
                      <a:srgbClr val="FFFFFF"/>
                    </a:solidFill>
                  </a:tcPr>
                </a:tc>
                <a:tc>
                  <a:txBody>
                    <a:bodyPr/>
                    <a:lstStyle/>
                    <a:p>
                      <a:pPr algn="r"/>
                      <a:r>
                        <a:rPr sz="1150" b="0">
                          <a:solidFill>
                            <a:srgbClr val="555045"/>
                          </a:solidFill>
                          <a:latin typeface="Arial"/>
                        </a:rPr>
                        <a:t>0,59</a:t>
                      </a:r>
                    </a:p>
                  </a:txBody>
                  <a:tcPr marL="82296" marR="82296" anchor="ctr">
                    <a:solidFill>
                      <a:srgbClr val="FFFFFF"/>
                    </a:solidFill>
                  </a:tcPr>
                </a:tc>
              </a:tr>
            </a:tbl>
          </a:graphicData>
        </a:graphic>
      </p:graphicFrame>
      <p:sp>
        <p:nvSpPr>
          <p:cNvPr id="8" name="TextBox 7"/>
          <p:cNvSpPr txBox="1"/>
          <p:nvPr/>
        </p:nvSpPr>
        <p:spPr>
          <a:xfrm>
            <a:off x="6949440" y="4249674"/>
            <a:ext cx="4465015" cy="1828800"/>
          </a:xfrm>
          <a:prstGeom prst="rect">
            <a:avLst/>
          </a:prstGeom>
          <a:noFill/>
        </p:spPr>
        <p:txBody>
          <a:bodyPr wrap="square" lIns="0" rIns="0" tIns="0" bIns="0">
            <a:spAutoFit/>
          </a:bodyPr>
          <a:lstStyle/>
          <a:p>
            <a:pPr algn="l">
              <a:lnSpc>
                <a:spcPct val="128000"/>
              </a:lnSpc>
              <a:spcBef>
                <a:spcPts val="0"/>
              </a:spcBef>
              <a:spcAft>
                <a:spcPts val="1000"/>
              </a:spcAft>
            </a:pPr>
            <a:r>
              <a:rPr sz="1250" b="0">
                <a:solidFill>
                  <a:srgbClr val="555045"/>
                </a:solidFill>
                <a:latin typeface="Arial"/>
              </a:rPr>
              <a:t>Sin merma los ocho caben en una amplitud de 0,011: son indistinguibles, y la pregunta del encargo se queda sin respuesta.</a:t>
            </a:r>
          </a:p>
          <a:p>
            <a:pPr algn="l">
              <a:lnSpc>
                <a:spcPct val="128000"/>
              </a:lnSpc>
              <a:spcBef>
                <a:spcPts val="0"/>
              </a:spcBef>
              <a:spcAft>
                <a:spcPts val="0"/>
              </a:spcAft>
            </a:pPr>
            <a:r>
              <a:rPr sz="1250" b="1">
                <a:solidFill>
                  <a:srgbClr val="17150F"/>
                </a:solidFill>
                <a:latin typeface="Arial"/>
              </a:rPr>
              <a:t>Con merma se abren de 0,57 a 0,68 y quedan ordenados exactamente por margen.</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Paso 9 · Costes y niveles</a:t>
            </a:r>
          </a:p>
        </p:txBody>
      </p:sp>
      <p:sp>
        <p:nvSpPr>
          <p:cNvPr id="11" name="TextBox 10"/>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PASO 9 · COSTES</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445770"/>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La pregunta a negocio no es binaria, es cuantitativa</a:t>
            </a:r>
          </a:p>
        </p:txBody>
      </p:sp>
      <p:pic>
        <p:nvPicPr>
          <p:cNvPr id="6" name="Picture 5" descr="12_sensibilidad_merma.png"/>
          <p:cNvPicPr>
            <a:picLocks noChangeAspect="1"/>
          </p:cNvPicPr>
          <p:nvPr/>
        </p:nvPicPr>
        <p:blipFill>
          <a:blip r:embed="rId2"/>
          <a:stretch>
            <a:fillRect/>
          </a:stretch>
        </p:blipFill>
        <p:spPr>
          <a:xfrm>
            <a:off x="777240" y="1506474"/>
            <a:ext cx="5852160" cy="3402419"/>
          </a:xfrm>
          <a:prstGeom prst="rect">
            <a:avLst/>
          </a:prstGeom>
        </p:spPr>
      </p:pic>
      <p:graphicFrame>
        <p:nvGraphicFramePr>
          <p:cNvPr id="7" name="Table 6"/>
          <p:cNvGraphicFramePr>
            <a:graphicFrameLocks noGrp="1"/>
          </p:cNvGraphicFramePr>
          <p:nvPr/>
        </p:nvGraphicFramePr>
        <p:xfrm>
          <a:off x="6949440" y="1597914"/>
          <a:ext cx="4465014" cy="1901952"/>
        </p:xfrm>
        <a:graphic>
          <a:graphicData uri="http://schemas.openxmlformats.org/drawingml/2006/table">
            <a:tbl>
              <a:tblPr bandRow="1">
                <a:tableStyleId>{5C22544A-7EE6-4342-B048-85BDC9FD1C3A}</a:tableStyleId>
              </a:tblPr>
              <a:tblGrid>
                <a:gridCol w="2321807"/>
                <a:gridCol w="2143207"/>
              </a:tblGrid>
              <a:tr h="347472">
                <a:tc>
                  <a:txBody>
                    <a:bodyPr/>
                    <a:lstStyle/>
                    <a:p>
                      <a:pPr algn="l"/>
                      <a:r>
                        <a:rPr sz="1050" b="1">
                          <a:solidFill>
                            <a:srgbClr val="8B8478"/>
                          </a:solidFill>
                          <a:latin typeface="Arial"/>
                        </a:rPr>
                        <a:t>Se descarta</a:t>
                      </a:r>
                    </a:p>
                  </a:txBody>
                  <a:tcPr marL="82296" marR="82296" anchor="ctr">
                    <a:solidFill>
                      <a:srgbClr val="F4F2ED"/>
                    </a:solidFill>
                  </a:tcPr>
                </a:tc>
                <a:tc>
                  <a:txBody>
                    <a:bodyPr/>
                    <a:lstStyle/>
                    <a:p>
                      <a:pPr algn="r"/>
                      <a:r>
                        <a:rPr sz="1050" b="1">
                          <a:solidFill>
                            <a:srgbClr val="8B8478"/>
                          </a:solidFill>
                          <a:latin typeface="Arial"/>
                        </a:rPr>
                        <a:t>Nivel del Tinto</a:t>
                      </a:r>
                    </a:p>
                  </a:txBody>
                  <a:tcPr marL="82296" marR="82296" anchor="ctr">
                    <a:solidFill>
                      <a:srgbClr val="F4F2ED"/>
                    </a:solidFill>
                  </a:tcPr>
                </a:tc>
              </a:tr>
              <a:tr h="310896">
                <a:tc>
                  <a:txBody>
                    <a:bodyPr/>
                    <a:lstStyle/>
                    <a:p>
                      <a:pPr algn="l"/>
                      <a:r>
                        <a:rPr sz="1200" b="0">
                          <a:solidFill>
                            <a:srgbClr val="17150F"/>
                          </a:solidFill>
                          <a:latin typeface="Arial"/>
                        </a:rPr>
                        <a:t>0 %</a:t>
                      </a:r>
                    </a:p>
                  </a:txBody>
                  <a:tcPr marL="82296" marR="82296" anchor="ctr">
                    <a:solidFill>
                      <a:srgbClr val="FFFFFF"/>
                    </a:solidFill>
                  </a:tcPr>
                </a:tc>
                <a:tc>
                  <a:txBody>
                    <a:bodyPr/>
                    <a:lstStyle/>
                    <a:p>
                      <a:pPr algn="r"/>
                      <a:r>
                        <a:rPr sz="1200" b="0">
                          <a:solidFill>
                            <a:srgbClr val="555045"/>
                          </a:solidFill>
                          <a:latin typeface="Arial"/>
                        </a:rPr>
                        <a:t>0,994</a:t>
                      </a:r>
                    </a:p>
                  </a:txBody>
                  <a:tcPr marL="82296" marR="82296" anchor="ctr">
                    <a:solidFill>
                      <a:srgbClr val="FFFFFF"/>
                    </a:solidFill>
                  </a:tcPr>
                </a:tc>
              </a:tr>
              <a:tr h="310896">
                <a:tc>
                  <a:txBody>
                    <a:bodyPr/>
                    <a:lstStyle/>
                    <a:p>
                      <a:pPr algn="l"/>
                      <a:r>
                        <a:rPr sz="1200" b="0">
                          <a:solidFill>
                            <a:srgbClr val="17150F"/>
                          </a:solidFill>
                          <a:latin typeface="Arial"/>
                        </a:rPr>
                        <a:t>20 %</a:t>
                      </a:r>
                    </a:p>
                  </a:txBody>
                  <a:tcPr marL="82296" marR="82296" anchor="ctr">
                    <a:solidFill>
                      <a:srgbClr val="FFFFFF"/>
                    </a:solidFill>
                  </a:tcPr>
                </a:tc>
                <a:tc>
                  <a:txBody>
                    <a:bodyPr/>
                    <a:lstStyle/>
                    <a:p>
                      <a:pPr algn="r"/>
                      <a:r>
                        <a:rPr sz="1200" b="0">
                          <a:solidFill>
                            <a:srgbClr val="555045"/>
                          </a:solidFill>
                          <a:latin typeface="Arial"/>
                        </a:rPr>
                        <a:t>0,909</a:t>
                      </a:r>
                    </a:p>
                  </a:txBody>
                  <a:tcPr marL="82296" marR="82296" anchor="ctr">
                    <a:solidFill>
                      <a:srgbClr val="FFFFFF"/>
                    </a:solidFill>
                  </a:tcPr>
                </a:tc>
              </a:tr>
              <a:tr h="310896">
                <a:tc>
                  <a:txBody>
                    <a:bodyPr/>
                    <a:lstStyle/>
                    <a:p>
                      <a:pPr algn="l"/>
                      <a:r>
                        <a:rPr sz="1200" b="0">
                          <a:solidFill>
                            <a:srgbClr val="17150F"/>
                          </a:solidFill>
                          <a:latin typeface="Arial"/>
                        </a:rPr>
                        <a:t>40 %</a:t>
                      </a:r>
                    </a:p>
                  </a:txBody>
                  <a:tcPr marL="82296" marR="82296" anchor="ctr">
                    <a:solidFill>
                      <a:srgbClr val="FFFFFF"/>
                    </a:solidFill>
                  </a:tcPr>
                </a:tc>
                <a:tc>
                  <a:txBody>
                    <a:bodyPr/>
                    <a:lstStyle/>
                    <a:p>
                      <a:pPr algn="r"/>
                      <a:r>
                        <a:rPr sz="1200" b="0">
                          <a:solidFill>
                            <a:srgbClr val="555045"/>
                          </a:solidFill>
                          <a:latin typeface="Arial"/>
                        </a:rPr>
                        <a:t>0,837</a:t>
                      </a:r>
                    </a:p>
                  </a:txBody>
                  <a:tcPr marL="82296" marR="82296" anchor="ctr">
                    <a:solidFill>
                      <a:srgbClr val="FFFFFF"/>
                    </a:solidFill>
                  </a:tcPr>
                </a:tc>
              </a:tr>
              <a:tr h="310896">
                <a:tc>
                  <a:txBody>
                    <a:bodyPr/>
                    <a:lstStyle/>
                    <a:p>
                      <a:pPr algn="l"/>
                      <a:r>
                        <a:rPr sz="1200" b="0">
                          <a:solidFill>
                            <a:srgbClr val="17150F"/>
                          </a:solidFill>
                          <a:latin typeface="Arial"/>
                        </a:rPr>
                        <a:t>50 %</a:t>
                      </a:r>
                    </a:p>
                  </a:txBody>
                  <a:tcPr marL="82296" marR="82296" anchor="ctr">
                    <a:solidFill>
                      <a:srgbClr val="FFFFFF"/>
                    </a:solidFill>
                  </a:tcPr>
                </a:tc>
                <a:tc>
                  <a:txBody>
                    <a:bodyPr/>
                    <a:lstStyle/>
                    <a:p>
                      <a:pPr algn="r"/>
                      <a:r>
                        <a:rPr sz="1200" b="0">
                          <a:solidFill>
                            <a:srgbClr val="555045"/>
                          </a:solidFill>
                          <a:latin typeface="Arial"/>
                        </a:rPr>
                        <a:t>0,806</a:t>
                      </a:r>
                    </a:p>
                  </a:txBody>
                  <a:tcPr marL="82296" marR="82296" anchor="ctr">
                    <a:solidFill>
                      <a:srgbClr val="FFFFFF"/>
                    </a:solidFill>
                  </a:tcPr>
                </a:tc>
              </a:tr>
              <a:tr h="310896">
                <a:tc>
                  <a:txBody>
                    <a:bodyPr/>
                    <a:lstStyle/>
                    <a:p>
                      <a:pPr algn="l"/>
                      <a:r>
                        <a:rPr sz="1200" b="0">
                          <a:solidFill>
                            <a:srgbClr val="17150F"/>
                          </a:solidFill>
                          <a:latin typeface="Arial"/>
                        </a:rPr>
                        <a:t>100 %</a:t>
                      </a:r>
                    </a:p>
                  </a:txBody>
                  <a:tcPr marL="82296" marR="82296" anchor="ctr">
                    <a:solidFill>
                      <a:srgbClr val="FFFFFF"/>
                    </a:solidFill>
                  </a:tcPr>
                </a:tc>
                <a:tc>
                  <a:txBody>
                    <a:bodyPr/>
                    <a:lstStyle/>
                    <a:p>
                      <a:pPr algn="r"/>
                      <a:r>
                        <a:rPr sz="1200" b="0">
                          <a:solidFill>
                            <a:srgbClr val="555045"/>
                          </a:solidFill>
                          <a:latin typeface="Arial"/>
                        </a:rPr>
                        <a:t>0,677</a:t>
                      </a:r>
                    </a:p>
                  </a:txBody>
                  <a:tcPr marL="82296" marR="82296" anchor="ctr">
                    <a:solidFill>
                      <a:srgbClr val="FFFFFF"/>
                    </a:solidFill>
                  </a:tcPr>
                </a:tc>
              </a:tr>
            </a:tbl>
          </a:graphicData>
        </a:graphic>
      </p:graphicFrame>
      <p:sp>
        <p:nvSpPr>
          <p:cNvPr id="8" name="TextBox 7"/>
          <p:cNvSpPr txBox="1"/>
          <p:nvPr/>
        </p:nvSpPr>
        <p:spPr>
          <a:xfrm>
            <a:off x="6949440" y="3792474"/>
            <a:ext cx="4465015" cy="2377440"/>
          </a:xfrm>
          <a:prstGeom prst="rect">
            <a:avLst/>
          </a:prstGeom>
          <a:noFill/>
        </p:spPr>
        <p:txBody>
          <a:bodyPr wrap="square" lIns="0" rIns="0" tIns="0" bIns="0">
            <a:spAutoFit/>
          </a:bodyPr>
          <a:lstStyle/>
          <a:p>
            <a:pPr algn="l">
              <a:lnSpc>
                <a:spcPct val="130000"/>
              </a:lnSpc>
              <a:spcBef>
                <a:spcPts val="0"/>
              </a:spcBef>
              <a:spcAft>
                <a:spcPts val="1200"/>
              </a:spcAft>
            </a:pPr>
            <a:r>
              <a:rPr sz="1300" b="0">
                <a:solidFill>
                  <a:srgbClr val="555045"/>
                </a:solidFill>
                <a:latin typeface="Arial"/>
              </a:rPr>
              <a:t>La caída más fuerte está al principio. Basta suponer que se pierde un 20 % del sobrante para que el nivel baje de 0,99 a 0,91.</a:t>
            </a:r>
          </a:p>
          <a:p>
            <a:pPr algn="l">
              <a:lnSpc>
                <a:spcPct val="130000"/>
              </a:lnSpc>
              <a:spcBef>
                <a:spcPts val="0"/>
              </a:spcBef>
              <a:spcAft>
                <a:spcPts val="0"/>
              </a:spcAft>
            </a:pPr>
            <a:r>
              <a:rPr sz="1300" b="1">
                <a:solidFill>
                  <a:srgbClr val="17150F"/>
                </a:solidFill>
                <a:latin typeface="Arial"/>
              </a:rPr>
              <a:t>En vez de preguntar «¿se tira el producto?», que invita a discutir principios, se pregunta «¿qué porcentaje se pierde al cierre?», que es un dato que en tienda tienen.</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Paso 9 · Costes y niveles</a:t>
            </a:r>
          </a:p>
        </p:txBody>
      </p:sp>
      <p:sp>
        <p:nvSpPr>
          <p:cNvPr id="11" name="TextBox 10"/>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PASO 9 · LA REJILLA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445770"/>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Diecisiete niveles: eso es lo que hay que entrenar</a:t>
            </a:r>
          </a:p>
        </p:txBody>
      </p:sp>
      <p:sp>
        <p:nvSpPr>
          <p:cNvPr id="6" name="TextBox 5"/>
          <p:cNvSpPr txBox="1"/>
          <p:nvPr/>
        </p:nvSpPr>
        <p:spPr>
          <a:xfrm>
            <a:off x="777240" y="1506474"/>
            <a:ext cx="9966960" cy="283337"/>
          </a:xfrm>
          <a:prstGeom prst="rect">
            <a:avLst/>
          </a:prstGeom>
          <a:noFill/>
        </p:spPr>
        <p:txBody>
          <a:bodyPr wrap="square" lIns="0" rIns="0" tIns="0" bIns="0">
            <a:spAutoFit/>
          </a:bodyPr>
          <a:lstStyle/>
          <a:p>
            <a:pPr algn="l">
              <a:lnSpc>
                <a:spcPct val="130000"/>
              </a:lnSpc>
              <a:spcBef>
                <a:spcPts val="0"/>
              </a:spcBef>
              <a:spcAft>
                <a:spcPts val="0"/>
              </a:spcAft>
            </a:pPr>
            <a:r>
              <a:rPr sz="1450" b="0">
                <a:solidFill>
                  <a:srgbClr val="555045"/>
                </a:solidFill>
                <a:latin typeface="Arial"/>
              </a:rPr>
              <a:t>Hasta tener esta lista no se sabía cuántos modelos de cuantil hacen falta.</a:t>
            </a:r>
          </a:p>
        </p:txBody>
      </p:sp>
      <p:sp>
        <p:nvSpPr>
          <p:cNvPr id="7" name="Rectangle 6"/>
          <p:cNvSpPr/>
          <p:nvPr/>
        </p:nvSpPr>
        <p:spPr>
          <a:xfrm>
            <a:off x="777240" y="1990979"/>
            <a:ext cx="10637215" cy="100584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210435"/>
            <a:ext cx="9997135" cy="640080"/>
          </a:xfrm>
          <a:prstGeom prst="rect">
            <a:avLst/>
          </a:prstGeom>
          <a:noFill/>
        </p:spPr>
        <p:txBody>
          <a:bodyPr wrap="square" lIns="0" rIns="0" tIns="0" bIns="0">
            <a:spAutoFit/>
          </a:bodyPr>
          <a:lstStyle/>
          <a:p>
            <a:pPr algn="l">
              <a:lnSpc>
                <a:spcPct val="120000"/>
              </a:lnSpc>
              <a:spcBef>
                <a:spcPts val="0"/>
              </a:spcBef>
              <a:spcAft>
                <a:spcPts val="0"/>
              </a:spcAft>
            </a:pPr>
            <a:r>
              <a:rPr sz="1600" b="1">
                <a:solidFill>
                  <a:srgbClr val="17150F"/>
                </a:solidFill>
                <a:latin typeface="Arial"/>
              </a:rPr>
              <a:t>0,50   0,57   0,59   0,64   0,65   0,66   0,67   0,68   0,72   0,74   0,78   0,79   0,80   0,81   0,90   0,98   0,99</a:t>
            </a:r>
          </a:p>
        </p:txBody>
      </p:sp>
      <p:sp>
        <p:nvSpPr>
          <p:cNvPr id="9" name="Rectangle 8"/>
          <p:cNvSpPr/>
          <p:nvPr/>
        </p:nvSpPr>
        <p:spPr>
          <a:xfrm>
            <a:off x="777240" y="341744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3316859"/>
            <a:ext cx="10436047" cy="530098"/>
          </a:xfrm>
          <a:prstGeom prst="rect">
            <a:avLst/>
          </a:prstGeom>
          <a:noFill/>
        </p:spPr>
        <p:txBody>
          <a:bodyPr wrap="square" lIns="0" rIns="0" tIns="0" bIns="0">
            <a:spAutoFit/>
          </a:bodyPr>
          <a:lstStyle/>
          <a:p>
            <a:pPr>
              <a:lnSpc>
                <a:spcPct val="124000"/>
              </a:lnSpc>
              <a:spcAft>
                <a:spcPts val="0"/>
              </a:spcAft>
            </a:pPr>
            <a:r>
              <a:rPr sz="1450" b="0">
                <a:solidFill>
                  <a:srgbClr val="555045"/>
                </a:solidFill>
                <a:latin typeface="Arial"/>
              </a:rPr>
              <a:t>Reúne los niveles que piden los </a:t>
            </a:r>
            <a:r>
              <a:rPr sz="1450" b="1">
                <a:solidFill>
                  <a:srgbClr val="17150F"/>
                </a:solidFill>
                <a:latin typeface="Arial"/>
              </a:rPr>
              <a:t>tres escenarios de coste</a:t>
            </a:r>
            <a:r>
              <a:rPr sz="1450" b="0">
                <a:solidFill>
                  <a:srgbClr val="555045"/>
                </a:solidFill>
                <a:latin typeface="Arial"/>
              </a:rPr>
              <a:t>, más el 0,50 para el pronóstico central que quiere negocio y el 0,90 para auditar la incertidumbre.</a:t>
            </a:r>
          </a:p>
        </p:txBody>
      </p:sp>
      <p:sp>
        <p:nvSpPr>
          <p:cNvPr id="11" name="Rectangle 10"/>
          <p:cNvSpPr/>
          <p:nvPr/>
        </p:nvSpPr>
        <p:spPr>
          <a:xfrm>
            <a:off x="777240" y="4075557"/>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3974973"/>
            <a:ext cx="10436047" cy="530098"/>
          </a:xfrm>
          <a:prstGeom prst="rect">
            <a:avLst/>
          </a:prstGeom>
          <a:noFill/>
        </p:spPr>
        <p:txBody>
          <a:bodyPr wrap="square" lIns="0" rIns="0" tIns="0" bIns="0">
            <a:spAutoFit/>
          </a:bodyPr>
          <a:lstStyle/>
          <a:p>
            <a:pPr>
              <a:lnSpc>
                <a:spcPct val="124000"/>
              </a:lnSpc>
              <a:spcAft>
                <a:spcPts val="0"/>
              </a:spcAft>
            </a:pPr>
            <a:r>
              <a:rPr sz="1450" b="0">
                <a:solidFill>
                  <a:srgbClr val="555045"/>
                </a:solidFill>
                <a:latin typeface="Arial"/>
              </a:rPr>
              <a:t>Se acotan en </a:t>
            </a:r>
            <a:r>
              <a:rPr sz="1450" b="1">
                <a:solidFill>
                  <a:srgbClr val="17150F"/>
                </a:solidFill>
                <a:latin typeface="Arial"/>
              </a:rPr>
              <a:t>0,99 por arriba</a:t>
            </a:r>
            <a:r>
              <a:rPr sz="1450" b="0">
                <a:solidFill>
                  <a:srgbClr val="555045"/>
                </a:solidFill>
                <a:latin typeface="Arial"/>
              </a:rPr>
              <a:t>: el redondeo llevaba el Cappuccino a 1,00, y el cuantil 1 no es estimable a partir de una muestra finita.</a:t>
            </a:r>
          </a:p>
        </p:txBody>
      </p:sp>
      <p:sp>
        <p:nvSpPr>
          <p:cNvPr id="13" name="Rectangle 12"/>
          <p:cNvSpPr/>
          <p:nvPr/>
        </p:nvSpPr>
        <p:spPr>
          <a:xfrm>
            <a:off x="777240" y="4733671"/>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33087"/>
            <a:ext cx="10436047" cy="530098"/>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Un estimador de cuantiles solo devuelve el cuantil para el que fue entrenado.</a:t>
            </a:r>
            <a:r>
              <a:rPr sz="1450" b="0">
                <a:solidFill>
                  <a:srgbClr val="555045"/>
                </a:solidFill>
                <a:latin typeface="Arial"/>
              </a:rPr>
              <a:t> Por eso son diecisiete modelos y no uno.</a:t>
            </a:r>
          </a:p>
        </p:txBody>
      </p:sp>
      <p:sp>
        <p:nvSpPr>
          <p:cNvPr id="15" name="Rectangle 14"/>
          <p:cNvSpPr/>
          <p:nvPr/>
        </p:nvSpPr>
        <p:spPr>
          <a:xfrm>
            <a:off x="777240" y="5391785"/>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8408" y="5291201"/>
            <a:ext cx="10436047" cy="283337"/>
          </a:xfrm>
          <a:prstGeom prst="rect">
            <a:avLst/>
          </a:prstGeom>
          <a:noFill/>
        </p:spPr>
        <p:txBody>
          <a:bodyPr wrap="square" lIns="0" rIns="0" tIns="0" bIns="0">
            <a:spAutoFit/>
          </a:bodyPr>
          <a:lstStyle/>
          <a:p>
            <a:pPr>
              <a:lnSpc>
                <a:spcPct val="124000"/>
              </a:lnSpc>
              <a:spcAft>
                <a:spcPts val="0"/>
              </a:spcAft>
            </a:pPr>
            <a:r>
              <a:rPr sz="1450" b="0">
                <a:solidFill>
                  <a:srgbClr val="555045"/>
                </a:solidFill>
                <a:latin typeface="Arial"/>
              </a:rPr>
              <a:t>Con 960 filas de entrenamiento, </a:t>
            </a:r>
            <a:r>
              <a:rPr sz="1450" b="1">
                <a:solidFill>
                  <a:srgbClr val="17150F"/>
                </a:solidFill>
                <a:latin typeface="Arial"/>
              </a:rPr>
              <a:t>cada uno cuesta segundos</a:t>
            </a:r>
            <a:r>
              <a:rPr sz="1450" b="0">
                <a:solidFill>
                  <a:srgbClr val="555045"/>
                </a:solidFill>
                <a:latin typeface="Arial"/>
              </a:rPr>
              <a:t>.</a:t>
            </a:r>
          </a:p>
        </p:txBody>
      </p:sp>
      <p:sp>
        <p:nvSpPr>
          <p:cNvPr id="17" name="Rectangle 16"/>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Paso 9 · La rejilla de niveles</a:t>
            </a:r>
          </a:p>
        </p:txBody>
      </p:sp>
      <p:sp>
        <p:nvSpPr>
          <p:cNvPr id="19" name="TextBox 18"/>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651760"/>
            <a:ext cx="9144000" cy="914400"/>
          </a:xfrm>
          <a:prstGeom prst="rect">
            <a:avLst/>
          </a:prstGeom>
          <a:noFill/>
        </p:spPr>
        <p:txBody>
          <a:bodyPr wrap="square" lIns="0" rIns="0" tIns="0" bIns="0">
            <a:spAutoFit/>
          </a:bodyPr>
          <a:lstStyle/>
          <a:p>
            <a:pPr algn="l">
              <a:lnSpc>
                <a:spcPct val="105000"/>
              </a:lnSpc>
              <a:spcBef>
                <a:spcPts val="0"/>
              </a:spcBef>
              <a:spcAft>
                <a:spcPts val="1000"/>
              </a:spcAft>
            </a:pPr>
            <a:r>
              <a:rPr sz="3400" b="1">
                <a:solidFill>
                  <a:srgbClr val="17150F"/>
                </a:solidFill>
                <a:latin typeface="Arial"/>
              </a:rPr>
              <a:t>El modelo</a:t>
            </a:r>
          </a:p>
          <a:p>
            <a:pPr algn="l">
              <a:lnSpc>
                <a:spcPct val="130000"/>
              </a:lnSpc>
              <a:spcBef>
                <a:spcPts val="0"/>
              </a:spcBef>
              <a:spcAft>
                <a:spcPts val="600"/>
              </a:spcAft>
            </a:pPr>
            <a:r>
              <a:rPr sz="1550" b="0">
                <a:solidFill>
                  <a:srgbClr val="555045"/>
                </a:solidFill>
                <a:latin typeface="Arial"/>
              </a:rPr>
              <a:t>Pasos 10 a 13 · Selección, entrenamiento, diagnóstico y calibración</a:t>
            </a:r>
          </a:p>
        </p:txBody>
      </p:sp>
      <p:sp>
        <p:nvSpPr>
          <p:cNvPr id="5" name="TextBox 4"/>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PASO 10 · SELECCIÓN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445770"/>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Cuatro decisiones tomadas antes de mirar ningún resultado</a:t>
            </a:r>
          </a:p>
        </p:txBody>
      </p:sp>
      <p:sp>
        <p:nvSpPr>
          <p:cNvPr id="6" name="TextBox 5"/>
          <p:cNvSpPr txBox="1"/>
          <p:nvPr/>
        </p:nvSpPr>
        <p:spPr>
          <a:xfrm>
            <a:off x="777240" y="1506474"/>
            <a:ext cx="9966960" cy="283337"/>
          </a:xfrm>
          <a:prstGeom prst="rect">
            <a:avLst/>
          </a:prstGeom>
          <a:noFill/>
        </p:spPr>
        <p:txBody>
          <a:bodyPr wrap="square" lIns="0" rIns="0" tIns="0" bIns="0">
            <a:spAutoFit/>
          </a:bodyPr>
          <a:lstStyle/>
          <a:p>
            <a:pPr algn="l">
              <a:lnSpc>
                <a:spcPct val="130000"/>
              </a:lnSpc>
              <a:spcBef>
                <a:spcPts val="0"/>
              </a:spcBef>
              <a:spcAft>
                <a:spcPts val="0"/>
              </a:spcAft>
            </a:pPr>
            <a:r>
              <a:rPr sz="1450" b="0">
                <a:solidFill>
                  <a:srgbClr val="555045"/>
                </a:solidFill>
                <a:latin typeface="Arial"/>
              </a:rPr>
              <a:t>Trece configuraciones: siete familias en parametrización absoluta y seis de ellas también en relativa.</a:t>
            </a:r>
          </a:p>
        </p:txBody>
      </p:sp>
      <p:sp>
        <p:nvSpPr>
          <p:cNvPr id="7" name="Rectangle 6"/>
          <p:cNvSpPr/>
          <p:nvPr/>
        </p:nvSpPr>
        <p:spPr>
          <a:xfrm>
            <a:off x="777240" y="209156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78408" y="1990979"/>
            <a:ext cx="10436047" cy="776859"/>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Los modelos puntuales compiten en la misma métrica.</a:t>
            </a:r>
            <a:r>
              <a:rPr sz="1450" b="0">
                <a:solidFill>
                  <a:srgbClr val="555045"/>
                </a:solidFill>
                <a:latin typeface="Arial"/>
              </a:rPr>
              <a:t> A Ridge, al boosting y a la media móvil se les suma el cuantil empírico de sus propios residuales. Sin eso, cualquier modelo probabilístico habría ganado por defecto y no por mérito.</a:t>
            </a:r>
          </a:p>
        </p:txBody>
      </p:sp>
      <p:sp>
        <p:nvSpPr>
          <p:cNvPr id="9" name="Rectangle 8"/>
          <p:cNvSpPr/>
          <p:nvPr/>
        </p:nvSpPr>
        <p:spPr>
          <a:xfrm>
            <a:off x="777240" y="299643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2895854"/>
            <a:ext cx="10436047" cy="530098"/>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Todas las métricas se calculan en unidades</a:t>
            </a:r>
            <a:r>
              <a:rPr sz="1450" b="0">
                <a:solidFill>
                  <a:srgbClr val="555045"/>
                </a:solidFill>
                <a:latin typeface="Arial"/>
              </a:rPr>
              <a:t>, incluidas las relativas, que se convierten de vuelta antes de medir. El coste del negocio está en pesos y escala con las unidades.</a:t>
            </a:r>
          </a:p>
        </p:txBody>
      </p:sp>
      <p:sp>
        <p:nvSpPr>
          <p:cNvPr id="11" name="Rectangle 10"/>
          <p:cNvSpPr/>
          <p:nvPr/>
        </p:nvSpPr>
        <p:spPr>
          <a:xfrm>
            <a:off x="777240" y="365455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3553968"/>
            <a:ext cx="10436047" cy="283337"/>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Se compara en el nivel que se va a operar</a:t>
            </a:r>
            <a:r>
              <a:rPr sz="1450" b="0">
                <a:solidFill>
                  <a:srgbClr val="555045"/>
                </a:solidFill>
                <a:latin typeface="Arial"/>
              </a:rPr>
              <a:t>, el 0,65, no en la mediana.</a:t>
            </a:r>
          </a:p>
        </p:txBody>
      </p:sp>
      <p:sp>
        <p:nvSpPr>
          <p:cNvPr id="13" name="Rectangle 12"/>
          <p:cNvSpPr/>
          <p:nvPr/>
        </p:nvSpPr>
        <p:spPr>
          <a:xfrm>
            <a:off x="777240" y="4065905"/>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3965321"/>
            <a:ext cx="10436047" cy="530098"/>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Todas se ajustan con la misma búsqueda</a:t>
            </a:r>
            <a:r>
              <a:rPr sz="1450" b="0">
                <a:solidFill>
                  <a:srgbClr val="555045"/>
                </a:solidFill>
                <a:latin typeface="Arial"/>
              </a:rPr>
              <a:t>: optimización bayesiana, 30 ensayos, minimizando la pérdida pinball sobre los pliegues de validación.</a:t>
            </a:r>
          </a:p>
        </p:txBody>
      </p:sp>
      <p:sp>
        <p:nvSpPr>
          <p:cNvPr id="15" name="TextBox 14"/>
          <p:cNvSpPr txBox="1"/>
          <p:nvPr/>
        </p:nvSpPr>
        <p:spPr>
          <a:xfrm>
            <a:off x="777240" y="4806315"/>
            <a:ext cx="10637215" cy="445008"/>
          </a:xfrm>
          <a:prstGeom prst="rect">
            <a:avLst/>
          </a:prstGeom>
          <a:noFill/>
        </p:spPr>
        <p:txBody>
          <a:bodyPr wrap="square" lIns="0" rIns="0" tIns="0" bIns="0">
            <a:spAutoFit/>
          </a:bodyPr>
          <a:lstStyle/>
          <a:p>
            <a:pPr>
              <a:lnSpc>
                <a:spcPct val="126000"/>
              </a:lnSpc>
              <a:spcAft>
                <a:spcPts val="0"/>
              </a:spcAft>
            </a:pPr>
            <a:r>
              <a:rPr sz="1200" b="1">
                <a:solidFill>
                  <a:srgbClr val="17150F"/>
                </a:solidFill>
                <a:latin typeface="Arial"/>
              </a:rPr>
              <a:t>La métrica principal es la pérdida pinball</a:t>
            </a:r>
            <a:r>
              <a:rPr sz="1200" b="0">
                <a:solidFill>
                  <a:srgbClr val="8B8478"/>
                </a:solidFill>
                <a:latin typeface="Arial"/>
              </a:rPr>
              <a:t>, que penaliza de forma asimétrica igual que lo hace el negocio: quedarse corto en un cuantil alto cuesta más que pasarse.</a:t>
            </a:r>
          </a:p>
        </p:txBody>
      </p:sp>
      <p:sp>
        <p:nvSpPr>
          <p:cNvPr id="16" name="Rectangle 15"/>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Paso 10 · Selección de familia</a:t>
            </a:r>
          </a:p>
        </p:txBody>
      </p:sp>
      <p:sp>
        <p:nvSpPr>
          <p:cNvPr id="18" name="TextBox 17"/>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PASO 10 · SELECCIÓN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836676"/>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Las seis configuraciones relativas ocupan los seis primeros puestos</a:t>
            </a:r>
          </a:p>
        </p:txBody>
      </p:sp>
      <p:pic>
        <p:nvPicPr>
          <p:cNvPr id="6" name="Picture 5" descr="13_comparacion_familias.png"/>
          <p:cNvPicPr>
            <a:picLocks noChangeAspect="1"/>
          </p:cNvPicPr>
          <p:nvPr/>
        </p:nvPicPr>
        <p:blipFill>
          <a:blip r:embed="rId2"/>
          <a:stretch>
            <a:fillRect/>
          </a:stretch>
        </p:blipFill>
        <p:spPr>
          <a:xfrm>
            <a:off x="777240" y="1897380"/>
            <a:ext cx="5760720" cy="2947345"/>
          </a:xfrm>
          <a:prstGeom prst="rect">
            <a:avLst/>
          </a:prstGeom>
        </p:spPr>
      </p:pic>
      <p:graphicFrame>
        <p:nvGraphicFramePr>
          <p:cNvPr id="7" name="Table 6"/>
          <p:cNvGraphicFramePr>
            <a:graphicFrameLocks noGrp="1"/>
          </p:cNvGraphicFramePr>
          <p:nvPr/>
        </p:nvGraphicFramePr>
        <p:xfrm>
          <a:off x="6858000" y="1943100"/>
          <a:ext cx="4556454" cy="2651760"/>
        </p:xfrm>
        <a:graphic>
          <a:graphicData uri="http://schemas.openxmlformats.org/drawingml/2006/table">
            <a:tbl>
              <a:tblPr bandRow="1">
                <a:tableStyleId>{5C22544A-7EE6-4342-B048-85BDC9FD1C3A}</a:tableStyleId>
              </a:tblPr>
              <a:tblGrid>
                <a:gridCol w="3098389"/>
                <a:gridCol w="1458065"/>
              </a:tblGrid>
              <a:tr h="347472">
                <a:tc>
                  <a:txBody>
                    <a:bodyPr/>
                    <a:lstStyle/>
                    <a:p>
                      <a:pPr algn="l"/>
                      <a:r>
                        <a:rPr sz="950" b="1">
                          <a:solidFill>
                            <a:srgbClr val="8B8478"/>
                          </a:solidFill>
                          <a:latin typeface="Arial"/>
                        </a:rPr>
                        <a:t>Configuración</a:t>
                      </a:r>
                    </a:p>
                  </a:txBody>
                  <a:tcPr marL="82296" marR="82296" anchor="ctr">
                    <a:solidFill>
                      <a:srgbClr val="F4F2ED"/>
                    </a:solidFill>
                  </a:tcPr>
                </a:tc>
                <a:tc>
                  <a:txBody>
                    <a:bodyPr/>
                    <a:lstStyle/>
                    <a:p>
                      <a:pPr algn="r"/>
                      <a:r>
                        <a:rPr sz="950" b="1">
                          <a:solidFill>
                            <a:srgbClr val="8B8478"/>
                          </a:solidFill>
                          <a:latin typeface="Arial"/>
                        </a:rPr>
                        <a:t>Pinball</a:t>
                      </a:r>
                    </a:p>
                  </a:txBody>
                  <a:tcPr marL="82296" marR="82296" anchor="ctr">
                    <a:solidFill>
                      <a:srgbClr val="F4F2ED"/>
                    </a:solidFill>
                  </a:tcPr>
                </a:tc>
              </a:tr>
              <a:tr h="256032">
                <a:tc>
                  <a:txBody>
                    <a:bodyPr/>
                    <a:lstStyle/>
                    <a:p>
                      <a:pPr algn="l"/>
                      <a:r>
                        <a:rPr sz="1100" b="0">
                          <a:solidFill>
                            <a:srgbClr val="17150F"/>
                          </a:solidFill>
                          <a:latin typeface="Arial"/>
                        </a:rPr>
                        <a:t>Bosque cuantílico (rel.)</a:t>
                      </a:r>
                    </a:p>
                  </a:txBody>
                  <a:tcPr marL="82296" marR="82296" anchor="ctr">
                    <a:solidFill>
                      <a:srgbClr val="FFFFFF"/>
                    </a:solidFill>
                  </a:tcPr>
                </a:tc>
                <a:tc>
                  <a:txBody>
                    <a:bodyPr/>
                    <a:lstStyle/>
                    <a:p>
                      <a:pPr algn="r"/>
                      <a:r>
                        <a:rPr sz="1100" b="0">
                          <a:solidFill>
                            <a:srgbClr val="555045"/>
                          </a:solidFill>
                          <a:latin typeface="Arial"/>
                        </a:rPr>
                        <a:t>4,311</a:t>
                      </a:r>
                    </a:p>
                  </a:txBody>
                  <a:tcPr marL="82296" marR="82296" anchor="ctr">
                    <a:solidFill>
                      <a:srgbClr val="FFFFFF"/>
                    </a:solidFill>
                  </a:tcPr>
                </a:tc>
              </a:tr>
              <a:tr h="256032">
                <a:tc>
                  <a:txBody>
                    <a:bodyPr/>
                    <a:lstStyle/>
                    <a:p>
                      <a:pPr algn="l"/>
                      <a:r>
                        <a:rPr sz="1100" b="0">
                          <a:solidFill>
                            <a:srgbClr val="17150F"/>
                          </a:solidFill>
                          <a:latin typeface="Arial"/>
                        </a:rPr>
                        <a:t>GBR + residuales (rel.)</a:t>
                      </a:r>
                    </a:p>
                  </a:txBody>
                  <a:tcPr marL="82296" marR="82296" anchor="ctr">
                    <a:solidFill>
                      <a:srgbClr val="FFFFFF"/>
                    </a:solidFill>
                  </a:tcPr>
                </a:tc>
                <a:tc>
                  <a:txBody>
                    <a:bodyPr/>
                    <a:lstStyle/>
                    <a:p>
                      <a:pPr algn="r"/>
                      <a:r>
                        <a:rPr sz="1100" b="0">
                          <a:solidFill>
                            <a:srgbClr val="555045"/>
                          </a:solidFill>
                          <a:latin typeface="Arial"/>
                        </a:rPr>
                        <a:t>4,320</a:t>
                      </a:r>
                    </a:p>
                  </a:txBody>
                  <a:tcPr marL="82296" marR="82296" anchor="ctr">
                    <a:solidFill>
                      <a:srgbClr val="FFFFFF"/>
                    </a:solidFill>
                  </a:tcPr>
                </a:tc>
              </a:tr>
              <a:tr h="256032">
                <a:tc>
                  <a:txBody>
                    <a:bodyPr/>
                    <a:lstStyle/>
                    <a:p>
                      <a:pPr algn="l"/>
                      <a:r>
                        <a:rPr sz="1100" b="0">
                          <a:solidFill>
                            <a:srgbClr val="17150F"/>
                          </a:solidFill>
                          <a:latin typeface="Arial"/>
                        </a:rPr>
                        <a:t>Boosting cuantílico (rel.)</a:t>
                      </a:r>
                    </a:p>
                  </a:txBody>
                  <a:tcPr marL="82296" marR="82296" anchor="ctr">
                    <a:solidFill>
                      <a:srgbClr val="FFFFFF"/>
                    </a:solidFill>
                  </a:tcPr>
                </a:tc>
                <a:tc>
                  <a:txBody>
                    <a:bodyPr/>
                    <a:lstStyle/>
                    <a:p>
                      <a:pPr algn="r"/>
                      <a:r>
                        <a:rPr sz="1100" b="0">
                          <a:solidFill>
                            <a:srgbClr val="555045"/>
                          </a:solidFill>
                          <a:latin typeface="Arial"/>
                        </a:rPr>
                        <a:t>4,331</a:t>
                      </a:r>
                    </a:p>
                  </a:txBody>
                  <a:tcPr marL="82296" marR="82296" anchor="ctr">
                    <a:solidFill>
                      <a:srgbClr val="FFFFFF"/>
                    </a:solidFill>
                  </a:tcPr>
                </a:tc>
              </a:tr>
              <a:tr h="256032">
                <a:tc>
                  <a:txBody>
                    <a:bodyPr/>
                    <a:lstStyle/>
                    <a:p>
                      <a:pPr algn="l"/>
                      <a:r>
                        <a:rPr sz="1100" b="0">
                          <a:solidFill>
                            <a:srgbClr val="17150F"/>
                          </a:solidFill>
                          <a:latin typeface="Arial"/>
                        </a:rPr>
                        <a:t>Ridge + residuales (rel.)</a:t>
                      </a:r>
                    </a:p>
                  </a:txBody>
                  <a:tcPr marL="82296" marR="82296" anchor="ctr">
                    <a:solidFill>
                      <a:srgbClr val="FFFFFF"/>
                    </a:solidFill>
                  </a:tcPr>
                </a:tc>
                <a:tc>
                  <a:txBody>
                    <a:bodyPr/>
                    <a:lstStyle/>
                    <a:p>
                      <a:pPr algn="r"/>
                      <a:r>
                        <a:rPr sz="1100" b="0">
                          <a:solidFill>
                            <a:srgbClr val="555045"/>
                          </a:solidFill>
                          <a:latin typeface="Arial"/>
                        </a:rPr>
                        <a:t>4,338</a:t>
                      </a:r>
                    </a:p>
                  </a:txBody>
                  <a:tcPr marL="82296" marR="82296" anchor="ctr">
                    <a:solidFill>
                      <a:srgbClr val="FFFFFF"/>
                    </a:solidFill>
                  </a:tcPr>
                </a:tc>
              </a:tr>
              <a:tr h="256032">
                <a:tc>
                  <a:txBody>
                    <a:bodyPr/>
                    <a:lstStyle/>
                    <a:p>
                      <a:pPr algn="l"/>
                      <a:r>
                        <a:rPr sz="1100" b="1">
                          <a:solidFill>
                            <a:srgbClr val="17150F"/>
                          </a:solidFill>
                          <a:latin typeface="Arial"/>
                        </a:rPr>
                        <a:t>Regresión cuantílica (rel.)</a:t>
                      </a:r>
                    </a:p>
                  </a:txBody>
                  <a:tcPr marL="82296" marR="82296" anchor="ctr">
                    <a:solidFill>
                      <a:srgbClr val="F7EEEF"/>
                    </a:solidFill>
                  </a:tcPr>
                </a:tc>
                <a:tc>
                  <a:txBody>
                    <a:bodyPr/>
                    <a:lstStyle/>
                    <a:p>
                      <a:pPr algn="r"/>
                      <a:r>
                        <a:rPr sz="1100" b="1">
                          <a:solidFill>
                            <a:srgbClr val="17150F"/>
                          </a:solidFill>
                          <a:latin typeface="Arial"/>
                        </a:rPr>
                        <a:t>4,343</a:t>
                      </a:r>
                    </a:p>
                  </a:txBody>
                  <a:tcPr marL="82296" marR="82296" anchor="ctr">
                    <a:solidFill>
                      <a:srgbClr val="F7EEEF"/>
                    </a:solidFill>
                  </a:tcPr>
                </a:tc>
              </a:tr>
              <a:tr h="256032">
                <a:tc>
                  <a:txBody>
                    <a:bodyPr/>
                    <a:lstStyle/>
                    <a:p>
                      <a:pPr algn="l"/>
                      <a:r>
                        <a:rPr sz="1100" b="0">
                          <a:solidFill>
                            <a:srgbClr val="17150F"/>
                          </a:solidFill>
                          <a:latin typeface="Arial"/>
                        </a:rPr>
                        <a:t>Ensemble + residuales (rel.)</a:t>
                      </a:r>
                    </a:p>
                  </a:txBody>
                  <a:tcPr marL="82296" marR="82296" anchor="ctr">
                    <a:solidFill>
                      <a:srgbClr val="FFFFFF"/>
                    </a:solidFill>
                  </a:tcPr>
                </a:tc>
                <a:tc>
                  <a:txBody>
                    <a:bodyPr/>
                    <a:lstStyle/>
                    <a:p>
                      <a:pPr algn="r"/>
                      <a:r>
                        <a:rPr sz="1100" b="0">
                          <a:solidFill>
                            <a:srgbClr val="555045"/>
                          </a:solidFill>
                          <a:latin typeface="Arial"/>
                        </a:rPr>
                        <a:t>4,386</a:t>
                      </a:r>
                    </a:p>
                  </a:txBody>
                  <a:tcPr marL="82296" marR="82296" anchor="ctr">
                    <a:solidFill>
                      <a:srgbClr val="FFFFFF"/>
                    </a:solidFill>
                  </a:tcPr>
                </a:tc>
              </a:tr>
              <a:tr h="256032">
                <a:tc>
                  <a:txBody>
                    <a:bodyPr/>
                    <a:lstStyle/>
                    <a:p>
                      <a:pPr algn="l"/>
                      <a:r>
                        <a:rPr sz="1100" b="0">
                          <a:solidFill>
                            <a:srgbClr val="17150F"/>
                          </a:solidFill>
                          <a:latin typeface="Arial"/>
                        </a:rPr>
                        <a:t>Regresión cuantílica</a:t>
                      </a:r>
                    </a:p>
                  </a:txBody>
                  <a:tcPr marL="82296" marR="82296" anchor="ctr">
                    <a:solidFill>
                      <a:srgbClr val="FFFFFF"/>
                    </a:solidFill>
                  </a:tcPr>
                </a:tc>
                <a:tc>
                  <a:txBody>
                    <a:bodyPr/>
                    <a:lstStyle/>
                    <a:p>
                      <a:pPr algn="r"/>
                      <a:r>
                        <a:rPr sz="1100" b="0">
                          <a:solidFill>
                            <a:srgbClr val="555045"/>
                          </a:solidFill>
                          <a:latin typeface="Arial"/>
                        </a:rPr>
                        <a:t>4,466</a:t>
                      </a:r>
                    </a:p>
                  </a:txBody>
                  <a:tcPr marL="82296" marR="82296" anchor="ctr">
                    <a:solidFill>
                      <a:srgbClr val="FFFFFF"/>
                    </a:solidFill>
                  </a:tcPr>
                </a:tc>
              </a:tr>
              <a:tr h="256032">
                <a:tc>
                  <a:txBody>
                    <a:bodyPr/>
                    <a:lstStyle/>
                    <a:p>
                      <a:pPr algn="l"/>
                      <a:r>
                        <a:rPr sz="1100" b="0">
                          <a:solidFill>
                            <a:srgbClr val="17150F"/>
                          </a:solidFill>
                          <a:latin typeface="Arial"/>
                        </a:rPr>
                        <a:t>Ridge + residuales</a:t>
                      </a:r>
                    </a:p>
                  </a:txBody>
                  <a:tcPr marL="82296" marR="82296" anchor="ctr">
                    <a:solidFill>
                      <a:srgbClr val="FFFFFF"/>
                    </a:solidFill>
                  </a:tcPr>
                </a:tc>
                <a:tc>
                  <a:txBody>
                    <a:bodyPr/>
                    <a:lstStyle/>
                    <a:p>
                      <a:pPr algn="r"/>
                      <a:r>
                        <a:rPr sz="1100" b="0">
                          <a:solidFill>
                            <a:srgbClr val="555045"/>
                          </a:solidFill>
                          <a:latin typeface="Arial"/>
                        </a:rPr>
                        <a:t>4,497</a:t>
                      </a:r>
                    </a:p>
                  </a:txBody>
                  <a:tcPr marL="82296" marR="82296" anchor="ctr">
                    <a:solidFill>
                      <a:srgbClr val="FFFFFF"/>
                    </a:solidFill>
                  </a:tcPr>
                </a:tc>
              </a:tr>
              <a:tr h="256032">
                <a:tc>
                  <a:txBody>
                    <a:bodyPr/>
                    <a:lstStyle/>
                    <a:p>
                      <a:pPr algn="l"/>
                      <a:r>
                        <a:rPr sz="1100" b="0">
                          <a:solidFill>
                            <a:srgbClr val="17150F"/>
                          </a:solidFill>
                          <a:latin typeface="Arial"/>
                        </a:rPr>
                        <a:t>Media móvil + residuales</a:t>
                      </a:r>
                    </a:p>
                  </a:txBody>
                  <a:tcPr marL="82296" marR="82296" anchor="ctr">
                    <a:solidFill>
                      <a:srgbClr val="FFFFFF"/>
                    </a:solidFill>
                  </a:tcPr>
                </a:tc>
                <a:tc>
                  <a:txBody>
                    <a:bodyPr/>
                    <a:lstStyle/>
                    <a:p>
                      <a:pPr algn="r"/>
                      <a:r>
                        <a:rPr sz="1100" b="0">
                          <a:solidFill>
                            <a:srgbClr val="555045"/>
                          </a:solidFill>
                          <a:latin typeface="Arial"/>
                        </a:rPr>
                        <a:t>4,541</a:t>
                      </a:r>
                    </a:p>
                  </a:txBody>
                  <a:tcPr marL="82296" marR="82296" anchor="ctr">
                    <a:solidFill>
                      <a:srgbClr val="FFFFFF"/>
                    </a:solidFill>
                  </a:tcPr>
                </a:tc>
              </a:tr>
            </a:tbl>
          </a:graphicData>
        </a:graphic>
      </p:graphicFrame>
      <p:sp>
        <p:nvSpPr>
          <p:cNvPr id="8" name="TextBox 7"/>
          <p:cNvSpPr txBox="1"/>
          <p:nvPr/>
        </p:nvSpPr>
        <p:spPr>
          <a:xfrm>
            <a:off x="6858000" y="4686300"/>
            <a:ext cx="4556455" cy="1828800"/>
          </a:xfrm>
          <a:prstGeom prst="rect">
            <a:avLst/>
          </a:prstGeom>
          <a:noFill/>
        </p:spPr>
        <p:txBody>
          <a:bodyPr wrap="square" lIns="0" rIns="0" tIns="0" bIns="0">
            <a:spAutoFit/>
          </a:bodyPr>
          <a:lstStyle/>
          <a:p>
            <a:pPr algn="l">
              <a:lnSpc>
                <a:spcPct val="128000"/>
              </a:lnSpc>
              <a:spcBef>
                <a:spcPts val="0"/>
              </a:spcBef>
              <a:spcAft>
                <a:spcPts val="0"/>
              </a:spcAft>
            </a:pPr>
            <a:r>
              <a:rPr sz="1200" b="0">
                <a:solidFill>
                  <a:srgbClr val="555045"/>
                </a:solidFill>
                <a:latin typeface="Arial"/>
              </a:rPr>
              <a:t>No hay solapamiento con las absolutas. El contraste de Diebold-Mariano confirma la separación: las seis relativas son empates técnicos entre sí y las siete absolutas pierden con evidencia.</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Paso 10 · Selección de familia</a:t>
            </a:r>
          </a:p>
        </p:txBody>
      </p:sp>
      <p:sp>
        <p:nvSpPr>
          <p:cNvPr id="11" name="TextBox 10"/>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PASO 10 · PARAMETRIZACIÓN RELATIVA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445770"/>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La única mejora genuina de modelado del proyecto</a:t>
            </a:r>
          </a:p>
        </p:txBody>
      </p:sp>
      <p:sp>
        <p:nvSpPr>
          <p:cNvPr id="6" name="TextBox 5"/>
          <p:cNvSpPr txBox="1"/>
          <p:nvPr/>
        </p:nvSpPr>
        <p:spPr>
          <a:xfrm>
            <a:off x="777240" y="1506474"/>
            <a:ext cx="9966960" cy="283337"/>
          </a:xfrm>
          <a:prstGeom prst="rect">
            <a:avLst/>
          </a:prstGeom>
          <a:noFill/>
        </p:spPr>
        <p:txBody>
          <a:bodyPr wrap="square" lIns="0" rIns="0" tIns="0" bIns="0">
            <a:spAutoFit/>
          </a:bodyPr>
          <a:lstStyle/>
          <a:p>
            <a:pPr algn="l">
              <a:lnSpc>
                <a:spcPct val="130000"/>
              </a:lnSpc>
              <a:spcBef>
                <a:spcPts val="0"/>
              </a:spcBef>
              <a:spcAft>
                <a:spcPts val="0"/>
              </a:spcAft>
            </a:pPr>
            <a:r>
              <a:rPr sz="1450" b="0">
                <a:solidFill>
                  <a:srgbClr val="555045"/>
                </a:solidFill>
                <a:latin typeface="Arial"/>
              </a:rPr>
              <a:t>El diagnóstico del modelo absoluto detectó un sesgo por tamaño de serie. Este cambio lo corrige de raíz.</a:t>
            </a:r>
          </a:p>
        </p:txBody>
      </p:sp>
      <p:sp>
        <p:nvSpPr>
          <p:cNvPr id="7" name="Rectangle 6"/>
          <p:cNvSpPr/>
          <p:nvPr/>
        </p:nvSpPr>
        <p:spPr>
          <a:xfrm>
            <a:off x="777240" y="1990979"/>
            <a:ext cx="10637215" cy="114300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192147"/>
            <a:ext cx="9997135" cy="777240"/>
          </a:xfrm>
          <a:prstGeom prst="rect">
            <a:avLst/>
          </a:prstGeom>
          <a:noFill/>
        </p:spPr>
        <p:txBody>
          <a:bodyPr wrap="square" lIns="0" rIns="0" tIns="0" bIns="0">
            <a:spAutoFit/>
          </a:bodyPr>
          <a:lstStyle/>
          <a:p>
            <a:pPr algn="l">
              <a:lnSpc>
                <a:spcPct val="125000"/>
              </a:lnSpc>
              <a:spcBef>
                <a:spcPts val="0"/>
              </a:spcBef>
              <a:spcAft>
                <a:spcPts val="800"/>
              </a:spcAft>
            </a:pPr>
            <a:r>
              <a:rPr sz="1550" b="1">
                <a:solidFill>
                  <a:srgbClr val="17150F"/>
                </a:solidFill>
                <a:latin typeface="Arial"/>
              </a:rPr>
              <a:t>En vez de predecir unidades, se predice la demanda como proporción de la media de las cuatro semanas previas.</a:t>
            </a:r>
          </a:p>
          <a:p>
            <a:pPr algn="l">
              <a:lnSpc>
                <a:spcPct val="125000"/>
              </a:lnSpc>
              <a:spcBef>
                <a:spcPts val="0"/>
              </a:spcBef>
              <a:spcAft>
                <a:spcPts val="0"/>
              </a:spcAft>
            </a:pPr>
            <a:r>
              <a:rPr sz="1350" b="0">
                <a:solidFill>
                  <a:srgbClr val="555045"/>
                </a:solidFill>
                <a:latin typeface="Arial"/>
              </a:rPr>
              <a:t>Se ajusta en proporción y se multiplica de vuelta para devolver unidades. La evaluación sigue en unidades.</a:t>
            </a:r>
          </a:p>
        </p:txBody>
      </p:sp>
      <p:sp>
        <p:nvSpPr>
          <p:cNvPr id="9" name="Rectangle 8"/>
          <p:cNvSpPr/>
          <p:nvPr/>
        </p:nvSpPr>
        <p:spPr>
          <a:xfrm>
            <a:off x="777240" y="355460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3454019"/>
            <a:ext cx="10436047" cy="530098"/>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Una serie que vende 44 sobre una media de 40 y otra que vende 165 sobre 150 pasan a ser el mismo caso</a:t>
            </a:r>
            <a:r>
              <a:rPr sz="1450" b="0">
                <a:solidFill>
                  <a:srgbClr val="555045"/>
                </a:solidFill>
                <a:latin typeface="Arial"/>
              </a:rPr>
              <a:t>: ambas un 10 % por encima. El modelo ve un patrón en lugar de dos.</a:t>
            </a:r>
          </a:p>
        </p:txBody>
      </p:sp>
      <p:sp>
        <p:nvSpPr>
          <p:cNvPr id="11" name="Rectangle 10"/>
          <p:cNvSpPr/>
          <p:nvPr/>
        </p:nvSpPr>
        <p:spPr>
          <a:xfrm>
            <a:off x="777240" y="4212717"/>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112133"/>
            <a:ext cx="10436047" cy="530098"/>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La evaluación sigue en unidades</a:t>
            </a:r>
            <a:r>
              <a:rPr sz="1450" b="0">
                <a:solidFill>
                  <a:srgbClr val="555045"/>
                </a:solidFill>
                <a:latin typeface="Arial"/>
              </a:rPr>
              <a:t> porque el coste del negocio está en pesos. Medir en proporciones daría a las series pequeñas más peso del que merecen económicamente.</a:t>
            </a:r>
          </a:p>
        </p:txBody>
      </p:sp>
      <p:sp>
        <p:nvSpPr>
          <p:cNvPr id="13" name="Rectangle 12"/>
          <p:cNvSpPr/>
          <p:nvPr/>
        </p:nvSpPr>
        <p:spPr>
          <a:xfrm>
            <a:off x="777240" y="4870831"/>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770247"/>
            <a:ext cx="10436047" cy="530098"/>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La decisión se tomó en validación</a:t>
            </a:r>
            <a:r>
              <a:rPr sz="1450" b="0">
                <a:solidFill>
                  <a:srgbClr val="555045"/>
                </a:solidFill>
                <a:latin typeface="Arial"/>
              </a:rPr>
              <a:t>, con comparación pareada de cada familia contra su versión relativa. Gana en 4 de 6, pero el contraste de Wilcoxon da p = 0,219: no significativo.</a:t>
            </a:r>
          </a:p>
        </p:txBody>
      </p:sp>
      <p:sp>
        <p:nvSpPr>
          <p:cNvPr id="15" name="Rectangle 14"/>
          <p:cNvSpPr/>
          <p:nvPr/>
        </p:nvSpPr>
        <p:spPr>
          <a:xfrm>
            <a:off x="777240" y="5528945"/>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8408" y="5428361"/>
            <a:ext cx="10436047" cy="530098"/>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Se adopta porque la evidencia es consistente en cuatro frentes independientes</a:t>
            </a:r>
            <a:r>
              <a:rPr sz="1450" b="0">
                <a:solidFill>
                  <a:srgbClr val="555045"/>
                </a:solidFill>
                <a:latin typeface="Arial"/>
              </a:rPr>
              <a:t>, y porque no fue una búsqueda a ciegas sino una hipótesis derivada de un diagnóstico previo.</a:t>
            </a:r>
          </a:p>
        </p:txBody>
      </p:sp>
      <p:sp>
        <p:nvSpPr>
          <p:cNvPr id="17" name="Rectangle 16"/>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Paso 10 · Parametrización relativa</a:t>
            </a:r>
          </a:p>
        </p:txBody>
      </p:sp>
      <p:sp>
        <p:nvSpPr>
          <p:cNvPr id="19" name="TextBox 18"/>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PASO 10 · PARAMETRIZACIÓN RELATIVA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445770"/>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Qué arregló, medido punto por punto</a:t>
            </a:r>
          </a:p>
        </p:txBody>
      </p:sp>
      <p:graphicFrame>
        <p:nvGraphicFramePr>
          <p:cNvPr id="6" name="Table 5"/>
          <p:cNvGraphicFramePr>
            <a:graphicFrameLocks noGrp="1"/>
          </p:cNvGraphicFramePr>
          <p:nvPr/>
        </p:nvGraphicFramePr>
        <p:xfrm>
          <a:off x="777240" y="1506474"/>
          <a:ext cx="10637214" cy="2432304"/>
        </p:xfrm>
        <a:graphic>
          <a:graphicData uri="http://schemas.openxmlformats.org/drawingml/2006/table">
            <a:tbl>
              <a:tblPr bandRow="1">
                <a:tableStyleId>{5C22544A-7EE6-4342-B048-85BDC9FD1C3A}</a:tableStyleId>
              </a:tblPr>
              <a:tblGrid>
                <a:gridCol w="3191164"/>
                <a:gridCol w="1489210"/>
                <a:gridCol w="1489210"/>
                <a:gridCol w="1489210"/>
                <a:gridCol w="2978420"/>
              </a:tblGrid>
              <a:tr h="347472">
                <a:tc>
                  <a:txBody>
                    <a:bodyPr/>
                    <a:lstStyle/>
                    <a:p>
                      <a:pPr algn="l"/>
                      <a:r>
                        <a:rPr sz="1050" b="1">
                          <a:solidFill>
                            <a:srgbClr val="8B8478"/>
                          </a:solidFill>
                          <a:latin typeface="Arial"/>
                        </a:rPr>
                        <a:t>Indicador</a:t>
                      </a:r>
                    </a:p>
                  </a:txBody>
                  <a:tcPr marL="82296" marR="82296" anchor="ctr">
                    <a:solidFill>
                      <a:srgbClr val="F4F2ED"/>
                    </a:solidFill>
                  </a:tcPr>
                </a:tc>
                <a:tc>
                  <a:txBody>
                    <a:bodyPr/>
                    <a:lstStyle/>
                    <a:p>
                      <a:pPr algn="r"/>
                      <a:r>
                        <a:rPr sz="1050" b="1">
                          <a:solidFill>
                            <a:srgbClr val="8B8478"/>
                          </a:solidFill>
                          <a:latin typeface="Arial"/>
                        </a:rPr>
                        <a:t>Absoluto</a:t>
                      </a:r>
                    </a:p>
                  </a:txBody>
                  <a:tcPr marL="82296" marR="82296" anchor="ctr">
                    <a:solidFill>
                      <a:srgbClr val="F4F2ED"/>
                    </a:solidFill>
                  </a:tcPr>
                </a:tc>
                <a:tc>
                  <a:txBody>
                    <a:bodyPr/>
                    <a:lstStyle/>
                    <a:p>
                      <a:pPr algn="r"/>
                      <a:r>
                        <a:rPr sz="1050" b="1">
                          <a:solidFill>
                            <a:srgbClr val="8B8478"/>
                          </a:solidFill>
                          <a:latin typeface="Arial"/>
                        </a:rPr>
                        <a:t>Relativo</a:t>
                      </a:r>
                    </a:p>
                  </a:txBody>
                  <a:tcPr marL="82296" marR="82296" anchor="ctr">
                    <a:solidFill>
                      <a:srgbClr val="F4F2ED"/>
                    </a:solidFill>
                  </a:tcPr>
                </a:tc>
                <a:tc>
                  <a:txBody>
                    <a:bodyPr/>
                    <a:lstStyle/>
                    <a:p>
                      <a:pPr algn="r"/>
                      <a:r>
                        <a:rPr sz="1050" b="1">
                          <a:solidFill>
                            <a:srgbClr val="8B8478"/>
                          </a:solidFill>
                          <a:latin typeface="Arial"/>
                        </a:rPr>
                        <a:t>Cambio</a:t>
                      </a:r>
                    </a:p>
                  </a:txBody>
                  <a:tcPr marL="82296" marR="82296" anchor="ctr">
                    <a:solidFill>
                      <a:srgbClr val="F4F2ED"/>
                    </a:solidFill>
                  </a:tcPr>
                </a:tc>
                <a:tc>
                  <a:txBody>
                    <a:bodyPr/>
                    <a:lstStyle/>
                    <a:p>
                      <a:pPr algn="r"/>
                      <a:r>
                        <a:rPr sz="1050" b="1">
                          <a:solidFill>
                            <a:srgbClr val="8B8478"/>
                          </a:solidFill>
                          <a:latin typeface="Arial"/>
                        </a:rPr>
                        <a:t>Qué significa</a:t>
                      </a:r>
                    </a:p>
                  </a:txBody>
                  <a:tcPr marL="82296" marR="82296" anchor="ctr">
                    <a:solidFill>
                      <a:srgbClr val="F4F2ED"/>
                    </a:solidFill>
                  </a:tcPr>
                </a:tc>
              </a:tr>
              <a:tr h="347472">
                <a:tc>
                  <a:txBody>
                    <a:bodyPr/>
                    <a:lstStyle/>
                    <a:p>
                      <a:pPr algn="l"/>
                      <a:r>
                        <a:rPr sz="1200" b="0">
                          <a:solidFill>
                            <a:srgbClr val="17150F"/>
                          </a:solidFill>
                          <a:latin typeface="Arial"/>
                        </a:rPr>
                        <a:t>Pérdida pinball en prueba</a:t>
                      </a:r>
                    </a:p>
                  </a:txBody>
                  <a:tcPr marL="82296" marR="82296" anchor="ctr">
                    <a:solidFill>
                      <a:srgbClr val="FFFFFF"/>
                    </a:solidFill>
                  </a:tcPr>
                </a:tc>
                <a:tc>
                  <a:txBody>
                    <a:bodyPr/>
                    <a:lstStyle/>
                    <a:p>
                      <a:pPr algn="r"/>
                      <a:r>
                        <a:rPr sz="1200" b="0">
                          <a:solidFill>
                            <a:srgbClr val="555045"/>
                          </a:solidFill>
                          <a:latin typeface="Arial"/>
                        </a:rPr>
                        <a:t>4,466</a:t>
                      </a:r>
                    </a:p>
                  </a:txBody>
                  <a:tcPr marL="82296" marR="82296" anchor="ctr">
                    <a:solidFill>
                      <a:srgbClr val="FFFFFF"/>
                    </a:solidFill>
                  </a:tcPr>
                </a:tc>
                <a:tc>
                  <a:txBody>
                    <a:bodyPr/>
                    <a:lstStyle/>
                    <a:p>
                      <a:pPr algn="r"/>
                      <a:r>
                        <a:rPr sz="1200" b="0">
                          <a:solidFill>
                            <a:srgbClr val="555045"/>
                          </a:solidFill>
                          <a:latin typeface="Arial"/>
                        </a:rPr>
                        <a:t>4,343</a:t>
                      </a:r>
                    </a:p>
                  </a:txBody>
                  <a:tcPr marL="82296" marR="82296" anchor="ctr">
                    <a:solidFill>
                      <a:srgbClr val="FFFFFF"/>
                    </a:solidFill>
                  </a:tcPr>
                </a:tc>
                <a:tc>
                  <a:txBody>
                    <a:bodyPr/>
                    <a:lstStyle/>
                    <a:p>
                      <a:pPr algn="r"/>
                      <a:r>
                        <a:rPr sz="1200" b="0">
                          <a:solidFill>
                            <a:srgbClr val="555045"/>
                          </a:solidFill>
                          <a:latin typeface="Arial"/>
                        </a:rPr>
                        <a:t>−2,8 %</a:t>
                      </a:r>
                    </a:p>
                  </a:txBody>
                  <a:tcPr marL="82296" marR="82296" anchor="ctr">
                    <a:solidFill>
                      <a:srgbClr val="FFFFFF"/>
                    </a:solidFill>
                  </a:tcPr>
                </a:tc>
                <a:tc>
                  <a:txBody>
                    <a:bodyPr/>
                    <a:lstStyle/>
                    <a:p>
                      <a:pPr algn="r"/>
                      <a:r>
                        <a:rPr sz="1200" b="0">
                          <a:solidFill>
                            <a:srgbClr val="555045"/>
                          </a:solidFill>
                          <a:latin typeface="Arial"/>
                        </a:rPr>
                        <a:t>Mejor pronóstico probabilístico</a:t>
                      </a:r>
                    </a:p>
                  </a:txBody>
                  <a:tcPr marL="82296" marR="82296" anchor="ctr">
                    <a:solidFill>
                      <a:srgbClr val="FFFFFF"/>
                    </a:solidFill>
                  </a:tcPr>
                </a:tc>
              </a:tr>
              <a:tr h="347472">
                <a:tc>
                  <a:txBody>
                    <a:bodyPr/>
                    <a:lstStyle/>
                    <a:p>
                      <a:pPr algn="l"/>
                      <a:r>
                        <a:rPr sz="1200" b="0">
                          <a:solidFill>
                            <a:srgbClr val="17150F"/>
                          </a:solidFill>
                          <a:latin typeface="Arial"/>
                        </a:rPr>
                        <a:t>Error ponderado del centro</a:t>
                      </a:r>
                    </a:p>
                  </a:txBody>
                  <a:tcPr marL="82296" marR="82296" anchor="ctr">
                    <a:solidFill>
                      <a:srgbClr val="FFFFFF"/>
                    </a:solidFill>
                  </a:tcPr>
                </a:tc>
                <a:tc>
                  <a:txBody>
                    <a:bodyPr/>
                    <a:lstStyle/>
                    <a:p>
                      <a:pPr algn="r"/>
                      <a:r>
                        <a:rPr sz="1200" b="0">
                          <a:solidFill>
                            <a:srgbClr val="555045"/>
                          </a:solidFill>
                          <a:latin typeface="Arial"/>
                        </a:rPr>
                        <a:t>12,01 %</a:t>
                      </a:r>
                    </a:p>
                  </a:txBody>
                  <a:tcPr marL="82296" marR="82296" anchor="ctr">
                    <a:solidFill>
                      <a:srgbClr val="FFFFFF"/>
                    </a:solidFill>
                  </a:tcPr>
                </a:tc>
                <a:tc>
                  <a:txBody>
                    <a:bodyPr/>
                    <a:lstStyle/>
                    <a:p>
                      <a:pPr algn="r"/>
                      <a:r>
                        <a:rPr sz="1200" b="0">
                          <a:solidFill>
                            <a:srgbClr val="555045"/>
                          </a:solidFill>
                          <a:latin typeface="Arial"/>
                        </a:rPr>
                        <a:t>11,76 %</a:t>
                      </a:r>
                    </a:p>
                  </a:txBody>
                  <a:tcPr marL="82296" marR="82296" anchor="ctr">
                    <a:solidFill>
                      <a:srgbClr val="FFFFFF"/>
                    </a:solidFill>
                  </a:tcPr>
                </a:tc>
                <a:tc>
                  <a:txBody>
                    <a:bodyPr/>
                    <a:lstStyle/>
                    <a:p>
                      <a:pPr algn="r"/>
                      <a:r>
                        <a:rPr sz="1200" b="0">
                          <a:solidFill>
                            <a:srgbClr val="555045"/>
                          </a:solidFill>
                          <a:latin typeface="Arial"/>
                        </a:rPr>
                        <a:t>−0,25 pp</a:t>
                      </a:r>
                    </a:p>
                  </a:txBody>
                  <a:tcPr marL="82296" marR="82296" anchor="ctr">
                    <a:solidFill>
                      <a:srgbClr val="FFFFFF"/>
                    </a:solidFill>
                  </a:tcPr>
                </a:tc>
                <a:tc>
                  <a:txBody>
                    <a:bodyPr/>
                    <a:lstStyle/>
                    <a:p>
                      <a:pPr algn="r"/>
                      <a:r>
                        <a:rPr sz="1200" b="0">
                          <a:solidFill>
                            <a:srgbClr val="555045"/>
                          </a:solidFill>
                          <a:latin typeface="Arial"/>
                        </a:rPr>
                        <a:t>Ahora sí supera la línea base</a:t>
                      </a:r>
                    </a:p>
                  </a:txBody>
                  <a:tcPr marL="82296" marR="82296" anchor="ctr">
                    <a:solidFill>
                      <a:srgbClr val="FFFFFF"/>
                    </a:solidFill>
                  </a:tcPr>
                </a:tc>
              </a:tr>
              <a:tr h="347472">
                <a:tc>
                  <a:txBody>
                    <a:bodyPr/>
                    <a:lstStyle/>
                    <a:p>
                      <a:pPr algn="l"/>
                      <a:r>
                        <a:rPr sz="1200" b="0">
                          <a:solidFill>
                            <a:srgbClr val="17150F"/>
                          </a:solidFill>
                          <a:latin typeface="Arial"/>
                        </a:rPr>
                        <a:t>Amplitud del sesgo por volumen</a:t>
                      </a:r>
                    </a:p>
                  </a:txBody>
                  <a:tcPr marL="82296" marR="82296" anchor="ctr">
                    <a:solidFill>
                      <a:srgbClr val="FFFFFF"/>
                    </a:solidFill>
                  </a:tcPr>
                </a:tc>
                <a:tc>
                  <a:txBody>
                    <a:bodyPr/>
                    <a:lstStyle/>
                    <a:p>
                      <a:pPr algn="r"/>
                      <a:r>
                        <a:rPr sz="1200" b="0">
                          <a:solidFill>
                            <a:srgbClr val="555045"/>
                          </a:solidFill>
                          <a:latin typeface="Arial"/>
                        </a:rPr>
                        <a:t>15,04 u</a:t>
                      </a:r>
                    </a:p>
                  </a:txBody>
                  <a:tcPr marL="82296" marR="82296" anchor="ctr">
                    <a:solidFill>
                      <a:srgbClr val="FFFFFF"/>
                    </a:solidFill>
                  </a:tcPr>
                </a:tc>
                <a:tc>
                  <a:txBody>
                    <a:bodyPr/>
                    <a:lstStyle/>
                    <a:p>
                      <a:pPr algn="r"/>
                      <a:r>
                        <a:rPr sz="1200" b="0">
                          <a:solidFill>
                            <a:srgbClr val="555045"/>
                          </a:solidFill>
                          <a:latin typeface="Arial"/>
                        </a:rPr>
                        <a:t>10,29 u</a:t>
                      </a:r>
                    </a:p>
                  </a:txBody>
                  <a:tcPr marL="82296" marR="82296" anchor="ctr">
                    <a:solidFill>
                      <a:srgbClr val="FFFFFF"/>
                    </a:solidFill>
                  </a:tcPr>
                </a:tc>
                <a:tc>
                  <a:txBody>
                    <a:bodyPr/>
                    <a:lstStyle/>
                    <a:p>
                      <a:pPr algn="r"/>
                      <a:r>
                        <a:rPr sz="1200" b="0">
                          <a:solidFill>
                            <a:srgbClr val="555045"/>
                          </a:solidFill>
                          <a:latin typeface="Arial"/>
                        </a:rPr>
                        <a:t>−32 %</a:t>
                      </a:r>
                    </a:p>
                  </a:txBody>
                  <a:tcPr marL="82296" marR="82296" anchor="ctr">
                    <a:solidFill>
                      <a:srgbClr val="FFFFFF"/>
                    </a:solidFill>
                  </a:tcPr>
                </a:tc>
                <a:tc>
                  <a:txBody>
                    <a:bodyPr/>
                    <a:lstStyle/>
                    <a:p>
                      <a:pPr algn="r"/>
                      <a:r>
                        <a:rPr sz="1200" b="0">
                          <a:solidFill>
                            <a:srgbClr val="555045"/>
                          </a:solidFill>
                          <a:latin typeface="Arial"/>
                        </a:rPr>
                        <a:t>Menos merma en tiendas pequeñas</a:t>
                      </a:r>
                    </a:p>
                  </a:txBody>
                  <a:tcPr marL="82296" marR="82296" anchor="ctr">
                    <a:solidFill>
                      <a:srgbClr val="FFFFFF"/>
                    </a:solidFill>
                  </a:tcPr>
                </a:tc>
              </a:tr>
              <a:tr h="347472">
                <a:tc>
                  <a:txBody>
                    <a:bodyPr/>
                    <a:lstStyle/>
                    <a:p>
                      <a:pPr algn="l"/>
                      <a:r>
                        <a:rPr sz="1200" b="0">
                          <a:solidFill>
                            <a:srgbClr val="17150F"/>
                          </a:solidFill>
                          <a:latin typeface="Arial"/>
                        </a:rPr>
                        <a:t>Nivel 0,99 sobre la demanda media</a:t>
                      </a:r>
                    </a:p>
                  </a:txBody>
                  <a:tcPr marL="82296" marR="82296" anchor="ctr">
                    <a:solidFill>
                      <a:srgbClr val="FFFFFF"/>
                    </a:solidFill>
                  </a:tcPr>
                </a:tc>
                <a:tc>
                  <a:txBody>
                    <a:bodyPr/>
                    <a:lstStyle/>
                    <a:p>
                      <a:pPr algn="r"/>
                      <a:r>
                        <a:rPr sz="1200" b="0">
                          <a:solidFill>
                            <a:srgbClr val="555045"/>
                          </a:solidFill>
                          <a:latin typeface="Arial"/>
                        </a:rPr>
                        <a:t>2,24×</a:t>
                      </a:r>
                    </a:p>
                  </a:txBody>
                  <a:tcPr marL="82296" marR="82296" anchor="ctr">
                    <a:solidFill>
                      <a:srgbClr val="FFFFFF"/>
                    </a:solidFill>
                  </a:tcPr>
                </a:tc>
                <a:tc>
                  <a:txBody>
                    <a:bodyPr/>
                    <a:lstStyle/>
                    <a:p>
                      <a:pPr algn="r"/>
                      <a:r>
                        <a:rPr sz="1200" b="0">
                          <a:solidFill>
                            <a:srgbClr val="555045"/>
                          </a:solidFill>
                          <a:latin typeface="Arial"/>
                        </a:rPr>
                        <a:t>1,38×</a:t>
                      </a:r>
                    </a:p>
                  </a:txBody>
                  <a:tcPr marL="82296" marR="82296" anchor="ctr">
                    <a:solidFill>
                      <a:srgbClr val="FFFFFF"/>
                    </a:solidFill>
                  </a:tcPr>
                </a:tc>
                <a:tc>
                  <a:txBody>
                    <a:bodyPr/>
                    <a:lstStyle/>
                    <a:p>
                      <a:pPr algn="r"/>
                      <a:r>
                        <a:rPr sz="1200" b="0">
                          <a:solidFill>
                            <a:srgbClr val="555045"/>
                          </a:solidFill>
                          <a:latin typeface="Arial"/>
                        </a:rPr>
                        <a:t>−38 %</a:t>
                      </a:r>
                    </a:p>
                  </a:txBody>
                  <a:tcPr marL="82296" marR="82296" anchor="ctr">
                    <a:solidFill>
                      <a:srgbClr val="FFFFFF"/>
                    </a:solidFill>
                  </a:tcPr>
                </a:tc>
                <a:tc>
                  <a:txBody>
                    <a:bodyPr/>
                    <a:lstStyle/>
                    <a:p>
                      <a:pPr algn="r"/>
                      <a:r>
                        <a:rPr sz="1200" b="0">
                          <a:solidFill>
                            <a:srgbClr val="555045"/>
                          </a:solidFill>
                          <a:latin typeface="Arial"/>
                        </a:rPr>
                        <a:t>El nivel extremo pasa a ser utilizable</a:t>
                      </a:r>
                    </a:p>
                  </a:txBody>
                  <a:tcPr marL="82296" marR="82296" anchor="ctr">
                    <a:solidFill>
                      <a:srgbClr val="FFFFFF"/>
                    </a:solidFill>
                  </a:tcPr>
                </a:tc>
              </a:tr>
              <a:tr h="347472">
                <a:tc>
                  <a:txBody>
                    <a:bodyPr/>
                    <a:lstStyle/>
                    <a:p>
                      <a:pPr algn="l"/>
                      <a:r>
                        <a:rPr sz="1200" b="0">
                          <a:solidFill>
                            <a:srgbClr val="17150F"/>
                          </a:solidFill>
                          <a:latin typeface="Arial"/>
                        </a:rPr>
                        <a:t>Cruce máximo entre niveles</a:t>
                      </a:r>
                    </a:p>
                  </a:txBody>
                  <a:tcPr marL="82296" marR="82296" anchor="ctr">
                    <a:solidFill>
                      <a:srgbClr val="FFFFFF"/>
                    </a:solidFill>
                  </a:tcPr>
                </a:tc>
                <a:tc>
                  <a:txBody>
                    <a:bodyPr/>
                    <a:lstStyle/>
                    <a:p>
                      <a:pPr algn="r"/>
                      <a:r>
                        <a:rPr sz="1200" b="0">
                          <a:solidFill>
                            <a:srgbClr val="555045"/>
                          </a:solidFill>
                          <a:latin typeface="Arial"/>
                        </a:rPr>
                        <a:t>44,08 u</a:t>
                      </a:r>
                    </a:p>
                  </a:txBody>
                  <a:tcPr marL="82296" marR="82296" anchor="ctr">
                    <a:solidFill>
                      <a:srgbClr val="FFFFFF"/>
                    </a:solidFill>
                  </a:tcPr>
                </a:tc>
                <a:tc>
                  <a:txBody>
                    <a:bodyPr/>
                    <a:lstStyle/>
                    <a:p>
                      <a:pPr algn="r"/>
                      <a:r>
                        <a:rPr sz="1200" b="0">
                          <a:solidFill>
                            <a:srgbClr val="555045"/>
                          </a:solidFill>
                          <a:latin typeface="Arial"/>
                        </a:rPr>
                        <a:t>0,93 u</a:t>
                      </a:r>
                    </a:p>
                  </a:txBody>
                  <a:tcPr marL="82296" marR="82296" anchor="ctr">
                    <a:solidFill>
                      <a:srgbClr val="FFFFFF"/>
                    </a:solidFill>
                  </a:tcPr>
                </a:tc>
                <a:tc>
                  <a:txBody>
                    <a:bodyPr/>
                    <a:lstStyle/>
                    <a:p>
                      <a:pPr algn="r"/>
                      <a:r>
                        <a:rPr sz="1200" b="0">
                          <a:solidFill>
                            <a:srgbClr val="555045"/>
                          </a:solidFill>
                          <a:latin typeface="Arial"/>
                        </a:rPr>
                        <a:t>−98 %</a:t>
                      </a:r>
                    </a:p>
                  </a:txBody>
                  <a:tcPr marL="82296" marR="82296" anchor="ctr">
                    <a:solidFill>
                      <a:srgbClr val="FFFFFF"/>
                    </a:solidFill>
                  </a:tcPr>
                </a:tc>
                <a:tc>
                  <a:txBody>
                    <a:bodyPr/>
                    <a:lstStyle/>
                    <a:p>
                      <a:pPr algn="r"/>
                      <a:r>
                        <a:rPr sz="1200" b="0">
                          <a:solidFill>
                            <a:srgbClr val="555045"/>
                          </a:solidFill>
                          <a:latin typeface="Arial"/>
                        </a:rPr>
                        <a:t>Pedir más protección nunca da menos</a:t>
                      </a:r>
                    </a:p>
                  </a:txBody>
                  <a:tcPr marL="82296" marR="82296" anchor="ctr">
                    <a:solidFill>
                      <a:srgbClr val="FFFFFF"/>
                    </a:solidFill>
                  </a:tcPr>
                </a:tc>
              </a:tr>
              <a:tr h="347472">
                <a:tc>
                  <a:txBody>
                    <a:bodyPr/>
                    <a:lstStyle/>
                    <a:p>
                      <a:pPr algn="l"/>
                      <a:r>
                        <a:rPr sz="1200" b="0">
                          <a:solidFill>
                            <a:srgbClr val="17150F"/>
                          </a:solidFill>
                          <a:latin typeface="Arial"/>
                        </a:rPr>
                        <a:t>Desviación del colchón</a:t>
                      </a:r>
                    </a:p>
                  </a:txBody>
                  <a:tcPr marL="82296" marR="82296" anchor="ctr">
                    <a:solidFill>
                      <a:srgbClr val="FFFFFF"/>
                    </a:solidFill>
                  </a:tcPr>
                </a:tc>
                <a:tc>
                  <a:txBody>
                    <a:bodyPr/>
                    <a:lstStyle/>
                    <a:p>
                      <a:pPr algn="r"/>
                      <a:r>
                        <a:rPr sz="1200" b="0">
                          <a:solidFill>
                            <a:srgbClr val="555045"/>
                          </a:solidFill>
                          <a:latin typeface="Arial"/>
                        </a:rPr>
                        <a:t>3,53</a:t>
                      </a:r>
                    </a:p>
                  </a:txBody>
                  <a:tcPr marL="82296" marR="82296" anchor="ctr">
                    <a:solidFill>
                      <a:srgbClr val="FFFFFF"/>
                    </a:solidFill>
                  </a:tcPr>
                </a:tc>
                <a:tc>
                  <a:txBody>
                    <a:bodyPr/>
                    <a:lstStyle/>
                    <a:p>
                      <a:pPr algn="r"/>
                      <a:r>
                        <a:rPr sz="1200" b="0">
                          <a:solidFill>
                            <a:srgbClr val="555045"/>
                          </a:solidFill>
                          <a:latin typeface="Arial"/>
                        </a:rPr>
                        <a:t>6,60</a:t>
                      </a:r>
                    </a:p>
                  </a:txBody>
                  <a:tcPr marL="82296" marR="82296" anchor="ctr">
                    <a:solidFill>
                      <a:srgbClr val="FFFFFF"/>
                    </a:solidFill>
                  </a:tcPr>
                </a:tc>
                <a:tc>
                  <a:txBody>
                    <a:bodyPr/>
                    <a:lstStyle/>
                    <a:p>
                      <a:pPr algn="r"/>
                      <a:r>
                        <a:rPr sz="1200" b="0">
                          <a:solidFill>
                            <a:srgbClr val="555045"/>
                          </a:solidFill>
                          <a:latin typeface="Arial"/>
                        </a:rPr>
                        <a:t>+87 %</a:t>
                      </a:r>
                    </a:p>
                  </a:txBody>
                  <a:tcPr marL="82296" marR="82296" anchor="ctr">
                    <a:solidFill>
                      <a:srgbClr val="FFFFFF"/>
                    </a:solidFill>
                  </a:tcPr>
                </a:tc>
                <a:tc>
                  <a:txBody>
                    <a:bodyPr/>
                    <a:lstStyle/>
                    <a:p>
                      <a:pPr algn="r"/>
                      <a:r>
                        <a:rPr sz="1200" b="0">
                          <a:solidFill>
                            <a:srgbClr val="555045"/>
                          </a:solidFill>
                          <a:latin typeface="Arial"/>
                        </a:rPr>
                        <a:t>El margen se adapta a cada serie</a:t>
                      </a:r>
                    </a:p>
                  </a:txBody>
                  <a:tcPr marL="82296" marR="82296" anchor="ctr">
                    <a:solidFill>
                      <a:srgbClr val="FFFFFF"/>
                    </a:solidFill>
                  </a:tcPr>
                </a:tc>
              </a:tr>
            </a:tbl>
          </a:graphicData>
        </a:graphic>
      </p:graphicFrame>
      <p:sp>
        <p:nvSpPr>
          <p:cNvPr id="7" name="TextBox 6"/>
          <p:cNvSpPr txBox="1"/>
          <p:nvPr/>
        </p:nvSpPr>
        <p:spPr>
          <a:xfrm>
            <a:off x="777240" y="4249674"/>
            <a:ext cx="10637215" cy="649224"/>
          </a:xfrm>
          <a:prstGeom prst="rect">
            <a:avLst/>
          </a:prstGeom>
          <a:noFill/>
        </p:spPr>
        <p:txBody>
          <a:bodyPr wrap="square" lIns="0" rIns="0" tIns="0" bIns="0">
            <a:spAutoFit/>
          </a:bodyPr>
          <a:lstStyle/>
          <a:p>
            <a:pPr>
              <a:lnSpc>
                <a:spcPct val="126000"/>
              </a:lnSpc>
              <a:spcAft>
                <a:spcPts val="0"/>
              </a:spcAft>
            </a:pPr>
            <a:r>
              <a:rPr sz="1200" b="1">
                <a:solidFill>
                  <a:srgbClr val="17150F"/>
                </a:solidFill>
                <a:latin typeface="Arial"/>
              </a:rPr>
              <a:t>Y la interpretabilidad mejora mucho.</a:t>
            </a:r>
            <a:r>
              <a:rPr sz="1200" b="0">
                <a:solidFill>
                  <a:srgbClr val="8B8478"/>
                </a:solidFill>
                <a:latin typeface="Arial"/>
              </a:rPr>
              <a:t> Un coeficiente de 0,0185 sobre el rezago se lee como «una desviación típica en la última semana mueve la predicción un 1,85 % respecto a la media reciente». Eso se le explica a un jefe de tienda. Un coeficiente de 32,57 en unidades estandarizadas, no.</a:t>
            </a:r>
          </a:p>
        </p:txBody>
      </p:sp>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Paso 10 · Parametrización relativa</a:t>
            </a:r>
          </a:p>
        </p:txBody>
      </p:sp>
      <p:sp>
        <p:nvSpPr>
          <p:cNvPr id="10" name="TextBox 9"/>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PASO 10 · SELECCIÓN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445770"/>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Qué diferencias son reales y cuáles son ruido</a:t>
            </a:r>
          </a:p>
        </p:txBody>
      </p:sp>
      <p:pic>
        <p:nvPicPr>
          <p:cNvPr id="6" name="Picture 5" descr="14_significacion.png"/>
          <p:cNvPicPr>
            <a:picLocks noChangeAspect="1"/>
          </p:cNvPicPr>
          <p:nvPr/>
        </p:nvPicPr>
        <p:blipFill>
          <a:blip r:embed="rId2"/>
          <a:stretch>
            <a:fillRect/>
          </a:stretch>
        </p:blipFill>
        <p:spPr>
          <a:xfrm>
            <a:off x="777240" y="1506474"/>
            <a:ext cx="5852160" cy="2854712"/>
          </a:xfrm>
          <a:prstGeom prst="rect">
            <a:avLst/>
          </a:prstGeom>
        </p:spPr>
      </p:pic>
      <p:sp>
        <p:nvSpPr>
          <p:cNvPr id="7" name="TextBox 6"/>
          <p:cNvSpPr txBox="1"/>
          <p:nvPr/>
        </p:nvSpPr>
        <p:spPr>
          <a:xfrm>
            <a:off x="6949440" y="1689354"/>
            <a:ext cx="4465015" cy="3840480"/>
          </a:xfrm>
          <a:prstGeom prst="rect">
            <a:avLst/>
          </a:prstGeom>
          <a:noFill/>
        </p:spPr>
        <p:txBody>
          <a:bodyPr wrap="square" lIns="0" rIns="0" tIns="0" bIns="0">
            <a:spAutoFit/>
          </a:bodyPr>
          <a:lstStyle/>
          <a:p>
            <a:pPr algn="l">
              <a:lnSpc>
                <a:spcPct val="130000"/>
              </a:lnSpc>
              <a:spcBef>
                <a:spcPts val="0"/>
              </a:spcBef>
              <a:spcAft>
                <a:spcPts val="1400"/>
              </a:spcAft>
            </a:pPr>
            <a:r>
              <a:rPr sz="1350" b="0">
                <a:solidFill>
                  <a:srgbClr val="555045"/>
                </a:solidFill>
                <a:latin typeface="Arial"/>
              </a:rPr>
              <a:t>Contraste de Diebold-Mariano contra la mejor configuración.</a:t>
            </a:r>
          </a:p>
          <a:p>
            <a:pPr algn="l">
              <a:lnSpc>
                <a:spcPct val="130000"/>
              </a:lnSpc>
              <a:spcBef>
                <a:spcPts val="0"/>
              </a:spcBef>
              <a:spcAft>
                <a:spcPts val="600"/>
              </a:spcAft>
            </a:pPr>
            <a:r>
              <a:rPr sz="1400" b="1">
                <a:solidFill>
                  <a:srgbClr val="8C2F39"/>
                </a:solidFill>
                <a:latin typeface="Arial"/>
              </a:rPr>
              <a:t>Las seis relativas: empate técnico</a:t>
            </a:r>
          </a:p>
          <a:p>
            <a:pPr algn="l">
              <a:lnSpc>
                <a:spcPct val="130000"/>
              </a:lnSpc>
              <a:spcBef>
                <a:spcPts val="0"/>
              </a:spcBef>
              <a:spcAft>
                <a:spcPts val="1400"/>
              </a:spcAft>
            </a:pPr>
            <a:r>
              <a:rPr sz="1300" b="0">
                <a:solidFill>
                  <a:srgbClr val="555045"/>
                </a:solidFill>
                <a:latin typeface="Arial"/>
              </a:rPr>
              <a:t>p entre 0,12 y 0,58. No se puede afirmar que ninguna sea mejor que otra.</a:t>
            </a:r>
          </a:p>
          <a:p>
            <a:pPr algn="l">
              <a:lnSpc>
                <a:spcPct val="130000"/>
              </a:lnSpc>
              <a:spcBef>
                <a:spcPts val="0"/>
              </a:spcBef>
              <a:spcAft>
                <a:spcPts val="600"/>
              </a:spcAft>
            </a:pPr>
            <a:r>
              <a:rPr sz="1400" b="1">
                <a:solidFill>
                  <a:srgbClr val="8C2F39"/>
                </a:solidFill>
                <a:latin typeface="Arial"/>
              </a:rPr>
              <a:t>Las siete absolutas: pierden con evidencia</a:t>
            </a:r>
          </a:p>
          <a:p>
            <a:pPr algn="l">
              <a:lnSpc>
                <a:spcPct val="130000"/>
              </a:lnSpc>
              <a:spcBef>
                <a:spcPts val="0"/>
              </a:spcBef>
              <a:spcAft>
                <a:spcPts val="1400"/>
              </a:spcAft>
            </a:pPr>
            <a:r>
              <a:rPr sz="1300" b="0">
                <a:solidFill>
                  <a:srgbClr val="555045"/>
                </a:solidFill>
                <a:latin typeface="Arial"/>
              </a:rPr>
              <a:t>p entre 0,0014 y 0,030. La separación entre parametrizaciones sí está demostrada.</a:t>
            </a:r>
          </a:p>
          <a:p>
            <a:pPr algn="l">
              <a:lnSpc>
                <a:spcPct val="130000"/>
              </a:lnSpc>
              <a:spcBef>
                <a:spcPts val="0"/>
              </a:spcBef>
              <a:spcAft>
                <a:spcPts val="0"/>
              </a:spcAft>
            </a:pPr>
            <a:r>
              <a:rPr sz="1300" b="0">
                <a:solidFill>
                  <a:srgbClr val="555045"/>
                </a:solidFill>
                <a:latin typeface="Arial"/>
              </a:rPr>
              <a:t>El enfoque clásico por serie, con suavizado exponencial, queda por detrás de las trece configuraciones globales. Descartado con medición propia, no con un argumento teórico.</a:t>
            </a:r>
          </a:p>
        </p:txBody>
      </p:sp>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Paso 10 · Selección de familia</a:t>
            </a:r>
          </a:p>
        </p:txBody>
      </p:sp>
      <p:sp>
        <p:nvSpPr>
          <p:cNvPr id="10" name="TextBox 9"/>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PASO 10 · SELECCIÓN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445770"/>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Ante un empate de seis, se elige por interpretabilidad</a:t>
            </a:r>
          </a:p>
        </p:txBody>
      </p:sp>
      <p:pic>
        <p:nvPicPr>
          <p:cNvPr id="6" name="Picture 5" descr="15_colchon_por_serie.png"/>
          <p:cNvPicPr>
            <a:picLocks noChangeAspect="1"/>
          </p:cNvPicPr>
          <p:nvPr/>
        </p:nvPicPr>
        <p:blipFill>
          <a:blip r:embed="rId2"/>
          <a:stretch>
            <a:fillRect/>
          </a:stretch>
        </p:blipFill>
        <p:spPr>
          <a:xfrm>
            <a:off x="777240" y="1506474"/>
            <a:ext cx="5760720" cy="3017520"/>
          </a:xfrm>
          <a:prstGeom prst="rect">
            <a:avLst/>
          </a:prstGeom>
        </p:spPr>
      </p:pic>
      <p:sp>
        <p:nvSpPr>
          <p:cNvPr id="7" name="Rectangle 6"/>
          <p:cNvSpPr/>
          <p:nvPr/>
        </p:nvSpPr>
        <p:spPr>
          <a:xfrm>
            <a:off x="6858000" y="165277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59168" y="1552194"/>
            <a:ext cx="4355287" cy="445008"/>
          </a:xfrm>
          <a:prstGeom prst="rect">
            <a:avLst/>
          </a:prstGeom>
          <a:noFill/>
        </p:spPr>
        <p:txBody>
          <a:bodyPr wrap="square" lIns="0" rIns="0" tIns="0" bIns="0">
            <a:spAutoFit/>
          </a:bodyPr>
          <a:lstStyle/>
          <a:p>
            <a:pPr>
              <a:lnSpc>
                <a:spcPct val="124000"/>
              </a:lnSpc>
              <a:spcAft>
                <a:spcPts val="0"/>
              </a:spcAft>
            </a:pPr>
            <a:r>
              <a:rPr sz="1200" b="1">
                <a:solidFill>
                  <a:srgbClr val="17150F"/>
                </a:solidFill>
                <a:latin typeface="Arial"/>
              </a:rPr>
              <a:t>Interpretabilidad.</a:t>
            </a:r>
            <a:r>
              <a:rPr sz="1200" b="0">
                <a:solidFill>
                  <a:srgbClr val="555045"/>
                </a:solidFill>
                <a:latin typeface="Arial"/>
              </a:rPr>
              <a:t> Es la única con coeficientes que se pueden enseñar, y en proporción se leen en porcentaje.</a:t>
            </a:r>
          </a:p>
        </p:txBody>
      </p:sp>
      <p:sp>
        <p:nvSpPr>
          <p:cNvPr id="9" name="Rectangle 8"/>
          <p:cNvSpPr/>
          <p:nvPr/>
        </p:nvSpPr>
        <p:spPr>
          <a:xfrm>
            <a:off x="6858000" y="222580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59168" y="2125218"/>
            <a:ext cx="4355287" cy="853440"/>
          </a:xfrm>
          <a:prstGeom prst="rect">
            <a:avLst/>
          </a:prstGeom>
          <a:noFill/>
        </p:spPr>
        <p:txBody>
          <a:bodyPr wrap="square" lIns="0" rIns="0" tIns="0" bIns="0">
            <a:spAutoFit/>
          </a:bodyPr>
          <a:lstStyle/>
          <a:p>
            <a:pPr>
              <a:lnSpc>
                <a:spcPct val="124000"/>
              </a:lnSpc>
              <a:spcAft>
                <a:spcPts val="0"/>
              </a:spcAft>
            </a:pPr>
            <a:r>
              <a:rPr sz="1200" b="1">
                <a:solidFill>
                  <a:srgbClr val="17150F"/>
                </a:solidFill>
                <a:latin typeface="Arial"/>
              </a:rPr>
              <a:t>Estabilidad del colchón.</a:t>
            </a:r>
            <a:r>
              <a:rPr sz="1200" b="0">
                <a:solidFill>
                  <a:srgbClr val="555045"/>
                </a:solidFill>
                <a:latin typeface="Arial"/>
              </a:rPr>
              <a:t> Su desviación de 6,60 es la menor de las seis, con un mínimo de 5,39 unidades. Las otras bajan hasta 2,82, lo que en series pequeñas deja un margen demasiado ajustado.</a:t>
            </a:r>
          </a:p>
        </p:txBody>
      </p:sp>
      <p:sp>
        <p:nvSpPr>
          <p:cNvPr id="11" name="Rectangle 10"/>
          <p:cNvSpPr/>
          <p:nvPr/>
        </p:nvSpPr>
        <p:spPr>
          <a:xfrm>
            <a:off x="6858000" y="320725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59168" y="3106674"/>
            <a:ext cx="4355287" cy="445008"/>
          </a:xfrm>
          <a:prstGeom prst="rect">
            <a:avLst/>
          </a:prstGeom>
          <a:noFill/>
        </p:spPr>
        <p:txBody>
          <a:bodyPr wrap="square" lIns="0" rIns="0" tIns="0" bIns="0">
            <a:spAutoFit/>
          </a:bodyPr>
          <a:lstStyle/>
          <a:p>
            <a:pPr>
              <a:lnSpc>
                <a:spcPct val="124000"/>
              </a:lnSpc>
              <a:spcAft>
                <a:spcPts val="0"/>
              </a:spcAft>
            </a:pPr>
            <a:r>
              <a:rPr sz="1200" b="1">
                <a:solidFill>
                  <a:srgbClr val="17150F"/>
                </a:solidFill>
                <a:latin typeface="Arial"/>
              </a:rPr>
              <a:t>Coste de cómputo despreciable</a:t>
            </a:r>
            <a:r>
              <a:rPr sz="1200" b="0">
                <a:solidFill>
                  <a:srgbClr val="555045"/>
                </a:solidFill>
                <a:latin typeface="Arial"/>
              </a:rPr>
              <a:t> y sin dependencias adicionales.</a:t>
            </a:r>
          </a:p>
        </p:txBody>
      </p:sp>
      <p:sp>
        <p:nvSpPr>
          <p:cNvPr id="13" name="Rectangle 12"/>
          <p:cNvSpPr/>
          <p:nvPr/>
        </p:nvSpPr>
        <p:spPr>
          <a:xfrm>
            <a:off x="6858000" y="378028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59168" y="3679698"/>
            <a:ext cx="4355287" cy="649224"/>
          </a:xfrm>
          <a:prstGeom prst="rect">
            <a:avLst/>
          </a:prstGeom>
          <a:noFill/>
        </p:spPr>
        <p:txBody>
          <a:bodyPr wrap="square" lIns="0" rIns="0" tIns="0" bIns="0">
            <a:spAutoFit/>
          </a:bodyPr>
          <a:lstStyle/>
          <a:p>
            <a:pPr>
              <a:lnSpc>
                <a:spcPct val="124000"/>
              </a:lnSpc>
              <a:spcAft>
                <a:spcPts val="0"/>
              </a:spcAft>
            </a:pPr>
            <a:r>
              <a:rPr sz="1200" b="1">
                <a:solidFill>
                  <a:srgbClr val="17150F"/>
                </a:solidFill>
                <a:latin typeface="Arial"/>
              </a:rPr>
              <a:t>Las configuraciones puntuales dan colchón plano</a:t>
            </a:r>
            <a:r>
              <a:rPr sz="1200" b="0">
                <a:solidFill>
                  <a:srgbClr val="555045"/>
                </a:solidFill>
                <a:latin typeface="Arial"/>
              </a:rPr>
              <a:t>: asignan el mismo margen a las 160 series, a la más estable y a la más volátil. Por eso se descartan.</a:t>
            </a:r>
          </a:p>
        </p:txBody>
      </p:sp>
      <p:sp>
        <p:nvSpPr>
          <p:cNvPr id="15" name="TextBox 14"/>
          <p:cNvSpPr txBox="1"/>
          <p:nvPr/>
        </p:nvSpPr>
        <p:spPr>
          <a:xfrm>
            <a:off x="6858000" y="5532120"/>
            <a:ext cx="4556455" cy="640080"/>
          </a:xfrm>
          <a:prstGeom prst="rect">
            <a:avLst/>
          </a:prstGeom>
          <a:noFill/>
        </p:spPr>
        <p:txBody>
          <a:bodyPr wrap="square" lIns="0" rIns="0" tIns="0" bIns="0">
            <a:spAutoFit/>
          </a:bodyPr>
          <a:lstStyle/>
          <a:p>
            <a:pPr algn="l">
              <a:lnSpc>
                <a:spcPct val="125000"/>
              </a:lnSpc>
              <a:spcBef>
                <a:spcPts val="0"/>
              </a:spcBef>
              <a:spcAft>
                <a:spcPts val="0"/>
              </a:spcAft>
            </a:pPr>
            <a:r>
              <a:rPr sz="1350" b="1">
                <a:solidFill>
                  <a:srgbClr val="8C2F39"/>
                </a:solidFill>
                <a:latin typeface="Arial"/>
              </a:rPr>
              <a:t>Configuración operativa: regresión cuantílica relativa.</a:t>
            </a:r>
          </a:p>
        </p:txBody>
      </p:sp>
      <p:sp>
        <p:nvSpPr>
          <p:cNvPr id="16" name="Rectangle 15"/>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Paso 10 · Selección de familia</a:t>
            </a:r>
          </a:p>
        </p:txBody>
      </p:sp>
      <p:sp>
        <p:nvSpPr>
          <p:cNvPr id="18" name="TextBox 17"/>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PASO 11 · LA REJILLA ENTRENADA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445770"/>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El nivel de servicio que se promete es real, no una etiqueta</a:t>
            </a:r>
          </a:p>
        </p:txBody>
      </p:sp>
      <p:pic>
        <p:nvPicPr>
          <p:cNvPr id="6" name="Picture 5" descr="17_cobertura_niveles.png"/>
          <p:cNvPicPr>
            <a:picLocks noChangeAspect="1"/>
          </p:cNvPicPr>
          <p:nvPr/>
        </p:nvPicPr>
        <p:blipFill>
          <a:blip r:embed="rId2"/>
          <a:stretch>
            <a:fillRect/>
          </a:stretch>
        </p:blipFill>
        <p:spPr>
          <a:xfrm>
            <a:off x="777240" y="1506474"/>
            <a:ext cx="5760720" cy="3892378"/>
          </a:xfrm>
          <a:prstGeom prst="rect">
            <a:avLst/>
          </a:prstGeom>
        </p:spPr>
      </p:pic>
      <p:graphicFrame>
        <p:nvGraphicFramePr>
          <p:cNvPr id="7" name="Table 6"/>
          <p:cNvGraphicFramePr>
            <a:graphicFrameLocks noGrp="1"/>
          </p:cNvGraphicFramePr>
          <p:nvPr/>
        </p:nvGraphicFramePr>
        <p:xfrm>
          <a:off x="6858000" y="1552194"/>
          <a:ext cx="4556453" cy="2267712"/>
        </p:xfrm>
        <a:graphic>
          <a:graphicData uri="http://schemas.openxmlformats.org/drawingml/2006/table">
            <a:tbl>
              <a:tblPr bandRow="1">
                <a:tableStyleId>{5C22544A-7EE6-4342-B048-85BDC9FD1C3A}</a:tableStyleId>
              </a:tblPr>
              <a:tblGrid>
                <a:gridCol w="1458065"/>
                <a:gridCol w="1640323"/>
                <a:gridCol w="1458065"/>
              </a:tblGrid>
              <a:tr h="347472">
                <a:tc>
                  <a:txBody>
                    <a:bodyPr/>
                    <a:lstStyle/>
                    <a:p>
                      <a:pPr algn="l"/>
                      <a:r>
                        <a:rPr sz="1000" b="1">
                          <a:solidFill>
                            <a:srgbClr val="8B8478"/>
                          </a:solidFill>
                          <a:latin typeface="Arial"/>
                        </a:rPr>
                        <a:t>Nivel</a:t>
                      </a:r>
                    </a:p>
                  </a:txBody>
                  <a:tcPr marL="82296" marR="82296" anchor="ctr">
                    <a:solidFill>
                      <a:srgbClr val="F4F2ED"/>
                    </a:solidFill>
                  </a:tcPr>
                </a:tc>
                <a:tc>
                  <a:txBody>
                    <a:bodyPr/>
                    <a:lstStyle/>
                    <a:p>
                      <a:pPr algn="r"/>
                      <a:r>
                        <a:rPr sz="1000" b="1">
                          <a:solidFill>
                            <a:srgbClr val="8B8478"/>
                          </a:solidFill>
                          <a:latin typeface="Arial"/>
                        </a:rPr>
                        <a:t>Cobertura</a:t>
                      </a:r>
                    </a:p>
                  </a:txBody>
                  <a:tcPr marL="82296" marR="82296" anchor="ctr">
                    <a:solidFill>
                      <a:srgbClr val="F4F2ED"/>
                    </a:solidFill>
                  </a:tcPr>
                </a:tc>
                <a:tc>
                  <a:txBody>
                    <a:bodyPr/>
                    <a:lstStyle/>
                    <a:p>
                      <a:pPr algn="r"/>
                      <a:r>
                        <a:rPr sz="1000" b="1">
                          <a:solidFill>
                            <a:srgbClr val="8B8478"/>
                          </a:solidFill>
                          <a:latin typeface="Arial"/>
                        </a:rPr>
                        <a:t>Desvío</a:t>
                      </a:r>
                    </a:p>
                  </a:txBody>
                  <a:tcPr marL="82296" marR="82296" anchor="ctr">
                    <a:solidFill>
                      <a:srgbClr val="F4F2ED"/>
                    </a:solidFill>
                  </a:tcPr>
                </a:tc>
              </a:tr>
              <a:tr h="274320">
                <a:tc>
                  <a:txBody>
                    <a:bodyPr/>
                    <a:lstStyle/>
                    <a:p>
                      <a:pPr algn="l"/>
                      <a:r>
                        <a:rPr sz="1150" b="0">
                          <a:solidFill>
                            <a:srgbClr val="17150F"/>
                          </a:solidFill>
                          <a:latin typeface="Arial"/>
                        </a:rPr>
                        <a:t>0,50</a:t>
                      </a:r>
                    </a:p>
                  </a:txBody>
                  <a:tcPr marL="82296" marR="82296" anchor="ctr">
                    <a:solidFill>
                      <a:srgbClr val="FFFFFF"/>
                    </a:solidFill>
                  </a:tcPr>
                </a:tc>
                <a:tc>
                  <a:txBody>
                    <a:bodyPr/>
                    <a:lstStyle/>
                    <a:p>
                      <a:pPr algn="r"/>
                      <a:r>
                        <a:rPr sz="1150" b="0">
                          <a:solidFill>
                            <a:srgbClr val="555045"/>
                          </a:solidFill>
                          <a:latin typeface="Arial"/>
                        </a:rPr>
                        <a:t>0,510</a:t>
                      </a:r>
                    </a:p>
                  </a:txBody>
                  <a:tcPr marL="82296" marR="82296" anchor="ctr">
                    <a:solidFill>
                      <a:srgbClr val="FFFFFF"/>
                    </a:solidFill>
                  </a:tcPr>
                </a:tc>
                <a:tc>
                  <a:txBody>
                    <a:bodyPr/>
                    <a:lstStyle/>
                    <a:p>
                      <a:pPr algn="r"/>
                      <a:r>
                        <a:rPr sz="1150" b="0">
                          <a:solidFill>
                            <a:srgbClr val="555045"/>
                          </a:solidFill>
                          <a:latin typeface="Arial"/>
                        </a:rPr>
                        <a:t>+0,010</a:t>
                      </a:r>
                    </a:p>
                  </a:txBody>
                  <a:tcPr marL="82296" marR="82296" anchor="ctr">
                    <a:solidFill>
                      <a:srgbClr val="FFFFFF"/>
                    </a:solidFill>
                  </a:tcPr>
                </a:tc>
              </a:tr>
              <a:tr h="274320">
                <a:tc>
                  <a:txBody>
                    <a:bodyPr/>
                    <a:lstStyle/>
                    <a:p>
                      <a:pPr algn="l"/>
                      <a:r>
                        <a:rPr sz="1150" b="0">
                          <a:solidFill>
                            <a:srgbClr val="17150F"/>
                          </a:solidFill>
                          <a:latin typeface="Arial"/>
                        </a:rPr>
                        <a:t>0,59</a:t>
                      </a:r>
                    </a:p>
                  </a:txBody>
                  <a:tcPr marL="82296" marR="82296" anchor="ctr">
                    <a:solidFill>
                      <a:srgbClr val="FFFFFF"/>
                    </a:solidFill>
                  </a:tcPr>
                </a:tc>
                <a:tc>
                  <a:txBody>
                    <a:bodyPr/>
                    <a:lstStyle/>
                    <a:p>
                      <a:pPr algn="r"/>
                      <a:r>
                        <a:rPr sz="1150" b="0">
                          <a:solidFill>
                            <a:srgbClr val="555045"/>
                          </a:solidFill>
                          <a:latin typeface="Arial"/>
                        </a:rPr>
                        <a:t>0,633</a:t>
                      </a:r>
                    </a:p>
                  </a:txBody>
                  <a:tcPr marL="82296" marR="82296" anchor="ctr">
                    <a:solidFill>
                      <a:srgbClr val="FFFFFF"/>
                    </a:solidFill>
                  </a:tcPr>
                </a:tc>
                <a:tc>
                  <a:txBody>
                    <a:bodyPr/>
                    <a:lstStyle/>
                    <a:p>
                      <a:pPr algn="r"/>
                      <a:r>
                        <a:rPr sz="1150" b="0">
                          <a:solidFill>
                            <a:srgbClr val="555045"/>
                          </a:solidFill>
                          <a:latin typeface="Arial"/>
                        </a:rPr>
                        <a:t>+0,043</a:t>
                      </a:r>
                    </a:p>
                  </a:txBody>
                  <a:tcPr marL="82296" marR="82296" anchor="ctr">
                    <a:solidFill>
                      <a:srgbClr val="FFFFFF"/>
                    </a:solidFill>
                  </a:tcPr>
                </a:tc>
              </a:tr>
              <a:tr h="274320">
                <a:tc>
                  <a:txBody>
                    <a:bodyPr/>
                    <a:lstStyle/>
                    <a:p>
                      <a:pPr algn="l"/>
                      <a:r>
                        <a:rPr sz="1150" b="0">
                          <a:solidFill>
                            <a:srgbClr val="17150F"/>
                          </a:solidFill>
                          <a:latin typeface="Arial"/>
                        </a:rPr>
                        <a:t>0,65</a:t>
                      </a:r>
                    </a:p>
                  </a:txBody>
                  <a:tcPr marL="82296" marR="82296" anchor="ctr">
                    <a:solidFill>
                      <a:srgbClr val="FFFFFF"/>
                    </a:solidFill>
                  </a:tcPr>
                </a:tc>
                <a:tc>
                  <a:txBody>
                    <a:bodyPr/>
                    <a:lstStyle/>
                    <a:p>
                      <a:pPr algn="r"/>
                      <a:r>
                        <a:rPr sz="1150" b="0">
                          <a:solidFill>
                            <a:srgbClr val="555045"/>
                          </a:solidFill>
                          <a:latin typeface="Arial"/>
                        </a:rPr>
                        <a:t>0,675</a:t>
                      </a:r>
                    </a:p>
                  </a:txBody>
                  <a:tcPr marL="82296" marR="82296" anchor="ctr">
                    <a:solidFill>
                      <a:srgbClr val="FFFFFF"/>
                    </a:solidFill>
                  </a:tcPr>
                </a:tc>
                <a:tc>
                  <a:txBody>
                    <a:bodyPr/>
                    <a:lstStyle/>
                    <a:p>
                      <a:pPr algn="r"/>
                      <a:r>
                        <a:rPr sz="1150" b="0">
                          <a:solidFill>
                            <a:srgbClr val="555045"/>
                          </a:solidFill>
                          <a:latin typeface="Arial"/>
                        </a:rPr>
                        <a:t>+0,025</a:t>
                      </a:r>
                    </a:p>
                  </a:txBody>
                  <a:tcPr marL="82296" marR="82296" anchor="ctr">
                    <a:solidFill>
                      <a:srgbClr val="FFFFFF"/>
                    </a:solidFill>
                  </a:tcPr>
                </a:tc>
              </a:tr>
              <a:tr h="274320">
                <a:tc>
                  <a:txBody>
                    <a:bodyPr/>
                    <a:lstStyle/>
                    <a:p>
                      <a:pPr algn="l"/>
                      <a:r>
                        <a:rPr sz="1150" b="1">
                          <a:solidFill>
                            <a:srgbClr val="17150F"/>
                          </a:solidFill>
                          <a:latin typeface="Arial"/>
                        </a:rPr>
                        <a:t>0,68</a:t>
                      </a:r>
                    </a:p>
                  </a:txBody>
                  <a:tcPr marL="82296" marR="82296" anchor="ctr">
                    <a:solidFill>
                      <a:srgbClr val="F7EEEF"/>
                    </a:solidFill>
                  </a:tcPr>
                </a:tc>
                <a:tc>
                  <a:txBody>
                    <a:bodyPr/>
                    <a:lstStyle/>
                    <a:p>
                      <a:pPr algn="r"/>
                      <a:r>
                        <a:rPr sz="1150" b="1">
                          <a:solidFill>
                            <a:srgbClr val="17150F"/>
                          </a:solidFill>
                          <a:latin typeface="Arial"/>
                        </a:rPr>
                        <a:t>0,692</a:t>
                      </a:r>
                    </a:p>
                  </a:txBody>
                  <a:tcPr marL="82296" marR="82296" anchor="ctr">
                    <a:solidFill>
                      <a:srgbClr val="F7EEEF"/>
                    </a:solidFill>
                  </a:tcPr>
                </a:tc>
                <a:tc>
                  <a:txBody>
                    <a:bodyPr/>
                    <a:lstStyle/>
                    <a:p>
                      <a:pPr algn="r"/>
                      <a:r>
                        <a:rPr sz="1150" b="1">
                          <a:solidFill>
                            <a:srgbClr val="17150F"/>
                          </a:solidFill>
                          <a:latin typeface="Arial"/>
                        </a:rPr>
                        <a:t>+0,012</a:t>
                      </a:r>
                    </a:p>
                  </a:txBody>
                  <a:tcPr marL="82296" marR="82296" anchor="ctr">
                    <a:solidFill>
                      <a:srgbClr val="F7EEEF"/>
                    </a:solidFill>
                  </a:tcPr>
                </a:tc>
              </a:tr>
              <a:tr h="274320">
                <a:tc>
                  <a:txBody>
                    <a:bodyPr/>
                    <a:lstStyle/>
                    <a:p>
                      <a:pPr algn="l"/>
                      <a:r>
                        <a:rPr sz="1150" b="0">
                          <a:solidFill>
                            <a:srgbClr val="17150F"/>
                          </a:solidFill>
                          <a:latin typeface="Arial"/>
                        </a:rPr>
                        <a:t>0,81</a:t>
                      </a:r>
                    </a:p>
                  </a:txBody>
                  <a:tcPr marL="82296" marR="82296" anchor="ctr">
                    <a:solidFill>
                      <a:srgbClr val="FFFFFF"/>
                    </a:solidFill>
                  </a:tcPr>
                </a:tc>
                <a:tc>
                  <a:txBody>
                    <a:bodyPr/>
                    <a:lstStyle/>
                    <a:p>
                      <a:pPr algn="r"/>
                      <a:r>
                        <a:rPr sz="1150" b="0">
                          <a:solidFill>
                            <a:srgbClr val="555045"/>
                          </a:solidFill>
                          <a:latin typeface="Arial"/>
                        </a:rPr>
                        <a:t>0,785</a:t>
                      </a:r>
                    </a:p>
                  </a:txBody>
                  <a:tcPr marL="82296" marR="82296" anchor="ctr">
                    <a:solidFill>
                      <a:srgbClr val="FFFFFF"/>
                    </a:solidFill>
                  </a:tcPr>
                </a:tc>
                <a:tc>
                  <a:txBody>
                    <a:bodyPr/>
                    <a:lstStyle/>
                    <a:p>
                      <a:pPr algn="r"/>
                      <a:r>
                        <a:rPr sz="1150" b="0">
                          <a:solidFill>
                            <a:srgbClr val="555045"/>
                          </a:solidFill>
                          <a:latin typeface="Arial"/>
                        </a:rPr>
                        <a:t>−0,025</a:t>
                      </a:r>
                    </a:p>
                  </a:txBody>
                  <a:tcPr marL="82296" marR="82296" anchor="ctr">
                    <a:solidFill>
                      <a:srgbClr val="FFFFFF"/>
                    </a:solidFill>
                  </a:tcPr>
                </a:tc>
              </a:tr>
              <a:tr h="274320">
                <a:tc>
                  <a:txBody>
                    <a:bodyPr/>
                    <a:lstStyle/>
                    <a:p>
                      <a:pPr algn="l"/>
                      <a:r>
                        <a:rPr sz="1150" b="0">
                          <a:solidFill>
                            <a:srgbClr val="17150F"/>
                          </a:solidFill>
                          <a:latin typeface="Arial"/>
                        </a:rPr>
                        <a:t>0,90</a:t>
                      </a:r>
                    </a:p>
                  </a:txBody>
                  <a:tcPr marL="82296" marR="82296" anchor="ctr">
                    <a:solidFill>
                      <a:srgbClr val="FFFFFF"/>
                    </a:solidFill>
                  </a:tcPr>
                </a:tc>
                <a:tc>
                  <a:txBody>
                    <a:bodyPr/>
                    <a:lstStyle/>
                    <a:p>
                      <a:pPr algn="r"/>
                      <a:r>
                        <a:rPr sz="1150" b="0">
                          <a:solidFill>
                            <a:srgbClr val="555045"/>
                          </a:solidFill>
                          <a:latin typeface="Arial"/>
                        </a:rPr>
                        <a:t>0,888</a:t>
                      </a:r>
                    </a:p>
                  </a:txBody>
                  <a:tcPr marL="82296" marR="82296" anchor="ctr">
                    <a:solidFill>
                      <a:srgbClr val="FFFFFF"/>
                    </a:solidFill>
                  </a:tcPr>
                </a:tc>
                <a:tc>
                  <a:txBody>
                    <a:bodyPr/>
                    <a:lstStyle/>
                    <a:p>
                      <a:pPr algn="r"/>
                      <a:r>
                        <a:rPr sz="1150" b="0">
                          <a:solidFill>
                            <a:srgbClr val="555045"/>
                          </a:solidFill>
                          <a:latin typeface="Arial"/>
                        </a:rPr>
                        <a:t>−0,013</a:t>
                      </a:r>
                    </a:p>
                  </a:txBody>
                  <a:tcPr marL="82296" marR="82296" anchor="ctr">
                    <a:solidFill>
                      <a:srgbClr val="FFFFFF"/>
                    </a:solidFill>
                  </a:tcPr>
                </a:tc>
              </a:tr>
              <a:tr h="274320">
                <a:tc>
                  <a:txBody>
                    <a:bodyPr/>
                    <a:lstStyle/>
                    <a:p>
                      <a:pPr algn="l"/>
                      <a:r>
                        <a:rPr sz="1150" b="0">
                          <a:solidFill>
                            <a:srgbClr val="17150F"/>
                          </a:solidFill>
                          <a:latin typeface="Arial"/>
                        </a:rPr>
                        <a:t>0,99</a:t>
                      </a:r>
                    </a:p>
                  </a:txBody>
                  <a:tcPr marL="82296" marR="82296" anchor="ctr">
                    <a:solidFill>
                      <a:srgbClr val="FFFFFF"/>
                    </a:solidFill>
                  </a:tcPr>
                </a:tc>
                <a:tc>
                  <a:txBody>
                    <a:bodyPr/>
                    <a:lstStyle/>
                    <a:p>
                      <a:pPr algn="r"/>
                      <a:r>
                        <a:rPr sz="1150" b="0">
                          <a:solidFill>
                            <a:srgbClr val="555045"/>
                          </a:solidFill>
                          <a:latin typeface="Arial"/>
                        </a:rPr>
                        <a:t>0,996</a:t>
                      </a:r>
                    </a:p>
                  </a:txBody>
                  <a:tcPr marL="82296" marR="82296" anchor="ctr">
                    <a:solidFill>
                      <a:srgbClr val="FFFFFF"/>
                    </a:solidFill>
                  </a:tcPr>
                </a:tc>
                <a:tc>
                  <a:txBody>
                    <a:bodyPr/>
                    <a:lstStyle/>
                    <a:p>
                      <a:pPr algn="r"/>
                      <a:r>
                        <a:rPr sz="1150" b="0">
                          <a:solidFill>
                            <a:srgbClr val="555045"/>
                          </a:solidFill>
                          <a:latin typeface="Arial"/>
                        </a:rPr>
                        <a:t>+0,006</a:t>
                      </a:r>
                    </a:p>
                  </a:txBody>
                  <a:tcPr marL="82296" marR="82296" anchor="ctr">
                    <a:solidFill>
                      <a:srgbClr val="FFFFFF"/>
                    </a:solidFill>
                  </a:tcPr>
                </a:tc>
              </a:tr>
            </a:tbl>
          </a:graphicData>
        </a:graphic>
      </p:graphicFrame>
      <p:sp>
        <p:nvSpPr>
          <p:cNvPr id="8" name="TextBox 7"/>
          <p:cNvSpPr txBox="1"/>
          <p:nvPr/>
        </p:nvSpPr>
        <p:spPr>
          <a:xfrm>
            <a:off x="6858000" y="4021074"/>
            <a:ext cx="4556455" cy="2011680"/>
          </a:xfrm>
          <a:prstGeom prst="rect">
            <a:avLst/>
          </a:prstGeom>
          <a:noFill/>
        </p:spPr>
        <p:txBody>
          <a:bodyPr wrap="square" lIns="0" rIns="0" tIns="0" bIns="0">
            <a:spAutoFit/>
          </a:bodyPr>
          <a:lstStyle/>
          <a:p>
            <a:pPr algn="l">
              <a:lnSpc>
                <a:spcPct val="128000"/>
              </a:lnSpc>
              <a:spcBef>
                <a:spcPts val="0"/>
              </a:spcBef>
              <a:spcAft>
                <a:spcPts val="1000"/>
              </a:spcAft>
            </a:pPr>
            <a:r>
              <a:rPr sz="1250" b="0">
                <a:solidFill>
                  <a:srgbClr val="555045"/>
                </a:solidFill>
                <a:latin typeface="Arial"/>
              </a:rPr>
              <a:t>Cuando la política promete cubrir el 68 % de las semanas, cubre el 69 %. El desvío medio es de +0,006 y el peor caso de 0,043.</a:t>
            </a:r>
          </a:p>
          <a:p>
            <a:pPr algn="l">
              <a:lnSpc>
                <a:spcPct val="128000"/>
              </a:lnSpc>
              <a:spcBef>
                <a:spcPts val="0"/>
              </a:spcBef>
              <a:spcAft>
                <a:spcPts val="0"/>
              </a:spcAft>
            </a:pPr>
            <a:r>
              <a:rPr sz="1250" b="0">
                <a:solidFill>
                  <a:srgbClr val="555045"/>
                </a:solidFill>
                <a:latin typeface="Arial"/>
              </a:rPr>
              <a:t>Los niveles se ajustan por separado, así que se detectaron 413 cruces sobre 480 filas. Pero el cruce máximo es de 0,93 unidades: ruido numérico entre niveles casi idénticos. Se corrige ordenando cada fila y no queda ninguno.</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Paso 11 · Rejilla de niveles</a:t>
            </a:r>
          </a:p>
        </p:txBody>
      </p:sp>
      <p:sp>
        <p:nvSpPr>
          <p:cNvPr id="11" name="TextBox 10"/>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PASO 11 · LA REJILLA ENTRENADA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836676"/>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El abanico se adapta a cada serie, que es para lo que se eligió</a:t>
            </a:r>
          </a:p>
        </p:txBody>
      </p:sp>
      <p:pic>
        <p:nvPicPr>
          <p:cNvPr id="6" name="Picture 5" descr="16_abanico_series.png"/>
          <p:cNvPicPr>
            <a:picLocks noChangeAspect="1"/>
          </p:cNvPicPr>
          <p:nvPr/>
        </p:nvPicPr>
        <p:blipFill>
          <a:blip r:embed="rId2"/>
          <a:stretch>
            <a:fillRect/>
          </a:stretch>
        </p:blipFill>
        <p:spPr>
          <a:xfrm>
            <a:off x="777240" y="1897380"/>
            <a:ext cx="5852160" cy="1651819"/>
          </a:xfrm>
          <a:prstGeom prst="rect">
            <a:avLst/>
          </a:prstGeom>
        </p:spPr>
      </p:pic>
      <p:sp>
        <p:nvSpPr>
          <p:cNvPr id="7" name="TextBox 6"/>
          <p:cNvSpPr txBox="1"/>
          <p:nvPr/>
        </p:nvSpPr>
        <p:spPr>
          <a:xfrm>
            <a:off x="6949440" y="2125980"/>
            <a:ext cx="4465015" cy="3657600"/>
          </a:xfrm>
          <a:prstGeom prst="rect">
            <a:avLst/>
          </a:prstGeom>
          <a:noFill/>
        </p:spPr>
        <p:txBody>
          <a:bodyPr wrap="square" lIns="0" rIns="0" tIns="0" bIns="0">
            <a:spAutoFit/>
          </a:bodyPr>
          <a:lstStyle/>
          <a:p>
            <a:pPr algn="l">
              <a:lnSpc>
                <a:spcPct val="130000"/>
              </a:lnSpc>
              <a:spcBef>
                <a:spcPts val="0"/>
              </a:spcBef>
              <a:spcAft>
                <a:spcPts val="1400"/>
              </a:spcAft>
            </a:pPr>
            <a:r>
              <a:rPr sz="1350" b="0">
                <a:solidFill>
                  <a:srgbClr val="555045"/>
                </a:solidFill>
                <a:latin typeface="Arial"/>
              </a:rPr>
              <a:t>Cuatro series de volatilidad distinta con su abanico de cuantiles.</a:t>
            </a:r>
          </a:p>
          <a:p>
            <a:pPr algn="l">
              <a:lnSpc>
                <a:spcPct val="130000"/>
              </a:lnSpc>
              <a:spcBef>
                <a:spcPts val="0"/>
              </a:spcBef>
              <a:spcAft>
                <a:spcPts val="1400"/>
              </a:spcAft>
            </a:pPr>
            <a:r>
              <a:rPr sz="1350" b="0">
                <a:solidFill>
                  <a:srgbClr val="555045"/>
                </a:solidFill>
                <a:latin typeface="Arial"/>
              </a:rPr>
              <a:t>El ancho entre el nivel alto y el central va de 5,4 a 37,9 unidades según la serie, casi el doble de amplitud que en la versión absoluta.</a:t>
            </a:r>
          </a:p>
          <a:p>
            <a:pPr algn="l">
              <a:lnSpc>
                <a:spcPct val="130000"/>
              </a:lnSpc>
              <a:spcBef>
                <a:spcPts val="0"/>
              </a:spcBef>
              <a:spcAft>
                <a:spcPts val="0"/>
              </a:spcAft>
            </a:pPr>
            <a:r>
              <a:rPr sz="1350" b="1">
                <a:solidFill>
                  <a:srgbClr val="17150F"/>
                </a:solidFill>
                <a:latin typeface="Arial"/>
              </a:rPr>
              <a:t>Una serie tranquila no recibe el mismo margen que una volátil. Un modelo puntual, por bueno que sea acertando el centro, no puede hacer esto.</a:t>
            </a:r>
          </a:p>
        </p:txBody>
      </p:sp>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Paso 11 · Rejilla de niveles</a:t>
            </a:r>
          </a:p>
        </p:txBody>
      </p:sp>
      <p:sp>
        <p:nvSpPr>
          <p:cNvPr id="10" name="TextBox 9"/>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PASO 12 · DIAGNÓSTICO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445770"/>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El error se concentra en las tiendas pequeñas</a:t>
            </a:r>
          </a:p>
        </p:txBody>
      </p:sp>
      <p:pic>
        <p:nvPicPr>
          <p:cNvPr id="6" name="Picture 5" descr="18_error_por_grupo.png"/>
          <p:cNvPicPr>
            <a:picLocks noChangeAspect="1"/>
          </p:cNvPicPr>
          <p:nvPr/>
        </p:nvPicPr>
        <p:blipFill>
          <a:blip r:embed="rId2"/>
          <a:stretch>
            <a:fillRect/>
          </a:stretch>
        </p:blipFill>
        <p:spPr>
          <a:xfrm>
            <a:off x="777240" y="1506474"/>
            <a:ext cx="5760720" cy="2409028"/>
          </a:xfrm>
          <a:prstGeom prst="rect">
            <a:avLst/>
          </a:prstGeom>
        </p:spPr>
      </p:pic>
      <p:graphicFrame>
        <p:nvGraphicFramePr>
          <p:cNvPr id="7" name="Table 6"/>
          <p:cNvGraphicFramePr>
            <a:graphicFrameLocks noGrp="1"/>
          </p:cNvGraphicFramePr>
          <p:nvPr/>
        </p:nvGraphicFramePr>
        <p:xfrm>
          <a:off x="6858000" y="1552194"/>
          <a:ext cx="4556454" cy="1517904"/>
        </p:xfrm>
        <a:graphic>
          <a:graphicData uri="http://schemas.openxmlformats.org/drawingml/2006/table">
            <a:tbl>
              <a:tblPr bandRow="1">
                <a:tableStyleId>{5C22544A-7EE6-4342-B048-85BDC9FD1C3A}</a:tableStyleId>
              </a:tblPr>
              <a:tblGrid>
                <a:gridCol w="1549194"/>
                <a:gridCol w="1002420"/>
                <a:gridCol w="1002420"/>
                <a:gridCol w="1002420"/>
              </a:tblGrid>
              <a:tr h="347472">
                <a:tc>
                  <a:txBody>
                    <a:bodyPr/>
                    <a:lstStyle/>
                    <a:p>
                      <a:pPr algn="l"/>
                      <a:r>
                        <a:rPr sz="1000" b="1">
                          <a:solidFill>
                            <a:srgbClr val="8B8478"/>
                          </a:solidFill>
                          <a:latin typeface="Arial"/>
                        </a:rPr>
                        <a:t>Tramo</a:t>
                      </a:r>
                    </a:p>
                  </a:txBody>
                  <a:tcPr marL="82296" marR="82296" anchor="ctr">
                    <a:solidFill>
                      <a:srgbClr val="F4F2ED"/>
                    </a:solidFill>
                  </a:tcPr>
                </a:tc>
                <a:tc>
                  <a:txBody>
                    <a:bodyPr/>
                    <a:lstStyle/>
                    <a:p>
                      <a:pPr algn="r"/>
                      <a:r>
                        <a:rPr sz="1000" b="1">
                          <a:solidFill>
                            <a:srgbClr val="8B8478"/>
                          </a:solidFill>
                          <a:latin typeface="Arial"/>
                        </a:rPr>
                        <a:t>Demanda</a:t>
                      </a:r>
                    </a:p>
                  </a:txBody>
                  <a:tcPr marL="82296" marR="82296" anchor="ctr">
                    <a:solidFill>
                      <a:srgbClr val="F4F2ED"/>
                    </a:solidFill>
                  </a:tcPr>
                </a:tc>
                <a:tc>
                  <a:txBody>
                    <a:bodyPr/>
                    <a:lstStyle/>
                    <a:p>
                      <a:pPr algn="r"/>
                      <a:r>
                        <a:rPr sz="1000" b="1">
                          <a:solidFill>
                            <a:srgbClr val="8B8478"/>
                          </a:solidFill>
                          <a:latin typeface="Arial"/>
                        </a:rPr>
                        <a:t>Error</a:t>
                      </a:r>
                    </a:p>
                  </a:txBody>
                  <a:tcPr marL="82296" marR="82296" anchor="ctr">
                    <a:solidFill>
                      <a:srgbClr val="F4F2ED"/>
                    </a:solidFill>
                  </a:tcPr>
                </a:tc>
                <a:tc>
                  <a:txBody>
                    <a:bodyPr/>
                    <a:lstStyle/>
                    <a:p>
                      <a:pPr algn="r"/>
                      <a:r>
                        <a:rPr sz="1000" b="1">
                          <a:solidFill>
                            <a:srgbClr val="8B8478"/>
                          </a:solidFill>
                          <a:latin typeface="Arial"/>
                        </a:rPr>
                        <a:t>Sesgo</a:t>
                      </a:r>
                    </a:p>
                  </a:txBody>
                  <a:tcPr marL="82296" marR="82296" anchor="ctr">
                    <a:solidFill>
                      <a:srgbClr val="F4F2ED"/>
                    </a:solidFill>
                  </a:tcPr>
                </a:tc>
              </a:tr>
              <a:tr h="292608">
                <a:tc>
                  <a:txBody>
                    <a:bodyPr/>
                    <a:lstStyle/>
                    <a:p>
                      <a:pPr algn="l"/>
                      <a:r>
                        <a:rPr sz="1150" b="0">
                          <a:solidFill>
                            <a:srgbClr val="17150F"/>
                          </a:solidFill>
                          <a:latin typeface="Arial"/>
                        </a:rPr>
                        <a:t>1 · el más bajo</a:t>
                      </a:r>
                    </a:p>
                  </a:txBody>
                  <a:tcPr marL="82296" marR="82296" anchor="ctr">
                    <a:solidFill>
                      <a:srgbClr val="FFFFFF"/>
                    </a:solidFill>
                  </a:tcPr>
                </a:tc>
                <a:tc>
                  <a:txBody>
                    <a:bodyPr/>
                    <a:lstStyle/>
                    <a:p>
                      <a:pPr algn="r"/>
                      <a:r>
                        <a:rPr sz="1150" b="0">
                          <a:solidFill>
                            <a:srgbClr val="555045"/>
                          </a:solidFill>
                          <a:latin typeface="Arial"/>
                        </a:rPr>
                        <a:t>44,6</a:t>
                      </a:r>
                    </a:p>
                  </a:txBody>
                  <a:tcPr marL="82296" marR="82296" anchor="ctr">
                    <a:solidFill>
                      <a:srgbClr val="FFFFFF"/>
                    </a:solidFill>
                  </a:tcPr>
                </a:tc>
                <a:tc>
                  <a:txBody>
                    <a:bodyPr/>
                    <a:lstStyle/>
                    <a:p>
                      <a:pPr algn="r"/>
                      <a:r>
                        <a:rPr sz="1150" b="0">
                          <a:solidFill>
                            <a:srgbClr val="555045"/>
                          </a:solidFill>
                          <a:latin typeface="Arial"/>
                        </a:rPr>
                        <a:t>17,8 %</a:t>
                      </a:r>
                    </a:p>
                  </a:txBody>
                  <a:tcPr marL="82296" marR="82296" anchor="ctr">
                    <a:solidFill>
                      <a:srgbClr val="FFFFFF"/>
                    </a:solidFill>
                  </a:tcPr>
                </a:tc>
                <a:tc>
                  <a:txBody>
                    <a:bodyPr/>
                    <a:lstStyle/>
                    <a:p>
                      <a:pPr algn="r"/>
                      <a:r>
                        <a:rPr sz="1150" b="0">
                          <a:solidFill>
                            <a:srgbClr val="555045"/>
                          </a:solidFill>
                          <a:latin typeface="Arial"/>
                        </a:rPr>
                        <a:t>−3,44</a:t>
                      </a:r>
                    </a:p>
                  </a:txBody>
                  <a:tcPr marL="82296" marR="82296" anchor="ctr">
                    <a:solidFill>
                      <a:srgbClr val="FFFFFF"/>
                    </a:solidFill>
                  </a:tcPr>
                </a:tc>
              </a:tr>
              <a:tr h="292608">
                <a:tc>
                  <a:txBody>
                    <a:bodyPr/>
                    <a:lstStyle/>
                    <a:p>
                      <a:pPr algn="l"/>
                      <a:r>
                        <a:rPr sz="1150" b="0">
                          <a:solidFill>
                            <a:srgbClr val="17150F"/>
                          </a:solidFill>
                          <a:latin typeface="Arial"/>
                        </a:rPr>
                        <a:t>2</a:t>
                      </a:r>
                    </a:p>
                  </a:txBody>
                  <a:tcPr marL="82296" marR="82296" anchor="ctr">
                    <a:solidFill>
                      <a:srgbClr val="FFFFFF"/>
                    </a:solidFill>
                  </a:tcPr>
                </a:tc>
                <a:tc>
                  <a:txBody>
                    <a:bodyPr/>
                    <a:lstStyle/>
                    <a:p>
                      <a:pPr algn="r"/>
                      <a:r>
                        <a:rPr sz="1150" b="0">
                          <a:solidFill>
                            <a:srgbClr val="555045"/>
                          </a:solidFill>
                          <a:latin typeface="Arial"/>
                        </a:rPr>
                        <a:t>73,1</a:t>
                      </a:r>
                    </a:p>
                  </a:txBody>
                  <a:tcPr marL="82296" marR="82296" anchor="ctr">
                    <a:solidFill>
                      <a:srgbClr val="FFFFFF"/>
                    </a:solidFill>
                  </a:tcPr>
                </a:tc>
                <a:tc>
                  <a:txBody>
                    <a:bodyPr/>
                    <a:lstStyle/>
                    <a:p>
                      <a:pPr algn="r"/>
                      <a:r>
                        <a:rPr sz="1150" b="0">
                          <a:solidFill>
                            <a:srgbClr val="555045"/>
                          </a:solidFill>
                          <a:latin typeface="Arial"/>
                        </a:rPr>
                        <a:t>12,4 %</a:t>
                      </a:r>
                    </a:p>
                  </a:txBody>
                  <a:tcPr marL="82296" marR="82296" anchor="ctr">
                    <a:solidFill>
                      <a:srgbClr val="FFFFFF"/>
                    </a:solidFill>
                  </a:tcPr>
                </a:tc>
                <a:tc>
                  <a:txBody>
                    <a:bodyPr/>
                    <a:lstStyle/>
                    <a:p>
                      <a:pPr algn="r"/>
                      <a:r>
                        <a:rPr sz="1150" b="0">
                          <a:solidFill>
                            <a:srgbClr val="555045"/>
                          </a:solidFill>
                          <a:latin typeface="Arial"/>
                        </a:rPr>
                        <a:t>+0,15</a:t>
                      </a:r>
                    </a:p>
                  </a:txBody>
                  <a:tcPr marL="82296" marR="82296" anchor="ctr">
                    <a:solidFill>
                      <a:srgbClr val="FFFFFF"/>
                    </a:solidFill>
                  </a:tcPr>
                </a:tc>
              </a:tr>
              <a:tr h="292608">
                <a:tc>
                  <a:txBody>
                    <a:bodyPr/>
                    <a:lstStyle/>
                    <a:p>
                      <a:pPr algn="l"/>
                      <a:r>
                        <a:rPr sz="1150" b="0">
                          <a:solidFill>
                            <a:srgbClr val="17150F"/>
                          </a:solidFill>
                          <a:latin typeface="Arial"/>
                        </a:rPr>
                        <a:t>3</a:t>
                      </a:r>
                    </a:p>
                  </a:txBody>
                  <a:tcPr marL="82296" marR="82296" anchor="ctr">
                    <a:solidFill>
                      <a:srgbClr val="FFFFFF"/>
                    </a:solidFill>
                  </a:tcPr>
                </a:tc>
                <a:tc>
                  <a:txBody>
                    <a:bodyPr/>
                    <a:lstStyle/>
                    <a:p>
                      <a:pPr algn="r"/>
                      <a:r>
                        <a:rPr sz="1150" b="0">
                          <a:solidFill>
                            <a:srgbClr val="555045"/>
                          </a:solidFill>
                          <a:latin typeface="Arial"/>
                        </a:rPr>
                        <a:t>102,4</a:t>
                      </a:r>
                    </a:p>
                  </a:txBody>
                  <a:tcPr marL="82296" marR="82296" anchor="ctr">
                    <a:solidFill>
                      <a:srgbClr val="FFFFFF"/>
                    </a:solidFill>
                  </a:tcPr>
                </a:tc>
                <a:tc>
                  <a:txBody>
                    <a:bodyPr/>
                    <a:lstStyle/>
                    <a:p>
                      <a:pPr algn="r"/>
                      <a:r>
                        <a:rPr sz="1150" b="0">
                          <a:solidFill>
                            <a:srgbClr val="555045"/>
                          </a:solidFill>
                          <a:latin typeface="Arial"/>
                        </a:rPr>
                        <a:t>10,8 %</a:t>
                      </a:r>
                    </a:p>
                  </a:txBody>
                  <a:tcPr marL="82296" marR="82296" anchor="ctr">
                    <a:solidFill>
                      <a:srgbClr val="FFFFFF"/>
                    </a:solidFill>
                  </a:tcPr>
                </a:tc>
                <a:tc>
                  <a:txBody>
                    <a:bodyPr/>
                    <a:lstStyle/>
                    <a:p>
                      <a:pPr algn="r"/>
                      <a:r>
                        <a:rPr sz="1150" b="0">
                          <a:solidFill>
                            <a:srgbClr val="555045"/>
                          </a:solidFill>
                          <a:latin typeface="Arial"/>
                        </a:rPr>
                        <a:t>−3,20</a:t>
                      </a:r>
                    </a:p>
                  </a:txBody>
                  <a:tcPr marL="82296" marR="82296" anchor="ctr">
                    <a:solidFill>
                      <a:srgbClr val="FFFFFF"/>
                    </a:solidFill>
                  </a:tcPr>
                </a:tc>
              </a:tr>
              <a:tr h="292608">
                <a:tc>
                  <a:txBody>
                    <a:bodyPr/>
                    <a:lstStyle/>
                    <a:p>
                      <a:pPr algn="l"/>
                      <a:r>
                        <a:rPr sz="1150" b="0">
                          <a:solidFill>
                            <a:srgbClr val="17150F"/>
                          </a:solidFill>
                          <a:latin typeface="Arial"/>
                        </a:rPr>
                        <a:t>4 · el más alto</a:t>
                      </a:r>
                    </a:p>
                  </a:txBody>
                  <a:tcPr marL="82296" marR="82296" anchor="ctr">
                    <a:solidFill>
                      <a:srgbClr val="FFFFFF"/>
                    </a:solidFill>
                  </a:tcPr>
                </a:tc>
                <a:tc>
                  <a:txBody>
                    <a:bodyPr/>
                    <a:lstStyle/>
                    <a:p>
                      <a:pPr algn="r"/>
                      <a:r>
                        <a:rPr sz="1150" b="0">
                          <a:solidFill>
                            <a:srgbClr val="555045"/>
                          </a:solidFill>
                          <a:latin typeface="Arial"/>
                        </a:rPr>
                        <a:t>153,8</a:t>
                      </a:r>
                    </a:p>
                  </a:txBody>
                  <a:tcPr marL="82296" marR="82296" anchor="ctr">
                    <a:solidFill>
                      <a:srgbClr val="FFFFFF"/>
                    </a:solidFill>
                  </a:tcPr>
                </a:tc>
                <a:tc>
                  <a:txBody>
                    <a:bodyPr/>
                    <a:lstStyle/>
                    <a:p>
                      <a:pPr algn="r"/>
                      <a:r>
                        <a:rPr sz="1150" b="0">
                          <a:solidFill>
                            <a:srgbClr val="555045"/>
                          </a:solidFill>
                          <a:latin typeface="Arial"/>
                        </a:rPr>
                        <a:t>10,3 %</a:t>
                      </a:r>
                    </a:p>
                  </a:txBody>
                  <a:tcPr marL="82296" marR="82296" anchor="ctr">
                    <a:solidFill>
                      <a:srgbClr val="FFFFFF"/>
                    </a:solidFill>
                  </a:tcPr>
                </a:tc>
                <a:tc>
                  <a:txBody>
                    <a:bodyPr/>
                    <a:lstStyle/>
                    <a:p>
                      <a:pPr algn="r"/>
                      <a:r>
                        <a:rPr sz="1150" b="0">
                          <a:solidFill>
                            <a:srgbClr val="555045"/>
                          </a:solidFill>
                          <a:latin typeface="Arial"/>
                        </a:rPr>
                        <a:t>+6,85</a:t>
                      </a:r>
                    </a:p>
                  </a:txBody>
                  <a:tcPr marL="82296" marR="82296" anchor="ctr">
                    <a:solidFill>
                      <a:srgbClr val="FFFFFF"/>
                    </a:solidFill>
                  </a:tcPr>
                </a:tc>
              </a:tr>
            </a:tbl>
          </a:graphicData>
        </a:graphic>
      </p:graphicFrame>
      <p:sp>
        <p:nvSpPr>
          <p:cNvPr id="8" name="TextBox 7"/>
          <p:cNvSpPr txBox="1"/>
          <p:nvPr/>
        </p:nvSpPr>
        <p:spPr>
          <a:xfrm>
            <a:off x="6858000" y="3198114"/>
            <a:ext cx="4556455" cy="2743200"/>
          </a:xfrm>
          <a:prstGeom prst="rect">
            <a:avLst/>
          </a:prstGeom>
          <a:noFill/>
        </p:spPr>
        <p:txBody>
          <a:bodyPr wrap="square" lIns="0" rIns="0" tIns="0" bIns="0">
            <a:spAutoFit/>
          </a:bodyPr>
          <a:lstStyle/>
          <a:p>
            <a:pPr algn="l">
              <a:lnSpc>
                <a:spcPct val="128000"/>
              </a:lnSpc>
              <a:spcBef>
                <a:spcPts val="0"/>
              </a:spcBef>
              <a:spcAft>
                <a:spcPts val="1200"/>
              </a:spcAft>
            </a:pPr>
            <a:r>
              <a:rPr sz="1250" b="0">
                <a:solidFill>
                  <a:srgbClr val="555045"/>
                </a:solidFill>
                <a:latin typeface="Arial"/>
              </a:rPr>
              <a:t>En una serie que vende 45, un error de 8 es un 18 %. En una que vende 154, un error de 16 es un 10 %. La demanda baja es proporcionalmente más ruidosa.</a:t>
            </a:r>
          </a:p>
          <a:p>
            <a:pPr algn="l">
              <a:lnSpc>
                <a:spcPct val="128000"/>
              </a:lnSpc>
              <a:spcBef>
                <a:spcPts val="0"/>
              </a:spcBef>
              <a:spcAft>
                <a:spcPts val="1200"/>
              </a:spcAft>
            </a:pPr>
            <a:r>
              <a:rPr sz="1250" b="0">
                <a:solidFill>
                  <a:srgbClr val="555045"/>
                </a:solidFill>
                <a:latin typeface="Arial"/>
              </a:rPr>
              <a:t>Queda un sesgo residual por tamaño, reducido un 32 % pero no eliminado: el modelo sobrepredice las series pequeñas y subpredice las grandes.</a:t>
            </a:r>
          </a:p>
          <a:p>
            <a:pPr algn="l">
              <a:lnSpc>
                <a:spcPct val="128000"/>
              </a:lnSpc>
              <a:spcBef>
                <a:spcPts val="0"/>
              </a:spcBef>
              <a:spcAft>
                <a:spcPts val="0"/>
              </a:spcAft>
            </a:pPr>
            <a:r>
              <a:rPr sz="1250" b="1">
                <a:solidFill>
                  <a:srgbClr val="17150F"/>
                </a:solidFill>
                <a:latin typeface="Arial"/>
              </a:rPr>
              <a:t>Se traduce en merma en las tiendas pequeñas y ventas perdidas en las grandes. Queda como línea de mejora antes del piloto.</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Paso 12 · Diagnóstico</a:t>
            </a:r>
          </a:p>
        </p:txBody>
      </p:sp>
      <p:sp>
        <p:nvSpPr>
          <p:cNvPr id="11" name="TextBox 10"/>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PASO 12 · DIAGNÓSTICO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445770"/>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Lo que está bien, comprobado y no supuesto</a:t>
            </a:r>
          </a:p>
        </p:txBody>
      </p:sp>
      <p:pic>
        <p:nvPicPr>
          <p:cNvPr id="6" name="Picture 5" descr="19_residuales.png"/>
          <p:cNvPicPr>
            <a:picLocks noChangeAspect="1"/>
          </p:cNvPicPr>
          <p:nvPr/>
        </p:nvPicPr>
        <p:blipFill>
          <a:blip r:embed="rId2"/>
          <a:stretch>
            <a:fillRect/>
          </a:stretch>
        </p:blipFill>
        <p:spPr>
          <a:xfrm>
            <a:off x="777240" y="1506474"/>
            <a:ext cx="5760720" cy="1872234"/>
          </a:xfrm>
          <a:prstGeom prst="rect">
            <a:avLst/>
          </a:prstGeom>
        </p:spPr>
      </p:pic>
      <p:sp>
        <p:nvSpPr>
          <p:cNvPr id="7" name="Rectangle 6"/>
          <p:cNvSpPr/>
          <p:nvPr/>
        </p:nvSpPr>
        <p:spPr>
          <a:xfrm>
            <a:off x="6858000" y="165277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59168" y="1552194"/>
            <a:ext cx="4355287" cy="649224"/>
          </a:xfrm>
          <a:prstGeom prst="rect">
            <a:avLst/>
          </a:prstGeom>
          <a:noFill/>
        </p:spPr>
        <p:txBody>
          <a:bodyPr wrap="square" lIns="0" rIns="0" tIns="0" bIns="0">
            <a:spAutoFit/>
          </a:bodyPr>
          <a:lstStyle/>
          <a:p>
            <a:pPr>
              <a:lnSpc>
                <a:spcPct val="124000"/>
              </a:lnSpc>
              <a:spcAft>
                <a:spcPts val="0"/>
              </a:spcAft>
            </a:pPr>
            <a:r>
              <a:rPr sz="1200" b="1">
                <a:solidFill>
                  <a:srgbClr val="17150F"/>
                </a:solidFill>
                <a:latin typeface="Arial"/>
              </a:rPr>
              <a:t>No queda estructura temporal sin capturar.</a:t>
            </a:r>
            <a:r>
              <a:rPr sz="1200" b="0">
                <a:solidFill>
                  <a:srgbClr val="555045"/>
                </a:solidFill>
                <a:latin typeface="Arial"/>
              </a:rPr>
              <a:t> El contraste de Ljung-Box no detecta autocorrelación en ninguna de las 160 series.</a:t>
            </a:r>
          </a:p>
        </p:txBody>
      </p:sp>
      <p:sp>
        <p:nvSpPr>
          <p:cNvPr id="9" name="Rectangle 8"/>
          <p:cNvSpPr/>
          <p:nvPr/>
        </p:nvSpPr>
        <p:spPr>
          <a:xfrm>
            <a:off x="6858000" y="243001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59168" y="2329434"/>
            <a:ext cx="4355287" cy="445008"/>
          </a:xfrm>
          <a:prstGeom prst="rect">
            <a:avLst/>
          </a:prstGeom>
          <a:noFill/>
        </p:spPr>
        <p:txBody>
          <a:bodyPr wrap="square" lIns="0" rIns="0" tIns="0" bIns="0">
            <a:spAutoFit/>
          </a:bodyPr>
          <a:lstStyle/>
          <a:p>
            <a:pPr>
              <a:lnSpc>
                <a:spcPct val="124000"/>
              </a:lnSpc>
              <a:spcAft>
                <a:spcPts val="0"/>
              </a:spcAft>
            </a:pPr>
            <a:r>
              <a:rPr sz="1200" b="1">
                <a:solidFill>
                  <a:srgbClr val="17150F"/>
                </a:solidFill>
                <a:latin typeface="Arial"/>
              </a:rPr>
              <a:t>Los residuales están casi centrados.</a:t>
            </a:r>
            <a:r>
              <a:rPr sz="1200" b="0">
                <a:solidFill>
                  <a:srgbClr val="555045"/>
                </a:solidFill>
                <a:latin typeface="Arial"/>
              </a:rPr>
              <a:t> Media de 0,11 unidades sobre una demanda media de 93, y asimetría de 0,29.</a:t>
            </a:r>
          </a:p>
        </p:txBody>
      </p:sp>
      <p:sp>
        <p:nvSpPr>
          <p:cNvPr id="11" name="Rectangle 10"/>
          <p:cNvSpPr/>
          <p:nvPr/>
        </p:nvSpPr>
        <p:spPr>
          <a:xfrm>
            <a:off x="6858000" y="300304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59168" y="2902458"/>
            <a:ext cx="4355287" cy="445008"/>
          </a:xfrm>
          <a:prstGeom prst="rect">
            <a:avLst/>
          </a:prstGeom>
          <a:noFill/>
        </p:spPr>
        <p:txBody>
          <a:bodyPr wrap="square" lIns="0" rIns="0" tIns="0" bIns="0">
            <a:spAutoFit/>
          </a:bodyPr>
          <a:lstStyle/>
          <a:p>
            <a:pPr>
              <a:lnSpc>
                <a:spcPct val="124000"/>
              </a:lnSpc>
              <a:spcAft>
                <a:spcPts val="0"/>
              </a:spcAft>
            </a:pPr>
            <a:r>
              <a:rPr sz="1200" b="1">
                <a:solidFill>
                  <a:srgbClr val="17150F"/>
                </a:solidFill>
                <a:latin typeface="Arial"/>
              </a:rPr>
              <a:t>No hay error sistemático por tipo de patrón.</a:t>
            </a:r>
            <a:r>
              <a:rPr sz="1200" b="0">
                <a:solidFill>
                  <a:srgbClr val="555045"/>
                </a:solidFill>
                <a:latin typeface="Arial"/>
              </a:rPr>
              <a:t> Los cuatro tipos quedan entre 11,2 y 12,2 % de error.</a:t>
            </a:r>
          </a:p>
        </p:txBody>
      </p:sp>
      <p:sp>
        <p:nvSpPr>
          <p:cNvPr id="13" name="Rectangle 12"/>
          <p:cNvSpPr/>
          <p:nvPr/>
        </p:nvSpPr>
        <p:spPr>
          <a:xfrm>
            <a:off x="6858000" y="3576066"/>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59168" y="3475482"/>
            <a:ext cx="4355287" cy="649224"/>
          </a:xfrm>
          <a:prstGeom prst="rect">
            <a:avLst/>
          </a:prstGeom>
          <a:noFill/>
        </p:spPr>
        <p:txBody>
          <a:bodyPr wrap="square" lIns="0" rIns="0" tIns="0" bIns="0">
            <a:spAutoFit/>
          </a:bodyPr>
          <a:lstStyle/>
          <a:p>
            <a:pPr>
              <a:lnSpc>
                <a:spcPct val="124000"/>
              </a:lnSpc>
              <a:spcAft>
                <a:spcPts val="0"/>
              </a:spcAft>
            </a:pPr>
            <a:r>
              <a:rPr sz="1200" b="1">
                <a:solidFill>
                  <a:srgbClr val="17150F"/>
                </a:solidFill>
                <a:latin typeface="Arial"/>
              </a:rPr>
              <a:t>Hay heterocedasticidad y es esperable.</a:t>
            </a:r>
            <a:r>
              <a:rPr sz="1200" b="0">
                <a:solidFill>
                  <a:srgbClr val="555045"/>
                </a:solidFill>
                <a:latin typeface="Arial"/>
              </a:rPr>
              <a:t> El error crece con el nivel de la serie, con correlación +0,36. Por eso un colchón plano sería incorrecto.</a:t>
            </a:r>
          </a:p>
        </p:txBody>
      </p:sp>
      <p:sp>
        <p:nvSpPr>
          <p:cNvPr id="15" name="Rectangle 1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Paso 12 · Diagnóstico</a:t>
            </a:r>
          </a:p>
        </p:txBody>
      </p:sp>
      <p:sp>
        <p:nvSpPr>
          <p:cNvPr id="17" name="TextBox 16"/>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PASO 12 · DIAGNÓSTICO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445770"/>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Qué usa realmente el modelo, dicho sin adornos</a:t>
            </a:r>
          </a:p>
        </p:txBody>
      </p:sp>
      <p:pic>
        <p:nvPicPr>
          <p:cNvPr id="6" name="Picture 5" descr="20_importancia.png"/>
          <p:cNvPicPr>
            <a:picLocks noChangeAspect="1"/>
          </p:cNvPicPr>
          <p:nvPr/>
        </p:nvPicPr>
        <p:blipFill>
          <a:blip r:embed="rId2"/>
          <a:stretch>
            <a:fillRect/>
          </a:stretch>
        </p:blipFill>
        <p:spPr>
          <a:xfrm>
            <a:off x="777240" y="1506474"/>
            <a:ext cx="5760720" cy="3545058"/>
          </a:xfrm>
          <a:prstGeom prst="rect">
            <a:avLst/>
          </a:prstGeom>
        </p:spPr>
      </p:pic>
      <p:sp>
        <p:nvSpPr>
          <p:cNvPr id="7" name="TextBox 6"/>
          <p:cNvSpPr txBox="1"/>
          <p:nvPr/>
        </p:nvSpPr>
        <p:spPr>
          <a:xfrm>
            <a:off x="6858000" y="1689354"/>
            <a:ext cx="4556455" cy="3840480"/>
          </a:xfrm>
          <a:prstGeom prst="rect">
            <a:avLst/>
          </a:prstGeom>
          <a:noFill/>
        </p:spPr>
        <p:txBody>
          <a:bodyPr wrap="square" lIns="0" rIns="0" tIns="0" bIns="0">
            <a:spAutoFit/>
          </a:bodyPr>
          <a:lstStyle/>
          <a:p>
            <a:pPr algn="l">
              <a:lnSpc>
                <a:spcPct val="130000"/>
              </a:lnSpc>
              <a:spcBef>
                <a:spcPts val="0"/>
              </a:spcBef>
              <a:spcAft>
                <a:spcPts val="1400"/>
              </a:spcAft>
            </a:pPr>
            <a:r>
              <a:rPr sz="1300" b="0">
                <a:solidFill>
                  <a:srgbClr val="555045"/>
                </a:solidFill>
                <a:latin typeface="Arial"/>
              </a:rPr>
              <a:t>La regularización deja 7 variables con coeficiente no nulo de 14. Pero la importancia por permutación matiza ese dato.</a:t>
            </a:r>
          </a:p>
          <a:p>
            <a:pPr algn="l">
              <a:lnSpc>
                <a:spcPct val="130000"/>
              </a:lnSpc>
              <a:spcBef>
                <a:spcPts val="0"/>
              </a:spcBef>
              <a:spcAft>
                <a:spcPts val="1400"/>
              </a:spcAft>
            </a:pPr>
            <a:r>
              <a:rPr sz="1300" b="0">
                <a:solidFill>
                  <a:srgbClr val="555045"/>
                </a:solidFill>
                <a:latin typeface="Arial"/>
              </a:rPr>
              <a:t>Solo el rezago aporta de forma medible, con una degradación del 24,9 % al barajarlo. El tamaño de tienda aporta un 0,09 % y el resto exactamente cero.</a:t>
            </a:r>
          </a:p>
          <a:p>
            <a:pPr algn="l">
              <a:lnSpc>
                <a:spcPct val="130000"/>
              </a:lnSpc>
              <a:spcBef>
                <a:spcPts val="0"/>
              </a:spcBef>
              <a:spcAft>
                <a:spcPts val="600"/>
              </a:spcAft>
            </a:pPr>
            <a:r>
              <a:rPr sz="1350" b="1">
                <a:solidFill>
                  <a:srgbClr val="8C2F39"/>
                </a:solidFill>
                <a:latin typeface="Arial"/>
              </a:rPr>
              <a:t>La descripción honesta del modelo</a:t>
            </a:r>
          </a:p>
          <a:p>
            <a:pPr algn="l">
              <a:lnSpc>
                <a:spcPct val="130000"/>
              </a:lnSpc>
              <a:spcBef>
                <a:spcPts val="0"/>
              </a:spcBef>
              <a:spcAft>
                <a:spcPts val="0"/>
              </a:spcAft>
            </a:pPr>
            <a:r>
              <a:rPr sz="1300" b="1">
                <a:solidFill>
                  <a:srgbClr val="17150F"/>
                </a:solidFill>
                <a:latin typeface="Arial"/>
              </a:rPr>
              <a:t>Predice la razón entre la demanda de la semana y la media de las cuatro previas, apoyándose casi solo en la razón de la semana anterior, y multiplica de vuelta. Sigue siendo una regla sencilla, pero opera sobre la forma de la trayectoria y no sobre el nivel.</a:t>
            </a:r>
          </a:p>
        </p:txBody>
      </p:sp>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Paso 12 · Diagnóstico</a:t>
            </a:r>
          </a:p>
        </p:txBody>
      </p:sp>
      <p:sp>
        <p:nvSpPr>
          <p:cNvPr id="10" name="TextBox 9"/>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PASO 12 · DIAGNÓSTICO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445770"/>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Once series necesitan revisión antes del piloto</a:t>
            </a:r>
          </a:p>
        </p:txBody>
      </p:sp>
      <p:sp>
        <p:nvSpPr>
          <p:cNvPr id="6" name="TextBox 5"/>
          <p:cNvSpPr txBox="1"/>
          <p:nvPr/>
        </p:nvSpPr>
        <p:spPr>
          <a:xfrm>
            <a:off x="777240" y="1506474"/>
            <a:ext cx="9966960" cy="283337"/>
          </a:xfrm>
          <a:prstGeom prst="rect">
            <a:avLst/>
          </a:prstGeom>
          <a:noFill/>
        </p:spPr>
        <p:txBody>
          <a:bodyPr wrap="square" lIns="0" rIns="0" tIns="0" bIns="0">
            <a:spAutoFit/>
          </a:bodyPr>
          <a:lstStyle/>
          <a:p>
            <a:pPr algn="l">
              <a:lnSpc>
                <a:spcPct val="130000"/>
              </a:lnSpc>
              <a:spcBef>
                <a:spcPts val="0"/>
              </a:spcBef>
              <a:spcAft>
                <a:spcPts val="0"/>
              </a:spcAft>
            </a:pPr>
            <a:r>
              <a:rPr sz="1450" b="0">
                <a:solidFill>
                  <a:srgbClr val="555045"/>
                </a:solidFill>
                <a:latin typeface="Arial"/>
              </a:rPr>
              <a:t>De las 160, once superan el doble del error mediano. Tres de las cinco peores están en la misma tienda.</a:t>
            </a:r>
          </a:p>
        </p:txBody>
      </p:sp>
      <p:graphicFrame>
        <p:nvGraphicFramePr>
          <p:cNvPr id="7" name="Table 6"/>
          <p:cNvGraphicFramePr>
            <a:graphicFrameLocks noGrp="1"/>
          </p:cNvGraphicFramePr>
          <p:nvPr/>
        </p:nvGraphicFramePr>
        <p:xfrm>
          <a:off x="777240" y="1990979"/>
          <a:ext cx="10637211" cy="2176272"/>
        </p:xfrm>
        <a:graphic>
          <a:graphicData uri="http://schemas.openxmlformats.org/drawingml/2006/table">
            <a:tbl>
              <a:tblPr bandRow="1">
                <a:tableStyleId>{5C22544A-7EE6-4342-B048-85BDC9FD1C3A}</a:tableStyleId>
              </a:tblPr>
              <a:tblGrid>
                <a:gridCol w="3403908"/>
                <a:gridCol w="1701954"/>
                <a:gridCol w="1382837"/>
                <a:gridCol w="1382837"/>
                <a:gridCol w="2765675"/>
              </a:tblGrid>
              <a:tr h="347472">
                <a:tc>
                  <a:txBody>
                    <a:bodyPr/>
                    <a:lstStyle/>
                    <a:p>
                      <a:pPr algn="l"/>
                      <a:r>
                        <a:rPr sz="1100" b="1">
                          <a:solidFill>
                            <a:srgbClr val="8B8478"/>
                          </a:solidFill>
                          <a:latin typeface="Arial"/>
                        </a:rPr>
                        <a:t>Serie</a:t>
                      </a:r>
                    </a:p>
                  </a:txBody>
                  <a:tcPr marL="82296" marR="82296" anchor="ctr">
                    <a:solidFill>
                      <a:srgbClr val="F4F2ED"/>
                    </a:solidFill>
                  </a:tcPr>
                </a:tc>
                <a:tc>
                  <a:txBody>
                    <a:bodyPr/>
                    <a:lstStyle/>
                    <a:p>
                      <a:pPr algn="r"/>
                      <a:r>
                        <a:rPr sz="1100" b="1">
                          <a:solidFill>
                            <a:srgbClr val="8B8478"/>
                          </a:solidFill>
                          <a:latin typeface="Arial"/>
                        </a:rPr>
                        <a:t>Demanda media</a:t>
                      </a:r>
                    </a:p>
                  </a:txBody>
                  <a:tcPr marL="82296" marR="82296" anchor="ctr">
                    <a:solidFill>
                      <a:srgbClr val="F4F2ED"/>
                    </a:solidFill>
                  </a:tcPr>
                </a:tc>
                <a:tc>
                  <a:txBody>
                    <a:bodyPr/>
                    <a:lstStyle/>
                    <a:p>
                      <a:pPr algn="r"/>
                      <a:r>
                        <a:rPr sz="1100" b="1">
                          <a:solidFill>
                            <a:srgbClr val="8B8478"/>
                          </a:solidFill>
                          <a:latin typeface="Arial"/>
                        </a:rPr>
                        <a:t>Error</a:t>
                      </a:r>
                    </a:p>
                  </a:txBody>
                  <a:tcPr marL="82296" marR="82296" anchor="ctr">
                    <a:solidFill>
                      <a:srgbClr val="F4F2ED"/>
                    </a:solidFill>
                  </a:tcPr>
                </a:tc>
                <a:tc>
                  <a:txBody>
                    <a:bodyPr/>
                    <a:lstStyle/>
                    <a:p>
                      <a:pPr algn="r"/>
                      <a:r>
                        <a:rPr sz="1100" b="1">
                          <a:solidFill>
                            <a:srgbClr val="8B8478"/>
                          </a:solidFill>
                          <a:latin typeface="Arial"/>
                        </a:rPr>
                        <a:t>Sesgo</a:t>
                      </a:r>
                    </a:p>
                  </a:txBody>
                  <a:tcPr marL="82296" marR="82296" anchor="ctr">
                    <a:solidFill>
                      <a:srgbClr val="F4F2ED"/>
                    </a:solidFill>
                  </a:tcPr>
                </a:tc>
                <a:tc>
                  <a:txBody>
                    <a:bodyPr/>
                    <a:lstStyle/>
                    <a:p>
                      <a:pPr algn="r"/>
                      <a:r>
                        <a:rPr sz="1100" b="1">
                          <a:solidFill>
                            <a:srgbClr val="8B8478"/>
                          </a:solidFill>
                          <a:latin typeface="Arial"/>
                        </a:rPr>
                        <a:t>Lectura</a:t>
                      </a:r>
                    </a:p>
                  </a:txBody>
                  <a:tcPr marL="82296" marR="82296" anchor="ctr">
                    <a:solidFill>
                      <a:srgbClr val="F4F2ED"/>
                    </a:solidFill>
                  </a:tcPr>
                </a:tc>
              </a:tr>
              <a:tr h="365760">
                <a:tc>
                  <a:txBody>
                    <a:bodyPr/>
                    <a:lstStyle/>
                    <a:p>
                      <a:pPr algn="l"/>
                      <a:r>
                        <a:rPr sz="1250" b="0">
                          <a:solidFill>
                            <a:srgbClr val="17150F"/>
                          </a:solidFill>
                          <a:latin typeface="Arial"/>
                        </a:rPr>
                        <a:t>STORE_09 / Café con Leche</a:t>
                      </a:r>
                    </a:p>
                  </a:txBody>
                  <a:tcPr marL="82296" marR="82296" anchor="ctr">
                    <a:solidFill>
                      <a:srgbClr val="FFFFFF"/>
                    </a:solidFill>
                  </a:tcPr>
                </a:tc>
                <a:tc>
                  <a:txBody>
                    <a:bodyPr/>
                    <a:lstStyle/>
                    <a:p>
                      <a:pPr algn="r"/>
                      <a:r>
                        <a:rPr sz="1250" b="0">
                          <a:solidFill>
                            <a:srgbClr val="555045"/>
                          </a:solidFill>
                          <a:latin typeface="Arial"/>
                        </a:rPr>
                        <a:t>30,7</a:t>
                      </a:r>
                    </a:p>
                  </a:txBody>
                  <a:tcPr marL="82296" marR="82296" anchor="ctr">
                    <a:solidFill>
                      <a:srgbClr val="FFFFFF"/>
                    </a:solidFill>
                  </a:tcPr>
                </a:tc>
                <a:tc>
                  <a:txBody>
                    <a:bodyPr/>
                    <a:lstStyle/>
                    <a:p>
                      <a:pPr algn="r"/>
                      <a:r>
                        <a:rPr sz="1250" b="0">
                          <a:solidFill>
                            <a:srgbClr val="555045"/>
                          </a:solidFill>
                          <a:latin typeface="Arial"/>
                        </a:rPr>
                        <a:t>43,0 %</a:t>
                      </a:r>
                    </a:p>
                  </a:txBody>
                  <a:tcPr marL="82296" marR="82296" anchor="ctr">
                    <a:solidFill>
                      <a:srgbClr val="FFFFFF"/>
                    </a:solidFill>
                  </a:tcPr>
                </a:tc>
                <a:tc>
                  <a:txBody>
                    <a:bodyPr/>
                    <a:lstStyle/>
                    <a:p>
                      <a:pPr algn="r"/>
                      <a:r>
                        <a:rPr sz="1250" b="0">
                          <a:solidFill>
                            <a:srgbClr val="555045"/>
                          </a:solidFill>
                          <a:latin typeface="Arial"/>
                        </a:rPr>
                        <a:t>−13,2</a:t>
                      </a:r>
                    </a:p>
                  </a:txBody>
                  <a:tcPr marL="82296" marR="82296" anchor="ctr">
                    <a:solidFill>
                      <a:srgbClr val="FFFFFF"/>
                    </a:solidFill>
                  </a:tcPr>
                </a:tc>
                <a:tc>
                  <a:txBody>
                    <a:bodyPr/>
                    <a:lstStyle/>
                    <a:p>
                      <a:pPr algn="r"/>
                      <a:r>
                        <a:rPr sz="1250" b="0">
                          <a:solidFill>
                            <a:srgbClr val="555045"/>
                          </a:solidFill>
                          <a:latin typeface="Arial"/>
                        </a:rPr>
                        <a:t>Serie muy pequeña y muy ruidosa</a:t>
                      </a:r>
                    </a:p>
                  </a:txBody>
                  <a:tcPr marL="82296" marR="82296" anchor="ctr">
                    <a:solidFill>
                      <a:srgbClr val="FFFFFF"/>
                    </a:solidFill>
                  </a:tcPr>
                </a:tc>
              </a:tr>
              <a:tr h="365760">
                <a:tc>
                  <a:txBody>
                    <a:bodyPr/>
                    <a:lstStyle/>
                    <a:p>
                      <a:pPr algn="l"/>
                      <a:r>
                        <a:rPr sz="1250" b="0">
                          <a:solidFill>
                            <a:srgbClr val="17150F"/>
                          </a:solidFill>
                          <a:latin typeface="Arial"/>
                        </a:rPr>
                        <a:t>STORE_09 / Croissant</a:t>
                      </a:r>
                    </a:p>
                  </a:txBody>
                  <a:tcPr marL="82296" marR="82296" anchor="ctr">
                    <a:solidFill>
                      <a:srgbClr val="FFFFFF"/>
                    </a:solidFill>
                  </a:tcPr>
                </a:tc>
                <a:tc>
                  <a:txBody>
                    <a:bodyPr/>
                    <a:lstStyle/>
                    <a:p>
                      <a:pPr algn="r"/>
                      <a:r>
                        <a:rPr sz="1250" b="0">
                          <a:solidFill>
                            <a:srgbClr val="555045"/>
                          </a:solidFill>
                          <a:latin typeface="Arial"/>
                        </a:rPr>
                        <a:t>71,0</a:t>
                      </a:r>
                    </a:p>
                  </a:txBody>
                  <a:tcPr marL="82296" marR="82296" anchor="ctr">
                    <a:solidFill>
                      <a:srgbClr val="FFFFFF"/>
                    </a:solidFill>
                  </a:tcPr>
                </a:tc>
                <a:tc>
                  <a:txBody>
                    <a:bodyPr/>
                    <a:lstStyle/>
                    <a:p>
                      <a:pPr algn="r"/>
                      <a:r>
                        <a:rPr sz="1250" b="0">
                          <a:solidFill>
                            <a:srgbClr val="555045"/>
                          </a:solidFill>
                          <a:latin typeface="Arial"/>
                        </a:rPr>
                        <a:t>30,1 %</a:t>
                      </a:r>
                    </a:p>
                  </a:txBody>
                  <a:tcPr marL="82296" marR="82296" anchor="ctr">
                    <a:solidFill>
                      <a:srgbClr val="FFFFFF"/>
                    </a:solidFill>
                  </a:tcPr>
                </a:tc>
                <a:tc>
                  <a:txBody>
                    <a:bodyPr/>
                    <a:lstStyle/>
                    <a:p>
                      <a:pPr algn="r"/>
                      <a:r>
                        <a:rPr sz="1250" b="0">
                          <a:solidFill>
                            <a:srgbClr val="555045"/>
                          </a:solidFill>
                          <a:latin typeface="Arial"/>
                        </a:rPr>
                        <a:t>−3,4</a:t>
                      </a:r>
                    </a:p>
                  </a:txBody>
                  <a:tcPr marL="82296" marR="82296" anchor="ctr">
                    <a:solidFill>
                      <a:srgbClr val="FFFFFF"/>
                    </a:solidFill>
                  </a:tcPr>
                </a:tc>
                <a:tc>
                  <a:txBody>
                    <a:bodyPr/>
                    <a:lstStyle/>
                    <a:p>
                      <a:pPr algn="r"/>
                      <a:r>
                        <a:rPr sz="1250" b="0">
                          <a:solidFill>
                            <a:srgbClr val="555045"/>
                          </a:solidFill>
                          <a:latin typeface="Arial"/>
                        </a:rPr>
                        <a:t>Misma tienda</a:t>
                      </a:r>
                    </a:p>
                  </a:txBody>
                  <a:tcPr marL="82296" marR="82296" anchor="ctr">
                    <a:solidFill>
                      <a:srgbClr val="FFFFFF"/>
                    </a:solidFill>
                  </a:tcPr>
                </a:tc>
              </a:tr>
              <a:tr h="365760">
                <a:tc>
                  <a:txBody>
                    <a:bodyPr/>
                    <a:lstStyle/>
                    <a:p>
                      <a:pPr algn="l"/>
                      <a:r>
                        <a:rPr sz="1250" b="0">
                          <a:solidFill>
                            <a:srgbClr val="17150F"/>
                          </a:solidFill>
                          <a:latin typeface="Arial"/>
                        </a:rPr>
                        <a:t>STORE_07 / Buñuelo</a:t>
                      </a:r>
                    </a:p>
                  </a:txBody>
                  <a:tcPr marL="82296" marR="82296" anchor="ctr">
                    <a:solidFill>
                      <a:srgbClr val="FFFFFF"/>
                    </a:solidFill>
                  </a:tcPr>
                </a:tc>
                <a:tc>
                  <a:txBody>
                    <a:bodyPr/>
                    <a:lstStyle/>
                    <a:p>
                      <a:pPr algn="r"/>
                      <a:r>
                        <a:rPr sz="1250" b="0">
                          <a:solidFill>
                            <a:srgbClr val="555045"/>
                          </a:solidFill>
                          <a:latin typeface="Arial"/>
                        </a:rPr>
                        <a:t>34,7</a:t>
                      </a:r>
                    </a:p>
                  </a:txBody>
                  <a:tcPr marL="82296" marR="82296" anchor="ctr">
                    <a:solidFill>
                      <a:srgbClr val="FFFFFF"/>
                    </a:solidFill>
                  </a:tcPr>
                </a:tc>
                <a:tc>
                  <a:txBody>
                    <a:bodyPr/>
                    <a:lstStyle/>
                    <a:p>
                      <a:pPr algn="r"/>
                      <a:r>
                        <a:rPr sz="1250" b="0">
                          <a:solidFill>
                            <a:srgbClr val="555045"/>
                          </a:solidFill>
                          <a:latin typeface="Arial"/>
                        </a:rPr>
                        <a:t>29,8 %</a:t>
                      </a:r>
                    </a:p>
                  </a:txBody>
                  <a:tcPr marL="82296" marR="82296" anchor="ctr">
                    <a:solidFill>
                      <a:srgbClr val="FFFFFF"/>
                    </a:solidFill>
                  </a:tcPr>
                </a:tc>
                <a:tc>
                  <a:txBody>
                    <a:bodyPr/>
                    <a:lstStyle/>
                    <a:p>
                      <a:pPr algn="r"/>
                      <a:r>
                        <a:rPr sz="1250" b="0">
                          <a:solidFill>
                            <a:srgbClr val="555045"/>
                          </a:solidFill>
                          <a:latin typeface="Arial"/>
                        </a:rPr>
                        <a:t>−10,3</a:t>
                      </a:r>
                    </a:p>
                  </a:txBody>
                  <a:tcPr marL="82296" marR="82296" anchor="ctr">
                    <a:solidFill>
                      <a:srgbClr val="FFFFFF"/>
                    </a:solidFill>
                  </a:tcPr>
                </a:tc>
                <a:tc>
                  <a:txBody>
                    <a:bodyPr/>
                    <a:lstStyle/>
                    <a:p>
                      <a:pPr algn="r"/>
                      <a:r>
                        <a:rPr sz="1250" b="0">
                          <a:solidFill>
                            <a:srgbClr val="555045"/>
                          </a:solidFill>
                          <a:latin typeface="Arial"/>
                        </a:rPr>
                        <a:t>Serie muy pequeña</a:t>
                      </a:r>
                    </a:p>
                  </a:txBody>
                  <a:tcPr marL="82296" marR="82296" anchor="ctr">
                    <a:solidFill>
                      <a:srgbClr val="FFFFFF"/>
                    </a:solidFill>
                  </a:tcPr>
                </a:tc>
              </a:tr>
              <a:tr h="365760">
                <a:tc>
                  <a:txBody>
                    <a:bodyPr/>
                    <a:lstStyle/>
                    <a:p>
                      <a:pPr algn="l"/>
                      <a:r>
                        <a:rPr sz="1250" b="0">
                          <a:solidFill>
                            <a:srgbClr val="17150F"/>
                          </a:solidFill>
                          <a:latin typeface="Arial"/>
                        </a:rPr>
                        <a:t>STORE_14 / Café con Leche</a:t>
                      </a:r>
                    </a:p>
                  </a:txBody>
                  <a:tcPr marL="82296" marR="82296" anchor="ctr">
                    <a:solidFill>
                      <a:srgbClr val="FFFFFF"/>
                    </a:solidFill>
                  </a:tcPr>
                </a:tc>
                <a:tc>
                  <a:txBody>
                    <a:bodyPr/>
                    <a:lstStyle/>
                    <a:p>
                      <a:pPr algn="r"/>
                      <a:r>
                        <a:rPr sz="1250" b="0">
                          <a:solidFill>
                            <a:srgbClr val="555045"/>
                          </a:solidFill>
                          <a:latin typeface="Arial"/>
                        </a:rPr>
                        <a:t>70,3</a:t>
                      </a:r>
                    </a:p>
                  </a:txBody>
                  <a:tcPr marL="82296" marR="82296" anchor="ctr">
                    <a:solidFill>
                      <a:srgbClr val="FFFFFF"/>
                    </a:solidFill>
                  </a:tcPr>
                </a:tc>
                <a:tc>
                  <a:txBody>
                    <a:bodyPr/>
                    <a:lstStyle/>
                    <a:p>
                      <a:pPr algn="r"/>
                      <a:r>
                        <a:rPr sz="1250" b="0">
                          <a:solidFill>
                            <a:srgbClr val="555045"/>
                          </a:solidFill>
                          <a:latin typeface="Arial"/>
                        </a:rPr>
                        <a:t>29,1 %</a:t>
                      </a:r>
                    </a:p>
                  </a:txBody>
                  <a:tcPr marL="82296" marR="82296" anchor="ctr">
                    <a:solidFill>
                      <a:srgbClr val="FFFFFF"/>
                    </a:solidFill>
                  </a:tcPr>
                </a:tc>
                <a:tc>
                  <a:txBody>
                    <a:bodyPr/>
                    <a:lstStyle/>
                    <a:p>
                      <a:pPr algn="r"/>
                      <a:r>
                        <a:rPr sz="1250" b="0">
                          <a:solidFill>
                            <a:srgbClr val="555045"/>
                          </a:solidFill>
                          <a:latin typeface="Arial"/>
                        </a:rPr>
                        <a:t>−2,4</a:t>
                      </a:r>
                    </a:p>
                  </a:txBody>
                  <a:tcPr marL="82296" marR="82296" anchor="ctr">
                    <a:solidFill>
                      <a:srgbClr val="FFFFFF"/>
                    </a:solidFill>
                  </a:tcPr>
                </a:tc>
                <a:tc>
                  <a:txBody>
                    <a:bodyPr/>
                    <a:lstStyle/>
                    <a:p>
                      <a:pPr algn="r"/>
                      <a:r>
                        <a:rPr sz="1250" b="0">
                          <a:solidFill>
                            <a:srgbClr val="555045"/>
                          </a:solidFill>
                          <a:latin typeface="Arial"/>
                        </a:rPr>
                        <a:t>—</a:t>
                      </a:r>
                    </a:p>
                  </a:txBody>
                  <a:tcPr marL="82296" marR="82296" anchor="ctr">
                    <a:solidFill>
                      <a:srgbClr val="FFFFFF"/>
                    </a:solidFill>
                  </a:tcPr>
                </a:tc>
              </a:tr>
              <a:tr h="365760">
                <a:tc>
                  <a:txBody>
                    <a:bodyPr/>
                    <a:lstStyle/>
                    <a:p>
                      <a:pPr algn="l"/>
                      <a:r>
                        <a:rPr sz="1250" b="0">
                          <a:solidFill>
                            <a:srgbClr val="17150F"/>
                          </a:solidFill>
                          <a:latin typeface="Arial"/>
                        </a:rPr>
                        <a:t>STORE_09 / Cappuccino</a:t>
                      </a:r>
                    </a:p>
                  </a:txBody>
                  <a:tcPr marL="82296" marR="82296" anchor="ctr">
                    <a:solidFill>
                      <a:srgbClr val="FFFFFF"/>
                    </a:solidFill>
                  </a:tcPr>
                </a:tc>
                <a:tc>
                  <a:txBody>
                    <a:bodyPr/>
                    <a:lstStyle/>
                    <a:p>
                      <a:pPr algn="r"/>
                      <a:r>
                        <a:rPr sz="1250" b="0">
                          <a:solidFill>
                            <a:srgbClr val="555045"/>
                          </a:solidFill>
                          <a:latin typeface="Arial"/>
                        </a:rPr>
                        <a:t>53,0</a:t>
                      </a:r>
                    </a:p>
                  </a:txBody>
                  <a:tcPr marL="82296" marR="82296" anchor="ctr">
                    <a:solidFill>
                      <a:srgbClr val="FFFFFF"/>
                    </a:solidFill>
                  </a:tcPr>
                </a:tc>
                <a:tc>
                  <a:txBody>
                    <a:bodyPr/>
                    <a:lstStyle/>
                    <a:p>
                      <a:pPr algn="r"/>
                      <a:r>
                        <a:rPr sz="1250" b="0">
                          <a:solidFill>
                            <a:srgbClr val="555045"/>
                          </a:solidFill>
                          <a:latin typeface="Arial"/>
                        </a:rPr>
                        <a:t>28,9 %</a:t>
                      </a:r>
                    </a:p>
                  </a:txBody>
                  <a:tcPr marL="82296" marR="82296" anchor="ctr">
                    <a:solidFill>
                      <a:srgbClr val="FFFFFF"/>
                    </a:solidFill>
                  </a:tcPr>
                </a:tc>
                <a:tc>
                  <a:txBody>
                    <a:bodyPr/>
                    <a:lstStyle/>
                    <a:p>
                      <a:pPr algn="r"/>
                      <a:r>
                        <a:rPr sz="1250" b="0">
                          <a:solidFill>
                            <a:srgbClr val="555045"/>
                          </a:solidFill>
                          <a:latin typeface="Arial"/>
                        </a:rPr>
                        <a:t>−14,6</a:t>
                      </a:r>
                    </a:p>
                  </a:txBody>
                  <a:tcPr marL="82296" marR="82296" anchor="ctr">
                    <a:solidFill>
                      <a:srgbClr val="FFFFFF"/>
                    </a:solidFill>
                  </a:tcPr>
                </a:tc>
                <a:tc>
                  <a:txBody>
                    <a:bodyPr/>
                    <a:lstStyle/>
                    <a:p>
                      <a:pPr algn="r"/>
                      <a:r>
                        <a:rPr sz="1250" b="0">
                          <a:solidFill>
                            <a:srgbClr val="555045"/>
                          </a:solidFill>
                          <a:latin typeface="Arial"/>
                        </a:rPr>
                        <a:t>Misma tienda, tercera vez</a:t>
                      </a:r>
                    </a:p>
                  </a:txBody>
                  <a:tcPr marL="82296" marR="82296" anchor="ctr">
                    <a:solidFill>
                      <a:srgbClr val="FFFFFF"/>
                    </a:solidFill>
                  </a:tcPr>
                </a:tc>
              </a:tr>
            </a:tbl>
          </a:graphicData>
        </a:graphic>
      </p:graphicFrame>
      <p:sp>
        <p:nvSpPr>
          <p:cNvPr id="8" name="Rectangle 7"/>
          <p:cNvSpPr/>
          <p:nvPr/>
        </p:nvSpPr>
        <p:spPr>
          <a:xfrm>
            <a:off x="777240" y="4597019"/>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4496435"/>
            <a:ext cx="10436047" cy="283337"/>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Todas tienen sesgo negativo</a:t>
            </a:r>
            <a:r>
              <a:rPr sz="1450" b="0">
                <a:solidFill>
                  <a:srgbClr val="555045"/>
                </a:solidFill>
                <a:latin typeface="Arial"/>
              </a:rPr>
              <a:t>: el modelo pide de más en las once.</a:t>
            </a:r>
          </a:p>
        </p:txBody>
      </p:sp>
      <p:sp>
        <p:nvSpPr>
          <p:cNvPr id="10" name="Rectangle 9"/>
          <p:cNvSpPr/>
          <p:nvPr/>
        </p:nvSpPr>
        <p:spPr>
          <a:xfrm>
            <a:off x="777240" y="500837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907788"/>
            <a:ext cx="10436047" cy="283337"/>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Que STORE_09 aparezca tres veces sugiere algo propio de esa tienda</a:t>
            </a:r>
            <a:r>
              <a:rPr sz="1450" b="0">
                <a:solidFill>
                  <a:srgbClr val="555045"/>
                </a:solidFill>
                <a:latin typeface="Arial"/>
              </a:rPr>
              <a:t>, no del modelo. Conviene mirarla aparte.</a:t>
            </a:r>
          </a:p>
        </p:txBody>
      </p:sp>
      <p:sp>
        <p:nvSpPr>
          <p:cNvPr id="12" name="Rectangle 11"/>
          <p:cNvSpPr/>
          <p:nvPr/>
        </p:nvSpPr>
        <p:spPr>
          <a:xfrm>
            <a:off x="777240" y="5419725"/>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5319141"/>
            <a:ext cx="10436047" cy="283337"/>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Acción concreta.</a:t>
            </a:r>
            <a:r>
              <a:rPr sz="1450" b="0">
                <a:solidFill>
                  <a:srgbClr val="555045"/>
                </a:solidFill>
                <a:latin typeface="Arial"/>
              </a:rPr>
              <a:t> Revisarlas antes de implantar, y excluirlas del piloto o vigilarlas por separado.</a:t>
            </a:r>
          </a:p>
        </p:txBody>
      </p:sp>
      <p:sp>
        <p:nvSpPr>
          <p:cNvPr id="14" name="Rectangle 13"/>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Paso 12 · Diagnóstico</a:t>
            </a:r>
          </a:p>
        </p:txBody>
      </p:sp>
      <p:sp>
        <p:nvSpPr>
          <p:cNvPr id="16" name="TextBox 15"/>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PASO 13 · CALIBRACIÓN CONFORMAL</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445770"/>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Un control que se pasó, no un paso que se omitió</a:t>
            </a:r>
          </a:p>
        </p:txBody>
      </p:sp>
      <p:pic>
        <p:nvPicPr>
          <p:cNvPr id="6" name="Picture 5" descr="21_calibracion.png"/>
          <p:cNvPicPr>
            <a:picLocks noChangeAspect="1"/>
          </p:cNvPicPr>
          <p:nvPr/>
        </p:nvPicPr>
        <p:blipFill>
          <a:blip r:embed="rId2"/>
          <a:stretch>
            <a:fillRect/>
          </a:stretch>
        </p:blipFill>
        <p:spPr>
          <a:xfrm>
            <a:off x="777240" y="1506474"/>
            <a:ext cx="5760720" cy="3789947"/>
          </a:xfrm>
          <a:prstGeom prst="rect">
            <a:avLst/>
          </a:prstGeom>
        </p:spPr>
      </p:pic>
      <p:sp>
        <p:nvSpPr>
          <p:cNvPr id="7" name="TextBox 6"/>
          <p:cNvSpPr txBox="1"/>
          <p:nvPr/>
        </p:nvSpPr>
        <p:spPr>
          <a:xfrm>
            <a:off x="6858000" y="1643634"/>
            <a:ext cx="4556455" cy="4023360"/>
          </a:xfrm>
          <a:prstGeom prst="rect">
            <a:avLst/>
          </a:prstGeom>
          <a:noFill/>
        </p:spPr>
        <p:txBody>
          <a:bodyPr wrap="square" lIns="0" rIns="0" tIns="0" bIns="0">
            <a:spAutoFit/>
          </a:bodyPr>
          <a:lstStyle/>
          <a:p>
            <a:pPr algn="l">
              <a:lnSpc>
                <a:spcPct val="128000"/>
              </a:lnSpc>
              <a:spcBef>
                <a:spcPts val="0"/>
              </a:spcBef>
              <a:spcAft>
                <a:spcPts val="1200"/>
              </a:spcAft>
            </a:pPr>
            <a:r>
              <a:rPr sz="1250" b="0">
                <a:solidFill>
                  <a:srgbClr val="555045"/>
                </a:solidFill>
                <a:latin typeface="Arial"/>
              </a:rPr>
              <a:t>Un modelo puede prometer cubrir el 68 % de las semanas y cubrir solo el 60. Si eso pasa, el nivel que se le ofrece a negocio es una etiqueta falsa.</a:t>
            </a:r>
          </a:p>
          <a:p>
            <a:pPr algn="l">
              <a:lnSpc>
                <a:spcPct val="128000"/>
              </a:lnSpc>
              <a:spcBef>
                <a:spcPts val="0"/>
              </a:spcBef>
              <a:spcAft>
                <a:spcPts val="1200"/>
              </a:spcAft>
            </a:pPr>
            <a:r>
              <a:rPr sz="1250" b="0">
                <a:solidFill>
                  <a:srgbClr val="555045"/>
                </a:solidFill>
                <a:latin typeface="Arial"/>
              </a:rPr>
              <a:t>La calibración conformal mide en datos que el modelo no vio cuánto se desvía la cobertura y desplaza la predicción lo justo. No supone nada sobre la distribución de la demanda.</a:t>
            </a:r>
          </a:p>
          <a:p>
            <a:pPr algn="l">
              <a:lnSpc>
                <a:spcPct val="128000"/>
              </a:lnSpc>
              <a:spcBef>
                <a:spcPts val="0"/>
              </a:spcBef>
              <a:spcAft>
                <a:spcPts val="600"/>
              </a:spcAft>
            </a:pPr>
            <a:r>
              <a:rPr sz="1300" b="1">
                <a:solidFill>
                  <a:srgbClr val="8C2F39"/>
                </a:solidFill>
                <a:latin typeface="Arial"/>
              </a:rPr>
              <a:t>Se aplica dentro del entrenamiento</a:t>
            </a:r>
          </a:p>
          <a:p>
            <a:pPr algn="l">
              <a:lnSpc>
                <a:spcPct val="128000"/>
              </a:lnSpc>
              <a:spcBef>
                <a:spcPts val="0"/>
              </a:spcBef>
              <a:spcAft>
                <a:spcPts val="1200"/>
              </a:spcAft>
            </a:pPr>
            <a:r>
              <a:rPr sz="1250" b="0">
                <a:solidFill>
                  <a:srgbClr val="555045"/>
                </a:solidFill>
                <a:latin typeface="Arial"/>
              </a:rPr>
              <a:t>Es una corrección al modelo, no un análisis posterior. Todo lo que viene después trabaja ya con los niveles corregidos.</a:t>
            </a:r>
          </a:p>
          <a:p>
            <a:pPr algn="l">
              <a:lnSpc>
                <a:spcPct val="128000"/>
              </a:lnSpc>
              <a:spcBef>
                <a:spcPts val="0"/>
              </a:spcBef>
              <a:spcAft>
                <a:spcPts val="0"/>
              </a:spcAft>
            </a:pPr>
            <a:r>
              <a:rPr sz="1250" b="1">
                <a:solidFill>
                  <a:srgbClr val="17150F"/>
                </a:solidFill>
                <a:latin typeface="Arial"/>
              </a:rPr>
              <a:t>Aporta un 4,5 % adicional de ahorro. El margen era pequeño porque la parametrización relativa ya dejaba los niveles bien calibrados de origen.</a:t>
            </a:r>
          </a:p>
        </p:txBody>
      </p:sp>
      <p:sp>
        <p:nvSpPr>
          <p:cNvPr id="8" name="Rectangle 7"/>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Paso 13 · Calibración conformal</a:t>
            </a:r>
          </a:p>
        </p:txBody>
      </p:sp>
      <p:sp>
        <p:nvSpPr>
          <p:cNvPr id="10" name="TextBox 9"/>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651760"/>
            <a:ext cx="9144000" cy="914400"/>
          </a:xfrm>
          <a:prstGeom prst="rect">
            <a:avLst/>
          </a:prstGeom>
          <a:noFill/>
        </p:spPr>
        <p:txBody>
          <a:bodyPr wrap="square" lIns="0" rIns="0" tIns="0" bIns="0">
            <a:spAutoFit/>
          </a:bodyPr>
          <a:lstStyle/>
          <a:p>
            <a:pPr algn="l">
              <a:lnSpc>
                <a:spcPct val="105000"/>
              </a:lnSpc>
              <a:spcBef>
                <a:spcPts val="0"/>
              </a:spcBef>
              <a:spcAft>
                <a:spcPts val="1000"/>
              </a:spcAft>
            </a:pPr>
            <a:r>
              <a:rPr sz="3400" b="1">
                <a:solidFill>
                  <a:srgbClr val="17150F"/>
                </a:solidFill>
                <a:latin typeface="Arial"/>
              </a:rPr>
              <a:t>La decisión y el dinero</a:t>
            </a:r>
          </a:p>
          <a:p>
            <a:pPr algn="l">
              <a:lnSpc>
                <a:spcPct val="130000"/>
              </a:lnSpc>
              <a:spcBef>
                <a:spcPts val="0"/>
              </a:spcBef>
              <a:spcAft>
                <a:spcPts val="600"/>
              </a:spcAft>
            </a:pPr>
            <a:r>
              <a:rPr sz="1550" b="0">
                <a:solidFill>
                  <a:srgbClr val="555045"/>
                </a:solidFill>
                <a:latin typeface="Arial"/>
              </a:rPr>
              <a:t>Pasos 14 y 15 · Optimizador del pedido y simulación de políticas</a:t>
            </a:r>
          </a:p>
        </p:txBody>
      </p:sp>
      <p:sp>
        <p:nvSpPr>
          <p:cNvPr id="5" name="TextBox 4"/>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PASO 14 · EL OPTIMIZADOR</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445770"/>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Toda la decisión cabe en tres líneas</a:t>
            </a:r>
          </a:p>
        </p:txBody>
      </p:sp>
      <p:sp>
        <p:nvSpPr>
          <p:cNvPr id="6" name="TextBox 5"/>
          <p:cNvSpPr txBox="1"/>
          <p:nvPr/>
        </p:nvSpPr>
        <p:spPr>
          <a:xfrm>
            <a:off x="777240" y="1506474"/>
            <a:ext cx="9966960" cy="283337"/>
          </a:xfrm>
          <a:prstGeom prst="rect">
            <a:avLst/>
          </a:prstGeom>
          <a:noFill/>
        </p:spPr>
        <p:txBody>
          <a:bodyPr wrap="square" lIns="0" rIns="0" tIns="0" bIns="0">
            <a:spAutoFit/>
          </a:bodyPr>
          <a:lstStyle/>
          <a:p>
            <a:pPr algn="l">
              <a:lnSpc>
                <a:spcPct val="130000"/>
              </a:lnSpc>
              <a:spcBef>
                <a:spcPts val="0"/>
              </a:spcBef>
              <a:spcAft>
                <a:spcPts val="0"/>
              </a:spcAft>
            </a:pPr>
            <a:r>
              <a:rPr sz="1450" b="0">
                <a:solidFill>
                  <a:srgbClr val="555045"/>
                </a:solidFill>
                <a:latin typeface="Arial"/>
              </a:rPr>
              <a:t>Deliberadamente corta, para que pueda revisarla alguien de operaciones sin leer el resto del proyecto.</a:t>
            </a:r>
          </a:p>
        </p:txBody>
      </p:sp>
      <p:sp>
        <p:nvSpPr>
          <p:cNvPr id="7" name="Rectangle 6"/>
          <p:cNvSpPr/>
          <p:nvPr/>
        </p:nvSpPr>
        <p:spPr>
          <a:xfrm>
            <a:off x="777240" y="1990979"/>
            <a:ext cx="10637215" cy="146304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228723"/>
            <a:ext cx="9997135" cy="1005840"/>
          </a:xfrm>
          <a:prstGeom prst="rect">
            <a:avLst/>
          </a:prstGeom>
          <a:noFill/>
        </p:spPr>
        <p:txBody>
          <a:bodyPr wrap="square" lIns="0" rIns="0" tIns="0" bIns="0">
            <a:spAutoFit/>
          </a:bodyPr>
          <a:lstStyle/>
          <a:p>
            <a:pPr algn="l">
              <a:lnSpc>
                <a:spcPct val="125000"/>
              </a:lnSpc>
              <a:spcBef>
                <a:spcPts val="0"/>
              </a:spcBef>
              <a:spcAft>
                <a:spcPts val="700"/>
              </a:spcAft>
            </a:pPr>
            <a:r>
              <a:rPr sz="1600" b="1">
                <a:solidFill>
                  <a:srgbClr val="17150F"/>
                </a:solidFill>
                <a:latin typeface="Arial"/>
              </a:rPr>
              <a:t>nivel de servicio  =  el que marcan los costes del producto</a:t>
            </a:r>
          </a:p>
          <a:p>
            <a:pPr algn="l">
              <a:lnSpc>
                <a:spcPct val="125000"/>
              </a:lnSpc>
              <a:spcBef>
                <a:spcPts val="0"/>
              </a:spcBef>
              <a:spcAft>
                <a:spcPts val="700"/>
              </a:spcAft>
            </a:pPr>
            <a:r>
              <a:rPr sz="1600" b="1">
                <a:solidFill>
                  <a:srgbClr val="17150F"/>
                </a:solidFill>
                <a:latin typeface="Arial"/>
              </a:rPr>
              <a:t>objetivo  =  la predicción del modelo a ese nivel, redondeada</a:t>
            </a:r>
          </a:p>
          <a:p>
            <a:pPr algn="l">
              <a:lnSpc>
                <a:spcPct val="125000"/>
              </a:lnSpc>
              <a:spcBef>
                <a:spcPts val="0"/>
              </a:spcBef>
              <a:spcAft>
                <a:spcPts val="0"/>
              </a:spcAft>
            </a:pPr>
            <a:r>
              <a:rPr sz="1600" b="1">
                <a:solidFill>
                  <a:srgbClr val="8C2F39"/>
                </a:solidFill>
                <a:latin typeface="Arial"/>
              </a:rPr>
              <a:t>pedido  =  máximo ( 0 ,  objetivo − stock en estantería )</a:t>
            </a:r>
          </a:p>
        </p:txBody>
      </p:sp>
      <p:sp>
        <p:nvSpPr>
          <p:cNvPr id="9" name="Rectangle 8"/>
          <p:cNvSpPr/>
          <p:nvPr/>
        </p:nvSpPr>
        <p:spPr>
          <a:xfrm>
            <a:off x="777240" y="387464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3774059"/>
            <a:ext cx="10436047" cy="776859"/>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Seis propiedades se verifican en cada ejecución</a:t>
            </a:r>
            <a:r>
              <a:rPr sz="1450" b="0">
                <a:solidFill>
                  <a:srgbClr val="555045"/>
                </a:solidFill>
                <a:latin typeface="Arial"/>
              </a:rPr>
              <a:t>: ningún pedido negativo, todas las cantidades enteras, el pedido más el stock alcanza el objetivo, cero pedido donde el stock ya cubre, cada producto con su nivel, y ningún objetivo por debajo del pronóstico central.</a:t>
            </a:r>
          </a:p>
        </p:txBody>
      </p:sp>
      <p:sp>
        <p:nvSpPr>
          <p:cNvPr id="11" name="Rectangle 10"/>
          <p:cNvSpPr/>
          <p:nvPr/>
        </p:nvSpPr>
        <p:spPr>
          <a:xfrm>
            <a:off x="777240" y="477951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678934"/>
            <a:ext cx="10436047" cy="530098"/>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Ocho pruebas con casos construidos a mano</a:t>
            </a:r>
            <a:r>
              <a:rPr sz="1450" b="0">
                <a:solidFill>
                  <a:srgbClr val="555045"/>
                </a:solidFill>
                <a:latin typeface="Arial"/>
              </a:rPr>
              <a:t>, donde la respuesta correcta se conoce de antemano. Dos exigen que el proceso falle: si falta un nivel o si una serie no tiene stock registrado.</a:t>
            </a:r>
          </a:p>
        </p:txBody>
      </p:sp>
      <p:sp>
        <p:nvSpPr>
          <p:cNvPr id="13" name="Rectangle 12"/>
          <p:cNvSpPr/>
          <p:nvPr/>
        </p:nvSpPr>
        <p:spPr>
          <a:xfrm>
            <a:off x="777240" y="543763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5337048"/>
            <a:ext cx="10436047" cy="530098"/>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Tres restricciones operativas están implementadas y desactivadas</a:t>
            </a:r>
            <a:r>
              <a:rPr sz="1450" b="0">
                <a:solidFill>
                  <a:srgbClr val="555045"/>
                </a:solidFill>
                <a:latin typeface="Arial"/>
              </a:rPr>
              <a:t>: múltiplo de lote, redondeo al alza y techo físico por tienda. Se activan cambiando un parámetro, sin tocar la lógica.</a:t>
            </a:r>
          </a:p>
        </p:txBody>
      </p:sp>
      <p:sp>
        <p:nvSpPr>
          <p:cNvPr id="15" name="Rectangle 1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Paso 14 · Optimizador del pedido</a:t>
            </a:r>
          </a:p>
        </p:txBody>
      </p:sp>
      <p:sp>
        <p:nvSpPr>
          <p:cNvPr id="17" name="TextBox 16"/>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PASO 14 · EL COLCHÓN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445770"/>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La respuesta visible a la pregunta del encargo</a:t>
            </a:r>
          </a:p>
        </p:txBody>
      </p:sp>
      <p:pic>
        <p:nvPicPr>
          <p:cNvPr id="6" name="Picture 5" descr="22_composicion_pedido.png"/>
          <p:cNvPicPr>
            <a:picLocks noChangeAspect="1"/>
          </p:cNvPicPr>
          <p:nvPr/>
        </p:nvPicPr>
        <p:blipFill>
          <a:blip r:embed="rId2"/>
          <a:stretch>
            <a:fillRect/>
          </a:stretch>
        </p:blipFill>
        <p:spPr>
          <a:xfrm>
            <a:off x="777240" y="1506474"/>
            <a:ext cx="5760720" cy="3291840"/>
          </a:xfrm>
          <a:prstGeom prst="rect">
            <a:avLst/>
          </a:prstGeom>
        </p:spPr>
      </p:pic>
      <p:graphicFrame>
        <p:nvGraphicFramePr>
          <p:cNvPr id="7" name="Table 6"/>
          <p:cNvGraphicFramePr>
            <a:graphicFrameLocks noGrp="1"/>
          </p:cNvGraphicFramePr>
          <p:nvPr/>
        </p:nvGraphicFramePr>
        <p:xfrm>
          <a:off x="6858000" y="1552194"/>
          <a:ext cx="4556453" cy="2542032"/>
        </p:xfrm>
        <a:graphic>
          <a:graphicData uri="http://schemas.openxmlformats.org/drawingml/2006/table">
            <a:tbl>
              <a:tblPr bandRow="1">
                <a:tableStyleId>{5C22544A-7EE6-4342-B048-85BDC9FD1C3A}</a:tableStyleId>
              </a:tblPr>
              <a:tblGrid>
                <a:gridCol w="1731452"/>
                <a:gridCol w="1002420"/>
                <a:gridCol w="820161"/>
                <a:gridCol w="1002420"/>
              </a:tblGrid>
              <a:tr h="347472">
                <a:tc>
                  <a:txBody>
                    <a:bodyPr/>
                    <a:lstStyle/>
                    <a:p>
                      <a:pPr algn="l"/>
                      <a:r>
                        <a:rPr sz="1000" b="1">
                          <a:solidFill>
                            <a:srgbClr val="8B8478"/>
                          </a:solidFill>
                          <a:latin typeface="Arial"/>
                        </a:rPr>
                        <a:t>Producto</a:t>
                      </a:r>
                    </a:p>
                  </a:txBody>
                  <a:tcPr marL="82296" marR="82296" anchor="ctr">
                    <a:solidFill>
                      <a:srgbClr val="F4F2ED"/>
                    </a:solidFill>
                  </a:tcPr>
                </a:tc>
                <a:tc>
                  <a:txBody>
                    <a:bodyPr/>
                    <a:lstStyle/>
                    <a:p>
                      <a:pPr algn="r"/>
                      <a:r>
                        <a:rPr sz="1000" b="1">
                          <a:solidFill>
                            <a:srgbClr val="8B8478"/>
                          </a:solidFill>
                          <a:latin typeface="Arial"/>
                        </a:rPr>
                        <a:t>Margen</a:t>
                      </a:r>
                    </a:p>
                  </a:txBody>
                  <a:tcPr marL="82296" marR="82296" anchor="ctr">
                    <a:solidFill>
                      <a:srgbClr val="F4F2ED"/>
                    </a:solidFill>
                  </a:tcPr>
                </a:tc>
                <a:tc>
                  <a:txBody>
                    <a:bodyPr/>
                    <a:lstStyle/>
                    <a:p>
                      <a:pPr algn="r"/>
                      <a:r>
                        <a:rPr sz="1000" b="1">
                          <a:solidFill>
                            <a:srgbClr val="8B8478"/>
                          </a:solidFill>
                          <a:latin typeface="Arial"/>
                        </a:rPr>
                        <a:t>Nivel</a:t>
                      </a:r>
                    </a:p>
                  </a:txBody>
                  <a:tcPr marL="82296" marR="82296" anchor="ctr">
                    <a:solidFill>
                      <a:srgbClr val="F4F2ED"/>
                    </a:solidFill>
                  </a:tcPr>
                </a:tc>
                <a:tc>
                  <a:txBody>
                    <a:bodyPr/>
                    <a:lstStyle/>
                    <a:p>
                      <a:pPr algn="r"/>
                      <a:r>
                        <a:rPr sz="1000" b="1">
                          <a:solidFill>
                            <a:srgbClr val="8B8478"/>
                          </a:solidFill>
                          <a:latin typeface="Arial"/>
                        </a:rPr>
                        <a:t>Colchón</a:t>
                      </a:r>
                    </a:p>
                  </a:txBody>
                  <a:tcPr marL="82296" marR="82296" anchor="ctr">
                    <a:solidFill>
                      <a:srgbClr val="F4F2ED"/>
                    </a:solidFill>
                  </a:tcPr>
                </a:tc>
              </a:tr>
              <a:tr h="274320">
                <a:tc>
                  <a:txBody>
                    <a:bodyPr/>
                    <a:lstStyle/>
                    <a:p>
                      <a:pPr algn="l"/>
                      <a:r>
                        <a:rPr sz="1150" b="0">
                          <a:solidFill>
                            <a:srgbClr val="17150F"/>
                          </a:solidFill>
                          <a:latin typeface="Arial"/>
                        </a:rPr>
                        <a:t>Tinto</a:t>
                      </a:r>
                    </a:p>
                  </a:txBody>
                  <a:tcPr marL="82296" marR="82296" anchor="ctr">
                    <a:solidFill>
                      <a:srgbClr val="FFFFFF"/>
                    </a:solidFill>
                  </a:tcPr>
                </a:tc>
                <a:tc>
                  <a:txBody>
                    <a:bodyPr/>
                    <a:lstStyle/>
                    <a:p>
                      <a:pPr algn="r"/>
                      <a:r>
                        <a:rPr sz="1150" b="0">
                          <a:solidFill>
                            <a:srgbClr val="555045"/>
                          </a:solidFill>
                          <a:latin typeface="Arial"/>
                        </a:rPr>
                        <a:t>68,0 %</a:t>
                      </a:r>
                    </a:p>
                  </a:txBody>
                  <a:tcPr marL="82296" marR="82296" anchor="ctr">
                    <a:solidFill>
                      <a:srgbClr val="FFFFFF"/>
                    </a:solidFill>
                  </a:tcPr>
                </a:tc>
                <a:tc>
                  <a:txBody>
                    <a:bodyPr/>
                    <a:lstStyle/>
                    <a:p>
                      <a:pPr algn="r"/>
                      <a:r>
                        <a:rPr sz="1150" b="0">
                          <a:solidFill>
                            <a:srgbClr val="555045"/>
                          </a:solidFill>
                          <a:latin typeface="Arial"/>
                        </a:rPr>
                        <a:t>0,68</a:t>
                      </a:r>
                    </a:p>
                  </a:txBody>
                  <a:tcPr marL="82296" marR="82296" anchor="ctr">
                    <a:solidFill>
                      <a:srgbClr val="FFFFFF"/>
                    </a:solidFill>
                  </a:tcPr>
                </a:tc>
                <a:tc>
                  <a:txBody>
                    <a:bodyPr/>
                    <a:lstStyle/>
                    <a:p>
                      <a:pPr algn="r"/>
                      <a:r>
                        <a:rPr sz="1150" b="0">
                          <a:solidFill>
                            <a:srgbClr val="555045"/>
                          </a:solidFill>
                          <a:latin typeface="Arial"/>
                        </a:rPr>
                        <a:t>6,3 %</a:t>
                      </a:r>
                    </a:p>
                  </a:txBody>
                  <a:tcPr marL="82296" marR="82296" anchor="ctr">
                    <a:solidFill>
                      <a:srgbClr val="FFFFFF"/>
                    </a:solidFill>
                  </a:tcPr>
                </a:tc>
              </a:tr>
              <a:tr h="274320">
                <a:tc>
                  <a:txBody>
                    <a:bodyPr/>
                    <a:lstStyle/>
                    <a:p>
                      <a:pPr algn="l"/>
                      <a:r>
                        <a:rPr sz="1150" b="0">
                          <a:solidFill>
                            <a:srgbClr val="17150F"/>
                          </a:solidFill>
                          <a:latin typeface="Arial"/>
                        </a:rPr>
                        <a:t>Buñuelo</a:t>
                      </a:r>
                    </a:p>
                  </a:txBody>
                  <a:tcPr marL="82296" marR="82296" anchor="ctr">
                    <a:solidFill>
                      <a:srgbClr val="FFFFFF"/>
                    </a:solidFill>
                  </a:tcPr>
                </a:tc>
                <a:tc>
                  <a:txBody>
                    <a:bodyPr/>
                    <a:lstStyle/>
                    <a:p>
                      <a:pPr algn="r"/>
                      <a:r>
                        <a:rPr sz="1150" b="0">
                          <a:solidFill>
                            <a:srgbClr val="555045"/>
                          </a:solidFill>
                          <a:latin typeface="Arial"/>
                        </a:rPr>
                        <a:t>68,0 %</a:t>
                      </a:r>
                    </a:p>
                  </a:txBody>
                  <a:tcPr marL="82296" marR="82296" anchor="ctr">
                    <a:solidFill>
                      <a:srgbClr val="FFFFFF"/>
                    </a:solidFill>
                  </a:tcPr>
                </a:tc>
                <a:tc>
                  <a:txBody>
                    <a:bodyPr/>
                    <a:lstStyle/>
                    <a:p>
                      <a:pPr algn="r"/>
                      <a:r>
                        <a:rPr sz="1150" b="0">
                          <a:solidFill>
                            <a:srgbClr val="555045"/>
                          </a:solidFill>
                          <a:latin typeface="Arial"/>
                        </a:rPr>
                        <a:t>0,67</a:t>
                      </a:r>
                    </a:p>
                  </a:txBody>
                  <a:tcPr marL="82296" marR="82296" anchor="ctr">
                    <a:solidFill>
                      <a:srgbClr val="FFFFFF"/>
                    </a:solidFill>
                  </a:tcPr>
                </a:tc>
                <a:tc>
                  <a:txBody>
                    <a:bodyPr/>
                    <a:lstStyle/>
                    <a:p>
                      <a:pPr algn="r"/>
                      <a:r>
                        <a:rPr sz="1150" b="0">
                          <a:solidFill>
                            <a:srgbClr val="555045"/>
                          </a:solidFill>
                          <a:latin typeface="Arial"/>
                        </a:rPr>
                        <a:t>5,5 %</a:t>
                      </a:r>
                    </a:p>
                  </a:txBody>
                  <a:tcPr marL="82296" marR="82296" anchor="ctr">
                    <a:solidFill>
                      <a:srgbClr val="FFFFFF"/>
                    </a:solidFill>
                  </a:tcPr>
                </a:tc>
              </a:tr>
              <a:tr h="274320">
                <a:tc>
                  <a:txBody>
                    <a:bodyPr/>
                    <a:lstStyle/>
                    <a:p>
                      <a:pPr algn="l"/>
                      <a:r>
                        <a:rPr sz="1150" b="0">
                          <a:solidFill>
                            <a:srgbClr val="17150F"/>
                          </a:solidFill>
                          <a:latin typeface="Arial"/>
                        </a:rPr>
                        <a:t>Cappuccino</a:t>
                      </a:r>
                    </a:p>
                  </a:txBody>
                  <a:tcPr marL="82296" marR="82296" anchor="ctr">
                    <a:solidFill>
                      <a:srgbClr val="FFFFFF"/>
                    </a:solidFill>
                  </a:tcPr>
                </a:tc>
                <a:tc>
                  <a:txBody>
                    <a:bodyPr/>
                    <a:lstStyle/>
                    <a:p>
                      <a:pPr algn="r"/>
                      <a:r>
                        <a:rPr sz="1150" b="0">
                          <a:solidFill>
                            <a:srgbClr val="555045"/>
                          </a:solidFill>
                          <a:latin typeface="Arial"/>
                        </a:rPr>
                        <a:t>66,7 %</a:t>
                      </a:r>
                    </a:p>
                  </a:txBody>
                  <a:tcPr marL="82296" marR="82296" anchor="ctr">
                    <a:solidFill>
                      <a:srgbClr val="FFFFFF"/>
                    </a:solidFill>
                  </a:tcPr>
                </a:tc>
                <a:tc>
                  <a:txBody>
                    <a:bodyPr/>
                    <a:lstStyle/>
                    <a:p>
                      <a:pPr algn="r"/>
                      <a:r>
                        <a:rPr sz="1150" b="0">
                          <a:solidFill>
                            <a:srgbClr val="555045"/>
                          </a:solidFill>
                          <a:latin typeface="Arial"/>
                        </a:rPr>
                        <a:t>0,66</a:t>
                      </a:r>
                    </a:p>
                  </a:txBody>
                  <a:tcPr marL="82296" marR="82296" anchor="ctr">
                    <a:solidFill>
                      <a:srgbClr val="FFFFFF"/>
                    </a:solidFill>
                  </a:tcPr>
                </a:tc>
                <a:tc>
                  <a:txBody>
                    <a:bodyPr/>
                    <a:lstStyle/>
                    <a:p>
                      <a:pPr algn="r"/>
                      <a:r>
                        <a:rPr sz="1150" b="0">
                          <a:solidFill>
                            <a:srgbClr val="555045"/>
                          </a:solidFill>
                          <a:latin typeface="Arial"/>
                        </a:rPr>
                        <a:t>5,5 %</a:t>
                      </a:r>
                    </a:p>
                  </a:txBody>
                  <a:tcPr marL="82296" marR="82296" anchor="ctr">
                    <a:solidFill>
                      <a:srgbClr val="FFFFFF"/>
                    </a:solidFill>
                  </a:tcPr>
                </a:tc>
              </a:tr>
              <a:tr h="274320">
                <a:tc>
                  <a:txBody>
                    <a:bodyPr/>
                    <a:lstStyle/>
                    <a:p>
                      <a:pPr algn="l"/>
                      <a:r>
                        <a:rPr sz="1150" b="0">
                          <a:solidFill>
                            <a:srgbClr val="17150F"/>
                          </a:solidFill>
                          <a:latin typeface="Arial"/>
                        </a:rPr>
                        <a:t>Café con Leche</a:t>
                      </a:r>
                    </a:p>
                  </a:txBody>
                  <a:tcPr marL="82296" marR="82296" anchor="ctr">
                    <a:solidFill>
                      <a:srgbClr val="FFFFFF"/>
                    </a:solidFill>
                  </a:tcPr>
                </a:tc>
                <a:tc>
                  <a:txBody>
                    <a:bodyPr/>
                    <a:lstStyle/>
                    <a:p>
                      <a:pPr algn="r"/>
                      <a:r>
                        <a:rPr sz="1150" b="0">
                          <a:solidFill>
                            <a:srgbClr val="555045"/>
                          </a:solidFill>
                          <a:latin typeface="Arial"/>
                        </a:rPr>
                        <a:t>65,7 %</a:t>
                      </a:r>
                    </a:p>
                  </a:txBody>
                  <a:tcPr marL="82296" marR="82296" anchor="ctr">
                    <a:solidFill>
                      <a:srgbClr val="FFFFFF"/>
                    </a:solidFill>
                  </a:tcPr>
                </a:tc>
                <a:tc>
                  <a:txBody>
                    <a:bodyPr/>
                    <a:lstStyle/>
                    <a:p>
                      <a:pPr algn="r"/>
                      <a:r>
                        <a:rPr sz="1150" b="0">
                          <a:solidFill>
                            <a:srgbClr val="555045"/>
                          </a:solidFill>
                          <a:latin typeface="Arial"/>
                        </a:rPr>
                        <a:t>0,65</a:t>
                      </a:r>
                    </a:p>
                  </a:txBody>
                  <a:tcPr marL="82296" marR="82296" anchor="ctr">
                    <a:solidFill>
                      <a:srgbClr val="FFFFFF"/>
                    </a:solidFill>
                  </a:tcPr>
                </a:tc>
                <a:tc>
                  <a:txBody>
                    <a:bodyPr/>
                    <a:lstStyle/>
                    <a:p>
                      <a:pPr algn="r"/>
                      <a:r>
                        <a:rPr sz="1150" b="0">
                          <a:solidFill>
                            <a:srgbClr val="555045"/>
                          </a:solidFill>
                          <a:latin typeface="Arial"/>
                        </a:rPr>
                        <a:t>6,1 %</a:t>
                      </a:r>
                    </a:p>
                  </a:txBody>
                  <a:tcPr marL="82296" marR="82296" anchor="ctr">
                    <a:solidFill>
                      <a:srgbClr val="FFFFFF"/>
                    </a:solidFill>
                  </a:tcPr>
                </a:tc>
              </a:tr>
              <a:tr h="274320">
                <a:tc>
                  <a:txBody>
                    <a:bodyPr/>
                    <a:lstStyle/>
                    <a:p>
                      <a:pPr algn="l"/>
                      <a:r>
                        <a:rPr sz="1150" b="0">
                          <a:solidFill>
                            <a:srgbClr val="17150F"/>
                          </a:solidFill>
                          <a:latin typeface="Arial"/>
                        </a:rPr>
                        <a:t>Croissant</a:t>
                      </a:r>
                    </a:p>
                  </a:txBody>
                  <a:tcPr marL="82296" marR="82296" anchor="ctr">
                    <a:solidFill>
                      <a:srgbClr val="FFFFFF"/>
                    </a:solidFill>
                  </a:tcPr>
                </a:tc>
                <a:tc>
                  <a:txBody>
                    <a:bodyPr/>
                    <a:lstStyle/>
                    <a:p>
                      <a:pPr algn="r"/>
                      <a:r>
                        <a:rPr sz="1150" b="0">
                          <a:solidFill>
                            <a:srgbClr val="555045"/>
                          </a:solidFill>
                          <a:latin typeface="Arial"/>
                        </a:rPr>
                        <a:t>65,7 %</a:t>
                      </a:r>
                    </a:p>
                  </a:txBody>
                  <a:tcPr marL="82296" marR="82296" anchor="ctr">
                    <a:solidFill>
                      <a:srgbClr val="FFFFFF"/>
                    </a:solidFill>
                  </a:tcPr>
                </a:tc>
                <a:tc>
                  <a:txBody>
                    <a:bodyPr/>
                    <a:lstStyle/>
                    <a:p>
                      <a:pPr algn="r"/>
                      <a:r>
                        <a:rPr sz="1150" b="0">
                          <a:solidFill>
                            <a:srgbClr val="555045"/>
                          </a:solidFill>
                          <a:latin typeface="Arial"/>
                        </a:rPr>
                        <a:t>0,65</a:t>
                      </a:r>
                    </a:p>
                  </a:txBody>
                  <a:tcPr marL="82296" marR="82296" anchor="ctr">
                    <a:solidFill>
                      <a:srgbClr val="FFFFFF"/>
                    </a:solidFill>
                  </a:tcPr>
                </a:tc>
                <a:tc>
                  <a:txBody>
                    <a:bodyPr/>
                    <a:lstStyle/>
                    <a:p>
                      <a:pPr algn="r"/>
                      <a:r>
                        <a:rPr sz="1150" b="0">
                          <a:solidFill>
                            <a:srgbClr val="555045"/>
                          </a:solidFill>
                          <a:latin typeface="Arial"/>
                        </a:rPr>
                        <a:t>5,6 %</a:t>
                      </a:r>
                    </a:p>
                  </a:txBody>
                  <a:tcPr marL="82296" marR="82296" anchor="ctr">
                    <a:solidFill>
                      <a:srgbClr val="FFFFFF"/>
                    </a:solidFill>
                  </a:tcPr>
                </a:tc>
              </a:tr>
              <a:tr h="274320">
                <a:tc>
                  <a:txBody>
                    <a:bodyPr/>
                    <a:lstStyle/>
                    <a:p>
                      <a:pPr algn="l"/>
                      <a:r>
                        <a:rPr sz="1150" b="0">
                          <a:solidFill>
                            <a:srgbClr val="17150F"/>
                          </a:solidFill>
                          <a:latin typeface="Arial"/>
                        </a:rPr>
                        <a:t>Pan de Bono</a:t>
                      </a:r>
                    </a:p>
                  </a:txBody>
                  <a:tcPr marL="82296" marR="82296" anchor="ctr">
                    <a:solidFill>
                      <a:srgbClr val="FFFFFF"/>
                    </a:solidFill>
                  </a:tcPr>
                </a:tc>
                <a:tc>
                  <a:txBody>
                    <a:bodyPr/>
                    <a:lstStyle/>
                    <a:p>
                      <a:pPr algn="r"/>
                      <a:r>
                        <a:rPr sz="1150" b="0">
                          <a:solidFill>
                            <a:srgbClr val="555045"/>
                          </a:solidFill>
                          <a:latin typeface="Arial"/>
                        </a:rPr>
                        <a:t>64,3 %</a:t>
                      </a:r>
                    </a:p>
                  </a:txBody>
                  <a:tcPr marL="82296" marR="82296" anchor="ctr">
                    <a:solidFill>
                      <a:srgbClr val="FFFFFF"/>
                    </a:solidFill>
                  </a:tcPr>
                </a:tc>
                <a:tc>
                  <a:txBody>
                    <a:bodyPr/>
                    <a:lstStyle/>
                    <a:p>
                      <a:pPr algn="r"/>
                      <a:r>
                        <a:rPr sz="1150" b="0">
                          <a:solidFill>
                            <a:srgbClr val="555045"/>
                          </a:solidFill>
                          <a:latin typeface="Arial"/>
                        </a:rPr>
                        <a:t>0,64</a:t>
                      </a:r>
                    </a:p>
                  </a:txBody>
                  <a:tcPr marL="82296" marR="82296" anchor="ctr">
                    <a:solidFill>
                      <a:srgbClr val="FFFFFF"/>
                    </a:solidFill>
                  </a:tcPr>
                </a:tc>
                <a:tc>
                  <a:txBody>
                    <a:bodyPr/>
                    <a:lstStyle/>
                    <a:p>
                      <a:pPr algn="r"/>
                      <a:r>
                        <a:rPr sz="1150" b="0">
                          <a:solidFill>
                            <a:srgbClr val="555045"/>
                          </a:solidFill>
                          <a:latin typeface="Arial"/>
                        </a:rPr>
                        <a:t>4,6 %</a:t>
                      </a:r>
                    </a:p>
                  </a:txBody>
                  <a:tcPr marL="82296" marR="82296" anchor="ctr">
                    <a:solidFill>
                      <a:srgbClr val="FFFFFF"/>
                    </a:solidFill>
                  </a:tcPr>
                </a:tc>
              </a:tr>
              <a:tr h="274320">
                <a:tc>
                  <a:txBody>
                    <a:bodyPr/>
                    <a:lstStyle/>
                    <a:p>
                      <a:pPr algn="l"/>
                      <a:r>
                        <a:rPr sz="1150" b="0">
                          <a:solidFill>
                            <a:srgbClr val="17150F"/>
                          </a:solidFill>
                          <a:latin typeface="Arial"/>
                        </a:rPr>
                        <a:t>Jugo de Naranja</a:t>
                      </a:r>
                    </a:p>
                  </a:txBody>
                  <a:tcPr marL="82296" marR="82296" anchor="ctr">
                    <a:solidFill>
                      <a:srgbClr val="FFFFFF"/>
                    </a:solidFill>
                  </a:tcPr>
                </a:tc>
                <a:tc>
                  <a:txBody>
                    <a:bodyPr/>
                    <a:lstStyle/>
                    <a:p>
                      <a:pPr algn="r"/>
                      <a:r>
                        <a:rPr sz="1150" b="0">
                          <a:solidFill>
                            <a:srgbClr val="555045"/>
                          </a:solidFill>
                          <a:latin typeface="Arial"/>
                        </a:rPr>
                        <a:t>60,0 %</a:t>
                      </a:r>
                    </a:p>
                  </a:txBody>
                  <a:tcPr marL="82296" marR="82296" anchor="ctr">
                    <a:solidFill>
                      <a:srgbClr val="FFFFFF"/>
                    </a:solidFill>
                  </a:tcPr>
                </a:tc>
                <a:tc>
                  <a:txBody>
                    <a:bodyPr/>
                    <a:lstStyle/>
                    <a:p>
                      <a:pPr algn="r"/>
                      <a:r>
                        <a:rPr sz="1150" b="0">
                          <a:solidFill>
                            <a:srgbClr val="555045"/>
                          </a:solidFill>
                          <a:latin typeface="Arial"/>
                        </a:rPr>
                        <a:t>0,59</a:t>
                      </a:r>
                    </a:p>
                  </a:txBody>
                  <a:tcPr marL="82296" marR="82296" anchor="ctr">
                    <a:solidFill>
                      <a:srgbClr val="FFFFFF"/>
                    </a:solidFill>
                  </a:tcPr>
                </a:tc>
                <a:tc>
                  <a:txBody>
                    <a:bodyPr/>
                    <a:lstStyle/>
                    <a:p>
                      <a:pPr algn="r"/>
                      <a:r>
                        <a:rPr sz="1150" b="0">
                          <a:solidFill>
                            <a:srgbClr val="555045"/>
                          </a:solidFill>
                          <a:latin typeface="Arial"/>
                        </a:rPr>
                        <a:t>3,6 %</a:t>
                      </a:r>
                    </a:p>
                  </a:txBody>
                  <a:tcPr marL="82296" marR="82296" anchor="ctr">
                    <a:solidFill>
                      <a:srgbClr val="FFFFFF"/>
                    </a:solidFill>
                  </a:tcPr>
                </a:tc>
              </a:tr>
              <a:tr h="274320">
                <a:tc>
                  <a:txBody>
                    <a:bodyPr/>
                    <a:lstStyle/>
                    <a:p>
                      <a:pPr algn="l"/>
                      <a:r>
                        <a:rPr sz="1150" b="0">
                          <a:solidFill>
                            <a:srgbClr val="17150F"/>
                          </a:solidFill>
                          <a:latin typeface="Arial"/>
                        </a:rPr>
                        <a:t>Pastel de Pollo</a:t>
                      </a:r>
                    </a:p>
                  </a:txBody>
                  <a:tcPr marL="82296" marR="82296" anchor="ctr">
                    <a:solidFill>
                      <a:srgbClr val="FFFFFF"/>
                    </a:solidFill>
                  </a:tcPr>
                </a:tc>
                <a:tc>
                  <a:txBody>
                    <a:bodyPr/>
                    <a:lstStyle/>
                    <a:p>
                      <a:pPr algn="r"/>
                      <a:r>
                        <a:rPr sz="1150" b="0">
                          <a:solidFill>
                            <a:srgbClr val="555045"/>
                          </a:solidFill>
                          <a:latin typeface="Arial"/>
                        </a:rPr>
                        <a:t>57,1 %</a:t>
                      </a:r>
                    </a:p>
                  </a:txBody>
                  <a:tcPr marL="82296" marR="82296" anchor="ctr">
                    <a:solidFill>
                      <a:srgbClr val="FFFFFF"/>
                    </a:solidFill>
                  </a:tcPr>
                </a:tc>
                <a:tc>
                  <a:txBody>
                    <a:bodyPr/>
                    <a:lstStyle/>
                    <a:p>
                      <a:pPr algn="r"/>
                      <a:r>
                        <a:rPr sz="1150" b="0">
                          <a:solidFill>
                            <a:srgbClr val="555045"/>
                          </a:solidFill>
                          <a:latin typeface="Arial"/>
                        </a:rPr>
                        <a:t>0,57</a:t>
                      </a:r>
                    </a:p>
                  </a:txBody>
                  <a:tcPr marL="82296" marR="82296" anchor="ctr">
                    <a:solidFill>
                      <a:srgbClr val="FFFFFF"/>
                    </a:solidFill>
                  </a:tcPr>
                </a:tc>
                <a:tc>
                  <a:txBody>
                    <a:bodyPr/>
                    <a:lstStyle/>
                    <a:p>
                      <a:pPr algn="r"/>
                      <a:r>
                        <a:rPr sz="1150" b="0">
                          <a:solidFill>
                            <a:srgbClr val="555045"/>
                          </a:solidFill>
                          <a:latin typeface="Arial"/>
                        </a:rPr>
                        <a:t>2,7 %</a:t>
                      </a:r>
                    </a:p>
                  </a:txBody>
                  <a:tcPr marL="82296" marR="82296" anchor="ctr">
                    <a:solidFill>
                      <a:srgbClr val="FFFFFF"/>
                    </a:solidFill>
                  </a:tcPr>
                </a:tc>
              </a:tr>
            </a:tbl>
          </a:graphicData>
        </a:graphic>
      </p:graphicFrame>
      <p:sp>
        <p:nvSpPr>
          <p:cNvPr id="8" name="TextBox 7"/>
          <p:cNvSpPr txBox="1"/>
          <p:nvPr/>
        </p:nvSpPr>
        <p:spPr>
          <a:xfrm>
            <a:off x="6858000" y="4249674"/>
            <a:ext cx="4556455" cy="1828800"/>
          </a:xfrm>
          <a:prstGeom prst="rect">
            <a:avLst/>
          </a:prstGeom>
          <a:noFill/>
        </p:spPr>
        <p:txBody>
          <a:bodyPr wrap="square" lIns="0" rIns="0" tIns="0" bIns="0">
            <a:spAutoFit/>
          </a:bodyPr>
          <a:lstStyle/>
          <a:p>
            <a:pPr algn="l">
              <a:lnSpc>
                <a:spcPct val="128000"/>
              </a:lnSpc>
              <a:spcBef>
                <a:spcPts val="0"/>
              </a:spcBef>
              <a:spcAft>
                <a:spcPts val="1000"/>
              </a:spcAft>
            </a:pPr>
            <a:r>
              <a:rPr sz="1250" b="0">
                <a:solidFill>
                  <a:srgbClr val="555045"/>
                </a:solidFill>
                <a:latin typeface="Arial"/>
              </a:rPr>
              <a:t>El colchón es lo que se pide por encima de lo esperado. El producto con más margen se protege más del doble que el de menos margen, y nadie lo decidió a mano.</a:t>
            </a:r>
          </a:p>
          <a:p>
            <a:pPr algn="l">
              <a:lnSpc>
                <a:spcPct val="128000"/>
              </a:lnSpc>
              <a:spcBef>
                <a:spcPts val="0"/>
              </a:spcBef>
              <a:spcAft>
                <a:spcPts val="0"/>
              </a:spcAft>
            </a:pPr>
            <a:r>
              <a:rPr sz="1250" b="1">
                <a:solidFill>
                  <a:srgbClr val="17150F"/>
                </a:solidFill>
                <a:latin typeface="Arial"/>
              </a:rPr>
              <a:t>Al Pastel de Pollo pasarse le duele casi tanto como quedarse corto: margen bajo y almacenaje caro. Al Tinto le compensa arriesgar.</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Paso 14 · Optimizador del pedido</a:t>
            </a:r>
          </a:p>
        </p:txBody>
      </p:sp>
      <p:sp>
        <p:nvSpPr>
          <p:cNvPr id="11" name="TextBox 10"/>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PASO 15 · SIMULACIÓN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445770"/>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Cinco políticas, no dos, para poder atribuir el ahorro</a:t>
            </a:r>
          </a:p>
        </p:txBody>
      </p:sp>
      <p:sp>
        <p:nvSpPr>
          <p:cNvPr id="6" name="TextBox 5"/>
          <p:cNvSpPr txBox="1"/>
          <p:nvPr/>
        </p:nvSpPr>
        <p:spPr>
          <a:xfrm>
            <a:off x="777240" y="1506474"/>
            <a:ext cx="9966960" cy="283337"/>
          </a:xfrm>
          <a:prstGeom prst="rect">
            <a:avLst/>
          </a:prstGeom>
          <a:noFill/>
        </p:spPr>
        <p:txBody>
          <a:bodyPr wrap="square" lIns="0" rIns="0" tIns="0" bIns="0">
            <a:spAutoFit/>
          </a:bodyPr>
          <a:lstStyle/>
          <a:p>
            <a:pPr algn="l">
              <a:lnSpc>
                <a:spcPct val="130000"/>
              </a:lnSpc>
              <a:spcBef>
                <a:spcPts val="0"/>
              </a:spcBef>
              <a:spcAft>
                <a:spcPts val="0"/>
              </a:spcAft>
            </a:pPr>
            <a:r>
              <a:rPr sz="1450" b="0">
                <a:solidFill>
                  <a:srgbClr val="555045"/>
                </a:solidFill>
                <a:latin typeface="Arial"/>
              </a:rPr>
              <a:t>Demanda real, decisión hipotética, sobre las 480 decisiones de las semanas de prueba.</a:t>
            </a:r>
          </a:p>
        </p:txBody>
      </p:sp>
      <p:graphicFrame>
        <p:nvGraphicFramePr>
          <p:cNvPr id="7" name="Table 6"/>
          <p:cNvGraphicFramePr>
            <a:graphicFrameLocks noGrp="1"/>
          </p:cNvGraphicFramePr>
          <p:nvPr/>
        </p:nvGraphicFramePr>
        <p:xfrm>
          <a:off x="777240" y="1990979"/>
          <a:ext cx="6766559" cy="1188720"/>
        </p:xfrm>
        <a:graphic>
          <a:graphicData uri="http://schemas.openxmlformats.org/drawingml/2006/table">
            <a:tbl>
              <a:tblPr bandRow="1">
                <a:tableStyleId>{5C22544A-7EE6-4342-B048-85BDC9FD1C3A}</a:tableStyleId>
              </a:tblPr>
              <a:tblGrid>
                <a:gridCol w="2841955"/>
                <a:gridCol w="1759305"/>
                <a:gridCol w="2165299"/>
              </a:tblGrid>
              <a:tr h="347472">
                <a:tc>
                  <a:txBody>
                    <a:bodyPr/>
                    <a:lstStyle/>
                    <a:p>
                      <a:pPr algn="l"/>
                      <a:r>
                        <a:rPr sz="1150" b="1">
                          <a:solidFill>
                            <a:srgbClr val="8B8478"/>
                          </a:solidFill>
                          <a:latin typeface="Arial"/>
                        </a:rPr>
                        <a:t/>
                      </a:r>
                    </a:p>
                  </a:txBody>
                  <a:tcPr marL="82296" marR="82296" anchor="ctr">
                    <a:solidFill>
                      <a:srgbClr val="F4F2ED"/>
                    </a:solidFill>
                  </a:tcPr>
                </a:tc>
                <a:tc>
                  <a:txBody>
                    <a:bodyPr/>
                    <a:lstStyle/>
                    <a:p>
                      <a:pPr algn="r"/>
                      <a:r>
                        <a:rPr sz="1150" b="1">
                          <a:solidFill>
                            <a:srgbClr val="8B8478"/>
                          </a:solidFill>
                          <a:latin typeface="Arial"/>
                        </a:rPr>
                        <a:t>Pedir el centro</a:t>
                      </a:r>
                    </a:p>
                  </a:txBody>
                  <a:tcPr marL="82296" marR="82296" anchor="ctr">
                    <a:solidFill>
                      <a:srgbClr val="F4F2ED"/>
                    </a:solidFill>
                  </a:tcPr>
                </a:tc>
                <a:tc>
                  <a:txBody>
                    <a:bodyPr/>
                    <a:lstStyle/>
                    <a:p>
                      <a:pPr algn="r"/>
                      <a:r>
                        <a:rPr sz="1150" b="1">
                          <a:solidFill>
                            <a:srgbClr val="8B8478"/>
                          </a:solidFill>
                          <a:latin typeface="Arial"/>
                        </a:rPr>
                        <a:t>Pedir el nivel de servicio</a:t>
                      </a:r>
                    </a:p>
                  </a:txBody>
                  <a:tcPr marL="82296" marR="82296" anchor="ctr">
                    <a:solidFill>
                      <a:srgbClr val="F4F2ED"/>
                    </a:solidFill>
                  </a:tcPr>
                </a:tc>
              </a:tr>
              <a:tr h="420624">
                <a:tc>
                  <a:txBody>
                    <a:bodyPr/>
                    <a:lstStyle/>
                    <a:p>
                      <a:pPr algn="l"/>
                      <a:r>
                        <a:rPr sz="1300" b="0">
                          <a:solidFill>
                            <a:srgbClr val="17150F"/>
                          </a:solidFill>
                          <a:latin typeface="Arial"/>
                        </a:rPr>
                        <a:t>Pronóstico ingenuo (media móvil)</a:t>
                      </a:r>
                    </a:p>
                  </a:txBody>
                  <a:tcPr marL="82296" marR="82296" anchor="ctr">
                    <a:solidFill>
                      <a:srgbClr val="FFFFFF"/>
                    </a:solidFill>
                  </a:tcPr>
                </a:tc>
                <a:tc>
                  <a:txBody>
                    <a:bodyPr/>
                    <a:lstStyle/>
                    <a:p>
                      <a:pPr algn="r"/>
                      <a:r>
                        <a:rPr sz="1300" b="0">
                          <a:solidFill>
                            <a:srgbClr val="555045"/>
                          </a:solidFill>
                          <a:latin typeface="Arial"/>
                        </a:rPr>
                        <a:t>P1</a:t>
                      </a:r>
                    </a:p>
                  </a:txBody>
                  <a:tcPr marL="82296" marR="82296" anchor="ctr">
                    <a:solidFill>
                      <a:srgbClr val="FFFFFF"/>
                    </a:solidFill>
                  </a:tcPr>
                </a:tc>
                <a:tc>
                  <a:txBody>
                    <a:bodyPr/>
                    <a:lstStyle/>
                    <a:p>
                      <a:pPr algn="r"/>
                      <a:r>
                        <a:rPr sz="1300" b="0">
                          <a:solidFill>
                            <a:srgbClr val="555045"/>
                          </a:solidFill>
                          <a:latin typeface="Arial"/>
                        </a:rPr>
                        <a:t>P3</a:t>
                      </a:r>
                    </a:p>
                  </a:txBody>
                  <a:tcPr marL="82296" marR="82296" anchor="ctr">
                    <a:solidFill>
                      <a:srgbClr val="FFFFFF"/>
                    </a:solidFill>
                  </a:tcPr>
                </a:tc>
              </a:tr>
              <a:tr h="420624">
                <a:tc>
                  <a:txBody>
                    <a:bodyPr/>
                    <a:lstStyle/>
                    <a:p>
                      <a:pPr algn="l"/>
                      <a:r>
                        <a:rPr sz="1300" b="0">
                          <a:solidFill>
                            <a:srgbClr val="17150F"/>
                          </a:solidFill>
                          <a:latin typeface="Arial"/>
                        </a:rPr>
                        <a:t>Pronóstico del modelo</a:t>
                      </a:r>
                    </a:p>
                  </a:txBody>
                  <a:tcPr marL="82296" marR="82296" anchor="ctr">
                    <a:solidFill>
                      <a:srgbClr val="FFFFFF"/>
                    </a:solidFill>
                  </a:tcPr>
                </a:tc>
                <a:tc>
                  <a:txBody>
                    <a:bodyPr/>
                    <a:lstStyle/>
                    <a:p>
                      <a:pPr algn="r"/>
                      <a:r>
                        <a:rPr sz="1300" b="0">
                          <a:solidFill>
                            <a:srgbClr val="555045"/>
                          </a:solidFill>
                          <a:latin typeface="Arial"/>
                        </a:rPr>
                        <a:t>P2</a:t>
                      </a:r>
                    </a:p>
                  </a:txBody>
                  <a:tcPr marL="82296" marR="82296" anchor="ctr">
                    <a:solidFill>
                      <a:srgbClr val="FFFFFF"/>
                    </a:solidFill>
                  </a:tcPr>
                </a:tc>
                <a:tc>
                  <a:txBody>
                    <a:bodyPr/>
                    <a:lstStyle/>
                    <a:p>
                      <a:pPr algn="r"/>
                      <a:r>
                        <a:rPr sz="1300" b="0">
                          <a:solidFill>
                            <a:srgbClr val="555045"/>
                          </a:solidFill>
                          <a:latin typeface="Arial"/>
                        </a:rPr>
                        <a:t>P4 · la propuesta</a:t>
                      </a:r>
                    </a:p>
                  </a:txBody>
                  <a:tcPr marL="82296" marR="82296" anchor="ctr">
                    <a:solidFill>
                      <a:srgbClr val="FFFFFF"/>
                    </a:solidFill>
                  </a:tcPr>
                </a:tc>
              </a:tr>
            </a:tbl>
          </a:graphicData>
        </a:graphic>
      </p:graphicFrame>
      <p:sp>
        <p:nvSpPr>
          <p:cNvPr id="8" name="TextBox 7"/>
          <p:cNvSpPr txBox="1"/>
          <p:nvPr/>
        </p:nvSpPr>
        <p:spPr>
          <a:xfrm>
            <a:off x="7863840" y="2148840"/>
            <a:ext cx="3550615" cy="3108960"/>
          </a:xfrm>
          <a:prstGeom prst="rect">
            <a:avLst/>
          </a:prstGeom>
          <a:noFill/>
        </p:spPr>
        <p:txBody>
          <a:bodyPr wrap="square" lIns="0" rIns="0" tIns="0" bIns="0">
            <a:spAutoFit/>
          </a:bodyPr>
          <a:lstStyle/>
          <a:p>
            <a:pPr algn="l">
              <a:lnSpc>
                <a:spcPct val="130000"/>
              </a:lnSpc>
              <a:spcBef>
                <a:spcPts val="0"/>
              </a:spcBef>
              <a:spcAft>
                <a:spcPts val="1400"/>
              </a:spcAft>
            </a:pPr>
            <a:r>
              <a:rPr sz="1300" b="0">
                <a:solidFill>
                  <a:srgbClr val="555045"/>
                </a:solidFill>
                <a:latin typeface="Arial"/>
              </a:rPr>
              <a:t>Más P0, repetir lo de la semana anterior, que aproxima la práctica actual.</a:t>
            </a:r>
          </a:p>
          <a:p>
            <a:pPr algn="l">
              <a:lnSpc>
                <a:spcPct val="130000"/>
              </a:lnSpc>
              <a:spcBef>
                <a:spcPts val="0"/>
              </a:spcBef>
              <a:spcAft>
                <a:spcPts val="600"/>
              </a:spcAft>
            </a:pPr>
            <a:r>
              <a:rPr sz="1350" b="1">
                <a:solidFill>
                  <a:srgbClr val="8C2F39"/>
                </a:solidFill>
                <a:latin typeface="Arial"/>
              </a:rPr>
              <a:t>Por qué no bastan dos</a:t>
            </a:r>
          </a:p>
          <a:p>
            <a:pPr algn="l">
              <a:lnSpc>
                <a:spcPct val="130000"/>
              </a:lnSpc>
              <a:spcBef>
                <a:spcPts val="0"/>
              </a:spcBef>
              <a:spcAft>
                <a:spcPts val="1200"/>
              </a:spcAft>
            </a:pPr>
            <a:r>
              <a:rPr sz="1300" b="0">
                <a:solidFill>
                  <a:srgbClr val="555045"/>
                </a:solidFill>
                <a:latin typeface="Arial"/>
              </a:rPr>
              <a:t>Comparar solo P0 contra P4 daría un ahorro grande sin saber a qué atribuirlo. Con una asimetría de costes como la de este catálogo, casi cualquier regla que pida más gana esa comparación.</a:t>
            </a:r>
          </a:p>
          <a:p>
            <a:pPr algn="l">
              <a:lnSpc>
                <a:spcPct val="130000"/>
              </a:lnSpc>
              <a:spcBef>
                <a:spcPts val="0"/>
              </a:spcBef>
              <a:spcAft>
                <a:spcPts val="0"/>
              </a:spcAft>
            </a:pPr>
            <a:r>
              <a:rPr sz="1300" b="1">
                <a:solidFill>
                  <a:srgbClr val="17150F"/>
                </a:solidFill>
                <a:latin typeface="Arial"/>
              </a:rPr>
              <a:t>El diseño factorial permite cambiar un factor manteniendo el otro.</a:t>
            </a:r>
          </a:p>
        </p:txBody>
      </p:sp>
      <p:sp>
        <p:nvSpPr>
          <p:cNvPr id="9" name="Rectangle 8"/>
          <p:cNvSpPr/>
          <p:nvPr/>
        </p:nvSpPr>
        <p:spPr>
          <a:xfrm>
            <a:off x="777240" y="3986784"/>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3886200"/>
            <a:ext cx="10436047" cy="530098"/>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El supuesto que sostiene la cifra.</a:t>
            </a:r>
            <a:r>
              <a:rPr sz="1450" b="0">
                <a:solidFill>
                  <a:srgbClr val="555045"/>
                </a:solidFill>
                <a:latin typeface="Arial"/>
              </a:rPr>
              <a:t> Las ventas registradas se tratan como demanda real. El univariado comprobó que los 26 días sin venta son baja rotación y no quiebres de stock, así que la demanda no está censurada.</a:t>
            </a:r>
          </a:p>
        </p:txBody>
      </p:sp>
      <p:sp>
        <p:nvSpPr>
          <p:cNvPr id="11" name="Rectangle 10"/>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Paso 15 · Simulación de políticas</a:t>
            </a:r>
          </a:p>
        </p:txBody>
      </p:sp>
      <p:sp>
        <p:nvSpPr>
          <p:cNvPr id="13" name="TextBox 12"/>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PASO 15 · RESULTADO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836676"/>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La propuesta cambia merma por ventas perdidas, y el saldo es favorable</a:t>
            </a:r>
          </a:p>
        </p:txBody>
      </p:sp>
      <p:pic>
        <p:nvPicPr>
          <p:cNvPr id="6" name="Picture 5" descr="23_coste_politicas.png"/>
          <p:cNvPicPr>
            <a:picLocks noChangeAspect="1"/>
          </p:cNvPicPr>
          <p:nvPr/>
        </p:nvPicPr>
        <p:blipFill>
          <a:blip r:embed="rId2"/>
          <a:stretch>
            <a:fillRect/>
          </a:stretch>
        </p:blipFill>
        <p:spPr>
          <a:xfrm>
            <a:off x="777240" y="1897380"/>
            <a:ext cx="5577840" cy="2788920"/>
          </a:xfrm>
          <a:prstGeom prst="rect">
            <a:avLst/>
          </a:prstGeom>
        </p:spPr>
      </p:pic>
      <p:graphicFrame>
        <p:nvGraphicFramePr>
          <p:cNvPr id="7" name="Table 6"/>
          <p:cNvGraphicFramePr>
            <a:graphicFrameLocks noGrp="1"/>
          </p:cNvGraphicFramePr>
          <p:nvPr/>
        </p:nvGraphicFramePr>
        <p:xfrm>
          <a:off x="6675120" y="1943100"/>
          <a:ext cx="4739334" cy="1810512"/>
        </p:xfrm>
        <a:graphic>
          <a:graphicData uri="http://schemas.openxmlformats.org/drawingml/2006/table">
            <a:tbl>
              <a:tblPr bandRow="1">
                <a:tableStyleId>{5C22544A-7EE6-4342-B048-85BDC9FD1C3A}</a:tableStyleId>
              </a:tblPr>
              <a:tblGrid>
                <a:gridCol w="2180094"/>
                <a:gridCol w="1421800"/>
                <a:gridCol w="1137440"/>
              </a:tblGrid>
              <a:tr h="347472">
                <a:tc>
                  <a:txBody>
                    <a:bodyPr/>
                    <a:lstStyle/>
                    <a:p>
                      <a:pPr algn="l"/>
                      <a:r>
                        <a:rPr sz="1000" b="1">
                          <a:solidFill>
                            <a:srgbClr val="8B8478"/>
                          </a:solidFill>
                          <a:latin typeface="Arial"/>
                        </a:rPr>
                        <a:t>Política</a:t>
                      </a:r>
                    </a:p>
                  </a:txBody>
                  <a:tcPr marL="82296" marR="82296" anchor="ctr">
                    <a:solidFill>
                      <a:srgbClr val="F4F2ED"/>
                    </a:solidFill>
                  </a:tcPr>
                </a:tc>
                <a:tc>
                  <a:txBody>
                    <a:bodyPr/>
                    <a:lstStyle/>
                    <a:p>
                      <a:pPr algn="r"/>
                      <a:r>
                        <a:rPr sz="1000" b="1">
                          <a:solidFill>
                            <a:srgbClr val="8B8478"/>
                          </a:solidFill>
                          <a:latin typeface="Arial"/>
                        </a:rPr>
                        <a:t>Coste</a:t>
                      </a:r>
                    </a:p>
                  </a:txBody>
                  <a:tcPr marL="82296" marR="82296" anchor="ctr">
                    <a:solidFill>
                      <a:srgbClr val="F4F2ED"/>
                    </a:solidFill>
                  </a:tcPr>
                </a:tc>
                <a:tc>
                  <a:txBody>
                    <a:bodyPr/>
                    <a:lstStyle/>
                    <a:p>
                      <a:pPr algn="r"/>
                      <a:r>
                        <a:rPr sz="1000" b="1">
                          <a:solidFill>
                            <a:srgbClr val="8B8478"/>
                          </a:solidFill>
                          <a:latin typeface="Arial"/>
                        </a:rPr>
                        <a:t>Servicio</a:t>
                      </a:r>
                    </a:p>
                  </a:txBody>
                  <a:tcPr marL="82296" marR="82296" anchor="ctr">
                    <a:solidFill>
                      <a:srgbClr val="F4F2ED"/>
                    </a:solidFill>
                  </a:tcPr>
                </a:tc>
              </a:tr>
              <a:tr h="292608">
                <a:tc>
                  <a:txBody>
                    <a:bodyPr/>
                    <a:lstStyle/>
                    <a:p>
                      <a:pPr algn="l"/>
                      <a:r>
                        <a:rPr sz="1150" b="1">
                          <a:solidFill>
                            <a:srgbClr val="17150F"/>
                          </a:solidFill>
                          <a:latin typeface="Arial"/>
                        </a:rPr>
                        <a:t>P4 modelo + nivel</a:t>
                      </a:r>
                    </a:p>
                  </a:txBody>
                  <a:tcPr marL="82296" marR="82296" anchor="ctr">
                    <a:solidFill>
                      <a:srgbClr val="F7EEEF"/>
                    </a:solidFill>
                  </a:tcPr>
                </a:tc>
                <a:tc>
                  <a:txBody>
                    <a:bodyPr/>
                    <a:lstStyle/>
                    <a:p>
                      <a:pPr algn="r"/>
                      <a:r>
                        <a:rPr sz="1150" b="1">
                          <a:solidFill>
                            <a:srgbClr val="17150F"/>
                          </a:solidFill>
                          <a:latin typeface="Arial"/>
                        </a:rPr>
                        <a:t>9.062.061</a:t>
                      </a:r>
                    </a:p>
                  </a:txBody>
                  <a:tcPr marL="82296" marR="82296" anchor="ctr">
                    <a:solidFill>
                      <a:srgbClr val="F7EEEF"/>
                    </a:solidFill>
                  </a:tcPr>
                </a:tc>
                <a:tc>
                  <a:txBody>
                    <a:bodyPr/>
                    <a:lstStyle/>
                    <a:p>
                      <a:pPr algn="r"/>
                      <a:r>
                        <a:rPr sz="1150" b="1">
                          <a:solidFill>
                            <a:srgbClr val="17150F"/>
                          </a:solidFill>
                          <a:latin typeface="Arial"/>
                        </a:rPr>
                        <a:t>96,1 %</a:t>
                      </a:r>
                    </a:p>
                  </a:txBody>
                  <a:tcPr marL="82296" marR="82296" anchor="ctr">
                    <a:solidFill>
                      <a:srgbClr val="F7EEEF"/>
                    </a:solidFill>
                  </a:tcPr>
                </a:tc>
              </a:tr>
              <a:tr h="292608">
                <a:tc>
                  <a:txBody>
                    <a:bodyPr/>
                    <a:lstStyle/>
                    <a:p>
                      <a:pPr algn="l"/>
                      <a:r>
                        <a:rPr sz="1150" b="0">
                          <a:solidFill>
                            <a:srgbClr val="17150F"/>
                          </a:solidFill>
                          <a:latin typeface="Arial"/>
                        </a:rPr>
                        <a:t>P3 media móvil + nivel</a:t>
                      </a:r>
                    </a:p>
                  </a:txBody>
                  <a:tcPr marL="82296" marR="82296" anchor="ctr">
                    <a:solidFill>
                      <a:srgbClr val="FFFFFF"/>
                    </a:solidFill>
                  </a:tcPr>
                </a:tc>
                <a:tc>
                  <a:txBody>
                    <a:bodyPr/>
                    <a:lstStyle/>
                    <a:p>
                      <a:pPr algn="r"/>
                      <a:r>
                        <a:rPr sz="1150" b="0">
                          <a:solidFill>
                            <a:srgbClr val="555045"/>
                          </a:solidFill>
                          <a:latin typeface="Arial"/>
                        </a:rPr>
                        <a:t>9.255.833</a:t>
                      </a:r>
                    </a:p>
                  </a:txBody>
                  <a:tcPr marL="82296" marR="82296" anchor="ctr">
                    <a:solidFill>
                      <a:srgbClr val="FFFFFF"/>
                    </a:solidFill>
                  </a:tcPr>
                </a:tc>
                <a:tc>
                  <a:txBody>
                    <a:bodyPr/>
                    <a:lstStyle/>
                    <a:p>
                      <a:pPr algn="r"/>
                      <a:r>
                        <a:rPr sz="1150" b="0">
                          <a:solidFill>
                            <a:srgbClr val="555045"/>
                          </a:solidFill>
                          <a:latin typeface="Arial"/>
                        </a:rPr>
                        <a:t>96,0 %</a:t>
                      </a:r>
                    </a:p>
                  </a:txBody>
                  <a:tcPr marL="82296" marR="82296" anchor="ctr">
                    <a:solidFill>
                      <a:srgbClr val="FFFFFF"/>
                    </a:solidFill>
                  </a:tcPr>
                </a:tc>
              </a:tr>
              <a:tr h="292608">
                <a:tc>
                  <a:txBody>
                    <a:bodyPr/>
                    <a:lstStyle/>
                    <a:p>
                      <a:pPr algn="l"/>
                      <a:r>
                        <a:rPr sz="1150" b="0">
                          <a:solidFill>
                            <a:srgbClr val="17150F"/>
                          </a:solidFill>
                          <a:latin typeface="Arial"/>
                        </a:rPr>
                        <a:t>P2 modelo + centro</a:t>
                      </a:r>
                    </a:p>
                  </a:txBody>
                  <a:tcPr marL="82296" marR="82296" anchor="ctr">
                    <a:solidFill>
                      <a:srgbClr val="FFFFFF"/>
                    </a:solidFill>
                  </a:tcPr>
                </a:tc>
                <a:tc>
                  <a:txBody>
                    <a:bodyPr/>
                    <a:lstStyle/>
                    <a:p>
                      <a:pPr algn="r"/>
                      <a:r>
                        <a:rPr sz="1150" b="0">
                          <a:solidFill>
                            <a:srgbClr val="555045"/>
                          </a:solidFill>
                          <a:latin typeface="Arial"/>
                        </a:rPr>
                        <a:t>9.512.699</a:t>
                      </a:r>
                    </a:p>
                  </a:txBody>
                  <a:tcPr marL="82296" marR="82296" anchor="ctr">
                    <a:solidFill>
                      <a:srgbClr val="FFFFFF"/>
                    </a:solidFill>
                  </a:tcPr>
                </a:tc>
                <a:tc>
                  <a:txBody>
                    <a:bodyPr/>
                    <a:lstStyle/>
                    <a:p>
                      <a:pPr algn="r"/>
                      <a:r>
                        <a:rPr sz="1150" b="0">
                          <a:solidFill>
                            <a:srgbClr val="555045"/>
                          </a:solidFill>
                          <a:latin typeface="Arial"/>
                        </a:rPr>
                        <a:t>93,9 %</a:t>
                      </a:r>
                    </a:p>
                  </a:txBody>
                  <a:tcPr marL="82296" marR="82296" anchor="ctr">
                    <a:solidFill>
                      <a:srgbClr val="FFFFFF"/>
                    </a:solidFill>
                  </a:tcPr>
                </a:tc>
              </a:tr>
              <a:tr h="292608">
                <a:tc>
                  <a:txBody>
                    <a:bodyPr/>
                    <a:lstStyle/>
                    <a:p>
                      <a:pPr algn="l"/>
                      <a:r>
                        <a:rPr sz="1150" b="0">
                          <a:solidFill>
                            <a:srgbClr val="17150F"/>
                          </a:solidFill>
                          <a:latin typeface="Arial"/>
                        </a:rPr>
                        <a:t>P1 media móvil + centro</a:t>
                      </a:r>
                    </a:p>
                  </a:txBody>
                  <a:tcPr marL="82296" marR="82296" anchor="ctr">
                    <a:solidFill>
                      <a:srgbClr val="FFFFFF"/>
                    </a:solidFill>
                  </a:tcPr>
                </a:tc>
                <a:tc>
                  <a:txBody>
                    <a:bodyPr/>
                    <a:lstStyle/>
                    <a:p>
                      <a:pPr algn="r"/>
                      <a:r>
                        <a:rPr sz="1150" b="0">
                          <a:solidFill>
                            <a:srgbClr val="555045"/>
                          </a:solidFill>
                          <a:latin typeface="Arial"/>
                        </a:rPr>
                        <a:t>9.561.518</a:t>
                      </a:r>
                    </a:p>
                  </a:txBody>
                  <a:tcPr marL="82296" marR="82296" anchor="ctr">
                    <a:solidFill>
                      <a:srgbClr val="FFFFFF"/>
                    </a:solidFill>
                  </a:tcPr>
                </a:tc>
                <a:tc>
                  <a:txBody>
                    <a:bodyPr/>
                    <a:lstStyle/>
                    <a:p>
                      <a:pPr algn="r"/>
                      <a:r>
                        <a:rPr sz="1150" b="0">
                          <a:solidFill>
                            <a:srgbClr val="555045"/>
                          </a:solidFill>
                          <a:latin typeface="Arial"/>
                        </a:rPr>
                        <a:t>94,0 %</a:t>
                      </a:r>
                    </a:p>
                  </a:txBody>
                  <a:tcPr marL="82296" marR="82296" anchor="ctr">
                    <a:solidFill>
                      <a:srgbClr val="FFFFFF"/>
                    </a:solidFill>
                  </a:tcPr>
                </a:tc>
              </a:tr>
              <a:tr h="292608">
                <a:tc>
                  <a:txBody>
                    <a:bodyPr/>
                    <a:lstStyle/>
                    <a:p>
                      <a:pPr algn="l"/>
                      <a:r>
                        <a:rPr sz="1150" b="0">
                          <a:solidFill>
                            <a:srgbClr val="17150F"/>
                          </a:solidFill>
                          <a:latin typeface="Arial"/>
                        </a:rPr>
                        <a:t>P0 repetir la semana</a:t>
                      </a:r>
                    </a:p>
                  </a:txBody>
                  <a:tcPr marL="82296" marR="82296" anchor="ctr">
                    <a:solidFill>
                      <a:srgbClr val="FFFFFF"/>
                    </a:solidFill>
                  </a:tcPr>
                </a:tc>
                <a:tc>
                  <a:txBody>
                    <a:bodyPr/>
                    <a:lstStyle/>
                    <a:p>
                      <a:pPr algn="r"/>
                      <a:r>
                        <a:rPr sz="1150" b="0">
                          <a:solidFill>
                            <a:srgbClr val="555045"/>
                          </a:solidFill>
                          <a:latin typeface="Arial"/>
                        </a:rPr>
                        <a:t>11.022.905</a:t>
                      </a:r>
                    </a:p>
                  </a:txBody>
                  <a:tcPr marL="82296" marR="82296" anchor="ctr">
                    <a:solidFill>
                      <a:srgbClr val="FFFFFF"/>
                    </a:solidFill>
                  </a:tcPr>
                </a:tc>
                <a:tc>
                  <a:txBody>
                    <a:bodyPr/>
                    <a:lstStyle/>
                    <a:p>
                      <a:pPr algn="r"/>
                      <a:r>
                        <a:rPr sz="1150" b="0">
                          <a:solidFill>
                            <a:srgbClr val="555045"/>
                          </a:solidFill>
                          <a:latin typeface="Arial"/>
                        </a:rPr>
                        <a:t>93,1 %</a:t>
                      </a:r>
                    </a:p>
                  </a:txBody>
                  <a:tcPr marL="82296" marR="82296" anchor="ctr">
                    <a:solidFill>
                      <a:srgbClr val="FFFFFF"/>
                    </a:solidFill>
                  </a:tcPr>
                </a:tc>
              </a:tr>
            </a:tbl>
          </a:graphicData>
        </a:graphic>
      </p:graphicFrame>
      <p:sp>
        <p:nvSpPr>
          <p:cNvPr id="8" name="TextBox 7"/>
          <p:cNvSpPr txBox="1"/>
          <p:nvPr/>
        </p:nvSpPr>
        <p:spPr>
          <a:xfrm>
            <a:off x="6675120" y="3909060"/>
            <a:ext cx="4739335" cy="2560320"/>
          </a:xfrm>
          <a:prstGeom prst="rect">
            <a:avLst/>
          </a:prstGeom>
          <a:noFill/>
        </p:spPr>
        <p:txBody>
          <a:bodyPr wrap="square" lIns="0" rIns="0" tIns="0" bIns="0">
            <a:spAutoFit/>
          </a:bodyPr>
          <a:lstStyle/>
          <a:p>
            <a:pPr algn="l">
              <a:lnSpc>
                <a:spcPct val="128000"/>
              </a:lnSpc>
              <a:spcBef>
                <a:spcPts val="0"/>
              </a:spcBef>
              <a:spcAft>
                <a:spcPts val="1200"/>
              </a:spcAft>
            </a:pPr>
            <a:r>
              <a:rPr sz="1250" b="1">
                <a:solidFill>
                  <a:srgbClr val="17150F"/>
                </a:solidFill>
                <a:latin typeface="Arial"/>
              </a:rPr>
              <a:t>Un 17,8 % menos que la práctica actual y un 5,2 % menos que pedir el pronóstico central.</a:t>
            </a:r>
          </a:p>
          <a:p>
            <a:pPr algn="l">
              <a:lnSpc>
                <a:spcPct val="128000"/>
              </a:lnSpc>
              <a:spcBef>
                <a:spcPts val="0"/>
              </a:spcBef>
              <a:spcAft>
                <a:spcPts val="1200"/>
              </a:spcAft>
            </a:pPr>
            <a:r>
              <a:rPr sz="1250" b="0">
                <a:solidFill>
                  <a:srgbClr val="555045"/>
                </a:solidFill>
                <a:latin typeface="Arial"/>
              </a:rPr>
              <a:t>Fíjate en la composición, no solo en el total. P4 tiene 1,8 millones más de merma que P1, pero 2,2 millones menos en ventas perdidas. El servicio real sube del 94,0 % al 96,1 %.</a:t>
            </a:r>
          </a:p>
          <a:p>
            <a:pPr algn="l">
              <a:lnSpc>
                <a:spcPct val="128000"/>
              </a:lnSpc>
              <a:spcBef>
                <a:spcPts val="0"/>
              </a:spcBef>
              <a:spcAft>
                <a:spcPts val="0"/>
              </a:spcAft>
            </a:pPr>
            <a:r>
              <a:rPr sz="1250" b="0">
                <a:solidFill>
                  <a:srgbClr val="555045"/>
                </a:solidFill>
                <a:latin typeface="Arial"/>
              </a:rPr>
              <a:t>Extrapolado a 52 semanas serían 8,7 millones. Es orden de magnitud, no compromiso.</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Paso 15 · Simulación de políticas</a:t>
            </a:r>
          </a:p>
        </p:txBody>
      </p:sp>
      <p:sp>
        <p:nvSpPr>
          <p:cNvPr id="11" name="TextBox 10"/>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PASO 15 · ATRIBUCIÓN</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836676"/>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Seis de cada diez pesos vienen de cambiar la regla, no de predecir mejor</a:t>
            </a:r>
          </a:p>
        </p:txBody>
      </p:sp>
      <p:pic>
        <p:nvPicPr>
          <p:cNvPr id="6" name="Picture 5" descr="24_atribucion.png"/>
          <p:cNvPicPr>
            <a:picLocks noChangeAspect="1"/>
          </p:cNvPicPr>
          <p:nvPr/>
        </p:nvPicPr>
        <p:blipFill>
          <a:blip r:embed="rId2"/>
          <a:stretch>
            <a:fillRect/>
          </a:stretch>
        </p:blipFill>
        <p:spPr>
          <a:xfrm>
            <a:off x="777240" y="1897380"/>
            <a:ext cx="5577840" cy="2061376"/>
          </a:xfrm>
          <a:prstGeom prst="rect">
            <a:avLst/>
          </a:prstGeom>
        </p:spPr>
      </p:pic>
      <p:graphicFrame>
        <p:nvGraphicFramePr>
          <p:cNvPr id="7" name="Table 6"/>
          <p:cNvGraphicFramePr>
            <a:graphicFrameLocks noGrp="1"/>
          </p:cNvGraphicFramePr>
          <p:nvPr/>
        </p:nvGraphicFramePr>
        <p:xfrm>
          <a:off x="6675120" y="1943100"/>
          <a:ext cx="4739334" cy="1517904"/>
        </p:xfrm>
        <a:graphic>
          <a:graphicData uri="http://schemas.openxmlformats.org/drawingml/2006/table">
            <a:tbl>
              <a:tblPr bandRow="1">
                <a:tableStyleId>{5C22544A-7EE6-4342-B048-85BDC9FD1C3A}</a:tableStyleId>
              </a:tblPr>
              <a:tblGrid>
                <a:gridCol w="2085307"/>
                <a:gridCol w="1421800"/>
                <a:gridCol w="1232227"/>
              </a:tblGrid>
              <a:tr h="347472">
                <a:tc>
                  <a:txBody>
                    <a:bodyPr/>
                    <a:lstStyle/>
                    <a:p>
                      <a:pPr algn="l"/>
                      <a:r>
                        <a:rPr sz="1000" b="1">
                          <a:solidFill>
                            <a:srgbClr val="8B8478"/>
                          </a:solidFill>
                          <a:latin typeface="Arial"/>
                        </a:rPr>
                        <a:t>Componente</a:t>
                      </a:r>
                    </a:p>
                  </a:txBody>
                  <a:tcPr marL="82296" marR="82296" anchor="ctr">
                    <a:solidFill>
                      <a:srgbClr val="F4F2ED"/>
                    </a:solidFill>
                  </a:tcPr>
                </a:tc>
                <a:tc>
                  <a:txBody>
                    <a:bodyPr/>
                    <a:lstStyle/>
                    <a:p>
                      <a:pPr algn="r"/>
                      <a:r>
                        <a:rPr sz="1000" b="1">
                          <a:solidFill>
                            <a:srgbClr val="8B8478"/>
                          </a:solidFill>
                          <a:latin typeface="Arial"/>
                        </a:rPr>
                        <a:t>Ahorro</a:t>
                      </a:r>
                    </a:p>
                  </a:txBody>
                  <a:tcPr marL="82296" marR="82296" anchor="ctr">
                    <a:solidFill>
                      <a:srgbClr val="F4F2ED"/>
                    </a:solidFill>
                  </a:tcPr>
                </a:tc>
                <a:tc>
                  <a:txBody>
                    <a:bodyPr/>
                    <a:lstStyle/>
                    <a:p>
                      <a:pPr algn="r"/>
                      <a:r>
                        <a:rPr sz="1000" b="1">
                          <a:solidFill>
                            <a:srgbClr val="8B8478"/>
                          </a:solidFill>
                          <a:latin typeface="Arial"/>
                        </a:rPr>
                        <a:t>Peso</a:t>
                      </a:r>
                    </a:p>
                  </a:txBody>
                  <a:tcPr marL="82296" marR="82296" anchor="ctr">
                    <a:solidFill>
                      <a:srgbClr val="F4F2ED"/>
                    </a:solidFill>
                  </a:tcPr>
                </a:tc>
              </a:tr>
              <a:tr h="292608">
                <a:tc>
                  <a:txBody>
                    <a:bodyPr/>
                    <a:lstStyle/>
                    <a:p>
                      <a:pPr algn="l"/>
                      <a:r>
                        <a:rPr sz="1150" b="1">
                          <a:solidFill>
                            <a:srgbClr val="17150F"/>
                          </a:solidFill>
                          <a:latin typeface="Arial"/>
                        </a:rPr>
                        <a:t>Efecto de la regla</a:t>
                      </a:r>
                    </a:p>
                  </a:txBody>
                  <a:tcPr marL="82296" marR="82296" anchor="ctr">
                    <a:solidFill>
                      <a:srgbClr val="F7EEEF"/>
                    </a:solidFill>
                  </a:tcPr>
                </a:tc>
                <a:tc>
                  <a:txBody>
                    <a:bodyPr/>
                    <a:lstStyle/>
                    <a:p>
                      <a:pPr algn="r"/>
                      <a:r>
                        <a:rPr sz="1150" b="1">
                          <a:solidFill>
                            <a:srgbClr val="17150F"/>
                          </a:solidFill>
                          <a:latin typeface="Arial"/>
                        </a:rPr>
                        <a:t>305.685</a:t>
                      </a:r>
                    </a:p>
                  </a:txBody>
                  <a:tcPr marL="82296" marR="82296" anchor="ctr">
                    <a:solidFill>
                      <a:srgbClr val="F7EEEF"/>
                    </a:solidFill>
                  </a:tcPr>
                </a:tc>
                <a:tc>
                  <a:txBody>
                    <a:bodyPr/>
                    <a:lstStyle/>
                    <a:p>
                      <a:pPr algn="r"/>
                      <a:r>
                        <a:rPr sz="1150" b="1">
                          <a:solidFill>
                            <a:srgbClr val="17150F"/>
                          </a:solidFill>
                          <a:latin typeface="Arial"/>
                        </a:rPr>
                        <a:t>61 %</a:t>
                      </a:r>
                    </a:p>
                  </a:txBody>
                  <a:tcPr marL="82296" marR="82296" anchor="ctr">
                    <a:solidFill>
                      <a:srgbClr val="F7EEEF"/>
                    </a:solidFill>
                  </a:tcPr>
                </a:tc>
              </a:tr>
              <a:tr h="292608">
                <a:tc>
                  <a:txBody>
                    <a:bodyPr/>
                    <a:lstStyle/>
                    <a:p>
                      <a:pPr algn="l"/>
                      <a:r>
                        <a:rPr sz="1150" b="0">
                          <a:solidFill>
                            <a:srgbClr val="17150F"/>
                          </a:solidFill>
                          <a:latin typeface="Arial"/>
                        </a:rPr>
                        <a:t>Interacción</a:t>
                      </a:r>
                    </a:p>
                  </a:txBody>
                  <a:tcPr marL="82296" marR="82296" anchor="ctr">
                    <a:solidFill>
                      <a:srgbClr val="FFFFFF"/>
                    </a:solidFill>
                  </a:tcPr>
                </a:tc>
                <a:tc>
                  <a:txBody>
                    <a:bodyPr/>
                    <a:lstStyle/>
                    <a:p>
                      <a:pPr algn="r"/>
                      <a:r>
                        <a:rPr sz="1150" b="0">
                          <a:solidFill>
                            <a:srgbClr val="555045"/>
                          </a:solidFill>
                          <a:latin typeface="Arial"/>
                        </a:rPr>
                        <a:t>144.953</a:t>
                      </a:r>
                    </a:p>
                  </a:txBody>
                  <a:tcPr marL="82296" marR="82296" anchor="ctr">
                    <a:solidFill>
                      <a:srgbClr val="FFFFFF"/>
                    </a:solidFill>
                  </a:tcPr>
                </a:tc>
                <a:tc>
                  <a:txBody>
                    <a:bodyPr/>
                    <a:lstStyle/>
                    <a:p>
                      <a:pPr algn="r"/>
                      <a:r>
                        <a:rPr sz="1150" b="0">
                          <a:solidFill>
                            <a:srgbClr val="555045"/>
                          </a:solidFill>
                          <a:latin typeface="Arial"/>
                        </a:rPr>
                        <a:t>29 %</a:t>
                      </a:r>
                    </a:p>
                  </a:txBody>
                  <a:tcPr marL="82296" marR="82296" anchor="ctr">
                    <a:solidFill>
                      <a:srgbClr val="FFFFFF"/>
                    </a:solidFill>
                  </a:tcPr>
                </a:tc>
              </a:tr>
              <a:tr h="292608">
                <a:tc>
                  <a:txBody>
                    <a:bodyPr/>
                    <a:lstStyle/>
                    <a:p>
                      <a:pPr algn="l"/>
                      <a:r>
                        <a:rPr sz="1150" b="0">
                          <a:solidFill>
                            <a:srgbClr val="17150F"/>
                          </a:solidFill>
                          <a:latin typeface="Arial"/>
                        </a:rPr>
                        <a:t>Efecto del modelo</a:t>
                      </a:r>
                    </a:p>
                  </a:txBody>
                  <a:tcPr marL="82296" marR="82296" anchor="ctr">
                    <a:solidFill>
                      <a:srgbClr val="FFFFFF"/>
                    </a:solidFill>
                  </a:tcPr>
                </a:tc>
                <a:tc>
                  <a:txBody>
                    <a:bodyPr/>
                    <a:lstStyle/>
                    <a:p>
                      <a:pPr algn="r"/>
                      <a:r>
                        <a:rPr sz="1150" b="0">
                          <a:solidFill>
                            <a:srgbClr val="555045"/>
                          </a:solidFill>
                          <a:latin typeface="Arial"/>
                        </a:rPr>
                        <a:t>48.819</a:t>
                      </a:r>
                    </a:p>
                  </a:txBody>
                  <a:tcPr marL="82296" marR="82296" anchor="ctr">
                    <a:solidFill>
                      <a:srgbClr val="FFFFFF"/>
                    </a:solidFill>
                  </a:tcPr>
                </a:tc>
                <a:tc>
                  <a:txBody>
                    <a:bodyPr/>
                    <a:lstStyle/>
                    <a:p>
                      <a:pPr algn="r"/>
                      <a:r>
                        <a:rPr sz="1150" b="0">
                          <a:solidFill>
                            <a:srgbClr val="555045"/>
                          </a:solidFill>
                          <a:latin typeface="Arial"/>
                        </a:rPr>
                        <a:t>10 %</a:t>
                      </a:r>
                    </a:p>
                  </a:txBody>
                  <a:tcPr marL="82296" marR="82296" anchor="ctr">
                    <a:solidFill>
                      <a:srgbClr val="FFFFFF"/>
                    </a:solidFill>
                  </a:tcPr>
                </a:tc>
              </a:tr>
              <a:tr h="292608">
                <a:tc>
                  <a:txBody>
                    <a:bodyPr/>
                    <a:lstStyle/>
                    <a:p>
                      <a:pPr algn="l"/>
                      <a:r>
                        <a:rPr sz="1150" b="0">
                          <a:solidFill>
                            <a:srgbClr val="17150F"/>
                          </a:solidFill>
                          <a:latin typeface="Arial"/>
                        </a:rPr>
                        <a:t>Total</a:t>
                      </a:r>
                    </a:p>
                  </a:txBody>
                  <a:tcPr marL="82296" marR="82296" anchor="ctr">
                    <a:solidFill>
                      <a:srgbClr val="FFFFFF"/>
                    </a:solidFill>
                  </a:tcPr>
                </a:tc>
                <a:tc>
                  <a:txBody>
                    <a:bodyPr/>
                    <a:lstStyle/>
                    <a:p>
                      <a:pPr algn="r"/>
                      <a:r>
                        <a:rPr sz="1150" b="0">
                          <a:solidFill>
                            <a:srgbClr val="555045"/>
                          </a:solidFill>
                          <a:latin typeface="Arial"/>
                        </a:rPr>
                        <a:t>499.457</a:t>
                      </a:r>
                    </a:p>
                  </a:txBody>
                  <a:tcPr marL="82296" marR="82296" anchor="ctr">
                    <a:solidFill>
                      <a:srgbClr val="FFFFFF"/>
                    </a:solidFill>
                  </a:tcPr>
                </a:tc>
                <a:tc>
                  <a:txBody>
                    <a:bodyPr/>
                    <a:lstStyle/>
                    <a:p>
                      <a:pPr algn="r"/>
                      <a:r>
                        <a:rPr sz="1150" b="0">
                          <a:solidFill>
                            <a:srgbClr val="555045"/>
                          </a:solidFill>
                          <a:latin typeface="Arial"/>
                        </a:rPr>
                        <a:t>100 %</a:t>
                      </a:r>
                    </a:p>
                  </a:txBody>
                  <a:tcPr marL="82296" marR="82296" anchor="ctr">
                    <a:solidFill>
                      <a:srgbClr val="FFFFFF"/>
                    </a:solidFill>
                  </a:tcPr>
                </a:tc>
              </a:tr>
            </a:tbl>
          </a:graphicData>
        </a:graphic>
      </p:graphicFrame>
      <p:sp>
        <p:nvSpPr>
          <p:cNvPr id="8" name="TextBox 7"/>
          <p:cNvSpPr txBox="1"/>
          <p:nvPr/>
        </p:nvSpPr>
        <p:spPr>
          <a:xfrm>
            <a:off x="6675120" y="3589020"/>
            <a:ext cx="4739335" cy="2743200"/>
          </a:xfrm>
          <a:prstGeom prst="rect">
            <a:avLst/>
          </a:prstGeom>
          <a:noFill/>
        </p:spPr>
        <p:txBody>
          <a:bodyPr wrap="square" lIns="0" rIns="0" tIns="0" bIns="0">
            <a:spAutoFit/>
          </a:bodyPr>
          <a:lstStyle/>
          <a:p>
            <a:pPr algn="l">
              <a:lnSpc>
                <a:spcPct val="128000"/>
              </a:lnSpc>
              <a:spcBef>
                <a:spcPts val="0"/>
              </a:spcBef>
              <a:spcAft>
                <a:spcPts val="1200"/>
              </a:spcAft>
            </a:pPr>
            <a:r>
              <a:rPr sz="1250" b="0">
                <a:solidFill>
                  <a:srgbClr val="555045"/>
                </a:solidFill>
                <a:latin typeface="Arial"/>
              </a:rPr>
              <a:t>Es lo que la tesis del proyecto anticipaba desde el análisis exploratorio, y ahora está medido con un diseño que lo aísla.</a:t>
            </a:r>
          </a:p>
          <a:p>
            <a:pPr algn="l">
              <a:lnSpc>
                <a:spcPct val="128000"/>
              </a:lnSpc>
              <a:spcBef>
                <a:spcPts val="0"/>
              </a:spcBef>
              <a:spcAft>
                <a:spcPts val="1200"/>
              </a:spcAft>
            </a:pPr>
            <a:r>
              <a:rPr sz="1250" b="1">
                <a:solidFill>
                  <a:srgbClr val="17150F"/>
                </a:solidFill>
                <a:latin typeface="Arial"/>
              </a:rPr>
              <a:t>Presentar los 499.000 pesos como logro del modelo sería atribuirle un mérito que no tiene. Por sí solo aporta 49.000.</a:t>
            </a:r>
          </a:p>
          <a:p>
            <a:pPr algn="l">
              <a:lnSpc>
                <a:spcPct val="128000"/>
              </a:lnSpc>
              <a:spcBef>
                <a:spcPts val="0"/>
              </a:spcBef>
              <a:spcAft>
                <a:spcPts val="0"/>
              </a:spcAft>
            </a:pPr>
            <a:r>
              <a:rPr sz="1250" b="0">
                <a:solidFill>
                  <a:srgbClr val="555045"/>
                </a:solidFill>
                <a:latin typeface="Arial"/>
              </a:rPr>
              <a:t>La interacción merece atención. Esos 145.000 salen de que el modelo, además de acertar el centro, gradúa el ancho del abanico por serie. Es lo que justifica haber elegido un modelo cuantílico y no uno puntual.</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Paso 15 · Simulación de políticas</a:t>
            </a:r>
          </a:p>
        </p:txBody>
      </p:sp>
      <p:sp>
        <p:nvSpPr>
          <p:cNvPr id="11" name="TextBox 10"/>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PASO 15 · QUÉ ESTÁ DEMOSTRADO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445770"/>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Solo dos de las cuatro comparaciones son significativas</a:t>
            </a:r>
          </a:p>
        </p:txBody>
      </p:sp>
      <p:sp>
        <p:nvSpPr>
          <p:cNvPr id="6" name="TextBox 5"/>
          <p:cNvSpPr txBox="1"/>
          <p:nvPr/>
        </p:nvSpPr>
        <p:spPr>
          <a:xfrm>
            <a:off x="777240" y="1506474"/>
            <a:ext cx="9966960" cy="530098"/>
          </a:xfrm>
          <a:prstGeom prst="rect">
            <a:avLst/>
          </a:prstGeom>
          <a:noFill/>
        </p:spPr>
        <p:txBody>
          <a:bodyPr wrap="square" lIns="0" rIns="0" tIns="0" bIns="0">
            <a:spAutoFit/>
          </a:bodyPr>
          <a:lstStyle/>
          <a:p>
            <a:pPr algn="l">
              <a:lnSpc>
                <a:spcPct val="130000"/>
              </a:lnSpc>
              <a:spcBef>
                <a:spcPts val="0"/>
              </a:spcBef>
              <a:spcAft>
                <a:spcPts val="0"/>
              </a:spcAft>
            </a:pPr>
            <a:r>
              <a:rPr sz="1450" b="0">
                <a:solidFill>
                  <a:srgbClr val="555045"/>
                </a:solidFill>
                <a:latin typeface="Arial"/>
              </a:rPr>
              <a:t>Bandas de confianza al 95 % por remuestreo de series, no de filas, porque las semanas de una misma serie están correlacionadas.</a:t>
            </a:r>
          </a:p>
        </p:txBody>
      </p:sp>
      <p:graphicFrame>
        <p:nvGraphicFramePr>
          <p:cNvPr id="7" name="Table 6"/>
          <p:cNvGraphicFramePr>
            <a:graphicFrameLocks noGrp="1"/>
          </p:cNvGraphicFramePr>
          <p:nvPr/>
        </p:nvGraphicFramePr>
        <p:xfrm>
          <a:off x="777240" y="2237740"/>
          <a:ext cx="10637212" cy="1883664"/>
        </p:xfrm>
        <a:graphic>
          <a:graphicData uri="http://schemas.openxmlformats.org/drawingml/2006/table">
            <a:tbl>
              <a:tblPr bandRow="1">
                <a:tableStyleId>{5C22544A-7EE6-4342-B048-85BDC9FD1C3A}</a:tableStyleId>
              </a:tblPr>
              <a:tblGrid>
                <a:gridCol w="4042141"/>
                <a:gridCol w="1914698"/>
                <a:gridCol w="2765675"/>
                <a:gridCol w="1914698"/>
              </a:tblGrid>
              <a:tr h="347472">
                <a:tc>
                  <a:txBody>
                    <a:bodyPr/>
                    <a:lstStyle/>
                    <a:p>
                      <a:pPr algn="l"/>
                      <a:r>
                        <a:rPr sz="1100" b="1">
                          <a:solidFill>
                            <a:srgbClr val="8B8478"/>
                          </a:solidFill>
                          <a:latin typeface="Arial"/>
                        </a:rPr>
                        <a:t>Comparación</a:t>
                      </a:r>
                    </a:p>
                  </a:txBody>
                  <a:tcPr marL="82296" marR="82296" anchor="ctr">
                    <a:solidFill>
                      <a:srgbClr val="F4F2ED"/>
                    </a:solidFill>
                  </a:tcPr>
                </a:tc>
                <a:tc>
                  <a:txBody>
                    <a:bodyPr/>
                    <a:lstStyle/>
                    <a:p>
                      <a:pPr algn="r"/>
                      <a:r>
                        <a:rPr sz="1100" b="1">
                          <a:solidFill>
                            <a:srgbClr val="8B8478"/>
                          </a:solidFill>
                          <a:latin typeface="Arial"/>
                        </a:rPr>
                        <a:t>Ahorro</a:t>
                      </a:r>
                    </a:p>
                  </a:txBody>
                  <a:tcPr marL="82296" marR="82296" anchor="ctr">
                    <a:solidFill>
                      <a:srgbClr val="F4F2ED"/>
                    </a:solidFill>
                  </a:tcPr>
                </a:tc>
                <a:tc>
                  <a:txBody>
                    <a:bodyPr/>
                    <a:lstStyle/>
                    <a:p>
                      <a:pPr algn="r"/>
                      <a:r>
                        <a:rPr sz="1100" b="1">
                          <a:solidFill>
                            <a:srgbClr val="8B8478"/>
                          </a:solidFill>
                          <a:latin typeface="Arial"/>
                        </a:rPr>
                        <a:t>Banda 95 %</a:t>
                      </a:r>
                    </a:p>
                  </a:txBody>
                  <a:tcPr marL="82296" marR="82296" anchor="ctr">
                    <a:solidFill>
                      <a:srgbClr val="F4F2ED"/>
                    </a:solidFill>
                  </a:tcPr>
                </a:tc>
                <a:tc>
                  <a:txBody>
                    <a:bodyPr/>
                    <a:lstStyle/>
                    <a:p>
                      <a:pPr algn="r"/>
                      <a:r>
                        <a:rPr sz="1100" b="1">
                          <a:solidFill>
                            <a:srgbClr val="8B8478"/>
                          </a:solidFill>
                          <a:latin typeface="Arial"/>
                        </a:rPr>
                        <a:t>¿Significativo?</a:t>
                      </a:r>
                    </a:p>
                  </a:txBody>
                  <a:tcPr marL="82296" marR="82296" anchor="ctr">
                    <a:solidFill>
                      <a:srgbClr val="F4F2ED"/>
                    </a:solidFill>
                  </a:tcPr>
                </a:tc>
              </a:tr>
              <a:tr h="384048">
                <a:tc>
                  <a:txBody>
                    <a:bodyPr/>
                    <a:lstStyle/>
                    <a:p>
                      <a:pPr algn="l"/>
                      <a:r>
                        <a:rPr sz="1250" b="1">
                          <a:solidFill>
                            <a:srgbClr val="17150F"/>
                          </a:solidFill>
                          <a:latin typeface="Arial"/>
                        </a:rPr>
                        <a:t>P4 frente a P0 · la práctica actual</a:t>
                      </a:r>
                    </a:p>
                  </a:txBody>
                  <a:tcPr marL="82296" marR="82296" anchor="ctr">
                    <a:solidFill>
                      <a:srgbClr val="F7EEEF"/>
                    </a:solidFill>
                  </a:tcPr>
                </a:tc>
                <a:tc>
                  <a:txBody>
                    <a:bodyPr/>
                    <a:lstStyle/>
                    <a:p>
                      <a:pPr algn="r"/>
                      <a:r>
                        <a:rPr sz="1250" b="1">
                          <a:solidFill>
                            <a:srgbClr val="17150F"/>
                          </a:solidFill>
                          <a:latin typeface="Arial"/>
                        </a:rPr>
                        <a:t>1.960.844</a:t>
                      </a:r>
                    </a:p>
                  </a:txBody>
                  <a:tcPr marL="82296" marR="82296" anchor="ctr">
                    <a:solidFill>
                      <a:srgbClr val="F7EEEF"/>
                    </a:solidFill>
                  </a:tcPr>
                </a:tc>
                <a:tc>
                  <a:txBody>
                    <a:bodyPr/>
                    <a:lstStyle/>
                    <a:p>
                      <a:pPr algn="r"/>
                      <a:r>
                        <a:rPr sz="1250" b="1">
                          <a:solidFill>
                            <a:srgbClr val="17150F"/>
                          </a:solidFill>
                          <a:latin typeface="Arial"/>
                        </a:rPr>
                        <a:t>1.325.913 a 2.598.960</a:t>
                      </a:r>
                    </a:p>
                  </a:txBody>
                  <a:tcPr marL="82296" marR="82296" anchor="ctr">
                    <a:solidFill>
                      <a:srgbClr val="F7EEEF"/>
                    </a:solidFill>
                  </a:tcPr>
                </a:tc>
                <a:tc>
                  <a:txBody>
                    <a:bodyPr/>
                    <a:lstStyle/>
                    <a:p>
                      <a:pPr algn="r"/>
                      <a:r>
                        <a:rPr sz="1250" b="1">
                          <a:solidFill>
                            <a:srgbClr val="17150F"/>
                          </a:solidFill>
                          <a:latin typeface="Arial"/>
                        </a:rPr>
                        <a:t>Sí</a:t>
                      </a:r>
                    </a:p>
                  </a:txBody>
                  <a:tcPr marL="82296" marR="82296" anchor="ctr">
                    <a:solidFill>
                      <a:srgbClr val="F7EEEF"/>
                    </a:solidFill>
                  </a:tcPr>
                </a:tc>
              </a:tr>
              <a:tr h="384048">
                <a:tc>
                  <a:txBody>
                    <a:bodyPr/>
                    <a:lstStyle/>
                    <a:p>
                      <a:pPr algn="l"/>
                      <a:r>
                        <a:rPr sz="1250" b="1">
                          <a:solidFill>
                            <a:srgbClr val="17150F"/>
                          </a:solidFill>
                          <a:latin typeface="Arial"/>
                        </a:rPr>
                        <a:t>P4 frente a P1 · pedir el centro</a:t>
                      </a:r>
                    </a:p>
                  </a:txBody>
                  <a:tcPr marL="82296" marR="82296" anchor="ctr">
                    <a:solidFill>
                      <a:srgbClr val="F7EEEF"/>
                    </a:solidFill>
                  </a:tcPr>
                </a:tc>
                <a:tc>
                  <a:txBody>
                    <a:bodyPr/>
                    <a:lstStyle/>
                    <a:p>
                      <a:pPr algn="r"/>
                      <a:r>
                        <a:rPr sz="1250" b="1">
                          <a:solidFill>
                            <a:srgbClr val="17150F"/>
                          </a:solidFill>
                          <a:latin typeface="Arial"/>
                        </a:rPr>
                        <a:t>499.457</a:t>
                      </a:r>
                    </a:p>
                  </a:txBody>
                  <a:tcPr marL="82296" marR="82296" anchor="ctr">
                    <a:solidFill>
                      <a:srgbClr val="F7EEEF"/>
                    </a:solidFill>
                  </a:tcPr>
                </a:tc>
                <a:tc>
                  <a:txBody>
                    <a:bodyPr/>
                    <a:lstStyle/>
                    <a:p>
                      <a:pPr algn="r"/>
                      <a:r>
                        <a:rPr sz="1250" b="1">
                          <a:solidFill>
                            <a:srgbClr val="17150F"/>
                          </a:solidFill>
                          <a:latin typeface="Arial"/>
                        </a:rPr>
                        <a:t>87.470 a 963.945</a:t>
                      </a:r>
                    </a:p>
                  </a:txBody>
                  <a:tcPr marL="82296" marR="82296" anchor="ctr">
                    <a:solidFill>
                      <a:srgbClr val="F7EEEF"/>
                    </a:solidFill>
                  </a:tcPr>
                </a:tc>
                <a:tc>
                  <a:txBody>
                    <a:bodyPr/>
                    <a:lstStyle/>
                    <a:p>
                      <a:pPr algn="r"/>
                      <a:r>
                        <a:rPr sz="1250" b="1">
                          <a:solidFill>
                            <a:srgbClr val="17150F"/>
                          </a:solidFill>
                          <a:latin typeface="Arial"/>
                        </a:rPr>
                        <a:t>Sí</a:t>
                      </a:r>
                    </a:p>
                  </a:txBody>
                  <a:tcPr marL="82296" marR="82296" anchor="ctr">
                    <a:solidFill>
                      <a:srgbClr val="F7EEEF"/>
                    </a:solidFill>
                  </a:tcPr>
                </a:tc>
              </a:tr>
              <a:tr h="384048">
                <a:tc>
                  <a:txBody>
                    <a:bodyPr/>
                    <a:lstStyle/>
                    <a:p>
                      <a:pPr algn="l"/>
                      <a:r>
                        <a:rPr sz="1250" b="0">
                          <a:solidFill>
                            <a:srgbClr val="17150F"/>
                          </a:solidFill>
                          <a:latin typeface="Arial"/>
                        </a:rPr>
                        <a:t>P4 frente a P3 · aporte del modelo</a:t>
                      </a:r>
                    </a:p>
                  </a:txBody>
                  <a:tcPr marL="82296" marR="82296" anchor="ctr">
                    <a:solidFill>
                      <a:srgbClr val="FFFFFF"/>
                    </a:solidFill>
                  </a:tcPr>
                </a:tc>
                <a:tc>
                  <a:txBody>
                    <a:bodyPr/>
                    <a:lstStyle/>
                    <a:p>
                      <a:pPr algn="r"/>
                      <a:r>
                        <a:rPr sz="1250" b="0">
                          <a:solidFill>
                            <a:srgbClr val="555045"/>
                          </a:solidFill>
                          <a:latin typeface="Arial"/>
                        </a:rPr>
                        <a:t>193.772</a:t>
                      </a:r>
                    </a:p>
                  </a:txBody>
                  <a:tcPr marL="82296" marR="82296" anchor="ctr">
                    <a:solidFill>
                      <a:srgbClr val="FFFFFF"/>
                    </a:solidFill>
                  </a:tcPr>
                </a:tc>
                <a:tc>
                  <a:txBody>
                    <a:bodyPr/>
                    <a:lstStyle/>
                    <a:p>
                      <a:pPr algn="r"/>
                      <a:r>
                        <a:rPr sz="1250" b="0">
                          <a:solidFill>
                            <a:srgbClr val="555045"/>
                          </a:solidFill>
                          <a:latin typeface="Arial"/>
                        </a:rPr>
                        <a:t>−17.437 a 422.048</a:t>
                      </a:r>
                    </a:p>
                  </a:txBody>
                  <a:tcPr marL="82296" marR="82296" anchor="ctr">
                    <a:solidFill>
                      <a:srgbClr val="FFFFFF"/>
                    </a:solidFill>
                  </a:tcPr>
                </a:tc>
                <a:tc>
                  <a:txBody>
                    <a:bodyPr/>
                    <a:lstStyle/>
                    <a:p>
                      <a:pPr algn="r"/>
                      <a:r>
                        <a:rPr sz="1250" b="0">
                          <a:solidFill>
                            <a:srgbClr val="555045"/>
                          </a:solidFill>
                          <a:latin typeface="Arial"/>
                        </a:rPr>
                        <a:t>No</a:t>
                      </a:r>
                    </a:p>
                  </a:txBody>
                  <a:tcPr marL="82296" marR="82296" anchor="ctr">
                    <a:solidFill>
                      <a:srgbClr val="FFFFFF"/>
                    </a:solidFill>
                  </a:tcPr>
                </a:tc>
              </a:tr>
              <a:tr h="384048">
                <a:tc>
                  <a:txBody>
                    <a:bodyPr/>
                    <a:lstStyle/>
                    <a:p>
                      <a:pPr algn="l"/>
                      <a:r>
                        <a:rPr sz="1250" b="0">
                          <a:solidFill>
                            <a:srgbClr val="17150F"/>
                          </a:solidFill>
                          <a:latin typeface="Arial"/>
                        </a:rPr>
                        <a:t>P3 frente a P1 · aporte de la regla</a:t>
                      </a:r>
                    </a:p>
                  </a:txBody>
                  <a:tcPr marL="82296" marR="82296" anchor="ctr">
                    <a:solidFill>
                      <a:srgbClr val="FFFFFF"/>
                    </a:solidFill>
                  </a:tcPr>
                </a:tc>
                <a:tc>
                  <a:txBody>
                    <a:bodyPr/>
                    <a:lstStyle/>
                    <a:p>
                      <a:pPr algn="r"/>
                      <a:r>
                        <a:rPr sz="1250" b="0">
                          <a:solidFill>
                            <a:srgbClr val="555045"/>
                          </a:solidFill>
                          <a:latin typeface="Arial"/>
                        </a:rPr>
                        <a:t>305.685</a:t>
                      </a:r>
                    </a:p>
                  </a:txBody>
                  <a:tcPr marL="82296" marR="82296" anchor="ctr">
                    <a:solidFill>
                      <a:srgbClr val="FFFFFF"/>
                    </a:solidFill>
                  </a:tcPr>
                </a:tc>
                <a:tc>
                  <a:txBody>
                    <a:bodyPr/>
                    <a:lstStyle/>
                    <a:p>
                      <a:pPr algn="r"/>
                      <a:r>
                        <a:rPr sz="1250" b="0">
                          <a:solidFill>
                            <a:srgbClr val="555045"/>
                          </a:solidFill>
                          <a:latin typeface="Arial"/>
                        </a:rPr>
                        <a:t>−37.446 a 681.407</a:t>
                      </a:r>
                    </a:p>
                  </a:txBody>
                  <a:tcPr marL="82296" marR="82296" anchor="ctr">
                    <a:solidFill>
                      <a:srgbClr val="FFFFFF"/>
                    </a:solidFill>
                  </a:tcPr>
                </a:tc>
                <a:tc>
                  <a:txBody>
                    <a:bodyPr/>
                    <a:lstStyle/>
                    <a:p>
                      <a:pPr algn="r"/>
                      <a:r>
                        <a:rPr sz="1250" b="0">
                          <a:solidFill>
                            <a:srgbClr val="555045"/>
                          </a:solidFill>
                          <a:latin typeface="Arial"/>
                        </a:rPr>
                        <a:t>No</a:t>
                      </a:r>
                    </a:p>
                  </a:txBody>
                  <a:tcPr marL="82296" marR="82296" anchor="ctr">
                    <a:solidFill>
                      <a:srgbClr val="FFFFFF"/>
                    </a:solidFill>
                  </a:tcPr>
                </a:tc>
              </a:tr>
            </a:tbl>
          </a:graphicData>
        </a:graphic>
      </p:graphicFrame>
      <p:sp>
        <p:nvSpPr>
          <p:cNvPr id="8" name="Rectangle 7"/>
          <p:cNvSpPr/>
          <p:nvPr/>
        </p:nvSpPr>
        <p:spPr>
          <a:xfrm>
            <a:off x="777240" y="4569460"/>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4468876"/>
            <a:ext cx="10436047" cy="530098"/>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Lo que se puede afirmar.</a:t>
            </a:r>
            <a:r>
              <a:rPr sz="1450" b="0">
                <a:solidFill>
                  <a:srgbClr val="555045"/>
                </a:solidFill>
                <a:latin typeface="Arial"/>
              </a:rPr>
              <a:t> Que la propuesta completa mejora la práctica actual y mejora pedir el centro. Las dos bandas excluyen el cero.</a:t>
            </a:r>
          </a:p>
        </p:txBody>
      </p:sp>
      <p:sp>
        <p:nvSpPr>
          <p:cNvPr id="10" name="Rectangle 9"/>
          <p:cNvSpPr/>
          <p:nvPr/>
        </p:nvSpPr>
        <p:spPr>
          <a:xfrm>
            <a:off x="777240" y="5227574"/>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5126990"/>
            <a:ext cx="10436047" cy="530098"/>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Lo que no se puede afirmar.</a:t>
            </a:r>
            <a:r>
              <a:rPr sz="1450" b="0">
                <a:solidFill>
                  <a:srgbClr val="555045"/>
                </a:solidFill>
                <a:latin typeface="Arial"/>
              </a:rPr>
              <a:t> Que el modelo aporte por encima de la regla ingenua, ni que la regla aporte por sí sola. Sus bandas cruzan el cero.</a:t>
            </a:r>
          </a:p>
        </p:txBody>
      </p:sp>
      <p:sp>
        <p:nvSpPr>
          <p:cNvPr id="12" name="Rectangle 11"/>
          <p:cNvSpPr/>
          <p:nvPr/>
        </p:nvSpPr>
        <p:spPr>
          <a:xfrm>
            <a:off x="777240" y="588568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5785104"/>
            <a:ext cx="10436047" cy="530098"/>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Con 160 series y tres semanas no hay potencia</a:t>
            </a:r>
            <a:r>
              <a:rPr sz="1450" b="0">
                <a:solidFill>
                  <a:srgbClr val="555045"/>
                </a:solidFill>
                <a:latin typeface="Arial"/>
              </a:rPr>
              <a:t> para separar efectos de ese tamaño. La descomposición indica de dónde parece venir el ahorro; la significación solo alcanza para el total.</a:t>
            </a:r>
          </a:p>
        </p:txBody>
      </p:sp>
      <p:sp>
        <p:nvSpPr>
          <p:cNvPr id="14" name="Rectangle 13"/>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Paso 15 · Simulación de políticas</a:t>
            </a:r>
          </a:p>
        </p:txBody>
      </p:sp>
      <p:sp>
        <p:nvSpPr>
          <p:cNvPr id="16" name="TextBox 15"/>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LA DECISIÓN QUE NO NOS CORRESPONDE</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445770"/>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Una sola suposición mueve el ahorro del 5 % al 93 %</a:t>
            </a:r>
          </a:p>
        </p:txBody>
      </p:sp>
      <p:sp>
        <p:nvSpPr>
          <p:cNvPr id="6" name="TextBox 5"/>
          <p:cNvSpPr txBox="1"/>
          <p:nvPr/>
        </p:nvSpPr>
        <p:spPr>
          <a:xfrm>
            <a:off x="777240" y="1506474"/>
            <a:ext cx="9966960" cy="530098"/>
          </a:xfrm>
          <a:prstGeom prst="rect">
            <a:avLst/>
          </a:prstGeom>
          <a:noFill/>
        </p:spPr>
        <p:txBody>
          <a:bodyPr wrap="square" lIns="0" rIns="0" tIns="0" bIns="0">
            <a:spAutoFit/>
          </a:bodyPr>
          <a:lstStyle/>
          <a:p>
            <a:pPr algn="l">
              <a:lnSpc>
                <a:spcPct val="130000"/>
              </a:lnSpc>
              <a:spcBef>
                <a:spcPts val="0"/>
              </a:spcBef>
              <a:spcAft>
                <a:spcPts val="0"/>
              </a:spcAft>
            </a:pPr>
            <a:r>
              <a:rPr sz="1450" b="0">
                <a:solidFill>
                  <a:srgbClr val="555045"/>
                </a:solidFill>
                <a:latin typeface="Arial"/>
              </a:rPr>
              <a:t>Mismos datos, mismo modelo, mismas predicciones. Lo único que cambia es qué se supone que pasa con el sobrante al cierre.</a:t>
            </a:r>
          </a:p>
        </p:txBody>
      </p:sp>
      <p:graphicFrame>
        <p:nvGraphicFramePr>
          <p:cNvPr id="7" name="Table 6"/>
          <p:cNvGraphicFramePr>
            <a:graphicFrameLocks noGrp="1"/>
          </p:cNvGraphicFramePr>
          <p:nvPr/>
        </p:nvGraphicFramePr>
        <p:xfrm>
          <a:off x="777240" y="2237740"/>
          <a:ext cx="10637212" cy="1554480"/>
        </p:xfrm>
        <a:graphic>
          <a:graphicData uri="http://schemas.openxmlformats.org/drawingml/2006/table">
            <a:tbl>
              <a:tblPr bandRow="1">
                <a:tableStyleId>{5C22544A-7EE6-4342-B048-85BDC9FD1C3A}</a:tableStyleId>
              </a:tblPr>
              <a:tblGrid>
                <a:gridCol w="3829397"/>
                <a:gridCol w="1914698"/>
                <a:gridCol w="1914698"/>
                <a:gridCol w="1701954"/>
                <a:gridCol w="1276465"/>
              </a:tblGrid>
              <a:tr h="347472">
                <a:tc>
                  <a:txBody>
                    <a:bodyPr/>
                    <a:lstStyle/>
                    <a:p>
                      <a:pPr algn="l"/>
                      <a:r>
                        <a:rPr sz="1100" b="1">
                          <a:solidFill>
                            <a:srgbClr val="8B8478"/>
                          </a:solidFill>
                          <a:latin typeface="Arial"/>
                        </a:rPr>
                        <a:t>Escenario</a:t>
                      </a:r>
                    </a:p>
                  </a:txBody>
                  <a:tcPr marL="82296" marR="82296" anchor="ctr">
                    <a:solidFill>
                      <a:srgbClr val="F4F2ED"/>
                    </a:solidFill>
                  </a:tcPr>
                </a:tc>
                <a:tc>
                  <a:txBody>
                    <a:bodyPr/>
                    <a:lstStyle/>
                    <a:p>
                      <a:pPr algn="r"/>
                      <a:r>
                        <a:rPr sz="1100" b="1">
                          <a:solidFill>
                            <a:srgbClr val="8B8478"/>
                          </a:solidFill>
                          <a:latin typeface="Arial"/>
                        </a:rPr>
                        <a:t>Coste al pedir el centro</a:t>
                      </a:r>
                    </a:p>
                  </a:txBody>
                  <a:tcPr marL="82296" marR="82296" anchor="ctr">
                    <a:solidFill>
                      <a:srgbClr val="F4F2ED"/>
                    </a:solidFill>
                  </a:tcPr>
                </a:tc>
                <a:tc>
                  <a:txBody>
                    <a:bodyPr/>
                    <a:lstStyle/>
                    <a:p>
                      <a:pPr algn="r"/>
                      <a:r>
                        <a:rPr sz="1100" b="1">
                          <a:solidFill>
                            <a:srgbClr val="8B8478"/>
                          </a:solidFill>
                          <a:latin typeface="Arial"/>
                        </a:rPr>
                        <a:t>Coste con la propuesta</a:t>
                      </a:r>
                    </a:p>
                  </a:txBody>
                  <a:tcPr marL="82296" marR="82296" anchor="ctr">
                    <a:solidFill>
                      <a:srgbClr val="F4F2ED"/>
                    </a:solidFill>
                  </a:tcPr>
                </a:tc>
                <a:tc>
                  <a:txBody>
                    <a:bodyPr/>
                    <a:lstStyle/>
                    <a:p>
                      <a:pPr algn="r"/>
                      <a:r>
                        <a:rPr sz="1100" b="1">
                          <a:solidFill>
                            <a:srgbClr val="8B8478"/>
                          </a:solidFill>
                          <a:latin typeface="Arial"/>
                        </a:rPr>
                        <a:t>Ahorro</a:t>
                      </a:r>
                    </a:p>
                  </a:txBody>
                  <a:tcPr marL="82296" marR="82296" anchor="ctr">
                    <a:solidFill>
                      <a:srgbClr val="F4F2ED"/>
                    </a:solidFill>
                  </a:tcPr>
                </a:tc>
                <a:tc>
                  <a:txBody>
                    <a:bodyPr/>
                    <a:lstStyle/>
                    <a:p>
                      <a:pPr algn="r"/>
                      <a:r>
                        <a:rPr sz="1100" b="1">
                          <a:solidFill>
                            <a:srgbClr val="8B8478"/>
                          </a:solidFill>
                          <a:latin typeface="Arial"/>
                        </a:rPr>
                        <a:t>Ahorro %</a:t>
                      </a:r>
                    </a:p>
                  </a:txBody>
                  <a:tcPr marL="82296" marR="82296" anchor="ctr">
                    <a:solidFill>
                      <a:srgbClr val="F4F2ED"/>
                    </a:solidFill>
                  </a:tcPr>
                </a:tc>
              </a:tr>
              <a:tr h="402336">
                <a:tc>
                  <a:txBody>
                    <a:bodyPr/>
                    <a:lstStyle/>
                    <a:p>
                      <a:pPr algn="l"/>
                      <a:r>
                        <a:rPr sz="1250" b="0">
                          <a:solidFill>
                            <a:srgbClr val="17150F"/>
                          </a:solidFill>
                          <a:latin typeface="Arial"/>
                        </a:rPr>
                        <a:t>Sin merma · el sobrante se guarda</a:t>
                      </a:r>
                    </a:p>
                  </a:txBody>
                  <a:tcPr marL="82296" marR="82296" anchor="ctr">
                    <a:solidFill>
                      <a:srgbClr val="FFFFFF"/>
                    </a:solidFill>
                  </a:tcPr>
                </a:tc>
                <a:tc>
                  <a:txBody>
                    <a:bodyPr/>
                    <a:lstStyle/>
                    <a:p>
                      <a:pPr algn="r"/>
                      <a:r>
                        <a:rPr sz="1250" b="0">
                          <a:solidFill>
                            <a:srgbClr val="555045"/>
                          </a:solidFill>
                          <a:latin typeface="Arial"/>
                        </a:rPr>
                        <a:t>6.025.518</a:t>
                      </a:r>
                    </a:p>
                  </a:txBody>
                  <a:tcPr marL="82296" marR="82296" anchor="ctr">
                    <a:solidFill>
                      <a:srgbClr val="FFFFFF"/>
                    </a:solidFill>
                  </a:tcPr>
                </a:tc>
                <a:tc>
                  <a:txBody>
                    <a:bodyPr/>
                    <a:lstStyle/>
                    <a:p>
                      <a:pPr algn="r"/>
                      <a:r>
                        <a:rPr sz="1250" b="0">
                          <a:solidFill>
                            <a:srgbClr val="555045"/>
                          </a:solidFill>
                          <a:latin typeface="Arial"/>
                        </a:rPr>
                        <a:t>448.551</a:t>
                      </a:r>
                    </a:p>
                  </a:txBody>
                  <a:tcPr marL="82296" marR="82296" anchor="ctr">
                    <a:solidFill>
                      <a:srgbClr val="FFFFFF"/>
                    </a:solidFill>
                  </a:tcPr>
                </a:tc>
                <a:tc>
                  <a:txBody>
                    <a:bodyPr/>
                    <a:lstStyle/>
                    <a:p>
                      <a:pPr algn="r"/>
                      <a:r>
                        <a:rPr sz="1250" b="0">
                          <a:solidFill>
                            <a:srgbClr val="555045"/>
                          </a:solidFill>
                          <a:latin typeface="Arial"/>
                        </a:rPr>
                        <a:t>5.576.966</a:t>
                      </a:r>
                    </a:p>
                  </a:txBody>
                  <a:tcPr marL="82296" marR="82296" anchor="ctr">
                    <a:solidFill>
                      <a:srgbClr val="FFFFFF"/>
                    </a:solidFill>
                  </a:tcPr>
                </a:tc>
                <a:tc>
                  <a:txBody>
                    <a:bodyPr/>
                    <a:lstStyle/>
                    <a:p>
                      <a:pPr algn="r"/>
                      <a:r>
                        <a:rPr sz="1250" b="0">
                          <a:solidFill>
                            <a:srgbClr val="555045"/>
                          </a:solidFill>
                          <a:latin typeface="Arial"/>
                        </a:rPr>
                        <a:t>92,6 %</a:t>
                      </a:r>
                    </a:p>
                  </a:txBody>
                  <a:tcPr marL="82296" marR="82296" anchor="ctr">
                    <a:solidFill>
                      <a:srgbClr val="FFFFFF"/>
                    </a:solidFill>
                  </a:tcPr>
                </a:tc>
              </a:tr>
              <a:tr h="402336">
                <a:tc>
                  <a:txBody>
                    <a:bodyPr/>
                    <a:lstStyle/>
                    <a:p>
                      <a:pPr algn="l"/>
                      <a:r>
                        <a:rPr sz="1250" b="0">
                          <a:solidFill>
                            <a:srgbClr val="17150F"/>
                          </a:solidFill>
                          <a:latin typeface="Arial"/>
                        </a:rPr>
                        <a:t>Merma parcial · se recupera la mitad</a:t>
                      </a:r>
                    </a:p>
                  </a:txBody>
                  <a:tcPr marL="82296" marR="82296" anchor="ctr">
                    <a:solidFill>
                      <a:srgbClr val="FFFFFF"/>
                    </a:solidFill>
                  </a:tcPr>
                </a:tc>
                <a:tc>
                  <a:txBody>
                    <a:bodyPr/>
                    <a:lstStyle/>
                    <a:p>
                      <a:pPr algn="r"/>
                      <a:r>
                        <a:rPr sz="1250" b="0">
                          <a:solidFill>
                            <a:srgbClr val="555045"/>
                          </a:solidFill>
                          <a:latin typeface="Arial"/>
                        </a:rPr>
                        <a:t>7.793.518</a:t>
                      </a:r>
                    </a:p>
                  </a:txBody>
                  <a:tcPr marL="82296" marR="82296" anchor="ctr">
                    <a:solidFill>
                      <a:srgbClr val="FFFFFF"/>
                    </a:solidFill>
                  </a:tcPr>
                </a:tc>
                <a:tc>
                  <a:txBody>
                    <a:bodyPr/>
                    <a:lstStyle/>
                    <a:p>
                      <a:pPr algn="r"/>
                      <a:r>
                        <a:rPr sz="1250" b="0">
                          <a:solidFill>
                            <a:srgbClr val="555045"/>
                          </a:solidFill>
                          <a:latin typeface="Arial"/>
                        </a:rPr>
                        <a:t>6.051.554</a:t>
                      </a:r>
                    </a:p>
                  </a:txBody>
                  <a:tcPr marL="82296" marR="82296" anchor="ctr">
                    <a:solidFill>
                      <a:srgbClr val="FFFFFF"/>
                    </a:solidFill>
                  </a:tcPr>
                </a:tc>
                <a:tc>
                  <a:txBody>
                    <a:bodyPr/>
                    <a:lstStyle/>
                    <a:p>
                      <a:pPr algn="r"/>
                      <a:r>
                        <a:rPr sz="1250" b="0">
                          <a:solidFill>
                            <a:srgbClr val="555045"/>
                          </a:solidFill>
                          <a:latin typeface="Arial"/>
                        </a:rPr>
                        <a:t>1.741.964</a:t>
                      </a:r>
                    </a:p>
                  </a:txBody>
                  <a:tcPr marL="82296" marR="82296" anchor="ctr">
                    <a:solidFill>
                      <a:srgbClr val="FFFFFF"/>
                    </a:solidFill>
                  </a:tcPr>
                </a:tc>
                <a:tc>
                  <a:txBody>
                    <a:bodyPr/>
                    <a:lstStyle/>
                    <a:p>
                      <a:pPr algn="r"/>
                      <a:r>
                        <a:rPr sz="1250" b="0">
                          <a:solidFill>
                            <a:srgbClr val="555045"/>
                          </a:solidFill>
                          <a:latin typeface="Arial"/>
                        </a:rPr>
                        <a:t>22,4 %</a:t>
                      </a:r>
                    </a:p>
                  </a:txBody>
                  <a:tcPr marL="82296" marR="82296" anchor="ctr">
                    <a:solidFill>
                      <a:srgbClr val="FFFFFF"/>
                    </a:solidFill>
                  </a:tcPr>
                </a:tc>
              </a:tr>
              <a:tr h="402336">
                <a:tc>
                  <a:txBody>
                    <a:bodyPr/>
                    <a:lstStyle/>
                    <a:p>
                      <a:pPr algn="l"/>
                      <a:r>
                        <a:rPr sz="1250" b="1">
                          <a:solidFill>
                            <a:srgbClr val="17150F"/>
                          </a:solidFill>
                          <a:latin typeface="Arial"/>
                        </a:rPr>
                        <a:t>Con merma · se descarta · recomendado</a:t>
                      </a:r>
                    </a:p>
                  </a:txBody>
                  <a:tcPr marL="82296" marR="82296" anchor="ctr">
                    <a:solidFill>
                      <a:srgbClr val="F7EEEF"/>
                    </a:solidFill>
                  </a:tcPr>
                </a:tc>
                <a:tc>
                  <a:txBody>
                    <a:bodyPr/>
                    <a:lstStyle/>
                    <a:p>
                      <a:pPr algn="r"/>
                      <a:r>
                        <a:rPr sz="1250" b="1">
                          <a:solidFill>
                            <a:srgbClr val="17150F"/>
                          </a:solidFill>
                          <a:latin typeface="Arial"/>
                        </a:rPr>
                        <a:t>9.561.518</a:t>
                      </a:r>
                    </a:p>
                  </a:txBody>
                  <a:tcPr marL="82296" marR="82296" anchor="ctr">
                    <a:solidFill>
                      <a:srgbClr val="F7EEEF"/>
                    </a:solidFill>
                  </a:tcPr>
                </a:tc>
                <a:tc>
                  <a:txBody>
                    <a:bodyPr/>
                    <a:lstStyle/>
                    <a:p>
                      <a:pPr algn="r"/>
                      <a:r>
                        <a:rPr sz="1250" b="1">
                          <a:solidFill>
                            <a:srgbClr val="17150F"/>
                          </a:solidFill>
                          <a:latin typeface="Arial"/>
                        </a:rPr>
                        <a:t>9.062.061</a:t>
                      </a:r>
                    </a:p>
                  </a:txBody>
                  <a:tcPr marL="82296" marR="82296" anchor="ctr">
                    <a:solidFill>
                      <a:srgbClr val="F7EEEF"/>
                    </a:solidFill>
                  </a:tcPr>
                </a:tc>
                <a:tc>
                  <a:txBody>
                    <a:bodyPr/>
                    <a:lstStyle/>
                    <a:p>
                      <a:pPr algn="r"/>
                      <a:r>
                        <a:rPr sz="1250" b="1">
                          <a:solidFill>
                            <a:srgbClr val="17150F"/>
                          </a:solidFill>
                          <a:latin typeface="Arial"/>
                        </a:rPr>
                        <a:t>499.457</a:t>
                      </a:r>
                    </a:p>
                  </a:txBody>
                  <a:tcPr marL="82296" marR="82296" anchor="ctr">
                    <a:solidFill>
                      <a:srgbClr val="F7EEEF"/>
                    </a:solidFill>
                  </a:tcPr>
                </a:tc>
                <a:tc>
                  <a:txBody>
                    <a:bodyPr/>
                    <a:lstStyle/>
                    <a:p>
                      <a:pPr algn="r"/>
                      <a:r>
                        <a:rPr sz="1250" b="1">
                          <a:solidFill>
                            <a:srgbClr val="17150F"/>
                          </a:solidFill>
                          <a:latin typeface="Arial"/>
                        </a:rPr>
                        <a:t>5,2 %</a:t>
                      </a:r>
                    </a:p>
                  </a:txBody>
                  <a:tcPr marL="82296" marR="82296" anchor="ctr">
                    <a:solidFill>
                      <a:srgbClr val="F7EEEF"/>
                    </a:solidFill>
                  </a:tcPr>
                </a:tc>
              </a:tr>
            </a:tbl>
          </a:graphicData>
        </a:graphic>
      </p:graphicFrame>
      <p:sp>
        <p:nvSpPr>
          <p:cNvPr id="8" name="Rectangle 7"/>
          <p:cNvSpPr/>
          <p:nvPr/>
        </p:nvSpPr>
        <p:spPr>
          <a:xfrm>
            <a:off x="777240" y="4258564"/>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4157980"/>
            <a:ext cx="10436047" cy="530098"/>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Por qué pasa.</a:t>
            </a:r>
            <a:r>
              <a:rPr sz="1450" b="0">
                <a:solidFill>
                  <a:srgbClr val="555045"/>
                </a:solidFill>
                <a:latin typeface="Arial"/>
              </a:rPr>
              <a:t> Cuando sobrar cuesta 10 pesos, pedir de más es casi gratis y la política de nivel arrasa. Cuando cuesta 810, protegerse sale caro y el margen se estrecha.</a:t>
            </a:r>
          </a:p>
        </p:txBody>
      </p:sp>
      <p:sp>
        <p:nvSpPr>
          <p:cNvPr id="10" name="Rectangle 9"/>
          <p:cNvSpPr/>
          <p:nvPr/>
        </p:nvSpPr>
        <p:spPr>
          <a:xfrm>
            <a:off x="777240" y="4916678"/>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816094"/>
            <a:ext cx="10436047" cy="776859"/>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Recomendamos el escenario con merma</a:t>
            </a:r>
            <a:r>
              <a:rPr sz="1450" b="0">
                <a:solidFill>
                  <a:srgbClr val="555045"/>
                </a:solidFill>
                <a:latin typeface="Arial"/>
              </a:rPr>
              <a:t> por tres razones: el catálogo son ocho referencias de cafetería y bollería que no se guardan; es el único donde los niveles se diferencian por margen, que es lo que pide el encargo; y da la cifra más baja de las tres.</a:t>
            </a:r>
          </a:p>
        </p:txBody>
      </p:sp>
      <p:sp>
        <p:nvSpPr>
          <p:cNvPr id="12" name="Rectangle 11"/>
          <p:cNvSpPr/>
          <p:nvPr/>
        </p:nvSpPr>
        <p:spPr>
          <a:xfrm>
            <a:off x="777240" y="582155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5720969"/>
            <a:ext cx="10436047" cy="530098"/>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Prometer un 92 % y entregar un 5 % destruiría la credibilidad del proyecto entero.</a:t>
            </a:r>
            <a:r>
              <a:rPr sz="1450" b="0">
                <a:solidFill>
                  <a:srgbClr val="555045"/>
                </a:solidFill>
                <a:latin typeface="Arial"/>
              </a:rPr>
              <a:t> Al revés, si el piloto revela que se pierde menos producto del supuesto, el resultado solo puede mejorar.</a:t>
            </a:r>
          </a:p>
        </p:txBody>
      </p:sp>
      <p:sp>
        <p:nvSpPr>
          <p:cNvPr id="14" name="Rectangle 13"/>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Escenario del sobrante</a:t>
            </a:r>
          </a:p>
        </p:txBody>
      </p:sp>
      <p:sp>
        <p:nvSpPr>
          <p:cNvPr id="16" name="TextBox 15"/>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651760"/>
            <a:ext cx="9144000" cy="914400"/>
          </a:xfrm>
          <a:prstGeom prst="rect">
            <a:avLst/>
          </a:prstGeom>
          <a:noFill/>
        </p:spPr>
        <p:txBody>
          <a:bodyPr wrap="square" lIns="0" rIns="0" tIns="0" bIns="0">
            <a:spAutoFit/>
          </a:bodyPr>
          <a:lstStyle/>
          <a:p>
            <a:pPr algn="l">
              <a:lnSpc>
                <a:spcPct val="105000"/>
              </a:lnSpc>
              <a:spcBef>
                <a:spcPts val="0"/>
              </a:spcBef>
              <a:spcAft>
                <a:spcPts val="1000"/>
              </a:spcAft>
            </a:pPr>
            <a:r>
              <a:rPr sz="3400" b="1">
                <a:solidFill>
                  <a:srgbClr val="17150F"/>
                </a:solidFill>
                <a:latin typeface="Arial"/>
              </a:rPr>
              <a:t>La entrega</a:t>
            </a:r>
          </a:p>
          <a:p>
            <a:pPr algn="l">
              <a:lnSpc>
                <a:spcPct val="130000"/>
              </a:lnSpc>
              <a:spcBef>
                <a:spcPts val="0"/>
              </a:spcBef>
              <a:spcAft>
                <a:spcPts val="600"/>
              </a:spcAft>
            </a:pPr>
            <a:r>
              <a:rPr sz="1550" b="0">
                <a:solidFill>
                  <a:srgbClr val="555045"/>
                </a:solidFill>
                <a:latin typeface="Arial"/>
              </a:rPr>
              <a:t>Paso 16 · El pedido de la semana siguiente</a:t>
            </a:r>
          </a:p>
        </p:txBody>
      </p:sp>
      <p:sp>
        <p:nvSpPr>
          <p:cNvPr id="5" name="TextBox 4"/>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PASO 16 · LA ENTREGA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836676"/>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Una tabla de 160 filas que la tienda ejecuta sin interpretar nada</a:t>
            </a:r>
          </a:p>
        </p:txBody>
      </p:sp>
      <p:sp>
        <p:nvSpPr>
          <p:cNvPr id="6" name="TextBox 5"/>
          <p:cNvSpPr txBox="1"/>
          <p:nvPr/>
        </p:nvSpPr>
        <p:spPr>
          <a:xfrm>
            <a:off x="777240" y="1897380"/>
            <a:ext cx="9966960" cy="283337"/>
          </a:xfrm>
          <a:prstGeom prst="rect">
            <a:avLst/>
          </a:prstGeom>
          <a:noFill/>
        </p:spPr>
        <p:txBody>
          <a:bodyPr wrap="square" lIns="0" rIns="0" tIns="0" bIns="0">
            <a:spAutoFit/>
          </a:bodyPr>
          <a:lstStyle/>
          <a:p>
            <a:pPr algn="l">
              <a:lnSpc>
                <a:spcPct val="130000"/>
              </a:lnSpc>
              <a:spcBef>
                <a:spcPts val="0"/>
              </a:spcBef>
              <a:spcAft>
                <a:spcPts val="0"/>
              </a:spcAft>
            </a:pPr>
            <a:r>
              <a:rPr sz="1450" b="0">
                <a:solidFill>
                  <a:srgbClr val="555045"/>
                </a:solidFill>
                <a:latin typeface="Arial"/>
              </a:rPr>
              <a:t>Reentrenada con las trece semanas completas. Una fila por tienda y producto.</a:t>
            </a:r>
          </a:p>
        </p:txBody>
      </p:sp>
      <p:sp>
        <p:nvSpPr>
          <p:cNvPr id="7" name="Rectangle 6"/>
          <p:cNvSpPr/>
          <p:nvPr/>
        </p:nvSpPr>
        <p:spPr>
          <a:xfrm>
            <a:off x="777240" y="2381885"/>
            <a:ext cx="2549575" cy="11430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1832" y="2509901"/>
            <a:ext cx="2220391" cy="960120"/>
          </a:xfrm>
          <a:prstGeom prst="rect">
            <a:avLst/>
          </a:prstGeom>
          <a:noFill/>
        </p:spPr>
        <p:txBody>
          <a:bodyPr wrap="square" lIns="0" rIns="0" tIns="0" bIns="0">
            <a:spAutoFit/>
          </a:bodyPr>
          <a:lstStyle/>
          <a:p>
            <a:pPr algn="l">
              <a:lnSpc>
                <a:spcPct val="122000"/>
              </a:lnSpc>
              <a:spcBef>
                <a:spcPts val="0"/>
              </a:spcBef>
              <a:spcAft>
                <a:spcPts val="300"/>
              </a:spcAft>
            </a:pPr>
            <a:r>
              <a:rPr sz="950" b="1">
                <a:solidFill>
                  <a:srgbClr val="8B8478"/>
                </a:solidFill>
                <a:latin typeface="Arial"/>
              </a:rPr>
              <a:t>A PEDIR</a:t>
            </a:r>
          </a:p>
          <a:p>
            <a:pPr algn="l">
              <a:lnSpc>
                <a:spcPct val="100000"/>
              </a:lnSpc>
              <a:spcBef>
                <a:spcPts val="0"/>
              </a:spcBef>
              <a:spcAft>
                <a:spcPts val="300"/>
              </a:spcAft>
            </a:pPr>
            <a:r>
              <a:rPr sz="2500" b="1">
                <a:solidFill>
                  <a:srgbClr val="17150F"/>
                </a:solidFill>
                <a:latin typeface="Arial"/>
              </a:rPr>
              <a:t>12.290</a:t>
            </a:r>
          </a:p>
          <a:p>
            <a:pPr algn="l">
              <a:lnSpc>
                <a:spcPct val="120000"/>
              </a:lnSpc>
              <a:spcBef>
                <a:spcPts val="0"/>
              </a:spcBef>
              <a:spcAft>
                <a:spcPts val="0"/>
              </a:spcAft>
            </a:pPr>
            <a:r>
              <a:rPr sz="1050" b="0">
                <a:solidFill>
                  <a:srgbClr val="555045"/>
                </a:solidFill>
                <a:latin typeface="Arial"/>
              </a:rPr>
              <a:t>unidades en toda la red</a:t>
            </a:r>
          </a:p>
        </p:txBody>
      </p:sp>
      <p:sp>
        <p:nvSpPr>
          <p:cNvPr id="9" name="Rectangle 8"/>
          <p:cNvSpPr/>
          <p:nvPr/>
        </p:nvSpPr>
        <p:spPr>
          <a:xfrm>
            <a:off x="3473119" y="2381885"/>
            <a:ext cx="2549575" cy="11430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37711" y="2509901"/>
            <a:ext cx="2220391" cy="960120"/>
          </a:xfrm>
          <a:prstGeom prst="rect">
            <a:avLst/>
          </a:prstGeom>
          <a:noFill/>
        </p:spPr>
        <p:txBody>
          <a:bodyPr wrap="square" lIns="0" rIns="0" tIns="0" bIns="0">
            <a:spAutoFit/>
          </a:bodyPr>
          <a:lstStyle/>
          <a:p>
            <a:pPr algn="l">
              <a:lnSpc>
                <a:spcPct val="122000"/>
              </a:lnSpc>
              <a:spcBef>
                <a:spcPts val="0"/>
              </a:spcBef>
              <a:spcAft>
                <a:spcPts val="300"/>
              </a:spcAft>
            </a:pPr>
            <a:r>
              <a:rPr sz="950" b="1">
                <a:solidFill>
                  <a:srgbClr val="8B8478"/>
                </a:solidFill>
                <a:latin typeface="Arial"/>
              </a:rPr>
              <a:t>OBJETIVO</a:t>
            </a:r>
          </a:p>
          <a:p>
            <a:pPr algn="l">
              <a:lnSpc>
                <a:spcPct val="100000"/>
              </a:lnSpc>
              <a:spcBef>
                <a:spcPts val="0"/>
              </a:spcBef>
              <a:spcAft>
                <a:spcPts val="300"/>
              </a:spcAft>
            </a:pPr>
            <a:r>
              <a:rPr sz="2500" b="1">
                <a:solidFill>
                  <a:srgbClr val="17150F"/>
                </a:solidFill>
                <a:latin typeface="Arial"/>
              </a:rPr>
              <a:t>15.591</a:t>
            </a:r>
          </a:p>
          <a:p>
            <a:pPr algn="l">
              <a:lnSpc>
                <a:spcPct val="120000"/>
              </a:lnSpc>
              <a:spcBef>
                <a:spcPts val="0"/>
              </a:spcBef>
              <a:spcAft>
                <a:spcPts val="0"/>
              </a:spcAft>
            </a:pPr>
            <a:r>
              <a:rPr sz="1050" b="0">
                <a:solidFill>
                  <a:srgbClr val="555045"/>
                </a:solidFill>
                <a:latin typeface="Arial"/>
              </a:rPr>
              <a:t>unidades en estantería</a:t>
            </a:r>
          </a:p>
        </p:txBody>
      </p:sp>
      <p:sp>
        <p:nvSpPr>
          <p:cNvPr id="11" name="Rectangle 10"/>
          <p:cNvSpPr/>
          <p:nvPr/>
        </p:nvSpPr>
        <p:spPr>
          <a:xfrm>
            <a:off x="6168998" y="2381885"/>
            <a:ext cx="2549575" cy="11430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33590" y="2509901"/>
            <a:ext cx="2220391" cy="960120"/>
          </a:xfrm>
          <a:prstGeom prst="rect">
            <a:avLst/>
          </a:prstGeom>
          <a:noFill/>
        </p:spPr>
        <p:txBody>
          <a:bodyPr wrap="square" lIns="0" rIns="0" tIns="0" bIns="0">
            <a:spAutoFit/>
          </a:bodyPr>
          <a:lstStyle/>
          <a:p>
            <a:pPr algn="l">
              <a:lnSpc>
                <a:spcPct val="122000"/>
              </a:lnSpc>
              <a:spcBef>
                <a:spcPts val="0"/>
              </a:spcBef>
              <a:spcAft>
                <a:spcPts val="300"/>
              </a:spcAft>
            </a:pPr>
            <a:r>
              <a:rPr sz="950" b="1">
                <a:solidFill>
                  <a:srgbClr val="8B8478"/>
                </a:solidFill>
                <a:latin typeface="Arial"/>
              </a:rPr>
              <a:t>YA DISPONIBLE</a:t>
            </a:r>
          </a:p>
          <a:p>
            <a:pPr algn="l">
              <a:lnSpc>
                <a:spcPct val="100000"/>
              </a:lnSpc>
              <a:spcBef>
                <a:spcPts val="0"/>
              </a:spcBef>
              <a:spcAft>
                <a:spcPts val="300"/>
              </a:spcAft>
            </a:pPr>
            <a:r>
              <a:rPr sz="2500" b="1">
                <a:solidFill>
                  <a:srgbClr val="17150F"/>
                </a:solidFill>
                <a:latin typeface="Arial"/>
              </a:rPr>
              <a:t>3.367</a:t>
            </a:r>
          </a:p>
          <a:p>
            <a:pPr algn="l">
              <a:lnSpc>
                <a:spcPct val="120000"/>
              </a:lnSpc>
              <a:spcBef>
                <a:spcPts val="0"/>
              </a:spcBef>
              <a:spcAft>
                <a:spcPts val="0"/>
              </a:spcAft>
            </a:pPr>
            <a:r>
              <a:rPr sz="1050" b="0">
                <a:solidFill>
                  <a:srgbClr val="555045"/>
                </a:solidFill>
                <a:latin typeface="Arial"/>
              </a:rPr>
              <a:t>inventario actual</a:t>
            </a:r>
          </a:p>
        </p:txBody>
      </p:sp>
      <p:sp>
        <p:nvSpPr>
          <p:cNvPr id="13" name="Rectangle 12"/>
          <p:cNvSpPr/>
          <p:nvPr/>
        </p:nvSpPr>
        <p:spPr>
          <a:xfrm>
            <a:off x="8864877" y="2381885"/>
            <a:ext cx="2549575" cy="11430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29469" y="2509901"/>
            <a:ext cx="2220391" cy="960120"/>
          </a:xfrm>
          <a:prstGeom prst="rect">
            <a:avLst/>
          </a:prstGeom>
          <a:noFill/>
        </p:spPr>
        <p:txBody>
          <a:bodyPr wrap="square" lIns="0" rIns="0" tIns="0" bIns="0">
            <a:spAutoFit/>
          </a:bodyPr>
          <a:lstStyle/>
          <a:p>
            <a:pPr algn="l">
              <a:lnSpc>
                <a:spcPct val="122000"/>
              </a:lnSpc>
              <a:spcBef>
                <a:spcPts val="0"/>
              </a:spcBef>
              <a:spcAft>
                <a:spcPts val="300"/>
              </a:spcAft>
            </a:pPr>
            <a:r>
              <a:rPr sz="950" b="1">
                <a:solidFill>
                  <a:srgbClr val="8B8478"/>
                </a:solidFill>
                <a:latin typeface="Arial"/>
              </a:rPr>
              <a:t>SIN PEDIDO</a:t>
            </a:r>
          </a:p>
          <a:p>
            <a:pPr algn="l">
              <a:lnSpc>
                <a:spcPct val="100000"/>
              </a:lnSpc>
              <a:spcBef>
                <a:spcPts val="0"/>
              </a:spcBef>
              <a:spcAft>
                <a:spcPts val="300"/>
              </a:spcAft>
            </a:pPr>
            <a:r>
              <a:rPr sz="2500" b="1">
                <a:solidFill>
                  <a:srgbClr val="17150F"/>
                </a:solidFill>
                <a:latin typeface="Arial"/>
              </a:rPr>
              <a:t>5</a:t>
            </a:r>
          </a:p>
          <a:p>
            <a:pPr algn="l">
              <a:lnSpc>
                <a:spcPct val="120000"/>
              </a:lnSpc>
              <a:spcBef>
                <a:spcPts val="0"/>
              </a:spcBef>
              <a:spcAft>
                <a:spcPts val="0"/>
              </a:spcAft>
            </a:pPr>
            <a:r>
              <a:rPr sz="1050" b="0">
                <a:solidFill>
                  <a:srgbClr val="555045"/>
                </a:solidFill>
                <a:latin typeface="Arial"/>
              </a:rPr>
              <a:t>series que el stock ya cubre</a:t>
            </a:r>
          </a:p>
        </p:txBody>
      </p:sp>
      <p:graphicFrame>
        <p:nvGraphicFramePr>
          <p:cNvPr id="15" name="Table 14"/>
          <p:cNvGraphicFramePr>
            <a:graphicFrameLocks noGrp="1"/>
          </p:cNvGraphicFramePr>
          <p:nvPr/>
        </p:nvGraphicFramePr>
        <p:xfrm>
          <a:off x="777240" y="3835781"/>
          <a:ext cx="10637211" cy="1591056"/>
        </p:xfrm>
        <a:graphic>
          <a:graphicData uri="http://schemas.openxmlformats.org/drawingml/2006/table">
            <a:tbl>
              <a:tblPr bandRow="1">
                <a:tableStyleId>{5C22544A-7EE6-4342-B048-85BDC9FD1C3A}</a:tableStyleId>
              </a:tblPr>
              <a:tblGrid>
                <a:gridCol w="1701954"/>
                <a:gridCol w="2765675"/>
                <a:gridCol w="1701954"/>
                <a:gridCol w="1276465"/>
                <a:gridCol w="1276465"/>
                <a:gridCol w="957349"/>
                <a:gridCol w="957349"/>
              </a:tblGrid>
              <a:tr h="347472">
                <a:tc>
                  <a:txBody>
                    <a:bodyPr/>
                    <a:lstStyle/>
                    <a:p>
                      <a:pPr algn="l"/>
                      <a:r>
                        <a:rPr sz="1100" b="1">
                          <a:solidFill>
                            <a:srgbClr val="8B8478"/>
                          </a:solidFill>
                          <a:latin typeface="Arial"/>
                        </a:rPr>
                        <a:t>Tienda</a:t>
                      </a:r>
                    </a:p>
                  </a:txBody>
                  <a:tcPr marL="82296" marR="82296" anchor="ctr">
                    <a:solidFill>
                      <a:srgbClr val="F4F2ED"/>
                    </a:solidFill>
                  </a:tcPr>
                </a:tc>
                <a:tc>
                  <a:txBody>
                    <a:bodyPr/>
                    <a:lstStyle/>
                    <a:p>
                      <a:pPr algn="r"/>
                      <a:r>
                        <a:rPr sz="1100" b="1">
                          <a:solidFill>
                            <a:srgbClr val="8B8478"/>
                          </a:solidFill>
                          <a:latin typeface="Arial"/>
                        </a:rPr>
                        <a:t>Producto</a:t>
                      </a:r>
                    </a:p>
                  </a:txBody>
                  <a:tcPr marL="82296" marR="82296" anchor="ctr">
                    <a:solidFill>
                      <a:srgbClr val="F4F2ED"/>
                    </a:solidFill>
                  </a:tcPr>
                </a:tc>
                <a:tc>
                  <a:txBody>
                    <a:bodyPr/>
                    <a:lstStyle/>
                    <a:p>
                      <a:pPr algn="r"/>
                      <a:r>
                        <a:rPr sz="1100" b="1">
                          <a:solidFill>
                            <a:srgbClr val="8B8478"/>
                          </a:solidFill>
                          <a:latin typeface="Arial"/>
                        </a:rPr>
                        <a:t>Pronóstico</a:t>
                      </a:r>
                    </a:p>
                  </a:txBody>
                  <a:tcPr marL="82296" marR="82296" anchor="ctr">
                    <a:solidFill>
                      <a:srgbClr val="F4F2ED"/>
                    </a:solidFill>
                  </a:tcPr>
                </a:tc>
                <a:tc>
                  <a:txBody>
                    <a:bodyPr/>
                    <a:lstStyle/>
                    <a:p>
                      <a:pPr algn="r"/>
                      <a:r>
                        <a:rPr sz="1100" b="1">
                          <a:solidFill>
                            <a:srgbClr val="8B8478"/>
                          </a:solidFill>
                          <a:latin typeface="Arial"/>
                        </a:rPr>
                        <a:t>Nivel</a:t>
                      </a:r>
                    </a:p>
                  </a:txBody>
                  <a:tcPr marL="82296" marR="82296" anchor="ctr">
                    <a:solidFill>
                      <a:srgbClr val="F4F2ED"/>
                    </a:solidFill>
                  </a:tcPr>
                </a:tc>
                <a:tc>
                  <a:txBody>
                    <a:bodyPr/>
                    <a:lstStyle/>
                    <a:p>
                      <a:pPr algn="r"/>
                      <a:r>
                        <a:rPr sz="1100" b="1">
                          <a:solidFill>
                            <a:srgbClr val="8B8478"/>
                          </a:solidFill>
                          <a:latin typeface="Arial"/>
                        </a:rPr>
                        <a:t>Objetivo</a:t>
                      </a:r>
                    </a:p>
                  </a:txBody>
                  <a:tcPr marL="82296" marR="82296" anchor="ctr">
                    <a:solidFill>
                      <a:srgbClr val="F4F2ED"/>
                    </a:solidFill>
                  </a:tcPr>
                </a:tc>
                <a:tc>
                  <a:txBody>
                    <a:bodyPr/>
                    <a:lstStyle/>
                    <a:p>
                      <a:pPr algn="r"/>
                      <a:r>
                        <a:rPr sz="1100" b="1">
                          <a:solidFill>
                            <a:srgbClr val="8B8478"/>
                          </a:solidFill>
                          <a:latin typeface="Arial"/>
                        </a:rPr>
                        <a:t>Stock</a:t>
                      </a:r>
                    </a:p>
                  </a:txBody>
                  <a:tcPr marL="82296" marR="82296" anchor="ctr">
                    <a:solidFill>
                      <a:srgbClr val="F4F2ED"/>
                    </a:solidFill>
                  </a:tcPr>
                </a:tc>
                <a:tc>
                  <a:txBody>
                    <a:bodyPr/>
                    <a:lstStyle/>
                    <a:p>
                      <a:pPr algn="r"/>
                      <a:r>
                        <a:rPr sz="1100" b="1">
                          <a:solidFill>
                            <a:srgbClr val="8B8478"/>
                          </a:solidFill>
                          <a:latin typeface="Arial"/>
                        </a:rPr>
                        <a:t>Pedido</a:t>
                      </a:r>
                    </a:p>
                  </a:txBody>
                  <a:tcPr marL="82296" marR="82296" anchor="ctr">
                    <a:solidFill>
                      <a:srgbClr val="F4F2ED"/>
                    </a:solidFill>
                  </a:tcPr>
                </a:tc>
              </a:tr>
              <a:tr h="310896">
                <a:tc>
                  <a:txBody>
                    <a:bodyPr/>
                    <a:lstStyle/>
                    <a:p>
                      <a:pPr algn="l"/>
                      <a:r>
                        <a:rPr sz="1250" b="0">
                          <a:solidFill>
                            <a:srgbClr val="17150F"/>
                          </a:solidFill>
                          <a:latin typeface="Arial"/>
                        </a:rPr>
                        <a:t>STORE_01</a:t>
                      </a:r>
                    </a:p>
                  </a:txBody>
                  <a:tcPr marL="82296" marR="82296" anchor="ctr">
                    <a:solidFill>
                      <a:srgbClr val="FFFFFF"/>
                    </a:solidFill>
                  </a:tcPr>
                </a:tc>
                <a:tc>
                  <a:txBody>
                    <a:bodyPr/>
                    <a:lstStyle/>
                    <a:p>
                      <a:pPr algn="r"/>
                      <a:r>
                        <a:rPr sz="1250" b="0">
                          <a:solidFill>
                            <a:srgbClr val="555045"/>
                          </a:solidFill>
                          <a:latin typeface="Arial"/>
                        </a:rPr>
                        <a:t>Tinto</a:t>
                      </a:r>
                    </a:p>
                  </a:txBody>
                  <a:tcPr marL="82296" marR="82296" anchor="ctr">
                    <a:solidFill>
                      <a:srgbClr val="FFFFFF"/>
                    </a:solidFill>
                  </a:tcPr>
                </a:tc>
                <a:tc>
                  <a:txBody>
                    <a:bodyPr/>
                    <a:lstStyle/>
                    <a:p>
                      <a:pPr algn="r"/>
                      <a:r>
                        <a:rPr sz="1250" b="0">
                          <a:solidFill>
                            <a:srgbClr val="555045"/>
                          </a:solidFill>
                          <a:latin typeface="Arial"/>
                        </a:rPr>
                        <a:t>44,4</a:t>
                      </a:r>
                    </a:p>
                  </a:txBody>
                  <a:tcPr marL="82296" marR="82296" anchor="ctr">
                    <a:solidFill>
                      <a:srgbClr val="FFFFFF"/>
                    </a:solidFill>
                  </a:tcPr>
                </a:tc>
                <a:tc>
                  <a:txBody>
                    <a:bodyPr/>
                    <a:lstStyle/>
                    <a:p>
                      <a:pPr algn="r"/>
                      <a:r>
                        <a:rPr sz="1250" b="0">
                          <a:solidFill>
                            <a:srgbClr val="555045"/>
                          </a:solidFill>
                          <a:latin typeface="Arial"/>
                        </a:rPr>
                        <a:t>0,68</a:t>
                      </a:r>
                    </a:p>
                  </a:txBody>
                  <a:tcPr marL="82296" marR="82296" anchor="ctr">
                    <a:solidFill>
                      <a:srgbClr val="FFFFFF"/>
                    </a:solidFill>
                  </a:tcPr>
                </a:tc>
                <a:tc>
                  <a:txBody>
                    <a:bodyPr/>
                    <a:lstStyle/>
                    <a:p>
                      <a:pPr algn="r"/>
                      <a:r>
                        <a:rPr sz="1250" b="0">
                          <a:solidFill>
                            <a:srgbClr val="555045"/>
                          </a:solidFill>
                          <a:latin typeface="Arial"/>
                        </a:rPr>
                        <a:t>47</a:t>
                      </a:r>
                    </a:p>
                  </a:txBody>
                  <a:tcPr marL="82296" marR="82296" anchor="ctr">
                    <a:solidFill>
                      <a:srgbClr val="FFFFFF"/>
                    </a:solidFill>
                  </a:tcPr>
                </a:tc>
                <a:tc>
                  <a:txBody>
                    <a:bodyPr/>
                    <a:lstStyle/>
                    <a:p>
                      <a:pPr algn="r"/>
                      <a:r>
                        <a:rPr sz="1250" b="0">
                          <a:solidFill>
                            <a:srgbClr val="555045"/>
                          </a:solidFill>
                          <a:latin typeface="Arial"/>
                        </a:rPr>
                        <a:t>1</a:t>
                      </a:r>
                    </a:p>
                  </a:txBody>
                  <a:tcPr marL="82296" marR="82296" anchor="ctr">
                    <a:solidFill>
                      <a:srgbClr val="FFFFFF"/>
                    </a:solidFill>
                  </a:tcPr>
                </a:tc>
                <a:tc>
                  <a:txBody>
                    <a:bodyPr/>
                    <a:lstStyle/>
                    <a:p>
                      <a:pPr algn="r"/>
                      <a:r>
                        <a:rPr sz="1250" b="0">
                          <a:solidFill>
                            <a:srgbClr val="555045"/>
                          </a:solidFill>
                          <a:latin typeface="Arial"/>
                        </a:rPr>
                        <a:t>46</a:t>
                      </a:r>
                    </a:p>
                  </a:txBody>
                  <a:tcPr marL="82296" marR="82296" anchor="ctr">
                    <a:solidFill>
                      <a:srgbClr val="FFFFFF"/>
                    </a:solidFill>
                  </a:tcPr>
                </a:tc>
              </a:tr>
              <a:tr h="310896">
                <a:tc>
                  <a:txBody>
                    <a:bodyPr/>
                    <a:lstStyle/>
                    <a:p>
                      <a:pPr algn="l"/>
                      <a:r>
                        <a:rPr sz="1250" b="0">
                          <a:solidFill>
                            <a:srgbClr val="17150F"/>
                          </a:solidFill>
                          <a:latin typeface="Arial"/>
                        </a:rPr>
                        <a:t>STORE_01</a:t>
                      </a:r>
                    </a:p>
                  </a:txBody>
                  <a:tcPr marL="82296" marR="82296" anchor="ctr">
                    <a:solidFill>
                      <a:srgbClr val="FFFFFF"/>
                    </a:solidFill>
                  </a:tcPr>
                </a:tc>
                <a:tc>
                  <a:txBody>
                    <a:bodyPr/>
                    <a:lstStyle/>
                    <a:p>
                      <a:pPr algn="r"/>
                      <a:r>
                        <a:rPr sz="1250" b="0">
                          <a:solidFill>
                            <a:srgbClr val="555045"/>
                          </a:solidFill>
                          <a:latin typeface="Arial"/>
                        </a:rPr>
                        <a:t>Café con Leche</a:t>
                      </a:r>
                    </a:p>
                  </a:txBody>
                  <a:tcPr marL="82296" marR="82296" anchor="ctr">
                    <a:solidFill>
                      <a:srgbClr val="FFFFFF"/>
                    </a:solidFill>
                  </a:tcPr>
                </a:tc>
                <a:tc>
                  <a:txBody>
                    <a:bodyPr/>
                    <a:lstStyle/>
                    <a:p>
                      <a:pPr algn="r"/>
                      <a:r>
                        <a:rPr sz="1250" b="0">
                          <a:solidFill>
                            <a:srgbClr val="555045"/>
                          </a:solidFill>
                          <a:latin typeface="Arial"/>
                        </a:rPr>
                        <a:t>63,8</a:t>
                      </a:r>
                    </a:p>
                  </a:txBody>
                  <a:tcPr marL="82296" marR="82296" anchor="ctr">
                    <a:solidFill>
                      <a:srgbClr val="FFFFFF"/>
                    </a:solidFill>
                  </a:tcPr>
                </a:tc>
                <a:tc>
                  <a:txBody>
                    <a:bodyPr/>
                    <a:lstStyle/>
                    <a:p>
                      <a:pPr algn="r"/>
                      <a:r>
                        <a:rPr sz="1250" b="0">
                          <a:solidFill>
                            <a:srgbClr val="555045"/>
                          </a:solidFill>
                          <a:latin typeface="Arial"/>
                        </a:rPr>
                        <a:t>0,65</a:t>
                      </a:r>
                    </a:p>
                  </a:txBody>
                  <a:tcPr marL="82296" marR="82296" anchor="ctr">
                    <a:solidFill>
                      <a:srgbClr val="FFFFFF"/>
                    </a:solidFill>
                  </a:tcPr>
                </a:tc>
                <a:tc>
                  <a:txBody>
                    <a:bodyPr/>
                    <a:lstStyle/>
                    <a:p>
                      <a:pPr algn="r"/>
                      <a:r>
                        <a:rPr sz="1250" b="0">
                          <a:solidFill>
                            <a:srgbClr val="555045"/>
                          </a:solidFill>
                          <a:latin typeface="Arial"/>
                        </a:rPr>
                        <a:t>68</a:t>
                      </a:r>
                    </a:p>
                  </a:txBody>
                  <a:tcPr marL="82296" marR="82296" anchor="ctr">
                    <a:solidFill>
                      <a:srgbClr val="FFFFFF"/>
                    </a:solidFill>
                  </a:tcPr>
                </a:tc>
                <a:tc>
                  <a:txBody>
                    <a:bodyPr/>
                    <a:lstStyle/>
                    <a:p>
                      <a:pPr algn="r"/>
                      <a:r>
                        <a:rPr sz="1250" b="0">
                          <a:solidFill>
                            <a:srgbClr val="555045"/>
                          </a:solidFill>
                          <a:latin typeface="Arial"/>
                        </a:rPr>
                        <a:t>10</a:t>
                      </a:r>
                    </a:p>
                  </a:txBody>
                  <a:tcPr marL="82296" marR="82296" anchor="ctr">
                    <a:solidFill>
                      <a:srgbClr val="FFFFFF"/>
                    </a:solidFill>
                  </a:tcPr>
                </a:tc>
                <a:tc>
                  <a:txBody>
                    <a:bodyPr/>
                    <a:lstStyle/>
                    <a:p>
                      <a:pPr algn="r"/>
                      <a:r>
                        <a:rPr sz="1250" b="0">
                          <a:solidFill>
                            <a:srgbClr val="555045"/>
                          </a:solidFill>
                          <a:latin typeface="Arial"/>
                        </a:rPr>
                        <a:t>58</a:t>
                      </a:r>
                    </a:p>
                  </a:txBody>
                  <a:tcPr marL="82296" marR="82296" anchor="ctr">
                    <a:solidFill>
                      <a:srgbClr val="FFFFFF"/>
                    </a:solidFill>
                  </a:tcPr>
                </a:tc>
              </a:tr>
              <a:tr h="310896">
                <a:tc>
                  <a:txBody>
                    <a:bodyPr/>
                    <a:lstStyle/>
                    <a:p>
                      <a:pPr algn="l"/>
                      <a:r>
                        <a:rPr sz="1250" b="0">
                          <a:solidFill>
                            <a:srgbClr val="17150F"/>
                          </a:solidFill>
                          <a:latin typeface="Arial"/>
                        </a:rPr>
                        <a:t>STORE_08</a:t>
                      </a:r>
                    </a:p>
                  </a:txBody>
                  <a:tcPr marL="82296" marR="82296" anchor="ctr">
                    <a:solidFill>
                      <a:srgbClr val="FFFFFF"/>
                    </a:solidFill>
                  </a:tcPr>
                </a:tc>
                <a:tc>
                  <a:txBody>
                    <a:bodyPr/>
                    <a:lstStyle/>
                    <a:p>
                      <a:pPr algn="r"/>
                      <a:r>
                        <a:rPr sz="1250" b="0">
                          <a:solidFill>
                            <a:srgbClr val="555045"/>
                          </a:solidFill>
                          <a:latin typeface="Arial"/>
                        </a:rPr>
                        <a:t>Cappuccino</a:t>
                      </a:r>
                    </a:p>
                  </a:txBody>
                  <a:tcPr marL="82296" marR="82296" anchor="ctr">
                    <a:solidFill>
                      <a:srgbClr val="FFFFFF"/>
                    </a:solidFill>
                  </a:tcPr>
                </a:tc>
                <a:tc>
                  <a:txBody>
                    <a:bodyPr/>
                    <a:lstStyle/>
                    <a:p>
                      <a:pPr algn="r"/>
                      <a:r>
                        <a:rPr sz="1250" b="0">
                          <a:solidFill>
                            <a:srgbClr val="555045"/>
                          </a:solidFill>
                          <a:latin typeface="Arial"/>
                        </a:rPr>
                        <a:t>125,1</a:t>
                      </a:r>
                    </a:p>
                  </a:txBody>
                  <a:tcPr marL="82296" marR="82296" anchor="ctr">
                    <a:solidFill>
                      <a:srgbClr val="FFFFFF"/>
                    </a:solidFill>
                  </a:tcPr>
                </a:tc>
                <a:tc>
                  <a:txBody>
                    <a:bodyPr/>
                    <a:lstStyle/>
                    <a:p>
                      <a:pPr algn="r"/>
                      <a:r>
                        <a:rPr sz="1250" b="0">
                          <a:solidFill>
                            <a:srgbClr val="555045"/>
                          </a:solidFill>
                          <a:latin typeface="Arial"/>
                        </a:rPr>
                        <a:t>0,66</a:t>
                      </a:r>
                    </a:p>
                  </a:txBody>
                  <a:tcPr marL="82296" marR="82296" anchor="ctr">
                    <a:solidFill>
                      <a:srgbClr val="FFFFFF"/>
                    </a:solidFill>
                  </a:tcPr>
                </a:tc>
                <a:tc>
                  <a:txBody>
                    <a:bodyPr/>
                    <a:lstStyle/>
                    <a:p>
                      <a:pPr algn="r"/>
                      <a:r>
                        <a:rPr sz="1250" b="0">
                          <a:solidFill>
                            <a:srgbClr val="555045"/>
                          </a:solidFill>
                          <a:latin typeface="Arial"/>
                        </a:rPr>
                        <a:t>132</a:t>
                      </a:r>
                    </a:p>
                  </a:txBody>
                  <a:tcPr marL="82296" marR="82296" anchor="ctr">
                    <a:solidFill>
                      <a:srgbClr val="FFFFFF"/>
                    </a:solidFill>
                  </a:tcPr>
                </a:tc>
                <a:tc>
                  <a:txBody>
                    <a:bodyPr/>
                    <a:lstStyle/>
                    <a:p>
                      <a:pPr algn="r"/>
                      <a:r>
                        <a:rPr sz="1250" b="0">
                          <a:solidFill>
                            <a:srgbClr val="555045"/>
                          </a:solidFill>
                          <a:latin typeface="Arial"/>
                        </a:rPr>
                        <a:t>0</a:t>
                      </a:r>
                    </a:p>
                  </a:txBody>
                  <a:tcPr marL="82296" marR="82296" anchor="ctr">
                    <a:solidFill>
                      <a:srgbClr val="FFFFFF"/>
                    </a:solidFill>
                  </a:tcPr>
                </a:tc>
                <a:tc>
                  <a:txBody>
                    <a:bodyPr/>
                    <a:lstStyle/>
                    <a:p>
                      <a:pPr algn="r"/>
                      <a:r>
                        <a:rPr sz="1250" b="0">
                          <a:solidFill>
                            <a:srgbClr val="555045"/>
                          </a:solidFill>
                          <a:latin typeface="Arial"/>
                        </a:rPr>
                        <a:t>132</a:t>
                      </a:r>
                    </a:p>
                  </a:txBody>
                  <a:tcPr marL="82296" marR="82296" anchor="ctr">
                    <a:solidFill>
                      <a:srgbClr val="FFFFFF"/>
                    </a:solidFill>
                  </a:tcPr>
                </a:tc>
              </a:tr>
              <a:tr h="310896">
                <a:tc>
                  <a:txBody>
                    <a:bodyPr/>
                    <a:lstStyle/>
                    <a:p>
                      <a:pPr algn="l"/>
                      <a:r>
                        <a:rPr sz="1250" b="0">
                          <a:solidFill>
                            <a:srgbClr val="17150F"/>
                          </a:solidFill>
                          <a:latin typeface="Arial"/>
                        </a:rPr>
                        <a:t>STORE_08</a:t>
                      </a:r>
                    </a:p>
                  </a:txBody>
                  <a:tcPr marL="82296" marR="82296" anchor="ctr">
                    <a:solidFill>
                      <a:srgbClr val="FFFFFF"/>
                    </a:solidFill>
                  </a:tcPr>
                </a:tc>
                <a:tc>
                  <a:txBody>
                    <a:bodyPr/>
                    <a:lstStyle/>
                    <a:p>
                      <a:pPr algn="r"/>
                      <a:r>
                        <a:rPr sz="1250" b="0">
                          <a:solidFill>
                            <a:srgbClr val="555045"/>
                          </a:solidFill>
                          <a:latin typeface="Arial"/>
                        </a:rPr>
                        <a:t>Pan de Bono</a:t>
                      </a:r>
                    </a:p>
                  </a:txBody>
                  <a:tcPr marL="82296" marR="82296" anchor="ctr">
                    <a:solidFill>
                      <a:srgbClr val="FFFFFF"/>
                    </a:solidFill>
                  </a:tcPr>
                </a:tc>
                <a:tc>
                  <a:txBody>
                    <a:bodyPr/>
                    <a:lstStyle/>
                    <a:p>
                      <a:pPr algn="r"/>
                      <a:r>
                        <a:rPr sz="1250" b="0">
                          <a:solidFill>
                            <a:srgbClr val="555045"/>
                          </a:solidFill>
                          <a:latin typeface="Arial"/>
                        </a:rPr>
                        <a:t>63,7</a:t>
                      </a:r>
                    </a:p>
                  </a:txBody>
                  <a:tcPr marL="82296" marR="82296" anchor="ctr">
                    <a:solidFill>
                      <a:srgbClr val="FFFFFF"/>
                    </a:solidFill>
                  </a:tcPr>
                </a:tc>
                <a:tc>
                  <a:txBody>
                    <a:bodyPr/>
                    <a:lstStyle/>
                    <a:p>
                      <a:pPr algn="r"/>
                      <a:r>
                        <a:rPr sz="1250" b="0">
                          <a:solidFill>
                            <a:srgbClr val="555045"/>
                          </a:solidFill>
                          <a:latin typeface="Arial"/>
                        </a:rPr>
                        <a:t>0,64</a:t>
                      </a:r>
                    </a:p>
                  </a:txBody>
                  <a:tcPr marL="82296" marR="82296" anchor="ctr">
                    <a:solidFill>
                      <a:srgbClr val="FFFFFF"/>
                    </a:solidFill>
                  </a:tcPr>
                </a:tc>
                <a:tc>
                  <a:txBody>
                    <a:bodyPr/>
                    <a:lstStyle/>
                    <a:p>
                      <a:pPr algn="r"/>
                      <a:r>
                        <a:rPr sz="1250" b="0">
                          <a:solidFill>
                            <a:srgbClr val="555045"/>
                          </a:solidFill>
                          <a:latin typeface="Arial"/>
                        </a:rPr>
                        <a:t>67</a:t>
                      </a:r>
                    </a:p>
                  </a:txBody>
                  <a:tcPr marL="82296" marR="82296" anchor="ctr">
                    <a:solidFill>
                      <a:srgbClr val="FFFFFF"/>
                    </a:solidFill>
                  </a:tcPr>
                </a:tc>
                <a:tc>
                  <a:txBody>
                    <a:bodyPr/>
                    <a:lstStyle/>
                    <a:p>
                      <a:pPr algn="r"/>
                      <a:r>
                        <a:rPr sz="1250" b="0">
                          <a:solidFill>
                            <a:srgbClr val="555045"/>
                          </a:solidFill>
                          <a:latin typeface="Arial"/>
                        </a:rPr>
                        <a:t>62</a:t>
                      </a:r>
                    </a:p>
                  </a:txBody>
                  <a:tcPr marL="82296" marR="82296" anchor="ctr">
                    <a:solidFill>
                      <a:srgbClr val="FFFFFF"/>
                    </a:solidFill>
                  </a:tcPr>
                </a:tc>
                <a:tc>
                  <a:txBody>
                    <a:bodyPr/>
                    <a:lstStyle/>
                    <a:p>
                      <a:pPr algn="r"/>
                      <a:r>
                        <a:rPr sz="1250" b="0">
                          <a:solidFill>
                            <a:srgbClr val="555045"/>
                          </a:solidFill>
                          <a:latin typeface="Arial"/>
                        </a:rPr>
                        <a:t>5</a:t>
                      </a:r>
                    </a:p>
                  </a:txBody>
                  <a:tcPr marL="82296" marR="82296" anchor="ctr">
                    <a:solidFill>
                      <a:srgbClr val="FFFFFF"/>
                    </a:solidFill>
                  </a:tcPr>
                </a:tc>
              </a:tr>
            </a:tbl>
          </a:graphicData>
        </a:graphic>
      </p:graphicFrame>
      <p:sp>
        <p:nvSpPr>
          <p:cNvPr id="16" name="TextBox 15"/>
          <p:cNvSpPr txBox="1"/>
          <p:nvPr/>
        </p:nvSpPr>
        <p:spPr>
          <a:xfrm>
            <a:off x="777240" y="5701157"/>
            <a:ext cx="10637215" cy="445008"/>
          </a:xfrm>
          <a:prstGeom prst="rect">
            <a:avLst/>
          </a:prstGeom>
          <a:noFill/>
        </p:spPr>
        <p:txBody>
          <a:bodyPr wrap="square" lIns="0" rIns="0" tIns="0" bIns="0">
            <a:spAutoFit/>
          </a:bodyPr>
          <a:lstStyle/>
          <a:p>
            <a:pPr>
              <a:lnSpc>
                <a:spcPct val="126000"/>
              </a:lnSpc>
              <a:spcAft>
                <a:spcPts val="0"/>
              </a:spcAft>
            </a:pPr>
            <a:r>
              <a:rPr sz="1200" b="1">
                <a:solidFill>
                  <a:srgbClr val="17150F"/>
                </a:solidFill>
                <a:latin typeface="Arial"/>
              </a:rPr>
              <a:t>Este paso no lleva métricas de error, y es correcto.</a:t>
            </a:r>
            <a:r>
              <a:rPr sz="1200" b="0">
                <a:solidFill>
                  <a:srgbClr val="8B8478"/>
                </a:solidFill>
                <a:latin typeface="Arial"/>
              </a:rPr>
              <a:t> La semana entregada todavía no ha ocurrido, así que no hay demanda con la que compararse. El error esperado es el que se midió en semanas retenidas; cualquier otra cifra sería medir sobre los mismos datos del ajuste.</a:t>
            </a:r>
          </a:p>
        </p:txBody>
      </p:sp>
      <p:sp>
        <p:nvSpPr>
          <p:cNvPr id="17" name="Rectangle 16"/>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Paso 16 · La entrega</a:t>
            </a:r>
          </a:p>
        </p:txBody>
      </p:sp>
      <p:sp>
        <p:nvSpPr>
          <p:cNvPr id="19" name="TextBox 18"/>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PASO 16 · LA ENTREGA</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445770"/>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Cómo se reparte el pedido por tienda</a:t>
            </a:r>
          </a:p>
        </p:txBody>
      </p:sp>
      <p:pic>
        <p:nvPicPr>
          <p:cNvPr id="6" name="Picture 5" descr="25_pedido_por_tienda.png"/>
          <p:cNvPicPr>
            <a:picLocks noChangeAspect="1"/>
          </p:cNvPicPr>
          <p:nvPr/>
        </p:nvPicPr>
        <p:blipFill>
          <a:blip r:embed="rId2"/>
          <a:stretch>
            <a:fillRect/>
          </a:stretch>
        </p:blipFill>
        <p:spPr>
          <a:xfrm>
            <a:off x="777240" y="1506474"/>
            <a:ext cx="5577840" cy="3718560"/>
          </a:xfrm>
          <a:prstGeom prst="rect">
            <a:avLst/>
          </a:prstGeom>
        </p:spPr>
      </p:pic>
      <p:graphicFrame>
        <p:nvGraphicFramePr>
          <p:cNvPr id="7" name="Table 6"/>
          <p:cNvGraphicFramePr>
            <a:graphicFrameLocks noGrp="1"/>
          </p:cNvGraphicFramePr>
          <p:nvPr/>
        </p:nvGraphicFramePr>
        <p:xfrm>
          <a:off x="6675120" y="1552194"/>
          <a:ext cx="4739333" cy="1225296"/>
        </p:xfrm>
        <a:graphic>
          <a:graphicData uri="http://schemas.openxmlformats.org/drawingml/2006/table">
            <a:tbl>
              <a:tblPr bandRow="1">
                <a:tableStyleId>{5C22544A-7EE6-4342-B048-85BDC9FD1C3A}</a:tableStyleId>
              </a:tblPr>
              <a:tblGrid>
                <a:gridCol w="1990520"/>
                <a:gridCol w="1421800"/>
                <a:gridCol w="1327013"/>
              </a:tblGrid>
              <a:tr h="347472">
                <a:tc>
                  <a:txBody>
                    <a:bodyPr/>
                    <a:lstStyle/>
                    <a:p>
                      <a:pPr algn="l"/>
                      <a:r>
                        <a:rPr sz="1000" b="1">
                          <a:solidFill>
                            <a:srgbClr val="8B8478"/>
                          </a:solidFill>
                          <a:latin typeface="Arial"/>
                        </a:rPr>
                        <a:t>Escenario</a:t>
                      </a:r>
                    </a:p>
                  </a:txBody>
                  <a:tcPr marL="82296" marR="82296" anchor="ctr">
                    <a:solidFill>
                      <a:srgbClr val="F4F2ED"/>
                    </a:solidFill>
                  </a:tcPr>
                </a:tc>
                <a:tc>
                  <a:txBody>
                    <a:bodyPr/>
                    <a:lstStyle/>
                    <a:p>
                      <a:pPr algn="r"/>
                      <a:r>
                        <a:rPr sz="1000" b="1">
                          <a:solidFill>
                            <a:srgbClr val="8B8478"/>
                          </a:solidFill>
                          <a:latin typeface="Arial"/>
                        </a:rPr>
                        <a:t>Nivel medio</a:t>
                      </a:r>
                    </a:p>
                  </a:txBody>
                  <a:tcPr marL="82296" marR="82296" anchor="ctr">
                    <a:solidFill>
                      <a:srgbClr val="F4F2ED"/>
                    </a:solidFill>
                  </a:tcPr>
                </a:tc>
                <a:tc>
                  <a:txBody>
                    <a:bodyPr/>
                    <a:lstStyle/>
                    <a:p>
                      <a:pPr algn="r"/>
                      <a:r>
                        <a:rPr sz="1000" b="1">
                          <a:solidFill>
                            <a:srgbClr val="8B8478"/>
                          </a:solidFill>
                          <a:latin typeface="Arial"/>
                        </a:rPr>
                        <a:t>A pedir</a:t>
                      </a:r>
                    </a:p>
                  </a:txBody>
                  <a:tcPr marL="82296" marR="82296" anchor="ctr">
                    <a:solidFill>
                      <a:srgbClr val="F4F2ED"/>
                    </a:solidFill>
                  </a:tcPr>
                </a:tc>
              </a:tr>
              <a:tr h="292608">
                <a:tc>
                  <a:txBody>
                    <a:bodyPr/>
                    <a:lstStyle/>
                    <a:p>
                      <a:pPr algn="l"/>
                      <a:r>
                        <a:rPr sz="1150" b="0">
                          <a:solidFill>
                            <a:srgbClr val="17150F"/>
                          </a:solidFill>
                          <a:latin typeface="Arial"/>
                        </a:rPr>
                        <a:t>Sin merma</a:t>
                      </a:r>
                    </a:p>
                  </a:txBody>
                  <a:tcPr marL="82296" marR="82296" anchor="ctr">
                    <a:solidFill>
                      <a:srgbClr val="FFFFFF"/>
                    </a:solidFill>
                  </a:tcPr>
                </a:tc>
                <a:tc>
                  <a:txBody>
                    <a:bodyPr/>
                    <a:lstStyle/>
                    <a:p>
                      <a:pPr algn="r"/>
                      <a:r>
                        <a:rPr sz="1150" b="0">
                          <a:solidFill>
                            <a:srgbClr val="555045"/>
                          </a:solidFill>
                          <a:latin typeface="Arial"/>
                        </a:rPr>
                        <a:t>0,99</a:t>
                      </a:r>
                    </a:p>
                  </a:txBody>
                  <a:tcPr marL="82296" marR="82296" anchor="ctr">
                    <a:solidFill>
                      <a:srgbClr val="FFFFFF"/>
                    </a:solidFill>
                  </a:tcPr>
                </a:tc>
                <a:tc>
                  <a:txBody>
                    <a:bodyPr/>
                    <a:lstStyle/>
                    <a:p>
                      <a:pPr algn="r"/>
                      <a:r>
                        <a:rPr sz="1150" b="0">
                          <a:solidFill>
                            <a:srgbClr val="555045"/>
                          </a:solidFill>
                          <a:latin typeface="Arial"/>
                        </a:rPr>
                        <a:t>16.671</a:t>
                      </a:r>
                    </a:p>
                  </a:txBody>
                  <a:tcPr marL="82296" marR="82296" anchor="ctr">
                    <a:solidFill>
                      <a:srgbClr val="FFFFFF"/>
                    </a:solidFill>
                  </a:tcPr>
                </a:tc>
              </a:tr>
              <a:tr h="292608">
                <a:tc>
                  <a:txBody>
                    <a:bodyPr/>
                    <a:lstStyle/>
                    <a:p>
                      <a:pPr algn="l"/>
                      <a:r>
                        <a:rPr sz="1150" b="0">
                          <a:solidFill>
                            <a:srgbClr val="17150F"/>
                          </a:solidFill>
                          <a:latin typeface="Arial"/>
                        </a:rPr>
                        <a:t>Merma parcial</a:t>
                      </a:r>
                    </a:p>
                  </a:txBody>
                  <a:tcPr marL="82296" marR="82296" anchor="ctr">
                    <a:solidFill>
                      <a:srgbClr val="FFFFFF"/>
                    </a:solidFill>
                  </a:tcPr>
                </a:tc>
                <a:tc>
                  <a:txBody>
                    <a:bodyPr/>
                    <a:lstStyle/>
                    <a:p>
                      <a:pPr algn="r"/>
                      <a:r>
                        <a:rPr sz="1150" b="0">
                          <a:solidFill>
                            <a:srgbClr val="555045"/>
                          </a:solidFill>
                          <a:latin typeface="Arial"/>
                        </a:rPr>
                        <a:t>0,78</a:t>
                      </a:r>
                    </a:p>
                  </a:txBody>
                  <a:tcPr marL="82296" marR="82296" anchor="ctr">
                    <a:solidFill>
                      <a:srgbClr val="FFFFFF"/>
                    </a:solidFill>
                  </a:tcPr>
                </a:tc>
                <a:tc>
                  <a:txBody>
                    <a:bodyPr/>
                    <a:lstStyle/>
                    <a:p>
                      <a:pPr algn="r"/>
                      <a:r>
                        <a:rPr sz="1150" b="0">
                          <a:solidFill>
                            <a:srgbClr val="555045"/>
                          </a:solidFill>
                          <a:latin typeface="Arial"/>
                        </a:rPr>
                        <a:t>13.248</a:t>
                      </a:r>
                    </a:p>
                  </a:txBody>
                  <a:tcPr marL="82296" marR="82296" anchor="ctr">
                    <a:solidFill>
                      <a:srgbClr val="FFFFFF"/>
                    </a:solidFill>
                  </a:tcPr>
                </a:tc>
              </a:tr>
              <a:tr h="292608">
                <a:tc>
                  <a:txBody>
                    <a:bodyPr/>
                    <a:lstStyle/>
                    <a:p>
                      <a:pPr algn="l"/>
                      <a:r>
                        <a:rPr sz="1150" b="1">
                          <a:solidFill>
                            <a:srgbClr val="17150F"/>
                          </a:solidFill>
                          <a:latin typeface="Arial"/>
                        </a:rPr>
                        <a:t>Con merma</a:t>
                      </a:r>
                    </a:p>
                  </a:txBody>
                  <a:tcPr marL="82296" marR="82296" anchor="ctr">
                    <a:solidFill>
                      <a:srgbClr val="F7EEEF"/>
                    </a:solidFill>
                  </a:tcPr>
                </a:tc>
                <a:tc>
                  <a:txBody>
                    <a:bodyPr/>
                    <a:lstStyle/>
                    <a:p>
                      <a:pPr algn="r"/>
                      <a:r>
                        <a:rPr sz="1150" b="1">
                          <a:solidFill>
                            <a:srgbClr val="17150F"/>
                          </a:solidFill>
                          <a:latin typeface="Arial"/>
                        </a:rPr>
                        <a:t>0,64</a:t>
                      </a:r>
                    </a:p>
                  </a:txBody>
                  <a:tcPr marL="82296" marR="82296" anchor="ctr">
                    <a:solidFill>
                      <a:srgbClr val="F7EEEF"/>
                    </a:solidFill>
                  </a:tcPr>
                </a:tc>
                <a:tc>
                  <a:txBody>
                    <a:bodyPr/>
                    <a:lstStyle/>
                    <a:p>
                      <a:pPr algn="r"/>
                      <a:r>
                        <a:rPr sz="1150" b="1">
                          <a:solidFill>
                            <a:srgbClr val="17150F"/>
                          </a:solidFill>
                          <a:latin typeface="Arial"/>
                        </a:rPr>
                        <a:t>12.290</a:t>
                      </a:r>
                    </a:p>
                  </a:txBody>
                  <a:tcPr marL="82296" marR="82296" anchor="ctr">
                    <a:solidFill>
                      <a:srgbClr val="F7EEEF"/>
                    </a:solidFill>
                  </a:tcPr>
                </a:tc>
              </a:tr>
            </a:tbl>
          </a:graphicData>
        </a:graphic>
      </p:graphicFrame>
      <p:sp>
        <p:nvSpPr>
          <p:cNvPr id="8" name="TextBox 7"/>
          <p:cNvSpPr txBox="1"/>
          <p:nvPr/>
        </p:nvSpPr>
        <p:spPr>
          <a:xfrm>
            <a:off x="6675120" y="3015234"/>
            <a:ext cx="4739335" cy="2926080"/>
          </a:xfrm>
          <a:prstGeom prst="rect">
            <a:avLst/>
          </a:prstGeom>
          <a:noFill/>
        </p:spPr>
        <p:txBody>
          <a:bodyPr wrap="square" lIns="0" rIns="0" tIns="0" bIns="0">
            <a:spAutoFit/>
          </a:bodyPr>
          <a:lstStyle/>
          <a:p>
            <a:pPr algn="l">
              <a:lnSpc>
                <a:spcPct val="128000"/>
              </a:lnSpc>
              <a:spcBef>
                <a:spcPts val="0"/>
              </a:spcBef>
              <a:spcAft>
                <a:spcPts val="1400"/>
              </a:spcAft>
            </a:pPr>
            <a:r>
              <a:rPr sz="1250" b="1">
                <a:solidFill>
                  <a:srgbClr val="17150F"/>
                </a:solidFill>
                <a:latin typeface="Arial"/>
              </a:rPr>
              <a:t>Son 4.381 unidades semanales de diferencia por una decisión que no es técnica.</a:t>
            </a:r>
          </a:p>
          <a:p>
            <a:pPr algn="l">
              <a:lnSpc>
                <a:spcPct val="128000"/>
              </a:lnSpc>
              <a:spcBef>
                <a:spcPts val="0"/>
              </a:spcBef>
              <a:spcAft>
                <a:spcPts val="600"/>
              </a:spcAft>
            </a:pPr>
            <a:r>
              <a:rPr sz="1300" b="1">
                <a:solidFill>
                  <a:srgbClr val="8C2F39"/>
                </a:solidFill>
                <a:latin typeface="Arial"/>
              </a:rPr>
              <a:t>Una validación externa que salió bien</a:t>
            </a:r>
          </a:p>
          <a:p>
            <a:pPr algn="l">
              <a:lnSpc>
                <a:spcPct val="128000"/>
              </a:lnSpc>
              <a:spcBef>
                <a:spcPts val="0"/>
              </a:spcBef>
              <a:spcAft>
                <a:spcPts val="1200"/>
              </a:spcAft>
            </a:pPr>
            <a:r>
              <a:rPr sz="1250" b="0">
                <a:solidFill>
                  <a:srgbClr val="555045"/>
                </a:solidFill>
                <a:latin typeface="Arial"/>
              </a:rPr>
              <a:t>El fichero de tendencias dice si cada serie sube o baja, y ese dato nunca entra al modelo. Agrupando por él la variación que predice el modelo, el orden es el correcto: las que suben son las únicas con variación positiva y las que bajan las más negativas.</a:t>
            </a:r>
          </a:p>
          <a:p>
            <a:pPr algn="l">
              <a:lnSpc>
                <a:spcPct val="128000"/>
              </a:lnSpc>
              <a:spcBef>
                <a:spcPts val="0"/>
              </a:spcBef>
              <a:spcAft>
                <a:spcPts val="0"/>
              </a:spcAft>
            </a:pPr>
            <a:r>
              <a:rPr sz="1250" b="0">
                <a:solidFill>
                  <a:srgbClr val="555045"/>
                </a:solidFill>
                <a:latin typeface="Arial"/>
              </a:rPr>
              <a:t>Confirma que no hay error de signo. Las magnitudes son diminutas, que es lo esperable con autocorrelación cercana a cero.</a:t>
            </a:r>
          </a:p>
        </p:txBody>
      </p:sp>
      <p:sp>
        <p:nvSpPr>
          <p:cNvPr id="9" name="Rectangle 8"/>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Paso 16 · La entrega</a:t>
            </a:r>
          </a:p>
        </p:txBody>
      </p:sp>
      <p:sp>
        <p:nvSpPr>
          <p:cNvPr id="11" name="TextBox 10"/>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EL DESARROLLO</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445770"/>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Cómo evitamos engañarnos</a:t>
            </a:r>
          </a:p>
        </p:txBody>
      </p:sp>
      <p:sp>
        <p:nvSpPr>
          <p:cNvPr id="6" name="TextBox 5"/>
          <p:cNvSpPr txBox="1"/>
          <p:nvPr/>
        </p:nvSpPr>
        <p:spPr>
          <a:xfrm>
            <a:off x="777240" y="1506474"/>
            <a:ext cx="9966960" cy="283337"/>
          </a:xfrm>
          <a:prstGeom prst="rect">
            <a:avLst/>
          </a:prstGeom>
          <a:noFill/>
        </p:spPr>
        <p:txBody>
          <a:bodyPr wrap="square" lIns="0" rIns="0" tIns="0" bIns="0">
            <a:spAutoFit/>
          </a:bodyPr>
          <a:lstStyle/>
          <a:p>
            <a:pPr algn="l">
              <a:lnSpc>
                <a:spcPct val="130000"/>
              </a:lnSpc>
              <a:spcBef>
                <a:spcPts val="0"/>
              </a:spcBef>
              <a:spcAft>
                <a:spcPts val="0"/>
              </a:spcAft>
            </a:pPr>
            <a:r>
              <a:rPr sz="1450" b="0">
                <a:solidFill>
                  <a:srgbClr val="555045"/>
                </a:solidFill>
                <a:latin typeface="Arial"/>
              </a:rPr>
              <a:t>Es la parte del proyecto que más código tiene, porque es donde se pierden estos ejercicios.</a:t>
            </a:r>
          </a:p>
        </p:txBody>
      </p:sp>
      <p:sp>
        <p:nvSpPr>
          <p:cNvPr id="7" name="Rectangle 6"/>
          <p:cNvSpPr/>
          <p:nvPr/>
        </p:nvSpPr>
        <p:spPr>
          <a:xfrm>
            <a:off x="777240" y="209156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78408" y="1990979"/>
            <a:ext cx="10436047" cy="530098"/>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Las semanas de evaluación no se tocaron hasta el final.</a:t>
            </a:r>
            <a:r>
              <a:rPr sz="1450" b="0">
                <a:solidFill>
                  <a:srgbClr val="555045"/>
                </a:solidFill>
                <a:latin typeface="Arial"/>
              </a:rPr>
              <a:t> Toda decisión, incluidos los hiperparámetros y la longitud de la media móvil, se tomó en validación.</a:t>
            </a:r>
          </a:p>
        </p:txBody>
      </p:sp>
      <p:sp>
        <p:nvSpPr>
          <p:cNvPr id="9" name="Rectangle 8"/>
          <p:cNvSpPr/>
          <p:nvPr/>
        </p:nvSpPr>
        <p:spPr>
          <a:xfrm>
            <a:off x="777240" y="2749677"/>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2649093"/>
            <a:ext cx="10436047" cy="776859"/>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Veinte verificaciones automáticas en cada ejecución.</a:t>
            </a:r>
            <a:r>
              <a:rPr sz="1450" b="0">
                <a:solidFill>
                  <a:srgbClr val="555045"/>
                </a:solidFill>
                <a:latin typeface="Arial"/>
              </a:rPr>
              <a:t> Doce de aislamiento temporal, entre ellas una instrumentada que registra cada semana que toca la búsqueda de hiperparámetros y un control negativo que exige que más datos sí cambien el modelo. Ocho del optimizador con casos de respuesta conocida.</a:t>
            </a:r>
          </a:p>
        </p:txBody>
      </p:sp>
      <p:sp>
        <p:nvSpPr>
          <p:cNvPr id="11" name="Rectangle 10"/>
          <p:cNvSpPr/>
          <p:nvPr/>
        </p:nvSpPr>
        <p:spPr>
          <a:xfrm>
            <a:off x="777240" y="3654552"/>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3553968"/>
            <a:ext cx="10436047" cy="530098"/>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Las variables se reconstruyen ocultando el futuro</a:t>
            </a:r>
            <a:r>
              <a:rPr sz="1450" b="0">
                <a:solidFill>
                  <a:srgbClr val="555045"/>
                </a:solidFill>
                <a:latin typeface="Arial"/>
              </a:rPr>
              <a:t> y se exige que salgan idénticas. Y al revés: añadir la fila de la semana a entregar no puede mover ninguna variable del pasado.</a:t>
            </a:r>
          </a:p>
        </p:txBody>
      </p:sp>
      <p:sp>
        <p:nvSpPr>
          <p:cNvPr id="13" name="Rectangle 12"/>
          <p:cNvSpPr/>
          <p:nvPr/>
        </p:nvSpPr>
        <p:spPr>
          <a:xfrm>
            <a:off x="777240" y="4312666"/>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212082"/>
            <a:ext cx="10436047" cy="530098"/>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Los informes no contienen una sola cifra escrita a mano.</a:t>
            </a:r>
            <a:r>
              <a:rPr sz="1450" b="0">
                <a:solidFill>
                  <a:srgbClr val="555045"/>
                </a:solidFill>
                <a:latin typeface="Arial"/>
              </a:rPr>
              <a:t> Se regeneran enteros en cada ejecución, y dos ejecuciones seguidas producen ficheros idénticos byte a byte.</a:t>
            </a:r>
          </a:p>
        </p:txBody>
      </p:sp>
      <p:sp>
        <p:nvSpPr>
          <p:cNvPr id="15" name="Rectangle 14"/>
          <p:cNvSpPr/>
          <p:nvPr/>
        </p:nvSpPr>
        <p:spPr>
          <a:xfrm>
            <a:off x="777240" y="4970780"/>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8408" y="4870196"/>
            <a:ext cx="10436047" cy="530098"/>
          </a:xfrm>
          <a:prstGeom prst="rect">
            <a:avLst/>
          </a:prstGeom>
          <a:noFill/>
        </p:spPr>
        <p:txBody>
          <a:bodyPr wrap="square" lIns="0" rIns="0" tIns="0" bIns="0">
            <a:spAutoFit/>
          </a:bodyPr>
          <a:lstStyle/>
          <a:p>
            <a:pPr>
              <a:lnSpc>
                <a:spcPct val="124000"/>
              </a:lnSpc>
              <a:spcAft>
                <a:spcPts val="0"/>
              </a:spcAft>
            </a:pPr>
            <a:r>
              <a:rPr sz="1450" b="1">
                <a:solidFill>
                  <a:srgbClr val="17150F"/>
                </a:solidFill>
                <a:latin typeface="Arial"/>
              </a:rPr>
              <a:t>Tres errores propios quedaron corregidos y documentados</a:t>
            </a:r>
            <a:r>
              <a:rPr sz="1450" b="0">
                <a:solidFill>
                  <a:srgbClr val="555045"/>
                </a:solidFill>
                <a:latin typeface="Arial"/>
              </a:rPr>
              <a:t>, entre ellos elegir la ventana de la media móvil mirando el conjunto de evaluación. Están escritos en la memoria técnica en vez de disimularse.</a:t>
            </a:r>
          </a:p>
        </p:txBody>
      </p:sp>
      <p:sp>
        <p:nvSpPr>
          <p:cNvPr id="17" name="Rectangle 16"/>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El desarrollo</a:t>
            </a:r>
          </a:p>
        </p:txBody>
      </p:sp>
      <p:sp>
        <p:nvSpPr>
          <p:cNvPr id="19" name="TextBox 18"/>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PRÓXIMOS PASOS · FRENTE 1</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445770"/>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Convertir el ahorro simulado en ahorro comprobado</a:t>
            </a:r>
          </a:p>
        </p:txBody>
      </p:sp>
      <p:sp>
        <p:nvSpPr>
          <p:cNvPr id="6" name="TextBox 5"/>
          <p:cNvSpPr txBox="1"/>
          <p:nvPr/>
        </p:nvSpPr>
        <p:spPr>
          <a:xfrm>
            <a:off x="777240" y="1506474"/>
            <a:ext cx="9966960" cy="283337"/>
          </a:xfrm>
          <a:prstGeom prst="rect">
            <a:avLst/>
          </a:prstGeom>
          <a:noFill/>
        </p:spPr>
        <p:txBody>
          <a:bodyPr wrap="square" lIns="0" rIns="0" tIns="0" bIns="0">
            <a:spAutoFit/>
          </a:bodyPr>
          <a:lstStyle/>
          <a:p>
            <a:pPr algn="l">
              <a:lnSpc>
                <a:spcPct val="130000"/>
              </a:lnSpc>
              <a:spcBef>
                <a:spcPts val="0"/>
              </a:spcBef>
              <a:spcAft>
                <a:spcPts val="0"/>
              </a:spcAft>
            </a:pPr>
            <a:r>
              <a:rPr sz="1450" b="0">
                <a:solidFill>
                  <a:srgbClr val="555045"/>
                </a:solidFill>
                <a:latin typeface="Arial"/>
              </a:rPr>
              <a:t>La simulación supone que pedir distinto no cambia lo que se vende. En tienda sí lo cambia.</a:t>
            </a:r>
          </a:p>
        </p:txBody>
      </p:sp>
      <p:graphicFrame>
        <p:nvGraphicFramePr>
          <p:cNvPr id="7" name="Table 6"/>
          <p:cNvGraphicFramePr>
            <a:graphicFrameLocks noGrp="1"/>
          </p:cNvGraphicFramePr>
          <p:nvPr/>
        </p:nvGraphicFramePr>
        <p:xfrm>
          <a:off x="777240" y="1990979"/>
          <a:ext cx="10637214" cy="1883664"/>
        </p:xfrm>
        <a:graphic>
          <a:graphicData uri="http://schemas.openxmlformats.org/drawingml/2006/table">
            <a:tbl>
              <a:tblPr bandRow="1">
                <a:tableStyleId>{5C22544A-7EE6-4342-B048-85BDC9FD1C3A}</a:tableStyleId>
              </a:tblPr>
              <a:tblGrid>
                <a:gridCol w="2340187"/>
                <a:gridCol w="8297027"/>
              </a:tblGrid>
              <a:tr h="347472">
                <a:tc>
                  <a:txBody>
                    <a:bodyPr/>
                    <a:lstStyle/>
                    <a:p>
                      <a:pPr algn="l"/>
                      <a:r>
                        <a:rPr sz="1100" b="1">
                          <a:solidFill>
                            <a:srgbClr val="8B8478"/>
                          </a:solidFill>
                          <a:latin typeface="Arial"/>
                        </a:rPr>
                        <a:t>Elemento</a:t>
                      </a:r>
                    </a:p>
                  </a:txBody>
                  <a:tcPr marL="82296" marR="82296" anchor="ctr">
                    <a:solidFill>
                      <a:srgbClr val="F4F2ED"/>
                    </a:solidFill>
                  </a:tcPr>
                </a:tc>
                <a:tc>
                  <a:txBody>
                    <a:bodyPr/>
                    <a:lstStyle/>
                    <a:p>
                      <a:pPr algn="r"/>
                      <a:r>
                        <a:rPr sz="1100" b="1">
                          <a:solidFill>
                            <a:srgbClr val="8B8478"/>
                          </a:solidFill>
                          <a:latin typeface="Arial"/>
                        </a:rPr>
                        <a:t>Propuesta</a:t>
                      </a:r>
                    </a:p>
                  </a:txBody>
                  <a:tcPr marL="82296" marR="82296" anchor="ctr">
                    <a:solidFill>
                      <a:srgbClr val="F4F2ED"/>
                    </a:solidFill>
                  </a:tcPr>
                </a:tc>
              </a:tr>
              <a:tr h="384048">
                <a:tc>
                  <a:txBody>
                    <a:bodyPr/>
                    <a:lstStyle/>
                    <a:p>
                      <a:pPr algn="l"/>
                      <a:r>
                        <a:rPr sz="1250" b="0">
                          <a:solidFill>
                            <a:srgbClr val="17150F"/>
                          </a:solidFill>
                          <a:latin typeface="Arial"/>
                        </a:rPr>
                        <a:t>Alcance</a:t>
                      </a:r>
                    </a:p>
                  </a:txBody>
                  <a:tcPr marL="82296" marR="82296" anchor="ctr">
                    <a:solidFill>
                      <a:srgbClr val="FFFFFF"/>
                    </a:solidFill>
                  </a:tcPr>
                </a:tc>
                <a:tc>
                  <a:txBody>
                    <a:bodyPr/>
                    <a:lstStyle/>
                    <a:p>
                      <a:pPr algn="r"/>
                      <a:r>
                        <a:rPr sz="1250" b="0">
                          <a:solidFill>
                            <a:srgbClr val="555045"/>
                          </a:solidFill>
                          <a:latin typeface="Arial"/>
                        </a:rPr>
                        <a:t>Seis u ocho tiendas emparejadas por volumen, durante seis u ocho semanas</a:t>
                      </a:r>
                    </a:p>
                  </a:txBody>
                  <a:tcPr marL="82296" marR="82296" anchor="ctr">
                    <a:solidFill>
                      <a:srgbClr val="FFFFFF"/>
                    </a:solidFill>
                  </a:tcPr>
                </a:tc>
              </a:tr>
              <a:tr h="384048">
                <a:tc>
                  <a:txBody>
                    <a:bodyPr/>
                    <a:lstStyle/>
                    <a:p>
                      <a:pPr algn="l"/>
                      <a:r>
                        <a:rPr sz="1250" b="0">
                          <a:solidFill>
                            <a:srgbClr val="17150F"/>
                          </a:solidFill>
                          <a:latin typeface="Arial"/>
                        </a:rPr>
                        <a:t>Diseño</a:t>
                      </a:r>
                    </a:p>
                  </a:txBody>
                  <a:tcPr marL="82296" marR="82296" anchor="ctr">
                    <a:solidFill>
                      <a:srgbClr val="FFFFFF"/>
                    </a:solidFill>
                  </a:tcPr>
                </a:tc>
                <a:tc>
                  <a:txBody>
                    <a:bodyPr/>
                    <a:lstStyle/>
                    <a:p>
                      <a:pPr algn="r"/>
                      <a:r>
                        <a:rPr sz="1250" b="0">
                          <a:solidFill>
                            <a:srgbClr val="555045"/>
                          </a:solidFill>
                          <a:latin typeface="Arial"/>
                        </a:rPr>
                        <a:t>La mitad aplica el pedido recomendado, la otra mitad sigue con el método actual</a:t>
                      </a:r>
                    </a:p>
                  </a:txBody>
                  <a:tcPr marL="82296" marR="82296" anchor="ctr">
                    <a:solidFill>
                      <a:srgbClr val="FFFFFF"/>
                    </a:solidFill>
                  </a:tcPr>
                </a:tc>
              </a:tr>
              <a:tr h="384048">
                <a:tc>
                  <a:txBody>
                    <a:bodyPr/>
                    <a:lstStyle/>
                    <a:p>
                      <a:pPr algn="l"/>
                      <a:r>
                        <a:rPr sz="1250" b="0">
                          <a:solidFill>
                            <a:srgbClr val="17150F"/>
                          </a:solidFill>
                          <a:latin typeface="Arial"/>
                        </a:rPr>
                        <a:t>Qué se mide</a:t>
                      </a:r>
                    </a:p>
                  </a:txBody>
                  <a:tcPr marL="82296" marR="82296" anchor="ctr">
                    <a:solidFill>
                      <a:srgbClr val="FFFFFF"/>
                    </a:solidFill>
                  </a:tcPr>
                </a:tc>
                <a:tc>
                  <a:txBody>
                    <a:bodyPr/>
                    <a:lstStyle/>
                    <a:p>
                      <a:pPr algn="r"/>
                      <a:r>
                        <a:rPr sz="1250" b="0">
                          <a:solidFill>
                            <a:srgbClr val="555045"/>
                          </a:solidFill>
                          <a:latin typeface="Arial"/>
                        </a:rPr>
                        <a:t>Unidades vendidas, sobrantes al cierre y roturas de stock, por tienda y producto</a:t>
                      </a:r>
                    </a:p>
                  </a:txBody>
                  <a:tcPr marL="82296" marR="82296" anchor="ctr">
                    <a:solidFill>
                      <a:srgbClr val="FFFFFF"/>
                    </a:solidFill>
                  </a:tcPr>
                </a:tc>
              </a:tr>
              <a:tr h="384048">
                <a:tc>
                  <a:txBody>
                    <a:bodyPr/>
                    <a:lstStyle/>
                    <a:p>
                      <a:pPr algn="l"/>
                      <a:r>
                        <a:rPr sz="1250" b="0">
                          <a:solidFill>
                            <a:srgbClr val="17150F"/>
                          </a:solidFill>
                          <a:latin typeface="Arial"/>
                        </a:rPr>
                        <a:t>Control adicional</a:t>
                      </a:r>
                    </a:p>
                  </a:txBody>
                  <a:tcPr marL="82296" marR="82296" anchor="ctr">
                    <a:solidFill>
                      <a:srgbClr val="FFFFFF"/>
                    </a:solidFill>
                  </a:tcPr>
                </a:tc>
                <a:tc>
                  <a:txBody>
                    <a:bodyPr/>
                    <a:lstStyle/>
                    <a:p>
                      <a:pPr algn="r"/>
                      <a:r>
                        <a:rPr sz="1250" b="0">
                          <a:solidFill>
                            <a:srgbClr val="555045"/>
                          </a:solidFill>
                          <a:latin typeface="Arial"/>
                        </a:rPr>
                        <a:t>Cobertura observada frente al nivel prometido, para validar la calibración</a:t>
                      </a:r>
                    </a:p>
                  </a:txBody>
                  <a:tcPr marL="82296" marR="82296" anchor="ctr">
                    <a:solidFill>
                      <a:srgbClr val="FFFFFF"/>
                    </a:solidFill>
                  </a:tcPr>
                </a:tc>
              </a:tr>
            </a:tbl>
          </a:graphicData>
        </a:graphic>
      </p:graphicFrame>
      <p:sp>
        <p:nvSpPr>
          <p:cNvPr id="8" name="Rectangle 7"/>
          <p:cNvSpPr/>
          <p:nvPr/>
        </p:nvSpPr>
        <p:spPr>
          <a:xfrm>
            <a:off x="777240" y="4304411"/>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4203827"/>
            <a:ext cx="10436047" cy="479044"/>
          </a:xfrm>
          <a:prstGeom prst="rect">
            <a:avLst/>
          </a:prstGeom>
          <a:noFill/>
        </p:spPr>
        <p:txBody>
          <a:bodyPr wrap="square" lIns="0" rIns="0" tIns="0" bIns="0">
            <a:spAutoFit/>
          </a:bodyPr>
          <a:lstStyle/>
          <a:p>
            <a:pPr>
              <a:lnSpc>
                <a:spcPct val="124000"/>
              </a:lnSpc>
              <a:spcAft>
                <a:spcPts val="0"/>
              </a:spcAft>
            </a:pPr>
            <a:r>
              <a:rPr sz="1300" b="1">
                <a:solidFill>
                  <a:srgbClr val="17150F"/>
                </a:solidFill>
                <a:latin typeface="Arial"/>
              </a:rPr>
              <a:t>Separar por tienda y no por semana.</a:t>
            </a:r>
            <a:r>
              <a:rPr sz="1300" b="0">
                <a:solidFill>
                  <a:srgbClr val="555045"/>
                </a:solidFill>
                <a:latin typeface="Arial"/>
              </a:rPr>
              <a:t> Alternar semanas dentro de la misma tienda contamina el resultado, porque el inventario que sobra de una semana entra en la siguiente.</a:t>
            </a:r>
          </a:p>
        </p:txBody>
      </p:sp>
      <p:sp>
        <p:nvSpPr>
          <p:cNvPr id="10" name="Rectangle 9"/>
          <p:cNvSpPr/>
          <p:nvPr/>
        </p:nvSpPr>
        <p:spPr>
          <a:xfrm>
            <a:off x="777240" y="4911471"/>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810887"/>
            <a:ext cx="10436047" cy="479044"/>
          </a:xfrm>
          <a:prstGeom prst="rect">
            <a:avLst/>
          </a:prstGeom>
          <a:noFill/>
        </p:spPr>
        <p:txBody>
          <a:bodyPr wrap="square" lIns="0" rIns="0" tIns="0" bIns="0">
            <a:spAutoFit/>
          </a:bodyPr>
          <a:lstStyle/>
          <a:p>
            <a:pPr>
              <a:lnSpc>
                <a:spcPct val="124000"/>
              </a:lnSpc>
              <a:spcAft>
                <a:spcPts val="0"/>
              </a:spcAft>
            </a:pPr>
            <a:r>
              <a:rPr sz="1300" b="1">
                <a:solidFill>
                  <a:srgbClr val="17150F"/>
                </a:solidFill>
                <a:latin typeface="Arial"/>
              </a:rPr>
              <a:t>Tres cosas hay que cerrar antes de arrancar</a:t>
            </a:r>
            <a:r>
              <a:rPr sz="1300" b="0">
                <a:solidFill>
                  <a:srgbClr val="555045"/>
                </a:solidFill>
                <a:latin typeface="Arial"/>
              </a:rPr>
              <a:t>, todas de negocio: el porcentaje real de merma, el inventario con fecha y las restricciones de lote y redondeo.</a:t>
            </a:r>
          </a:p>
        </p:txBody>
      </p:sp>
      <p:sp>
        <p:nvSpPr>
          <p:cNvPr id="12" name="Rectangle 11"/>
          <p:cNvSpPr/>
          <p:nvPr/>
        </p:nvSpPr>
        <p:spPr>
          <a:xfrm>
            <a:off x="777240" y="5518531"/>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5417947"/>
            <a:ext cx="10436047" cy="479044"/>
          </a:xfrm>
          <a:prstGeom prst="rect">
            <a:avLst/>
          </a:prstGeom>
          <a:noFill/>
        </p:spPr>
        <p:txBody>
          <a:bodyPr wrap="square" lIns="0" rIns="0" tIns="0" bIns="0">
            <a:spAutoFit/>
          </a:bodyPr>
          <a:lstStyle/>
          <a:p>
            <a:pPr>
              <a:lnSpc>
                <a:spcPct val="124000"/>
              </a:lnSpc>
              <a:spcAft>
                <a:spcPts val="0"/>
              </a:spcAft>
            </a:pPr>
            <a:r>
              <a:rPr sz="1300" b="1">
                <a:solidFill>
                  <a:srgbClr val="17150F"/>
                </a:solidFill>
                <a:latin typeface="Arial"/>
              </a:rPr>
              <a:t>El criterio de salida se fija antes de empezar.</a:t>
            </a:r>
            <a:r>
              <a:rPr sz="1300" b="0">
                <a:solidFill>
                  <a:srgbClr val="555045"/>
                </a:solidFill>
                <a:latin typeface="Arial"/>
              </a:rPr>
              <a:t> Decidirlo después de ver los números es la forma más común de convencerse de un resultado que no está.</a:t>
            </a:r>
          </a:p>
        </p:txBody>
      </p:sp>
      <p:sp>
        <p:nvSpPr>
          <p:cNvPr id="14" name="Rectangle 13"/>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Próximos pasos · Piloto</a:t>
            </a:r>
          </a:p>
        </p:txBody>
      </p:sp>
      <p:sp>
        <p:nvSpPr>
          <p:cNvPr id="16" name="TextBox 15"/>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75488"/>
            <a:ext cx="10637215" cy="237744"/>
          </a:xfrm>
          <a:prstGeom prst="rect">
            <a:avLst/>
          </a:prstGeom>
          <a:noFill/>
        </p:spPr>
        <p:txBody>
          <a:bodyPr wrap="square" lIns="0" rIns="0" tIns="0" bIns="0">
            <a:spAutoFit/>
          </a:bodyPr>
          <a:lstStyle/>
          <a:p>
            <a:pPr algn="l">
              <a:lnSpc>
                <a:spcPct val="122000"/>
              </a:lnSpc>
              <a:spcBef>
                <a:spcPts val="0"/>
              </a:spcBef>
              <a:spcAft>
                <a:spcPts val="0"/>
              </a:spcAft>
            </a:pPr>
            <a:r>
              <a:rPr sz="1050" b="1">
                <a:solidFill>
                  <a:srgbClr val="8C2F39"/>
                </a:solidFill>
                <a:latin typeface="Arial"/>
              </a:rPr>
              <a:t>PRÓXIMOS PASOS · FRENTE 2</a:t>
            </a:r>
          </a:p>
        </p:txBody>
      </p:sp>
      <p:sp>
        <p:nvSpPr>
          <p:cNvPr id="4" name="Rectangle 3"/>
          <p:cNvSpPr/>
          <p:nvPr/>
        </p:nvSpPr>
        <p:spPr>
          <a:xfrm>
            <a:off x="777240" y="768096"/>
            <a:ext cx="502920" cy="3048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914400"/>
            <a:ext cx="10637215" cy="445770"/>
          </a:xfrm>
          <a:prstGeom prst="rect">
            <a:avLst/>
          </a:prstGeom>
          <a:noFill/>
        </p:spPr>
        <p:txBody>
          <a:bodyPr wrap="square" lIns="0" rIns="0" tIns="0" bIns="0">
            <a:spAutoFit/>
          </a:bodyPr>
          <a:lstStyle/>
          <a:p>
            <a:pPr algn="l">
              <a:lnSpc>
                <a:spcPct val="106000"/>
              </a:lnSpc>
              <a:spcBef>
                <a:spcPts val="0"/>
              </a:spcBef>
              <a:spcAft>
                <a:spcPts val="0"/>
              </a:spcAft>
            </a:pPr>
            <a:r>
              <a:rPr sz="2700" b="1">
                <a:solidFill>
                  <a:srgbClr val="17150F"/>
                </a:solidFill>
                <a:latin typeface="Arial"/>
              </a:rPr>
              <a:t>En GCP solo cambia de dónde se leen los datos</a:t>
            </a:r>
          </a:p>
        </p:txBody>
      </p:sp>
      <p:sp>
        <p:nvSpPr>
          <p:cNvPr id="6" name="TextBox 5"/>
          <p:cNvSpPr txBox="1"/>
          <p:nvPr/>
        </p:nvSpPr>
        <p:spPr>
          <a:xfrm>
            <a:off x="777240" y="1506474"/>
            <a:ext cx="9966960" cy="283337"/>
          </a:xfrm>
          <a:prstGeom prst="rect">
            <a:avLst/>
          </a:prstGeom>
          <a:noFill/>
        </p:spPr>
        <p:txBody>
          <a:bodyPr wrap="square" lIns="0" rIns="0" tIns="0" bIns="0">
            <a:spAutoFit/>
          </a:bodyPr>
          <a:lstStyle/>
          <a:p>
            <a:pPr algn="l">
              <a:lnSpc>
                <a:spcPct val="130000"/>
              </a:lnSpc>
              <a:spcBef>
                <a:spcPts val="0"/>
              </a:spcBef>
              <a:spcAft>
                <a:spcPts val="0"/>
              </a:spcAft>
            </a:pPr>
            <a:r>
              <a:rPr sz="1450" b="0">
                <a:solidFill>
                  <a:srgbClr val="555045"/>
                </a:solidFill>
                <a:latin typeface="Arial"/>
              </a:rPr>
              <a:t>La solución está por capas: modelado y decisión no saben de dónde vienen los datos, así que no se tocan.</a:t>
            </a:r>
          </a:p>
        </p:txBody>
      </p:sp>
      <p:sp>
        <p:nvSpPr>
          <p:cNvPr id="7" name="Rectangle 6"/>
          <p:cNvSpPr/>
          <p:nvPr/>
        </p:nvSpPr>
        <p:spPr>
          <a:xfrm>
            <a:off x="777240"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392" y="2109851"/>
            <a:ext cx="1228300" cy="365760"/>
          </a:xfrm>
          <a:prstGeom prst="rect">
            <a:avLst/>
          </a:prstGeom>
          <a:noFill/>
        </p:spPr>
        <p:txBody>
          <a:bodyPr wrap="square" lIns="0" rIns="0" tIns="0" bIns="0">
            <a:spAutoFit/>
          </a:bodyPr>
          <a:lstStyle/>
          <a:p>
            <a:pPr algn="ctr">
              <a:lnSpc>
                <a:spcPct val="115000"/>
              </a:lnSpc>
              <a:spcBef>
                <a:spcPts val="0"/>
              </a:spcBef>
              <a:spcAft>
                <a:spcPts val="0"/>
              </a:spcAft>
            </a:pPr>
            <a:r>
              <a:rPr sz="1100" b="1">
                <a:solidFill>
                  <a:srgbClr val="17150F"/>
                </a:solidFill>
                <a:latin typeface="Arial"/>
              </a:rPr>
              <a:t>Punto de venta</a:t>
            </a:r>
          </a:p>
        </p:txBody>
      </p:sp>
      <p:sp>
        <p:nvSpPr>
          <p:cNvPr id="9" name="TextBox 8"/>
          <p:cNvSpPr txBox="1"/>
          <p:nvPr/>
        </p:nvSpPr>
        <p:spPr>
          <a:xfrm>
            <a:off x="2151844" y="2146427"/>
            <a:ext cx="169164" cy="274320"/>
          </a:xfrm>
          <a:prstGeom prst="rect">
            <a:avLst/>
          </a:prstGeom>
          <a:noFill/>
        </p:spPr>
        <p:txBody>
          <a:bodyPr wrap="square" lIns="0" rIns="0" tIns="0" bIns="0">
            <a:spAutoFit/>
          </a:bodyPr>
          <a:lstStyle/>
          <a:p>
            <a:pPr algn="ctr">
              <a:lnSpc>
                <a:spcPct val="122000"/>
              </a:lnSpc>
              <a:spcBef>
                <a:spcPts val="0"/>
              </a:spcBef>
              <a:spcAft>
                <a:spcPts val="0"/>
              </a:spcAft>
            </a:pPr>
            <a:r>
              <a:rPr sz="1500" b="1">
                <a:solidFill>
                  <a:srgbClr val="8C2F39"/>
                </a:solidFill>
                <a:latin typeface="Arial"/>
              </a:rPr>
              <a:t>›</a:t>
            </a:r>
          </a:p>
        </p:txBody>
      </p:sp>
      <p:sp>
        <p:nvSpPr>
          <p:cNvPr id="10" name="Rectangle 9"/>
          <p:cNvSpPr/>
          <p:nvPr/>
        </p:nvSpPr>
        <p:spPr>
          <a:xfrm>
            <a:off x="2321008"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94160" y="2109851"/>
            <a:ext cx="1228300" cy="365760"/>
          </a:xfrm>
          <a:prstGeom prst="rect">
            <a:avLst/>
          </a:prstGeom>
          <a:noFill/>
        </p:spPr>
        <p:txBody>
          <a:bodyPr wrap="square" lIns="0" rIns="0" tIns="0" bIns="0">
            <a:spAutoFit/>
          </a:bodyPr>
          <a:lstStyle/>
          <a:p>
            <a:pPr algn="ctr">
              <a:lnSpc>
                <a:spcPct val="115000"/>
              </a:lnSpc>
              <a:spcBef>
                <a:spcPts val="0"/>
              </a:spcBef>
              <a:spcAft>
                <a:spcPts val="0"/>
              </a:spcAft>
            </a:pPr>
            <a:r>
              <a:rPr sz="1100" b="1">
                <a:solidFill>
                  <a:srgbClr val="17150F"/>
                </a:solidFill>
                <a:latin typeface="Arial"/>
              </a:rPr>
              <a:t>Cloud Storage</a:t>
            </a:r>
          </a:p>
        </p:txBody>
      </p:sp>
      <p:sp>
        <p:nvSpPr>
          <p:cNvPr id="12" name="TextBox 11"/>
          <p:cNvSpPr txBox="1"/>
          <p:nvPr/>
        </p:nvSpPr>
        <p:spPr>
          <a:xfrm>
            <a:off x="3695612" y="2146427"/>
            <a:ext cx="169164" cy="274320"/>
          </a:xfrm>
          <a:prstGeom prst="rect">
            <a:avLst/>
          </a:prstGeom>
          <a:noFill/>
        </p:spPr>
        <p:txBody>
          <a:bodyPr wrap="square" lIns="0" rIns="0" tIns="0" bIns="0">
            <a:spAutoFit/>
          </a:bodyPr>
          <a:lstStyle/>
          <a:p>
            <a:pPr algn="ctr">
              <a:lnSpc>
                <a:spcPct val="122000"/>
              </a:lnSpc>
              <a:spcBef>
                <a:spcPts val="0"/>
              </a:spcBef>
              <a:spcAft>
                <a:spcPts val="0"/>
              </a:spcAft>
            </a:pPr>
            <a:r>
              <a:rPr sz="1500" b="1">
                <a:solidFill>
                  <a:srgbClr val="8C2F39"/>
                </a:solidFill>
                <a:latin typeface="Arial"/>
              </a:rPr>
              <a:t>›</a:t>
            </a:r>
          </a:p>
        </p:txBody>
      </p:sp>
      <p:sp>
        <p:nvSpPr>
          <p:cNvPr id="13" name="Rectangle 12"/>
          <p:cNvSpPr/>
          <p:nvPr/>
        </p:nvSpPr>
        <p:spPr>
          <a:xfrm>
            <a:off x="3864776"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937928" y="2109851"/>
            <a:ext cx="1228300" cy="365760"/>
          </a:xfrm>
          <a:prstGeom prst="rect">
            <a:avLst/>
          </a:prstGeom>
          <a:noFill/>
        </p:spPr>
        <p:txBody>
          <a:bodyPr wrap="square" lIns="0" rIns="0" tIns="0" bIns="0">
            <a:spAutoFit/>
          </a:bodyPr>
          <a:lstStyle/>
          <a:p>
            <a:pPr algn="ctr">
              <a:lnSpc>
                <a:spcPct val="115000"/>
              </a:lnSpc>
              <a:spcBef>
                <a:spcPts val="0"/>
              </a:spcBef>
              <a:spcAft>
                <a:spcPts val="0"/>
              </a:spcAft>
            </a:pPr>
            <a:r>
              <a:rPr sz="1100" b="1">
                <a:solidFill>
                  <a:srgbClr val="17150F"/>
                </a:solidFill>
                <a:latin typeface="Arial"/>
              </a:rPr>
              <a:t>BigQuery</a:t>
            </a:r>
          </a:p>
        </p:txBody>
      </p:sp>
      <p:sp>
        <p:nvSpPr>
          <p:cNvPr id="15" name="TextBox 14"/>
          <p:cNvSpPr txBox="1"/>
          <p:nvPr/>
        </p:nvSpPr>
        <p:spPr>
          <a:xfrm>
            <a:off x="5239380" y="2146427"/>
            <a:ext cx="169164" cy="274320"/>
          </a:xfrm>
          <a:prstGeom prst="rect">
            <a:avLst/>
          </a:prstGeom>
          <a:noFill/>
        </p:spPr>
        <p:txBody>
          <a:bodyPr wrap="square" lIns="0" rIns="0" tIns="0" bIns="0">
            <a:spAutoFit/>
          </a:bodyPr>
          <a:lstStyle/>
          <a:p>
            <a:pPr algn="ctr">
              <a:lnSpc>
                <a:spcPct val="122000"/>
              </a:lnSpc>
              <a:spcBef>
                <a:spcPts val="0"/>
              </a:spcBef>
              <a:spcAft>
                <a:spcPts val="0"/>
              </a:spcAft>
            </a:pPr>
            <a:r>
              <a:rPr sz="1500" b="1">
                <a:solidFill>
                  <a:srgbClr val="8C2F39"/>
                </a:solidFill>
                <a:latin typeface="Arial"/>
              </a:rPr>
              <a:t>›</a:t>
            </a:r>
          </a:p>
        </p:txBody>
      </p:sp>
      <p:sp>
        <p:nvSpPr>
          <p:cNvPr id="16" name="Rectangle 15"/>
          <p:cNvSpPr/>
          <p:nvPr/>
        </p:nvSpPr>
        <p:spPr>
          <a:xfrm>
            <a:off x="5408544"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1696" y="2109851"/>
            <a:ext cx="1228300" cy="365760"/>
          </a:xfrm>
          <a:prstGeom prst="rect">
            <a:avLst/>
          </a:prstGeom>
          <a:noFill/>
        </p:spPr>
        <p:txBody>
          <a:bodyPr wrap="square" lIns="0" rIns="0" tIns="0" bIns="0">
            <a:spAutoFit/>
          </a:bodyPr>
          <a:lstStyle/>
          <a:p>
            <a:pPr algn="ctr">
              <a:lnSpc>
                <a:spcPct val="115000"/>
              </a:lnSpc>
              <a:spcBef>
                <a:spcPts val="0"/>
              </a:spcBef>
              <a:spcAft>
                <a:spcPts val="0"/>
              </a:spcAft>
            </a:pPr>
            <a:r>
              <a:rPr sz="1100" b="1">
                <a:solidFill>
                  <a:srgbClr val="17150F"/>
                </a:solidFill>
                <a:latin typeface="Arial"/>
              </a:rPr>
              <a:t>Cloud Scheduler</a:t>
            </a:r>
          </a:p>
        </p:txBody>
      </p:sp>
      <p:sp>
        <p:nvSpPr>
          <p:cNvPr id="18" name="TextBox 17"/>
          <p:cNvSpPr txBox="1"/>
          <p:nvPr/>
        </p:nvSpPr>
        <p:spPr>
          <a:xfrm>
            <a:off x="6783148" y="2146427"/>
            <a:ext cx="169164" cy="274320"/>
          </a:xfrm>
          <a:prstGeom prst="rect">
            <a:avLst/>
          </a:prstGeom>
          <a:noFill/>
        </p:spPr>
        <p:txBody>
          <a:bodyPr wrap="square" lIns="0" rIns="0" tIns="0" bIns="0">
            <a:spAutoFit/>
          </a:bodyPr>
          <a:lstStyle/>
          <a:p>
            <a:pPr algn="ctr">
              <a:lnSpc>
                <a:spcPct val="122000"/>
              </a:lnSpc>
              <a:spcBef>
                <a:spcPts val="0"/>
              </a:spcBef>
              <a:spcAft>
                <a:spcPts val="0"/>
              </a:spcAft>
            </a:pPr>
            <a:r>
              <a:rPr sz="1500" b="1">
                <a:solidFill>
                  <a:srgbClr val="8C2F39"/>
                </a:solidFill>
                <a:latin typeface="Arial"/>
              </a:rPr>
              <a:t>›</a:t>
            </a:r>
          </a:p>
        </p:txBody>
      </p:sp>
      <p:sp>
        <p:nvSpPr>
          <p:cNvPr id="19" name="Rectangle 18"/>
          <p:cNvSpPr/>
          <p:nvPr/>
        </p:nvSpPr>
        <p:spPr>
          <a:xfrm>
            <a:off x="6952312"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25464" y="2109851"/>
            <a:ext cx="1228300" cy="365760"/>
          </a:xfrm>
          <a:prstGeom prst="rect">
            <a:avLst/>
          </a:prstGeom>
          <a:noFill/>
        </p:spPr>
        <p:txBody>
          <a:bodyPr wrap="square" lIns="0" rIns="0" tIns="0" bIns="0">
            <a:spAutoFit/>
          </a:bodyPr>
          <a:lstStyle/>
          <a:p>
            <a:pPr algn="ctr">
              <a:lnSpc>
                <a:spcPct val="115000"/>
              </a:lnSpc>
              <a:spcBef>
                <a:spcPts val="0"/>
              </a:spcBef>
              <a:spcAft>
                <a:spcPts val="0"/>
              </a:spcAft>
            </a:pPr>
            <a:r>
              <a:rPr sz="1100" b="1">
                <a:solidFill>
                  <a:srgbClr val="17150F"/>
                </a:solidFill>
                <a:latin typeface="Arial"/>
              </a:rPr>
              <a:t>Cloud Run Job</a:t>
            </a:r>
          </a:p>
        </p:txBody>
      </p:sp>
      <p:sp>
        <p:nvSpPr>
          <p:cNvPr id="21" name="TextBox 20"/>
          <p:cNvSpPr txBox="1"/>
          <p:nvPr/>
        </p:nvSpPr>
        <p:spPr>
          <a:xfrm>
            <a:off x="8326916" y="2146427"/>
            <a:ext cx="169164" cy="274320"/>
          </a:xfrm>
          <a:prstGeom prst="rect">
            <a:avLst/>
          </a:prstGeom>
          <a:noFill/>
        </p:spPr>
        <p:txBody>
          <a:bodyPr wrap="square" lIns="0" rIns="0" tIns="0" bIns="0">
            <a:spAutoFit/>
          </a:bodyPr>
          <a:lstStyle/>
          <a:p>
            <a:pPr algn="ctr">
              <a:lnSpc>
                <a:spcPct val="122000"/>
              </a:lnSpc>
              <a:spcBef>
                <a:spcPts val="0"/>
              </a:spcBef>
              <a:spcAft>
                <a:spcPts val="0"/>
              </a:spcAft>
            </a:pPr>
            <a:r>
              <a:rPr sz="1500" b="1">
                <a:solidFill>
                  <a:srgbClr val="8C2F39"/>
                </a:solidFill>
                <a:latin typeface="Arial"/>
              </a:rPr>
              <a:t>›</a:t>
            </a:r>
          </a:p>
        </p:txBody>
      </p:sp>
      <p:sp>
        <p:nvSpPr>
          <p:cNvPr id="22" name="Rectangle 21"/>
          <p:cNvSpPr/>
          <p:nvPr/>
        </p:nvSpPr>
        <p:spPr>
          <a:xfrm>
            <a:off x="8496080"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69232" y="2109851"/>
            <a:ext cx="1228300" cy="365760"/>
          </a:xfrm>
          <a:prstGeom prst="rect">
            <a:avLst/>
          </a:prstGeom>
          <a:noFill/>
        </p:spPr>
        <p:txBody>
          <a:bodyPr wrap="square" lIns="0" rIns="0" tIns="0" bIns="0">
            <a:spAutoFit/>
          </a:bodyPr>
          <a:lstStyle/>
          <a:p>
            <a:pPr algn="ctr">
              <a:lnSpc>
                <a:spcPct val="115000"/>
              </a:lnSpc>
              <a:spcBef>
                <a:spcPts val="0"/>
              </a:spcBef>
              <a:spcAft>
                <a:spcPts val="0"/>
              </a:spcAft>
            </a:pPr>
            <a:r>
              <a:rPr sz="1100" b="1">
                <a:solidFill>
                  <a:srgbClr val="17150F"/>
                </a:solidFill>
                <a:latin typeface="Arial"/>
              </a:rPr>
              <a:t>Tabla de pedidos</a:t>
            </a:r>
          </a:p>
        </p:txBody>
      </p:sp>
      <p:sp>
        <p:nvSpPr>
          <p:cNvPr id="24" name="TextBox 23"/>
          <p:cNvSpPr txBox="1"/>
          <p:nvPr/>
        </p:nvSpPr>
        <p:spPr>
          <a:xfrm>
            <a:off x="9870684" y="2146427"/>
            <a:ext cx="169164" cy="274320"/>
          </a:xfrm>
          <a:prstGeom prst="rect">
            <a:avLst/>
          </a:prstGeom>
          <a:noFill/>
        </p:spPr>
        <p:txBody>
          <a:bodyPr wrap="square" lIns="0" rIns="0" tIns="0" bIns="0">
            <a:spAutoFit/>
          </a:bodyPr>
          <a:lstStyle/>
          <a:p>
            <a:pPr algn="ctr">
              <a:lnSpc>
                <a:spcPct val="122000"/>
              </a:lnSpc>
              <a:spcBef>
                <a:spcPts val="0"/>
              </a:spcBef>
              <a:spcAft>
                <a:spcPts val="0"/>
              </a:spcAft>
            </a:pPr>
            <a:r>
              <a:rPr sz="1500" b="1">
                <a:solidFill>
                  <a:srgbClr val="8C2F39"/>
                </a:solidFill>
                <a:latin typeface="Arial"/>
              </a:rPr>
              <a:t>›</a:t>
            </a:r>
          </a:p>
        </p:txBody>
      </p:sp>
      <p:sp>
        <p:nvSpPr>
          <p:cNvPr id="25" name="Rectangle 24"/>
          <p:cNvSpPr/>
          <p:nvPr/>
        </p:nvSpPr>
        <p:spPr>
          <a:xfrm>
            <a:off x="10039848" y="1990979"/>
            <a:ext cx="1374604" cy="566928"/>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113000" y="2109851"/>
            <a:ext cx="1228300" cy="365760"/>
          </a:xfrm>
          <a:prstGeom prst="rect">
            <a:avLst/>
          </a:prstGeom>
          <a:noFill/>
        </p:spPr>
        <p:txBody>
          <a:bodyPr wrap="square" lIns="0" rIns="0" tIns="0" bIns="0">
            <a:spAutoFit/>
          </a:bodyPr>
          <a:lstStyle/>
          <a:p>
            <a:pPr algn="ctr">
              <a:lnSpc>
                <a:spcPct val="115000"/>
              </a:lnSpc>
              <a:spcBef>
                <a:spcPts val="0"/>
              </a:spcBef>
              <a:spcAft>
                <a:spcPts val="0"/>
              </a:spcAft>
            </a:pPr>
            <a:r>
              <a:rPr sz="1100" b="1">
                <a:solidFill>
                  <a:srgbClr val="17150F"/>
                </a:solidFill>
                <a:latin typeface="Arial"/>
              </a:rPr>
              <a:t>Looker Studio</a:t>
            </a:r>
          </a:p>
        </p:txBody>
      </p:sp>
      <p:sp>
        <p:nvSpPr>
          <p:cNvPr id="27" name="Rectangle 26"/>
          <p:cNvSpPr/>
          <p:nvPr/>
        </p:nvSpPr>
        <p:spPr>
          <a:xfrm>
            <a:off x="777240" y="305168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78408" y="2951099"/>
            <a:ext cx="10436047" cy="479044"/>
          </a:xfrm>
          <a:prstGeom prst="rect">
            <a:avLst/>
          </a:prstGeom>
          <a:noFill/>
        </p:spPr>
        <p:txBody>
          <a:bodyPr wrap="square" lIns="0" rIns="0" tIns="0" bIns="0">
            <a:spAutoFit/>
          </a:bodyPr>
          <a:lstStyle/>
          <a:p>
            <a:pPr>
              <a:lnSpc>
                <a:spcPct val="124000"/>
              </a:lnSpc>
              <a:spcAft>
                <a:spcPts val="0"/>
              </a:spcAft>
            </a:pPr>
            <a:r>
              <a:rPr sz="1300" b="1">
                <a:solidFill>
                  <a:srgbClr val="17150F"/>
                </a:solidFill>
                <a:latin typeface="Arial"/>
              </a:rPr>
              <a:t>Ingesta.</a:t>
            </a:r>
            <a:r>
              <a:rPr sz="1300" b="0">
                <a:solidFill>
                  <a:srgbClr val="555045"/>
                </a:solidFill>
                <a:latin typeface="Arial"/>
              </a:rPr>
              <a:t> El export del punto de venta cae en un bucket por fecha. Un load job lo lleva a BigQuery validando el mismo esquema que ya declara el código. Una capa curada construye encima el panel semanal.</a:t>
            </a:r>
          </a:p>
        </p:txBody>
      </p:sp>
      <p:sp>
        <p:nvSpPr>
          <p:cNvPr id="29" name="Rectangle 28"/>
          <p:cNvSpPr/>
          <p:nvPr/>
        </p:nvSpPr>
        <p:spPr>
          <a:xfrm>
            <a:off x="777240" y="365874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8408" y="3558159"/>
            <a:ext cx="10436047" cy="479044"/>
          </a:xfrm>
          <a:prstGeom prst="rect">
            <a:avLst/>
          </a:prstGeom>
          <a:noFill/>
        </p:spPr>
        <p:txBody>
          <a:bodyPr wrap="square" lIns="0" rIns="0" tIns="0" bIns="0">
            <a:spAutoFit/>
          </a:bodyPr>
          <a:lstStyle/>
          <a:p>
            <a:pPr>
              <a:lnSpc>
                <a:spcPct val="124000"/>
              </a:lnSpc>
              <a:spcAft>
                <a:spcPts val="0"/>
              </a:spcAft>
            </a:pPr>
            <a:r>
              <a:rPr sz="1300" b="1">
                <a:solidFill>
                  <a:srgbClr val="17150F"/>
                </a:solidFill>
                <a:latin typeface="Arial"/>
              </a:rPr>
              <a:t>Ejecución.</a:t>
            </a:r>
            <a:r>
              <a:rPr sz="1300" b="0">
                <a:solidFill>
                  <a:srgbClr val="555045"/>
                </a:solidFill>
                <a:latin typeface="Arial"/>
              </a:rPr>
              <a:t> Cloud Scheduler dispara una vez por semana tras el cierre. Para un lote de minutos, el sitio correcto es un Cloud Run Job y no una Cloud Function. La imagen queda versionada en Artifact Registry.</a:t>
            </a:r>
          </a:p>
        </p:txBody>
      </p:sp>
      <p:sp>
        <p:nvSpPr>
          <p:cNvPr id="31" name="Rectangle 30"/>
          <p:cNvSpPr/>
          <p:nvPr/>
        </p:nvSpPr>
        <p:spPr>
          <a:xfrm>
            <a:off x="777240" y="426580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78408" y="4165219"/>
            <a:ext cx="10436047" cy="479044"/>
          </a:xfrm>
          <a:prstGeom prst="rect">
            <a:avLst/>
          </a:prstGeom>
          <a:noFill/>
        </p:spPr>
        <p:txBody>
          <a:bodyPr wrap="square" lIns="0" rIns="0" tIns="0" bIns="0">
            <a:spAutoFit/>
          </a:bodyPr>
          <a:lstStyle/>
          <a:p>
            <a:pPr>
              <a:lnSpc>
                <a:spcPct val="124000"/>
              </a:lnSpc>
              <a:spcAft>
                <a:spcPts val="0"/>
              </a:spcAft>
            </a:pPr>
            <a:r>
              <a:rPr sz="1300" b="1">
                <a:solidFill>
                  <a:srgbClr val="17150F"/>
                </a:solidFill>
                <a:latin typeface="Arial"/>
              </a:rPr>
              <a:t>Salidas.</a:t>
            </a:r>
            <a:r>
              <a:rPr sz="1300" b="0">
                <a:solidFill>
                  <a:srgbClr val="555045"/>
                </a:solidFill>
                <a:latin typeface="Arial"/>
              </a:rPr>
              <a:t> Los pedidos van a una tabla de BigQuery con identificador de ejecución y versión del modelo, para poder comparar lo que se pidió con lo que después se vendió.</a:t>
            </a:r>
          </a:p>
        </p:txBody>
      </p:sp>
      <p:sp>
        <p:nvSpPr>
          <p:cNvPr id="33" name="Rectangle 32"/>
          <p:cNvSpPr/>
          <p:nvPr/>
        </p:nvSpPr>
        <p:spPr>
          <a:xfrm>
            <a:off x="777240" y="4872863"/>
            <a:ext cx="63500" cy="635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78408" y="4772279"/>
            <a:ext cx="10436047" cy="700278"/>
          </a:xfrm>
          <a:prstGeom prst="rect">
            <a:avLst/>
          </a:prstGeom>
          <a:noFill/>
        </p:spPr>
        <p:txBody>
          <a:bodyPr wrap="square" lIns="0" rIns="0" tIns="0" bIns="0">
            <a:spAutoFit/>
          </a:bodyPr>
          <a:lstStyle/>
          <a:p>
            <a:pPr>
              <a:lnSpc>
                <a:spcPct val="124000"/>
              </a:lnSpc>
              <a:spcAft>
                <a:spcPts val="0"/>
              </a:spcAft>
            </a:pPr>
            <a:r>
              <a:rPr sz="1300" b="1">
                <a:solidFill>
                  <a:srgbClr val="17150F"/>
                </a:solidFill>
                <a:latin typeface="Arial"/>
              </a:rPr>
              <a:t>El informe en Looker Studio, tres vistas</a:t>
            </a:r>
            <a:r>
              <a:rPr sz="1300" b="0">
                <a:solidFill>
                  <a:srgbClr val="555045"/>
                </a:solidFill>
                <a:latin typeface="Arial"/>
              </a:rPr>
              <a:t>: el pedido de la semana filtrable por tienda, el servicio real frente al prometido, y el coste acumulado. El proceso ya devuelve código de error cuando una verificación falla, así que la alerta se conecta sin escribir nada nuevo.</a:t>
            </a:r>
          </a:p>
        </p:txBody>
      </p:sp>
      <p:sp>
        <p:nvSpPr>
          <p:cNvPr id="35" name="Rectangle 34"/>
          <p:cNvSpPr/>
          <p:nvPr/>
        </p:nvSpPr>
        <p:spPr>
          <a:xfrm>
            <a:off x="777240" y="6327648"/>
            <a:ext cx="10637215" cy="9525"/>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6428232"/>
            <a:ext cx="8686800" cy="274320"/>
          </a:xfrm>
          <a:prstGeom prst="rect">
            <a:avLst/>
          </a:prstGeom>
          <a:noFill/>
        </p:spPr>
        <p:txBody>
          <a:bodyPr wrap="square" lIns="0" rIns="0" tIns="0" bIns="0">
            <a:spAutoFit/>
          </a:bodyPr>
          <a:lstStyle/>
          <a:p>
            <a:pPr algn="l">
              <a:lnSpc>
                <a:spcPct val="122000"/>
              </a:lnSpc>
              <a:spcBef>
                <a:spcPts val="0"/>
              </a:spcBef>
              <a:spcAft>
                <a:spcPts val="0"/>
              </a:spcAft>
            </a:pPr>
            <a:r>
              <a:rPr sz="950" b="0">
                <a:solidFill>
                  <a:srgbClr val="8B8478"/>
                </a:solidFill>
                <a:latin typeface="Arial"/>
              </a:rPr>
              <a:t>Próximos pasos · Automatización</a:t>
            </a:r>
          </a:p>
        </p:txBody>
      </p:sp>
      <p:sp>
        <p:nvSpPr>
          <p:cNvPr id="37" name="TextBox 36"/>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2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4300" cy="6858000"/>
          </a:xfrm>
          <a:prstGeom prst="rect">
            <a:avLst/>
          </a:prstGeom>
          <a:solidFill>
            <a:srgbClr val="8C2F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822960"/>
            <a:ext cx="10058400" cy="274320"/>
          </a:xfrm>
          <a:prstGeom prst="rect">
            <a:avLst/>
          </a:prstGeom>
          <a:noFill/>
        </p:spPr>
        <p:txBody>
          <a:bodyPr wrap="square" lIns="0" rIns="0" tIns="0" bIns="0">
            <a:spAutoFit/>
          </a:bodyPr>
          <a:lstStyle/>
          <a:p>
            <a:pPr algn="l">
              <a:lnSpc>
                <a:spcPct val="122000"/>
              </a:lnSpc>
              <a:spcBef>
                <a:spcPts val="0"/>
              </a:spcBef>
              <a:spcAft>
                <a:spcPts val="0"/>
              </a:spcAft>
            </a:pPr>
            <a:r>
              <a:rPr sz="1200" b="1">
                <a:solidFill>
                  <a:srgbClr val="8C2F39"/>
                </a:solidFill>
                <a:latin typeface="Arial"/>
              </a:rPr>
              <a:t>PARA LLEVARSE</a:t>
            </a:r>
          </a:p>
        </p:txBody>
      </p:sp>
      <p:sp>
        <p:nvSpPr>
          <p:cNvPr id="5" name="TextBox 4"/>
          <p:cNvSpPr txBox="1"/>
          <p:nvPr/>
        </p:nvSpPr>
        <p:spPr>
          <a:xfrm>
            <a:off x="777240" y="1280160"/>
            <a:ext cx="10058400" cy="731520"/>
          </a:xfrm>
          <a:prstGeom prst="rect">
            <a:avLst/>
          </a:prstGeom>
          <a:noFill/>
        </p:spPr>
        <p:txBody>
          <a:bodyPr wrap="square" lIns="0" rIns="0" tIns="0" bIns="0">
            <a:spAutoFit/>
          </a:bodyPr>
          <a:lstStyle/>
          <a:p>
            <a:pPr algn="l">
              <a:lnSpc>
                <a:spcPct val="105000"/>
              </a:lnSpc>
              <a:spcBef>
                <a:spcPts val="0"/>
              </a:spcBef>
              <a:spcAft>
                <a:spcPts val="0"/>
              </a:spcAft>
            </a:pPr>
            <a:r>
              <a:rPr sz="3400" b="1">
                <a:solidFill>
                  <a:srgbClr val="17150F"/>
                </a:solidFill>
                <a:latin typeface="Arial"/>
              </a:rPr>
              <a:t>Cuatro mensajes</a:t>
            </a:r>
          </a:p>
        </p:txBody>
      </p:sp>
      <p:sp>
        <p:nvSpPr>
          <p:cNvPr id="6" name="Rectangle 5"/>
          <p:cNvSpPr/>
          <p:nvPr/>
        </p:nvSpPr>
        <p:spPr>
          <a:xfrm>
            <a:off x="777240" y="2286000"/>
            <a:ext cx="10637215" cy="9144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4984" y="2468880"/>
            <a:ext cx="365760" cy="548640"/>
          </a:xfrm>
          <a:prstGeom prst="rect">
            <a:avLst/>
          </a:prstGeom>
          <a:noFill/>
        </p:spPr>
        <p:txBody>
          <a:bodyPr wrap="square" lIns="0" rIns="0" tIns="0" bIns="0">
            <a:spAutoFit/>
          </a:bodyPr>
          <a:lstStyle/>
          <a:p>
            <a:pPr algn="l">
              <a:lnSpc>
                <a:spcPct val="100000"/>
              </a:lnSpc>
              <a:spcBef>
                <a:spcPts val="0"/>
              </a:spcBef>
              <a:spcAft>
                <a:spcPts val="0"/>
              </a:spcAft>
            </a:pPr>
            <a:r>
              <a:rPr sz="2200" b="1">
                <a:solidFill>
                  <a:srgbClr val="8C2F39"/>
                </a:solidFill>
                <a:latin typeface="Arial"/>
              </a:rPr>
              <a:t>1</a:t>
            </a:r>
          </a:p>
        </p:txBody>
      </p:sp>
      <p:sp>
        <p:nvSpPr>
          <p:cNvPr id="8" name="TextBox 7"/>
          <p:cNvSpPr txBox="1"/>
          <p:nvPr/>
        </p:nvSpPr>
        <p:spPr>
          <a:xfrm>
            <a:off x="1490472" y="2441448"/>
            <a:ext cx="9631375" cy="640080"/>
          </a:xfrm>
          <a:prstGeom prst="rect">
            <a:avLst/>
          </a:prstGeom>
          <a:noFill/>
        </p:spPr>
        <p:txBody>
          <a:bodyPr wrap="square" lIns="0" rIns="0" tIns="0" bIns="0">
            <a:spAutoFit/>
          </a:bodyPr>
          <a:lstStyle/>
          <a:p>
            <a:pPr algn="l">
              <a:lnSpc>
                <a:spcPct val="115000"/>
              </a:lnSpc>
              <a:spcBef>
                <a:spcPts val="0"/>
              </a:spcBef>
              <a:spcAft>
                <a:spcPts val="400"/>
              </a:spcAft>
            </a:pPr>
            <a:r>
              <a:rPr sz="1500" b="1">
                <a:solidFill>
                  <a:srgbClr val="17150F"/>
                </a:solidFill>
                <a:latin typeface="Arial"/>
              </a:rPr>
              <a:t>La decisión no es el pronóstico, es el cuantil</a:t>
            </a:r>
          </a:p>
          <a:p>
            <a:pPr algn="l">
              <a:lnSpc>
                <a:spcPct val="125000"/>
              </a:lnSpc>
              <a:spcBef>
                <a:spcPts val="0"/>
              </a:spcBef>
              <a:spcAft>
                <a:spcPts val="0"/>
              </a:spcAft>
            </a:pPr>
            <a:r>
              <a:rPr sz="1250" b="0">
                <a:solidFill>
                  <a:srgbClr val="555045"/>
                </a:solidFill>
                <a:latin typeface="Arial"/>
              </a:rPr>
              <a:t>Cada producto pide el nivel que marcan sus dos costes. El colchón va del 2,7 % al 6,3 % según el margen, sin que nadie lo decida a mano.</a:t>
            </a:r>
          </a:p>
        </p:txBody>
      </p:sp>
      <p:sp>
        <p:nvSpPr>
          <p:cNvPr id="9" name="Rectangle 8"/>
          <p:cNvSpPr/>
          <p:nvPr/>
        </p:nvSpPr>
        <p:spPr>
          <a:xfrm>
            <a:off x="777240" y="3291840"/>
            <a:ext cx="10637215" cy="9144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3474720"/>
            <a:ext cx="365760" cy="548640"/>
          </a:xfrm>
          <a:prstGeom prst="rect">
            <a:avLst/>
          </a:prstGeom>
          <a:noFill/>
        </p:spPr>
        <p:txBody>
          <a:bodyPr wrap="square" lIns="0" rIns="0" tIns="0" bIns="0">
            <a:spAutoFit/>
          </a:bodyPr>
          <a:lstStyle/>
          <a:p>
            <a:pPr algn="l">
              <a:lnSpc>
                <a:spcPct val="100000"/>
              </a:lnSpc>
              <a:spcBef>
                <a:spcPts val="0"/>
              </a:spcBef>
              <a:spcAft>
                <a:spcPts val="0"/>
              </a:spcAft>
            </a:pPr>
            <a:r>
              <a:rPr sz="2200" b="1">
                <a:solidFill>
                  <a:srgbClr val="8C2F39"/>
                </a:solidFill>
                <a:latin typeface="Arial"/>
              </a:rPr>
              <a:t>2</a:t>
            </a:r>
          </a:p>
        </p:txBody>
      </p:sp>
      <p:sp>
        <p:nvSpPr>
          <p:cNvPr id="11" name="TextBox 10"/>
          <p:cNvSpPr txBox="1"/>
          <p:nvPr/>
        </p:nvSpPr>
        <p:spPr>
          <a:xfrm>
            <a:off x="1490472" y="3447288"/>
            <a:ext cx="9631375" cy="640080"/>
          </a:xfrm>
          <a:prstGeom prst="rect">
            <a:avLst/>
          </a:prstGeom>
          <a:noFill/>
        </p:spPr>
        <p:txBody>
          <a:bodyPr wrap="square" lIns="0" rIns="0" tIns="0" bIns="0">
            <a:spAutoFit/>
          </a:bodyPr>
          <a:lstStyle/>
          <a:p>
            <a:pPr algn="l">
              <a:lnSpc>
                <a:spcPct val="115000"/>
              </a:lnSpc>
              <a:spcBef>
                <a:spcPts val="0"/>
              </a:spcBef>
              <a:spcAft>
                <a:spcPts val="400"/>
              </a:spcAft>
            </a:pPr>
            <a:r>
              <a:rPr sz="1500" b="1">
                <a:solidFill>
                  <a:srgbClr val="17150F"/>
                </a:solidFill>
                <a:latin typeface="Arial"/>
              </a:rPr>
              <a:t>La regla aporta más que el modelo</a:t>
            </a:r>
          </a:p>
          <a:p>
            <a:pPr algn="l">
              <a:lnSpc>
                <a:spcPct val="125000"/>
              </a:lnSpc>
              <a:spcBef>
                <a:spcPts val="0"/>
              </a:spcBef>
              <a:spcAft>
                <a:spcPts val="0"/>
              </a:spcAft>
            </a:pPr>
            <a:r>
              <a:rPr sz="1250" b="0">
                <a:solidFill>
                  <a:srgbClr val="555045"/>
                </a:solidFill>
                <a:latin typeface="Arial"/>
              </a:rPr>
              <a:t>Seis de cada diez pesos del ahorro vienen de cambiar la regla de pedido. El modelo aporta uno de cada diez. Es incómodo y dice dónde poner el esfuerzo.</a:t>
            </a:r>
          </a:p>
        </p:txBody>
      </p:sp>
      <p:sp>
        <p:nvSpPr>
          <p:cNvPr id="12" name="Rectangle 11"/>
          <p:cNvSpPr/>
          <p:nvPr/>
        </p:nvSpPr>
        <p:spPr>
          <a:xfrm>
            <a:off x="777240" y="4297680"/>
            <a:ext cx="10637215" cy="9144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4984" y="4480560"/>
            <a:ext cx="365760" cy="548640"/>
          </a:xfrm>
          <a:prstGeom prst="rect">
            <a:avLst/>
          </a:prstGeom>
          <a:noFill/>
        </p:spPr>
        <p:txBody>
          <a:bodyPr wrap="square" lIns="0" rIns="0" tIns="0" bIns="0">
            <a:spAutoFit/>
          </a:bodyPr>
          <a:lstStyle/>
          <a:p>
            <a:pPr algn="l">
              <a:lnSpc>
                <a:spcPct val="100000"/>
              </a:lnSpc>
              <a:spcBef>
                <a:spcPts val="0"/>
              </a:spcBef>
              <a:spcAft>
                <a:spcPts val="0"/>
              </a:spcAft>
            </a:pPr>
            <a:r>
              <a:rPr sz="2200" b="1">
                <a:solidFill>
                  <a:srgbClr val="8C2F39"/>
                </a:solidFill>
                <a:latin typeface="Arial"/>
              </a:rPr>
              <a:t>3</a:t>
            </a:r>
          </a:p>
        </p:txBody>
      </p:sp>
      <p:sp>
        <p:nvSpPr>
          <p:cNvPr id="14" name="TextBox 13"/>
          <p:cNvSpPr txBox="1"/>
          <p:nvPr/>
        </p:nvSpPr>
        <p:spPr>
          <a:xfrm>
            <a:off x="1490472" y="4453128"/>
            <a:ext cx="9631375" cy="640080"/>
          </a:xfrm>
          <a:prstGeom prst="rect">
            <a:avLst/>
          </a:prstGeom>
          <a:noFill/>
        </p:spPr>
        <p:txBody>
          <a:bodyPr wrap="square" lIns="0" rIns="0" tIns="0" bIns="0">
            <a:spAutoFit/>
          </a:bodyPr>
          <a:lstStyle/>
          <a:p>
            <a:pPr algn="l">
              <a:lnSpc>
                <a:spcPct val="115000"/>
              </a:lnSpc>
              <a:spcBef>
                <a:spcPts val="0"/>
              </a:spcBef>
              <a:spcAft>
                <a:spcPts val="400"/>
              </a:spcAft>
            </a:pPr>
            <a:r>
              <a:rPr sz="1500" b="1">
                <a:solidFill>
                  <a:srgbClr val="17150F"/>
                </a:solidFill>
                <a:latin typeface="Arial"/>
              </a:rPr>
              <a:t>El resultado depende de un supuesto de negocio</a:t>
            </a:r>
          </a:p>
          <a:p>
            <a:pPr algn="l">
              <a:lnSpc>
                <a:spcPct val="125000"/>
              </a:lnSpc>
              <a:spcBef>
                <a:spcPts val="0"/>
              </a:spcBef>
              <a:spcAft>
                <a:spcPts val="0"/>
              </a:spcAft>
            </a:pPr>
            <a:r>
              <a:rPr sz="1250" b="0">
                <a:solidFill>
                  <a:srgbClr val="555045"/>
                </a:solidFill>
                <a:latin typeface="Arial"/>
              </a:rPr>
              <a:t>Si el sobrante se guarda, el ahorro es del 92,6 %. Si se tira, del 5,2 %. Recomendamos planificar con el segundo y medir la merma real en el piloto.</a:t>
            </a:r>
          </a:p>
        </p:txBody>
      </p:sp>
      <p:sp>
        <p:nvSpPr>
          <p:cNvPr id="15" name="Rectangle 14"/>
          <p:cNvSpPr/>
          <p:nvPr/>
        </p:nvSpPr>
        <p:spPr>
          <a:xfrm>
            <a:off x="777240" y="5303520"/>
            <a:ext cx="10637215" cy="914400"/>
          </a:xfrm>
          <a:prstGeom prst="rect">
            <a:avLst/>
          </a:prstGeom>
          <a:solidFill>
            <a:srgbClr val="FFFFFF"/>
          </a:solidFill>
          <a:ln w="9525">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 y="5486400"/>
            <a:ext cx="365760" cy="548640"/>
          </a:xfrm>
          <a:prstGeom prst="rect">
            <a:avLst/>
          </a:prstGeom>
          <a:noFill/>
        </p:spPr>
        <p:txBody>
          <a:bodyPr wrap="square" lIns="0" rIns="0" tIns="0" bIns="0">
            <a:spAutoFit/>
          </a:bodyPr>
          <a:lstStyle/>
          <a:p>
            <a:pPr algn="l">
              <a:lnSpc>
                <a:spcPct val="100000"/>
              </a:lnSpc>
              <a:spcBef>
                <a:spcPts val="0"/>
              </a:spcBef>
              <a:spcAft>
                <a:spcPts val="0"/>
              </a:spcAft>
            </a:pPr>
            <a:r>
              <a:rPr sz="2200" b="1">
                <a:solidFill>
                  <a:srgbClr val="8C2F39"/>
                </a:solidFill>
                <a:latin typeface="Arial"/>
              </a:rPr>
              <a:t>4</a:t>
            </a:r>
          </a:p>
        </p:txBody>
      </p:sp>
      <p:sp>
        <p:nvSpPr>
          <p:cNvPr id="17" name="TextBox 16"/>
          <p:cNvSpPr txBox="1"/>
          <p:nvPr/>
        </p:nvSpPr>
        <p:spPr>
          <a:xfrm>
            <a:off x="1490472" y="5458968"/>
            <a:ext cx="9631375" cy="640080"/>
          </a:xfrm>
          <a:prstGeom prst="rect">
            <a:avLst/>
          </a:prstGeom>
          <a:noFill/>
        </p:spPr>
        <p:txBody>
          <a:bodyPr wrap="square" lIns="0" rIns="0" tIns="0" bIns="0">
            <a:spAutoFit/>
          </a:bodyPr>
          <a:lstStyle/>
          <a:p>
            <a:pPr algn="l">
              <a:lnSpc>
                <a:spcPct val="115000"/>
              </a:lnSpc>
              <a:spcBef>
                <a:spcPts val="0"/>
              </a:spcBef>
              <a:spcAft>
                <a:spcPts val="400"/>
              </a:spcAft>
            </a:pPr>
            <a:r>
              <a:rPr sz="1500" b="1">
                <a:solidFill>
                  <a:srgbClr val="17150F"/>
                </a:solidFill>
                <a:latin typeface="Arial"/>
              </a:rPr>
              <a:t>Lo que se entrega ya se puede ejecutar</a:t>
            </a:r>
          </a:p>
          <a:p>
            <a:pPr algn="l">
              <a:lnSpc>
                <a:spcPct val="125000"/>
              </a:lnSpc>
              <a:spcBef>
                <a:spcPts val="0"/>
              </a:spcBef>
              <a:spcAft>
                <a:spcPts val="0"/>
              </a:spcAft>
            </a:pPr>
            <a:r>
              <a:rPr sz="1250" b="0">
                <a:solidFill>
                  <a:srgbClr val="555045"/>
                </a:solidFill>
                <a:latin typeface="Arial"/>
              </a:rPr>
              <a:t>12.290 unidades para la semana 14, tienda por tienda y producto por producto, con doce verificaciones en verde.</a:t>
            </a:r>
          </a:p>
        </p:txBody>
      </p:sp>
      <p:sp>
        <p:nvSpPr>
          <p:cNvPr id="18" name="TextBox 17"/>
          <p:cNvSpPr txBox="1"/>
          <p:nvPr/>
        </p:nvSpPr>
        <p:spPr>
          <a:xfrm>
            <a:off x="10500055" y="6428232"/>
            <a:ext cx="914400" cy="274320"/>
          </a:xfrm>
          <a:prstGeom prst="rect">
            <a:avLst/>
          </a:prstGeom>
          <a:noFill/>
        </p:spPr>
        <p:txBody>
          <a:bodyPr wrap="square" lIns="0" rIns="0" tIns="0" bIns="0">
            <a:spAutoFit/>
          </a:bodyPr>
          <a:lstStyle/>
          <a:p>
            <a:pPr algn="r">
              <a:lnSpc>
                <a:spcPct val="122000"/>
              </a:lnSpc>
              <a:spcBef>
                <a:spcPts val="0"/>
              </a:spcBef>
              <a:spcAft>
                <a:spcPts val="0"/>
              </a:spcAft>
            </a:pPr>
            <a:r>
              <a:rPr sz="950" b="0">
                <a:solidFill>
                  <a:srgbClr val="8B8478"/>
                </a:solidFill>
                <a:latin typeface="Arial"/>
              </a:rPr>
              <a:t>53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